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3"/>
    <p:sldMasterId id="2147483672" r:id="rId4"/>
    <p:sldMasterId id="2147483684" r:id="rId5"/>
    <p:sldMasterId id="2147483696" r:id="rId6"/>
  </p:sldMasterIdLst>
  <p:notesMasterIdLst>
    <p:notesMasterId r:id="rId14"/>
  </p:notesMasterIdLst>
  <p:sldIdLst>
    <p:sldId id="256" r:id="rId7"/>
    <p:sldId id="263" r:id="rId8"/>
    <p:sldId id="270" r:id="rId9"/>
    <p:sldId id="286" r:id="rId10"/>
    <p:sldId id="287" r:id="rId11"/>
    <p:sldId id="308" r:id="rId12"/>
    <p:sldId id="288" r:id="rId13"/>
    <p:sldId id="289" r:id="rId15"/>
    <p:sldId id="290" r:id="rId16"/>
    <p:sldId id="306" r:id="rId17"/>
    <p:sldId id="300" r:id="rId18"/>
    <p:sldId id="301" r:id="rId19"/>
    <p:sldId id="302" r:id="rId20"/>
    <p:sldId id="309" r:id="rId21"/>
    <p:sldId id="292" r:id="rId22"/>
    <p:sldId id="293" r:id="rId23"/>
    <p:sldId id="311" r:id="rId24"/>
    <p:sldId id="294" r:id="rId25"/>
    <p:sldId id="310" r:id="rId26"/>
    <p:sldId id="295" r:id="rId27"/>
    <p:sldId id="296" r:id="rId28"/>
    <p:sldId id="303" r:id="rId29"/>
    <p:sldId id="297" r:id="rId30"/>
    <p:sldId id="304" r:id="rId31"/>
    <p:sldId id="305" r:id="rId32"/>
    <p:sldId id="298" r:id="rId33"/>
    <p:sldId id="299" r:id="rId34"/>
    <p:sldId id="312" r:id="rId35"/>
    <p:sldId id="281" r:id="rId36"/>
  </p:sldIdLst>
  <p:sldSz cx="12192000" cy="6858000"/>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2161" userDrawn="1">
          <p15:clr>
            <a:srgbClr val="A4A3A4"/>
          </p15:clr>
        </p15:guide>
        <p15:guide id="2" pos="254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67C8"/>
    <a:srgbClr val="68DFBA"/>
    <a:srgbClr val="35D949"/>
    <a:srgbClr val="5AE070"/>
    <a:srgbClr val="FAD541"/>
    <a:srgbClr val="386F2F"/>
    <a:srgbClr val="0D7BCF"/>
    <a:srgbClr val="770AB6"/>
    <a:srgbClr val="BFBFBF"/>
    <a:srgbClr val="F3F4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275" autoAdjust="0"/>
    <p:restoredTop sz="94660" autoAdjust="0"/>
  </p:normalViewPr>
  <p:slideViewPr>
    <p:cSldViewPr snapToGrid="0" showGuides="1">
      <p:cViewPr varScale="1">
        <p:scale>
          <a:sx n="85" d="100"/>
          <a:sy n="85" d="100"/>
        </p:scale>
        <p:origin x="96" y="162"/>
      </p:cViewPr>
      <p:guideLst>
        <p:guide orient="horz" pos="2161"/>
        <p:guide pos="2547"/>
      </p:guideLst>
    </p:cSldViewPr>
  </p:slideViewPr>
  <p:notesTextViewPr>
    <p:cViewPr>
      <p:scale>
        <a:sx n="1" d="1"/>
        <a:sy n="1" d="1"/>
      </p:scale>
      <p:origin x="0" y="0"/>
    </p:cViewPr>
  </p:notesTextViewPr>
  <p:sorterViewPr showFormatting="0">
    <p:cViewPr>
      <p:scale>
        <a:sx n="100" d="100"/>
        <a:sy n="100" d="100"/>
      </p:scale>
      <p:origin x="0" y="0"/>
    </p:cViewPr>
  </p:sorterViewPr>
  <p:gridSpacing cx="72006" cy="72006"/>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29.xml"/><Relationship Id="rId35" Type="http://schemas.openxmlformats.org/officeDocument/2006/relationships/slide" Target="slides/slide28.xml"/><Relationship Id="rId34" Type="http://schemas.openxmlformats.org/officeDocument/2006/relationships/slide" Target="slides/slide27.xml"/><Relationship Id="rId33" Type="http://schemas.openxmlformats.org/officeDocument/2006/relationships/slide" Target="slides/slide26.xml"/><Relationship Id="rId32" Type="http://schemas.openxmlformats.org/officeDocument/2006/relationships/slide" Target="slides/slide25.xml"/><Relationship Id="rId31" Type="http://schemas.openxmlformats.org/officeDocument/2006/relationships/slide" Target="slides/slide24.xml"/><Relationship Id="rId30" Type="http://schemas.openxmlformats.org/officeDocument/2006/relationships/slide" Target="slides/slide23.xml"/><Relationship Id="rId3" Type="http://schemas.openxmlformats.org/officeDocument/2006/relationships/slideMaster" Target="slideMasters/slideMaster2.xml"/><Relationship Id="rId29" Type="http://schemas.openxmlformats.org/officeDocument/2006/relationships/slide" Target="slides/slide22.xml"/><Relationship Id="rId28" Type="http://schemas.openxmlformats.org/officeDocument/2006/relationships/slide" Target="slides/slide21.xml"/><Relationship Id="rId27" Type="http://schemas.openxmlformats.org/officeDocument/2006/relationships/slide" Target="slides/slide20.xml"/><Relationship Id="rId26" Type="http://schemas.openxmlformats.org/officeDocument/2006/relationships/slide" Target="slides/slide19.xml"/><Relationship Id="rId25" Type="http://schemas.openxmlformats.org/officeDocument/2006/relationships/slide" Target="slides/slide18.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notesMaster" Target="notesMasters/notesMaster1.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01029E-4C94-4213-86BF-E60BAC2C145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FCA173-1C42-4226-B669-291C410F467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若存在控制使得安全函数在离散时间上不会下降得太快，则由</a:t>
            </a:r>
            <a:r>
              <a:rPr lang="en-US" altLang="zh-CN">
                <a:sym typeface="+mn-ea"/>
              </a:rPr>
              <a:t> h(x)≥0 </a:t>
            </a:r>
            <a:r>
              <a:rPr lang="zh-CN" altLang="en-US">
                <a:sym typeface="+mn-ea"/>
              </a:rPr>
              <a:t>定义的安全集在离散系统下保持正不变</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多线性</a:t>
            </a:r>
            <a:r>
              <a:rPr lang="en-US" altLang="zh-CN"/>
              <a:t>+min</a:t>
            </a:r>
            <a:r>
              <a:rPr lang="zh-CN" altLang="en-US"/>
              <a:t>聚合的千层</a:t>
            </a:r>
            <a:r>
              <a:rPr lang="zh-CN" altLang="en-US"/>
              <a:t>网络</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关键</a:t>
            </a:r>
            <a:r>
              <a:rPr lang="zh-CN" altLang="en-US"/>
              <a:t>页</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①</a:t>
            </a:r>
            <a:r>
              <a:rPr lang="en-US" altLang="zh-CN"/>
              <a:t> </a:t>
            </a:r>
            <a:r>
              <a:rPr lang="zh-CN" altLang="en-US"/>
              <a:t>加性扰动</a:t>
            </a:r>
            <a:endParaRPr lang="zh-CN" altLang="en-US"/>
          </a:p>
          <a:p>
            <a:r>
              <a:rPr lang="zh-CN" altLang="en-US"/>
              <a:t>常见于：</a:t>
            </a:r>
            <a:endParaRPr lang="zh-CN" altLang="en-US"/>
          </a:p>
          <a:p>
            <a:endParaRPr lang="en-US" altLang="zh-CN"/>
          </a:p>
          <a:p>
            <a:r>
              <a:rPr lang="zh-CN" altLang="en-US"/>
              <a:t>外界不确定输入</a:t>
            </a:r>
            <a:endParaRPr lang="zh-CN" altLang="en-US"/>
          </a:p>
          <a:p>
            <a:endParaRPr lang="en-US" altLang="zh-CN"/>
          </a:p>
          <a:p>
            <a:r>
              <a:rPr lang="zh-CN" altLang="en-US"/>
              <a:t>未建模动态</a:t>
            </a:r>
            <a:r>
              <a:rPr lang="en-US" altLang="zh-CN"/>
              <a:t> lumped disturbance</a:t>
            </a:r>
            <a:endParaRPr lang="en-US" altLang="zh-CN"/>
          </a:p>
          <a:p>
            <a:endParaRPr lang="en-US" altLang="zh-CN"/>
          </a:p>
          <a:p>
            <a:r>
              <a:rPr lang="zh-CN" altLang="en-US"/>
              <a:t>误差补偿（</a:t>
            </a:r>
            <a:r>
              <a:rPr lang="en-US" altLang="zh-CN"/>
              <a:t>CBF/MPC</a:t>
            </a:r>
            <a:r>
              <a:rPr lang="zh-CN" altLang="en-US"/>
              <a:t>常用）</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说有这个性质即可，不用说证明</a:t>
            </a:r>
            <a:r>
              <a:rPr lang="zh-CN" altLang="en-US"/>
              <a:t>思路</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说有这个性质即可，不用说证明思路</a:t>
            </a:r>
            <a:endParaRPr lang="zh-CN" altLang="en-US"/>
          </a:p>
          <a:p>
            <a:endParaRPr lang="zh-CN" altLang="en-US"/>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6853EE98-342B-4370-8BAE-BB21091FA911}"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E10049C-5E59-424C-94EE-5C1C2C0F458C}" type="slidenum">
              <a:rPr lang="zh-CN" altLang="en-US"/>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3"/>
          <p:cNvSpPr>
            <a:spLocks noGrp="1"/>
          </p:cNvSpPr>
          <p:nvPr>
            <p:ph type="dt" sz="half" idx="10"/>
          </p:nvPr>
        </p:nvSpPr>
        <p:spPr/>
        <p:txBody>
          <a:bodyPr/>
          <a:lstStyle>
            <a:lvl1pPr>
              <a:defRPr/>
            </a:lvl1pPr>
          </a:lstStyle>
          <a:p>
            <a:pPr>
              <a:defRPr/>
            </a:pPr>
            <a:fld id="{21396011-453D-4BE7-9436-1188581E2634}"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62EAA43E-4E42-41FD-95EB-1864143DCD8C}" type="slidenum">
              <a:rPr lang="zh-CN" altLang="en-US"/>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3" name="矩形 22"/>
          <p:cNvSpPr/>
          <p:nvPr userDrawn="1"/>
        </p:nvSpPr>
        <p:spPr>
          <a:xfrm>
            <a:off x="0" y="0"/>
            <a:ext cx="9833610" cy="668655"/>
          </a:xfrm>
          <a:prstGeom prst="rect">
            <a:avLst/>
          </a:prstGeom>
          <a:gradFill>
            <a:gsLst>
              <a:gs pos="0">
                <a:schemeClr val="accent1">
                  <a:lumMod val="5000"/>
                  <a:lumOff val="95000"/>
                  <a:alpha val="36000"/>
                </a:schemeClr>
              </a:gs>
              <a:gs pos="95000">
                <a:schemeClr val="bg1"/>
              </a:gs>
              <a:gs pos="0">
                <a:schemeClr val="bg1"/>
              </a:gs>
              <a:gs pos="23000">
                <a:schemeClr val="bg2"/>
              </a:gs>
              <a:gs pos="86000">
                <a:srgbClr val="4B649F"/>
              </a:gs>
            </a:gsLst>
            <a:lin ang="1080000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日期占位符 3"/>
          <p:cNvSpPr>
            <a:spLocks noGrp="1"/>
          </p:cNvSpPr>
          <p:nvPr>
            <p:ph type="dt" sz="half" idx="10"/>
          </p:nvPr>
        </p:nvSpPr>
        <p:spPr/>
        <p:txBody>
          <a:bodyPr/>
          <a:lstStyle>
            <a:lvl1pPr>
              <a:defRPr/>
            </a:lvl1pPr>
          </a:lstStyle>
          <a:p>
            <a:pPr>
              <a:defRPr/>
            </a:pPr>
            <a:fld id="{2DB1EC62-347D-4A98-921E-5479D47C56BC}" type="datetimeFigureOut">
              <a:rPr lang="zh-CN" altLang="en-US"/>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a:xfrm>
            <a:off x="9448800" y="6356350"/>
            <a:ext cx="2385695" cy="365125"/>
          </a:xfrm>
        </p:spPr>
        <p:txBody>
          <a:bodyPr/>
          <a:lstStyle>
            <a:lvl1pPr>
              <a:defRPr sz="1600">
                <a:solidFill>
                  <a:schemeClr val="accent6"/>
                </a:solidFill>
              </a:defRPr>
            </a:lvl1pPr>
          </a:lstStyle>
          <a:p>
            <a:pPr>
              <a:defRPr/>
            </a:pPr>
            <a:fld id="{AC6C5647-07D8-4AFC-B347-73DA68F3AADD}" type="slidenum">
              <a:rPr lang="zh-CN" altLang="en-US"/>
            </a:fld>
            <a:endParaRPr lang="en-US" altLang="zh-CN"/>
          </a:p>
        </p:txBody>
      </p:sp>
      <p:pic>
        <p:nvPicPr>
          <p:cNvPr id="35842" name="图片 1"/>
          <p:cNvPicPr>
            <a:picLocks noChangeAspect="1" noChangeArrowheads="1"/>
          </p:cNvPicPr>
          <p:nvPr userDrawn="1"/>
        </p:nvPicPr>
        <p:blipFill>
          <a:blip r:embed="rId2">
            <a:clrChange>
              <a:clrFrom>
                <a:srgbClr val="000000">
                  <a:alpha val="0"/>
                </a:srgbClr>
              </a:clrFrom>
              <a:clrTo>
                <a:srgbClr val="000000">
                  <a:alpha val="0"/>
                  <a:alpha val="0"/>
                </a:srgbClr>
              </a:clrTo>
            </a:clrChange>
            <a:extLst>
              <a:ext uri="{28A0092B-C50C-407E-A947-70E740481C1C}">
                <a14:useLocalDpi xmlns:a14="http://schemas.microsoft.com/office/drawing/2010/main" val="0"/>
              </a:ext>
            </a:extLst>
          </a:blip>
          <a:srcRect/>
          <a:stretch>
            <a:fillRect/>
          </a:stretch>
        </p:blipFill>
        <p:spPr bwMode="auto">
          <a:xfrm>
            <a:off x="8583930" y="0"/>
            <a:ext cx="3608070"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15"/>
          <p:cNvSpPr/>
          <p:nvPr userDrawn="1"/>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20" name="文本占位符 19"/>
          <p:cNvSpPr>
            <a:spLocks noGrp="1"/>
          </p:cNvSpPr>
          <p:nvPr>
            <p:ph type="body" idx="1"/>
          </p:nvPr>
        </p:nvSpPr>
        <p:spPr>
          <a:xfrm>
            <a:off x="831850" y="5733415"/>
            <a:ext cx="10515600" cy="356235"/>
          </a:xfrm>
          <a:prstGeom prst="rect">
            <a:avLst/>
          </a:prstGeom>
        </p:spPr>
        <p:txBody>
          <a:bodyPr/>
          <a:lstStyle>
            <a:lvl1pPr marL="0" indent="0" algn="ctr">
              <a:buNone/>
              <a:defRPr sz="1800">
                <a:solidFill>
                  <a:srgbClr val="FF0000"/>
                </a:solidFill>
                <a:latin typeface="微软雅黑" panose="020B0503020204020204" pitchFamily="34" charset="-122"/>
                <a:ea typeface="微软雅黑" panose="020B0503020204020204" pitchFamily="3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endParaRPr lang="zh-CN" altLang="en-US" noProof="1"/>
          </a:p>
        </p:txBody>
      </p:sp>
      <p:pic>
        <p:nvPicPr>
          <p:cNvPr id="29" name="图片 28" descr="HIT logo-ud(1)"/>
          <p:cNvPicPr>
            <a:picLocks noChangeAspect="1"/>
          </p:cNvPicPr>
          <p:nvPr userDrawn="1"/>
        </p:nvPicPr>
        <p:blipFill>
          <a:blip r:embed="rId3"/>
          <a:stretch>
            <a:fillRect/>
          </a:stretch>
        </p:blipFill>
        <p:spPr>
          <a:xfrm>
            <a:off x="-45720" y="-129540"/>
            <a:ext cx="846455" cy="819785"/>
          </a:xfrm>
          <a:prstGeom prst="rect">
            <a:avLst/>
          </a:prstGeom>
        </p:spPr>
      </p:pic>
      <p:sp>
        <p:nvSpPr>
          <p:cNvPr id="32" name="文本占位符 31"/>
          <p:cNvSpPr>
            <a:spLocks noGrp="1"/>
          </p:cNvSpPr>
          <p:nvPr>
            <p:ph type="body" idx="13" hasCustomPrompt="1"/>
          </p:nvPr>
        </p:nvSpPr>
        <p:spPr>
          <a:xfrm>
            <a:off x="0" y="670560"/>
            <a:ext cx="4404995" cy="448310"/>
          </a:xfrm>
          <a:prstGeom prst="rect">
            <a:avLst/>
          </a:prstGeom>
        </p:spPr>
        <p:txBody>
          <a:bodyPr/>
          <a:lstStyle>
            <a:lvl1pPr marL="0" marR="0" lvl="0" indent="0" algn="l" rtl="0" eaLnBrk="0" fontAlgn="base" latinLnBrk="0" hangingPunct="0">
              <a:lnSpc>
                <a:spcPct val="90000"/>
              </a:lnSpc>
              <a:spcBef>
                <a:spcPts val="1000"/>
              </a:spcBef>
              <a:buClrTx/>
              <a:buSzTx/>
              <a:buFontTx/>
              <a:buNone/>
              <a:defRPr kumimoji="0" lang="zh-CN" altLang="en-US" sz="2400" b="1" i="0" u="none" strike="noStrike" kern="1200" cap="none" spc="0" normalizeH="0" baseline="0" noProof="1">
                <a:solidFill>
                  <a:srgbClr val="4E67C8"/>
                </a:solid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sym typeface="+mn-ea"/>
              </a:rPr>
              <a:t>&gt;&gt;&gt;</a:t>
            </a:r>
            <a:r>
              <a:rPr lang="zh-CN" altLang="en-US" noProof="1"/>
              <a:t>单击此处编辑母版文本样式</a:t>
            </a:r>
            <a:endParaRPr lang="zh-CN" altLang="en-US" noProof="1"/>
          </a:p>
        </p:txBody>
      </p:sp>
      <p:sp>
        <p:nvSpPr>
          <p:cNvPr id="33" name="文本占位符 32"/>
          <p:cNvSpPr>
            <a:spLocks noGrp="1"/>
          </p:cNvSpPr>
          <p:nvPr>
            <p:ph type="body" idx="14"/>
          </p:nvPr>
        </p:nvSpPr>
        <p:spPr>
          <a:xfrm>
            <a:off x="805180" y="111760"/>
            <a:ext cx="5647055" cy="448310"/>
          </a:xfrm>
          <a:prstGeom prst="rect">
            <a:avLst/>
          </a:prstGeom>
        </p:spPr>
        <p:txBody>
          <a:bodyPr/>
          <a:lstStyle>
            <a:lvl1pPr marL="0" marR="0" lvl="0" indent="0" algn="l" rtl="0" eaLnBrk="0" fontAlgn="base" latinLnBrk="0" hangingPunct="0">
              <a:lnSpc>
                <a:spcPct val="90000"/>
              </a:lnSpc>
              <a:spcBef>
                <a:spcPts val="1000"/>
              </a:spcBef>
              <a:buClrTx/>
              <a:buSzTx/>
              <a:buFontTx/>
              <a:buNone/>
              <a:defRPr kumimoji="0" lang="zh-CN" altLang="en-US" sz="2800" b="1" i="0" u="none" strike="noStrike" kern="1200" cap="none" spc="0" normalizeH="0" baseline="0" noProof="1">
                <a:solidFill>
                  <a:schemeClr val="bg1"/>
                </a:solid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endParaRPr lang="zh-CN" altLang="en-US" noProof="1"/>
          </a:p>
        </p:txBody>
      </p:sp>
      <p:sp>
        <p:nvSpPr>
          <p:cNvPr id="2" name="文本框 1"/>
          <p:cNvSpPr txBox="1"/>
          <p:nvPr userDrawn="1"/>
        </p:nvSpPr>
        <p:spPr>
          <a:xfrm>
            <a:off x="11658600" y="6370320"/>
            <a:ext cx="487680" cy="337185"/>
          </a:xfrm>
          <a:prstGeom prst="rect">
            <a:avLst/>
          </a:prstGeom>
          <a:noFill/>
        </p:spPr>
        <p:txBody>
          <a:bodyPr wrap="square" rtlCol="0">
            <a:spAutoFit/>
          </a:bodyPr>
          <a:p>
            <a:r>
              <a:rPr lang="zh-CN" altLang="en-US" sz="1600">
                <a:solidFill>
                  <a:schemeClr val="accent6"/>
                </a:solidFill>
                <a:latin typeface="+mn-lt"/>
                <a:ea typeface="+mn-ea"/>
              </a:rPr>
              <a:t>/2</a:t>
            </a:r>
            <a:r>
              <a:rPr lang="en-US" altLang="zh-CN" sz="1600">
                <a:solidFill>
                  <a:schemeClr val="accent6"/>
                </a:solidFill>
                <a:latin typeface="+mn-lt"/>
                <a:ea typeface="+mn-ea"/>
              </a:rPr>
              <a:t>9</a:t>
            </a:r>
            <a:endParaRPr lang="en-US" altLang="zh-CN" sz="1600">
              <a:solidFill>
                <a:schemeClr val="accent6"/>
              </a:solidFill>
              <a:latin typeface="+mn-lt"/>
              <a:ea typeface="+mn-ea"/>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noProof="1"/>
              <a:t>单击此处编辑母版标题样式</a:t>
            </a:r>
            <a:endParaRPr lang="zh-CN" altLang="en-US" noProof="1"/>
          </a:p>
        </p:txBody>
      </p:sp>
      <p:sp>
        <p:nvSpPr>
          <p:cNvPr id="3" name="日期占位符 3"/>
          <p:cNvSpPr>
            <a:spLocks noGrp="1"/>
          </p:cNvSpPr>
          <p:nvPr>
            <p:ph type="dt" sz="half" idx="10"/>
          </p:nvPr>
        </p:nvSpPr>
        <p:spPr/>
        <p:txBody>
          <a:bodyPr/>
          <a:lstStyle>
            <a:lvl1pPr>
              <a:defRPr/>
            </a:lvl1pPr>
          </a:lstStyle>
          <a:p>
            <a:pPr>
              <a:defRPr/>
            </a:pPr>
            <a:fld id="{35EBAAC5-2BFE-4A0C-9A02-E5E659A03C10}" type="datetimeFigureOut">
              <a:rPr lang="zh-CN" altLang="en-US"/>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9AE887F6-2C8B-4822-A827-641DC9AD62B5}" type="slidenum">
              <a:rPr lang="zh-CN" altLang="en-US"/>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7C6611-C4CB-4BA6-B035-A55273F25979}"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6ED60EC5-1F68-43A4-8033-85A1E47CD70C}" type="slidenum">
              <a:rPr lang="zh-CN" altLang="en-US"/>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9A91152E-3773-4828-A481-3BBADD8182E6}"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8252C27-6C02-449A-826C-B06AD7EC37CC}" type="slidenum">
              <a:rPr lang="zh-CN" altLang="en-US"/>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62206DFD-FF14-4E71-B6B1-F326971755E6}"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5C5220C9-5398-427F-A013-579C55CC2E91}" type="slidenum">
              <a:rPr lang="zh-CN" altLang="en-US"/>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10;文本">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0AAE50F9-2A0E-49BA-8A1C-835C098BFE7B}"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6539BC37-D643-4620-903A-0D018C61960A}" type="slidenum">
              <a:rPr lang="zh-CN" altLang="en-US"/>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80A1E08-E625-40D8-8DA7-460526028600}"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A2CC8A3F-753C-4E62-94DD-6E7A2EE97D82}" type="slidenum">
              <a:rPr lang="zh-CN" altLang="en-US" smtClean="0"/>
            </a:fld>
            <a:endParaRPr lang="zh-CN" alt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838200" y="1825625"/>
            <a:ext cx="10515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80A1E08-E625-40D8-8DA7-460526028600}"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A2CC8A3F-753C-4E62-94DD-6E7A2EE97D82}" type="slidenum">
              <a:rPr lang="zh-CN" altLang="en-US" smtClean="0"/>
            </a:fld>
            <a:endParaRPr lang="zh-CN" altLang="en-US"/>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80A1E08-E625-40D8-8DA7-460526028600}"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A2CC8A3F-753C-4E62-94DD-6E7A2EE97D82}" type="slidenum">
              <a:rPr lang="zh-CN" altLang="en-US" smtClean="0"/>
            </a:fld>
            <a:endParaRPr lang="zh-CN" alt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380A1E08-E625-40D8-8DA7-460526028600}"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A2CC8A3F-753C-4E62-94DD-6E7A2EE97D82}" type="slidenum">
              <a:rPr lang="zh-CN" altLang="en-US" smtClean="0"/>
            </a:fld>
            <a:endParaRPr lang="zh-CN" altLang="en-US"/>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380A1E08-E625-40D8-8DA7-460526028600}"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A2CC8A3F-753C-4E62-94DD-6E7A2EE97D82}" type="slidenum">
              <a:rPr lang="zh-CN" altLang="en-US" smtClean="0"/>
            </a:fld>
            <a:endParaRPr lang="zh-CN" altLang="en-US"/>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380A1E08-E625-40D8-8DA7-460526028600}"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A2CC8A3F-753C-4E62-94DD-6E7A2EE97D82}" type="slidenum">
              <a:rPr lang="zh-CN" altLang="en-US" smtClean="0"/>
            </a:fld>
            <a:endParaRPr lang="zh-CN" altLang="en-US"/>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380A1E08-E625-40D8-8DA7-460526028600}"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A2CC8A3F-753C-4E62-94DD-6E7A2EE97D82}" type="slidenum">
              <a:rPr lang="zh-CN" altLang="en-US" smtClean="0"/>
            </a:fld>
            <a:endParaRPr lang="zh-CN" altLang="en-US"/>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380A1E08-E625-40D8-8DA7-460526028600}"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A2CC8A3F-753C-4E62-94DD-6E7A2EE97D82}" type="slidenum">
              <a:rPr lang="zh-CN" altLang="en-US" smtClean="0"/>
            </a:fld>
            <a:endParaRPr lang="zh-CN" altLang="en-US"/>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380A1E08-E625-40D8-8DA7-460526028600}"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A2CC8A3F-753C-4E62-94DD-6E7A2EE97D82}" type="slidenum">
              <a:rPr lang="zh-CN" altLang="en-US" smtClean="0"/>
            </a:fld>
            <a:endParaRPr lang="zh-CN" altLang="en-US"/>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1825625"/>
            <a:ext cx="10515600" cy="43513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80A1E08-E625-40D8-8DA7-460526028600}"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A2CC8A3F-753C-4E62-94DD-6E7A2EE97D82}" type="slidenum">
              <a:rPr lang="zh-CN" altLang="en-US" smtClean="0"/>
            </a:fld>
            <a:endParaRPr lang="zh-CN" altLang="en-US"/>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80A1E08-E625-40D8-8DA7-460526028600}"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A2CC8A3F-753C-4E62-94DD-6E7A2EE97D82}" type="slidenum">
              <a:rPr lang="zh-CN" altLang="en-US" smtClean="0"/>
            </a:fld>
            <a:endParaRPr lang="zh-CN" altLang="en-US"/>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1CE6E560-ADEC-41E6-854E-DAC06D5AFEC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D4D1AA-1B48-4F17-8DC6-3D113FDD2CC1}" type="slidenum">
              <a:rPr lang="zh-CN" altLang="en-US" smtClean="0"/>
            </a:fld>
            <a:endParaRPr lang="zh-CN" altLang="en-US"/>
          </a:p>
        </p:txBody>
      </p:sp>
    </p:spTree>
  </p:cSld>
  <p:clrMapOvr>
    <a:masterClrMapping/>
  </p:clrMapOvr>
  <p:transition advTm="20000"/>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CE6E560-ADEC-41E6-854E-DAC06D5AFEC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D4D1AA-1B48-4F17-8DC6-3D113FDD2CC1}" type="slidenum">
              <a:rPr lang="zh-CN" altLang="en-US" smtClean="0"/>
            </a:fld>
            <a:endParaRPr lang="zh-CN" altLang="en-US"/>
          </a:p>
        </p:txBody>
      </p:sp>
    </p:spTree>
  </p:cSld>
  <p:clrMapOvr>
    <a:masterClrMapping/>
  </p:clrMapOvr>
  <p:transition advTm="20000"/>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1CE6E560-ADEC-41E6-854E-DAC06D5AFEC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D4D1AA-1B48-4F17-8DC6-3D113FDD2CC1}" type="slidenum">
              <a:rPr lang="zh-CN" altLang="en-US" smtClean="0"/>
            </a:fld>
            <a:endParaRPr lang="zh-CN" altLang="en-US"/>
          </a:p>
        </p:txBody>
      </p:sp>
    </p:spTree>
  </p:cSld>
  <p:clrMapOvr>
    <a:masterClrMapping/>
  </p:clrMapOvr>
  <p:transition advTm="20000"/>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1CE6E560-ADEC-41E6-854E-DAC06D5AFEC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D4D1AA-1B48-4F17-8DC6-3D113FDD2CC1}" type="slidenum">
              <a:rPr lang="zh-CN" altLang="en-US" smtClean="0"/>
            </a:fld>
            <a:endParaRPr lang="zh-CN" altLang="en-US"/>
          </a:p>
        </p:txBody>
      </p:sp>
    </p:spTree>
  </p:cSld>
  <p:clrMapOvr>
    <a:masterClrMapping/>
  </p:clrMapOvr>
  <p:transition advTm="20000"/>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1CE6E560-ADEC-41E6-854E-DAC06D5AFEC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1D4D1AA-1B48-4F17-8DC6-3D113FDD2CC1}" type="slidenum">
              <a:rPr lang="zh-CN" altLang="en-US" smtClean="0"/>
            </a:fld>
            <a:endParaRPr lang="zh-CN" altLang="en-US"/>
          </a:p>
        </p:txBody>
      </p:sp>
    </p:spTree>
  </p:cSld>
  <p:clrMapOvr>
    <a:masterClrMapping/>
  </p:clrMapOvr>
  <p:transition advTm="20000"/>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1CE6E560-ADEC-41E6-854E-DAC06D5AFEC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1D4D1AA-1B48-4F17-8DC6-3D113FDD2CC1}" type="slidenum">
              <a:rPr lang="zh-CN" altLang="en-US" smtClean="0"/>
            </a:fld>
            <a:endParaRPr lang="zh-CN" altLang="en-US"/>
          </a:p>
        </p:txBody>
      </p:sp>
    </p:spTree>
  </p:cSld>
  <p:clrMapOvr>
    <a:masterClrMapping/>
  </p:clrMapOvr>
  <p:transition advTm="20000"/>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CE6E560-ADEC-41E6-854E-DAC06D5AFEC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1D4D1AA-1B48-4F17-8DC6-3D113FDD2CC1}" type="slidenum">
              <a:rPr lang="zh-CN" altLang="en-US" smtClean="0"/>
            </a:fld>
            <a:endParaRPr lang="zh-CN" altLang="en-US"/>
          </a:p>
        </p:txBody>
      </p:sp>
    </p:spTree>
  </p:cSld>
  <p:clrMapOvr>
    <a:masterClrMapping/>
  </p:clrMapOvr>
  <p:transition advTm="20000"/>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CE6E560-ADEC-41E6-854E-DAC06D5AFEC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D4D1AA-1B48-4F17-8DC6-3D113FDD2CC1}" type="slidenum">
              <a:rPr lang="zh-CN" altLang="en-US" smtClean="0"/>
            </a:fld>
            <a:endParaRPr lang="zh-CN" altLang="en-US"/>
          </a:p>
        </p:txBody>
      </p:sp>
    </p:spTree>
  </p:cSld>
  <p:clrMapOvr>
    <a:masterClrMapping/>
  </p:clrMapOvr>
  <p:transition advTm="20000"/>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CE6E560-ADEC-41E6-854E-DAC06D5AFEC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D4D1AA-1B48-4F17-8DC6-3D113FDD2CC1}" type="slidenum">
              <a:rPr lang="zh-CN" altLang="en-US" smtClean="0"/>
            </a:fld>
            <a:endParaRPr lang="zh-CN" altLang="en-US"/>
          </a:p>
        </p:txBody>
      </p:sp>
    </p:spTree>
  </p:cSld>
  <p:clrMapOvr>
    <a:masterClrMapping/>
  </p:clrMapOvr>
  <p:transition advTm="20000"/>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CE6E560-ADEC-41E6-854E-DAC06D5AFEC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D4D1AA-1B48-4F17-8DC6-3D113FDD2CC1}" type="slidenum">
              <a:rPr lang="zh-CN" altLang="en-US" smtClean="0"/>
            </a:fld>
            <a:endParaRPr lang="zh-CN" altLang="en-US"/>
          </a:p>
        </p:txBody>
      </p:sp>
    </p:spTree>
  </p:cSld>
  <p:clrMapOvr>
    <a:masterClrMapping/>
  </p:clrMapOvr>
  <p:transition advTm="20000"/>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CE6E560-ADEC-41E6-854E-DAC06D5AFEC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D4D1AA-1B48-4F17-8DC6-3D113FDD2CC1}" type="slidenum">
              <a:rPr lang="zh-CN" altLang="en-US" smtClean="0"/>
            </a:fld>
            <a:endParaRPr lang="zh-CN" altLang="en-US"/>
          </a:p>
        </p:txBody>
      </p:sp>
    </p:spTree>
  </p:cSld>
  <p:clrMapOvr>
    <a:masterClrMapping/>
  </p:clrMapOvr>
  <p:transition advTm="20000"/>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5DA2C498-F5FE-4DC2-B3E4-F42A363E694B}"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8370CE69-2AFC-471F-895A-454C52B90952}" type="slidenum">
              <a:rPr lang="zh-CN" altLang="en-US" smtClean="0"/>
            </a:fld>
            <a:endParaRPr lang="zh-CN" altLang="en-US"/>
          </a:p>
        </p:txBody>
      </p:sp>
    </p:spTree>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838200" y="1825625"/>
            <a:ext cx="10515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5DA2C498-F5FE-4DC2-B3E4-F42A363E694B}"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8370CE69-2AFC-471F-895A-454C52B90952}" type="slidenum">
              <a:rPr lang="zh-CN" altLang="en-US" smtClean="0"/>
            </a:fld>
            <a:endParaRPr lang="zh-CN" altLang="en-US"/>
          </a:p>
        </p:txBody>
      </p:sp>
    </p:spTree>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5DA2C498-F5FE-4DC2-B3E4-F42A363E694B}"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8370CE69-2AFC-471F-895A-454C52B90952}" type="slidenum">
              <a:rPr lang="zh-CN" altLang="en-US" smtClean="0"/>
            </a:fld>
            <a:endParaRPr lang="zh-CN" altLang="en-US"/>
          </a:p>
        </p:txBody>
      </p:sp>
    </p:spTree>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5DA2C498-F5FE-4DC2-B3E4-F42A363E694B}"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8370CE69-2AFC-471F-895A-454C52B90952}" type="slidenum">
              <a:rPr lang="zh-CN" altLang="en-US" smtClean="0"/>
            </a:fld>
            <a:endParaRPr lang="zh-CN" altLang="en-US"/>
          </a:p>
        </p:txBody>
      </p:sp>
    </p:spTree>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5DA2C498-F5FE-4DC2-B3E4-F42A363E694B}"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8370CE69-2AFC-471F-895A-454C52B90952}" type="slidenum">
              <a:rPr lang="zh-CN" altLang="en-US" smtClean="0"/>
            </a:fld>
            <a:endParaRPr lang="zh-CN" altLang="en-US"/>
          </a:p>
        </p:txBody>
      </p:sp>
    </p:spTree>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5DA2C498-F5FE-4DC2-B3E4-F42A363E694B}"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8370CE69-2AFC-471F-895A-454C52B90952}" type="slidenum">
              <a:rPr lang="zh-CN" altLang="en-US" smtClean="0"/>
            </a:fld>
            <a:endParaRPr lang="zh-CN" altLang="en-US"/>
          </a:p>
        </p:txBody>
      </p:sp>
    </p:spTree>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5DA2C498-F5FE-4DC2-B3E4-F42A363E694B}"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8370CE69-2AFC-471F-895A-454C52B90952}" type="slidenum">
              <a:rPr lang="zh-CN" altLang="en-US" smtClean="0"/>
            </a:fld>
            <a:endParaRPr lang="zh-CN" altLang="en-US"/>
          </a:p>
        </p:txBody>
      </p:sp>
    </p:spTree>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5DA2C498-F5FE-4DC2-B3E4-F42A363E694B}"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8370CE69-2AFC-471F-895A-454C52B90952}" type="slidenum">
              <a:rPr lang="zh-CN" altLang="en-US" smtClean="0"/>
            </a:fld>
            <a:endParaRPr lang="zh-CN" altLang="en-US"/>
          </a:p>
        </p:txBody>
      </p:sp>
    </p:spTree>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5DA2C498-F5FE-4DC2-B3E4-F42A363E694B}"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8370CE69-2AFC-471F-895A-454C52B90952}" type="slidenum">
              <a:rPr lang="zh-CN" altLang="en-US" smtClean="0"/>
            </a:fld>
            <a:endParaRPr lang="zh-CN" altLang="en-US"/>
          </a:p>
        </p:txBody>
      </p:sp>
    </p:spTree>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1825625"/>
            <a:ext cx="10515600" cy="43513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5DA2C498-F5FE-4DC2-B3E4-F42A363E694B}"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8370CE69-2AFC-471F-895A-454C52B90952}" type="slidenum">
              <a:rPr lang="zh-CN" altLang="en-US" smtClean="0"/>
            </a:fld>
            <a:endParaRPr lang="zh-CN" altLang="en-US"/>
          </a:p>
        </p:txBody>
      </p:sp>
    </p:spTree>
  </p:cSld>
  <p:clrMapOvr>
    <a:masterClrMapping/>
  </p:clrMapOvr>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5DA2C498-F5FE-4DC2-B3E4-F42A363E694B}"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8370CE69-2AFC-471F-895A-454C52B90952}" type="slidenum">
              <a:rPr lang="zh-CN" altLang="en-US" smtClean="0"/>
            </a:fld>
            <a:endParaRPr lang="zh-CN" altLang="en-US"/>
          </a:p>
        </p:txBody>
      </p:sp>
    </p:spTree>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Tree>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6853EE98-342B-4370-8BAE-BB21091FA911}"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E10049C-5E59-424C-94EE-5C1C2C0F458C}" type="slidenum">
              <a:rPr lang="zh-CN" altLang="en-US"/>
            </a:fld>
            <a:endParaRPr lang="zh-CN" altLang="en-US"/>
          </a:p>
        </p:txBody>
      </p:sp>
    </p:spTree>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3"/>
          <p:cNvSpPr>
            <a:spLocks noGrp="1"/>
          </p:cNvSpPr>
          <p:nvPr>
            <p:ph type="dt" sz="half" idx="10"/>
          </p:nvPr>
        </p:nvSpPr>
        <p:spPr/>
        <p:txBody>
          <a:bodyPr/>
          <a:lstStyle>
            <a:lvl1pPr>
              <a:defRPr/>
            </a:lvl1pPr>
          </a:lstStyle>
          <a:p>
            <a:pPr>
              <a:defRPr/>
            </a:pPr>
            <a:fld id="{21396011-453D-4BE7-9436-1188581E2634}"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62EAA43E-4E42-41FD-95EB-1864143DCD8C}" type="slidenum">
              <a:rPr lang="zh-CN" altLang="en-US"/>
            </a:fld>
            <a:endParaRPr lang="zh-CN" altLang="en-US"/>
          </a:p>
        </p:txBody>
      </p:sp>
    </p:spTree>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3" name="矩形 22"/>
          <p:cNvSpPr/>
          <p:nvPr userDrawn="1"/>
        </p:nvSpPr>
        <p:spPr>
          <a:xfrm>
            <a:off x="0" y="0"/>
            <a:ext cx="9833610" cy="668655"/>
          </a:xfrm>
          <a:prstGeom prst="rect">
            <a:avLst/>
          </a:prstGeom>
          <a:gradFill>
            <a:gsLst>
              <a:gs pos="0">
                <a:schemeClr val="accent1">
                  <a:lumMod val="5000"/>
                  <a:lumOff val="95000"/>
                  <a:alpha val="36000"/>
                </a:schemeClr>
              </a:gs>
              <a:gs pos="95000">
                <a:schemeClr val="bg1"/>
              </a:gs>
              <a:gs pos="0">
                <a:schemeClr val="bg1"/>
              </a:gs>
              <a:gs pos="23000">
                <a:schemeClr val="bg2"/>
              </a:gs>
              <a:gs pos="86000">
                <a:srgbClr val="4B649F"/>
              </a:gs>
            </a:gsLst>
            <a:lin ang="1080000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800"/>
          </a:p>
        </p:txBody>
      </p:sp>
      <p:sp>
        <p:nvSpPr>
          <p:cNvPr id="7" name="日期占位符 3"/>
          <p:cNvSpPr>
            <a:spLocks noGrp="1"/>
          </p:cNvSpPr>
          <p:nvPr>
            <p:ph type="dt" sz="half" idx="10"/>
          </p:nvPr>
        </p:nvSpPr>
        <p:spPr/>
        <p:txBody>
          <a:bodyPr/>
          <a:lstStyle>
            <a:lvl1pPr>
              <a:defRPr/>
            </a:lvl1pPr>
          </a:lstStyle>
          <a:p>
            <a:pPr>
              <a:defRPr/>
            </a:pPr>
            <a:fld id="{2DB1EC62-347D-4A98-921E-5479D47C56BC}" type="datetimeFigureOut">
              <a:rPr lang="zh-CN" altLang="en-US"/>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AC6C5647-07D8-4AFC-B347-73DA68F3AADD}" type="slidenum">
              <a:rPr lang="zh-CN" altLang="en-US"/>
            </a:fld>
            <a:endParaRPr lang="zh-CN" altLang="en-US"/>
          </a:p>
        </p:txBody>
      </p:sp>
      <p:pic>
        <p:nvPicPr>
          <p:cNvPr id="35842" name="图片 1"/>
          <p:cNvPicPr>
            <a:picLocks noChangeAspect="1" noChangeArrowheads="1"/>
          </p:cNvPicPr>
          <p:nvPr userDrawn="1"/>
        </p:nvPicPr>
        <p:blipFill>
          <a:blip r:embed="rId2">
            <a:clrChange>
              <a:clrFrom>
                <a:srgbClr val="000000">
                  <a:alpha val="0"/>
                </a:srgbClr>
              </a:clrFrom>
              <a:clrTo>
                <a:srgbClr val="000000">
                  <a:alpha val="0"/>
                  <a:alpha val="0"/>
                </a:srgbClr>
              </a:clrTo>
            </a:clrChange>
            <a:extLst>
              <a:ext uri="{28A0092B-C50C-407E-A947-70E740481C1C}">
                <a14:useLocalDpi xmlns:a14="http://schemas.microsoft.com/office/drawing/2010/main" val="0"/>
              </a:ext>
            </a:extLst>
          </a:blip>
          <a:srcRect/>
          <a:stretch>
            <a:fillRect/>
          </a:stretch>
        </p:blipFill>
        <p:spPr bwMode="auto">
          <a:xfrm>
            <a:off x="8583930" y="0"/>
            <a:ext cx="3608070"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15"/>
          <p:cNvSpPr/>
          <p:nvPr userDrawn="1"/>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sz="1800" noProof="1"/>
          </a:p>
        </p:txBody>
      </p:sp>
      <p:sp>
        <p:nvSpPr>
          <p:cNvPr id="20" name="文本占位符 19"/>
          <p:cNvSpPr>
            <a:spLocks noGrp="1"/>
          </p:cNvSpPr>
          <p:nvPr>
            <p:ph type="body" idx="1"/>
          </p:nvPr>
        </p:nvSpPr>
        <p:spPr>
          <a:xfrm>
            <a:off x="831850" y="4589463"/>
            <a:ext cx="10515600" cy="1500187"/>
          </a:xfrm>
          <a:prstGeom prst="rect">
            <a:avLst/>
          </a:prstGeom>
        </p:spPr>
        <p:txBody>
          <a:bodyPr/>
          <a:lstStyle>
            <a:lvl1pPr marL="0" indent="0" algn="ctr">
              <a:buNone/>
              <a:defRPr sz="1800">
                <a:solidFill>
                  <a:srgbClr val="FF0000"/>
                </a:solidFill>
                <a:latin typeface="微软雅黑" panose="020B0503020204020204" pitchFamily="34" charset="-122"/>
                <a:ea typeface="微软雅黑" panose="020B0503020204020204" pitchFamily="3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endParaRPr lang="zh-CN" altLang="en-US" noProof="1"/>
          </a:p>
        </p:txBody>
      </p:sp>
      <p:pic>
        <p:nvPicPr>
          <p:cNvPr id="29" name="图片 28" descr="HIT logo-ud(1)"/>
          <p:cNvPicPr>
            <a:picLocks noChangeAspect="1"/>
          </p:cNvPicPr>
          <p:nvPr userDrawn="1"/>
        </p:nvPicPr>
        <p:blipFill>
          <a:blip r:embed="rId3"/>
          <a:stretch>
            <a:fillRect/>
          </a:stretch>
        </p:blipFill>
        <p:spPr>
          <a:xfrm>
            <a:off x="-45720" y="-129540"/>
            <a:ext cx="846455" cy="819785"/>
          </a:xfrm>
          <a:prstGeom prst="rect">
            <a:avLst/>
          </a:prstGeom>
        </p:spPr>
      </p:pic>
      <p:sp>
        <p:nvSpPr>
          <p:cNvPr id="32" name="文本占位符 31"/>
          <p:cNvSpPr>
            <a:spLocks noGrp="1"/>
          </p:cNvSpPr>
          <p:nvPr>
            <p:ph type="body" idx="13" hasCustomPrompt="1"/>
          </p:nvPr>
        </p:nvSpPr>
        <p:spPr>
          <a:xfrm>
            <a:off x="0" y="670560"/>
            <a:ext cx="4404995" cy="448310"/>
          </a:xfrm>
          <a:prstGeom prst="rect">
            <a:avLst/>
          </a:prstGeom>
        </p:spPr>
        <p:txBody>
          <a:bodyPr/>
          <a:lstStyle>
            <a:lvl1pPr marL="0" marR="0" lvl="0" indent="0" algn="l" rtl="0" eaLnBrk="0" fontAlgn="base" latinLnBrk="0" hangingPunct="0">
              <a:lnSpc>
                <a:spcPct val="90000"/>
              </a:lnSpc>
              <a:spcBef>
                <a:spcPts val="1000"/>
              </a:spcBef>
              <a:buClrTx/>
              <a:buSzTx/>
              <a:buFontTx/>
              <a:buNone/>
              <a:defRPr kumimoji="0" lang="zh-CN" altLang="en-US" sz="2400" b="1" i="0" u="none" strike="noStrike" kern="1200" cap="none" spc="0" normalizeH="0" baseline="0" noProof="1">
                <a:solidFill>
                  <a:srgbClr val="4E67C8"/>
                </a:solid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sym typeface="+mn-ea"/>
              </a:rPr>
              <a:t>&gt;&gt;&gt;</a:t>
            </a:r>
            <a:r>
              <a:rPr lang="zh-CN" altLang="en-US" noProof="1"/>
              <a:t>单击此处编辑母版文本样式</a:t>
            </a:r>
            <a:endParaRPr lang="zh-CN" altLang="en-US" noProof="1"/>
          </a:p>
        </p:txBody>
      </p:sp>
      <p:sp>
        <p:nvSpPr>
          <p:cNvPr id="33" name="文本占位符 32"/>
          <p:cNvSpPr>
            <a:spLocks noGrp="1"/>
          </p:cNvSpPr>
          <p:nvPr>
            <p:ph type="body" idx="14"/>
          </p:nvPr>
        </p:nvSpPr>
        <p:spPr>
          <a:xfrm>
            <a:off x="805180" y="111760"/>
            <a:ext cx="5647055" cy="448310"/>
          </a:xfrm>
          <a:prstGeom prst="rect">
            <a:avLst/>
          </a:prstGeom>
        </p:spPr>
        <p:txBody>
          <a:bodyPr/>
          <a:lstStyle>
            <a:lvl1pPr marL="0" marR="0" lvl="0" indent="0" algn="l" rtl="0" eaLnBrk="0" fontAlgn="base" latinLnBrk="0" hangingPunct="0">
              <a:lnSpc>
                <a:spcPct val="90000"/>
              </a:lnSpc>
              <a:spcBef>
                <a:spcPts val="1000"/>
              </a:spcBef>
              <a:buClrTx/>
              <a:buSzTx/>
              <a:buFontTx/>
              <a:buNone/>
              <a:defRPr kumimoji="0" lang="zh-CN" altLang="en-US" sz="2800" b="1" i="0" u="none" strike="noStrike" kern="1200" cap="none" spc="0" normalizeH="0" baseline="0" noProof="1">
                <a:solidFill>
                  <a:schemeClr val="bg1"/>
                </a:solid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endParaRPr lang="zh-CN" altLang="en-US" noProof="1"/>
          </a:p>
        </p:txBody>
      </p:sp>
    </p:spTree>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noProof="1"/>
              <a:t>单击此处编辑母版标题样式</a:t>
            </a:r>
            <a:endParaRPr lang="zh-CN" altLang="en-US" noProof="1"/>
          </a:p>
        </p:txBody>
      </p:sp>
      <p:sp>
        <p:nvSpPr>
          <p:cNvPr id="3" name="日期占位符 3"/>
          <p:cNvSpPr>
            <a:spLocks noGrp="1"/>
          </p:cNvSpPr>
          <p:nvPr>
            <p:ph type="dt" sz="half" idx="10"/>
          </p:nvPr>
        </p:nvSpPr>
        <p:spPr/>
        <p:txBody>
          <a:bodyPr/>
          <a:lstStyle>
            <a:lvl1pPr>
              <a:defRPr/>
            </a:lvl1pPr>
          </a:lstStyle>
          <a:p>
            <a:pPr>
              <a:defRPr/>
            </a:pPr>
            <a:fld id="{35EBAAC5-2BFE-4A0C-9A02-E5E659A03C10}" type="datetimeFigureOut">
              <a:rPr lang="zh-CN" altLang="en-US"/>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9AE887F6-2C8B-4822-A827-641DC9AD62B5}" type="slidenum">
              <a:rPr lang="zh-CN" altLang="en-US"/>
            </a:fld>
            <a:endParaRPr lang="zh-CN" altLang="en-US"/>
          </a:p>
        </p:txBody>
      </p:sp>
    </p:spTree>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7C6611-C4CB-4BA6-B035-A55273F25979}"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6ED60EC5-1F68-43A4-8033-85A1E47CD70C}" type="slidenum">
              <a:rPr lang="zh-CN" altLang="en-US"/>
            </a:fld>
            <a:endParaRPr lang="zh-CN" altLang="en-US"/>
          </a:p>
        </p:txBody>
      </p:sp>
    </p:spTree>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9A91152E-3773-4828-A481-3BBADD8182E6}"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8252C27-6C02-449A-826C-B06AD7EC37CC}" type="slidenum">
              <a:rPr lang="zh-CN" altLang="en-US"/>
            </a:fld>
            <a:endParaRPr lang="zh-CN" altLang="en-US"/>
          </a:p>
        </p:txBody>
      </p:sp>
    </p:spTree>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62206DFD-FF14-4E71-B6B1-F326971755E6}"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5C5220C9-5398-427F-A013-579C55CC2E91}" type="slidenum">
              <a:rPr lang="zh-CN" altLang="en-US"/>
            </a:fld>
            <a:endParaRPr lang="zh-CN" altLang="en-US"/>
          </a:p>
        </p:txBody>
      </p:sp>
    </p:spTree>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垂直排列标题与&#10;文本">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0AAE50F9-2A0E-49BA-8A1C-835C098BFE7B}"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6539BC37-D643-4620-903A-0D018C61960A}" type="slidenum">
              <a:rPr lang="zh-CN" altLang="en-US"/>
            </a:fld>
            <a:endParaRPr lang="zh-CN"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hyperlink" Target="https://wenku.baidu.com/p/cir201?from=wenku" TargetMode="External"/><Relationship Id="rId13" Type="http://schemas.openxmlformats.org/officeDocument/2006/relationships/hyperlink" Target="http://gzccidtr.yanj.cn/" TargetMode="External"/><Relationship Id="rId12" Type="http://schemas.openxmlformats.org/officeDocument/2006/relationships/image" Target="../media/image3.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7" Type="http://schemas.openxmlformats.org/officeDocument/2006/relationships/theme" Target="../theme/theme3.xml"/><Relationship Id="rId16" Type="http://schemas.openxmlformats.org/officeDocument/2006/relationships/image" Target="../media/image6.jpeg"/><Relationship Id="rId15" Type="http://schemas.openxmlformats.org/officeDocument/2006/relationships/image" Target="../media/image5.png"/><Relationship Id="rId14" Type="http://schemas.openxmlformats.org/officeDocument/2006/relationships/hyperlink" Target="https://wenku.baidu.com/p/cir201?from=wenku" TargetMode="External"/><Relationship Id="rId13" Type="http://schemas.openxmlformats.org/officeDocument/2006/relationships/hyperlink" Target="http://gzccidtr.yanj.cn/" TargetMode="External"/><Relationship Id="rId12" Type="http://schemas.openxmlformats.org/officeDocument/2006/relationships/image" Target="../media/image4.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7" Type="http://schemas.openxmlformats.org/officeDocument/2006/relationships/theme" Target="../theme/theme4.xml"/><Relationship Id="rId16" Type="http://schemas.openxmlformats.org/officeDocument/2006/relationships/image" Target="../media/image6.jpeg"/><Relationship Id="rId15" Type="http://schemas.openxmlformats.org/officeDocument/2006/relationships/image" Target="../media/image5.png"/><Relationship Id="rId14" Type="http://schemas.openxmlformats.org/officeDocument/2006/relationships/hyperlink" Target="https://wenku.baidu.com/p/cir201?from=wenku" TargetMode="External"/><Relationship Id="rId13" Type="http://schemas.openxmlformats.org/officeDocument/2006/relationships/hyperlink" Target="http://gzccidtr.yanj.cn/" TargetMode="External"/><Relationship Id="rId12" Type="http://schemas.openxmlformats.org/officeDocument/2006/relationships/image" Target="../media/image7.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2" Type="http://schemas.openxmlformats.org/officeDocument/2006/relationships/theme" Target="../theme/theme5.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defRPr sz="1200" noProof="1">
                <a:solidFill>
                  <a:schemeClr val="tx1">
                    <a:tint val="75000"/>
                  </a:schemeClr>
                </a:solidFill>
                <a:latin typeface="+mn-lt"/>
                <a:ea typeface="+mn-ea"/>
              </a:defRPr>
            </a:lvl1pPr>
          </a:lstStyle>
          <a:p>
            <a:pPr>
              <a:defRPr/>
            </a:pPr>
            <a:fld id="{F156C3B3-7730-416A-AF19-5920DD2A8F31}" type="datetimeFigureOut">
              <a:rPr lang="zh-CN" altLang="en-US"/>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defRPr sz="1200" noProof="1">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defRPr sz="1200" noProof="1">
                <a:solidFill>
                  <a:schemeClr val="tx1">
                    <a:tint val="75000"/>
                  </a:schemeClr>
                </a:solidFill>
                <a:latin typeface="+mn-lt"/>
                <a:ea typeface="+mn-ea"/>
              </a:defRPr>
            </a:lvl1pPr>
          </a:lstStyle>
          <a:p>
            <a:pPr>
              <a:defRPr/>
            </a:pPr>
            <a:fld id="{79DBD48E-45EE-414C-B22A-618849C4E762}"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0" y="21138"/>
            <a:ext cx="12192000" cy="6858000"/>
          </a:xfrm>
          <a:prstGeom prst="rect">
            <a:avLst/>
          </a:prstGeom>
        </p:spPr>
      </p:pic>
      <p:sp>
        <p:nvSpPr>
          <p:cNvPr id="27" name="Rectangle 4"/>
          <p:cNvSpPr/>
          <p:nvPr userDrawn="1"/>
        </p:nvSpPr>
        <p:spPr>
          <a:xfrm>
            <a:off x="16591" y="4869160"/>
            <a:ext cx="12175410" cy="10462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更多共享课件与模板资源下载地址如下，也可以扫描右侧二维码下载。</a:t>
            </a:r>
            <a:endParaRPr lang="en-US" altLang="zh-CN" sz="2400" dirty="0">
              <a:solidFill>
                <a:schemeClr val="tx1"/>
              </a:solidFill>
            </a:endParaRPr>
          </a:p>
          <a:p>
            <a:pPr algn="ctr"/>
            <a:r>
              <a:rPr lang="en-US" altLang="zh-CN" sz="2400" dirty="0">
                <a:solidFill>
                  <a:schemeClr val="tx1"/>
                </a:solidFill>
                <a:hlinkClick r:id="rId13"/>
              </a:rPr>
              <a:t>http://gzccidtr.yanj.cn/</a:t>
            </a:r>
            <a:r>
              <a:rPr lang="en-US" altLang="zh-CN" sz="2400" dirty="0">
                <a:solidFill>
                  <a:schemeClr val="tx1"/>
                </a:solidFill>
              </a:rPr>
              <a:t>   </a:t>
            </a:r>
            <a:r>
              <a:rPr lang="en-US" altLang="zh-CN" sz="2400" dirty="0">
                <a:solidFill>
                  <a:schemeClr val="tx1"/>
                </a:solidFill>
                <a:hlinkClick r:id="rId14"/>
              </a:rPr>
              <a:t>https://wenku.baidu.com/p/cir201?from=wenku</a:t>
            </a:r>
            <a:endParaRPr lang="zh-CN" altLang="en-US" sz="2400" dirty="0">
              <a:solidFill>
                <a:schemeClr val="tx1"/>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2F2F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E6E560-ADEC-41E6-854E-DAC06D5AFEC8}"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D4D1AA-1B48-4F17-8DC6-3D113FDD2CC1}" type="slidenum">
              <a:rPr lang="zh-CN" altLang="en-US" smtClean="0"/>
            </a:fld>
            <a:endParaRPr lang="zh-CN" altLang="en-US"/>
          </a:p>
        </p:txBody>
      </p:sp>
      <p:pic>
        <p:nvPicPr>
          <p:cNvPr id="10" name="图片 9" descr="图片包含 地图, 文字&#10;&#10;已生成极高可信度的说明"/>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16590" y="0"/>
            <a:ext cx="12216660" cy="6137413"/>
          </a:xfrm>
          <a:prstGeom prst="rect">
            <a:avLst/>
          </a:prstGeom>
        </p:spPr>
      </p:pic>
      <p:sp>
        <p:nvSpPr>
          <p:cNvPr id="11" name="Rectangle 4"/>
          <p:cNvSpPr/>
          <p:nvPr userDrawn="1"/>
        </p:nvSpPr>
        <p:spPr>
          <a:xfrm>
            <a:off x="16591" y="5805264"/>
            <a:ext cx="12175410" cy="104625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更多共享课件与模板资源下载地址如下，也可以扫描右侧二维码下载。</a:t>
            </a:r>
            <a:endParaRPr lang="en-US" altLang="zh-CN" sz="2400" dirty="0">
              <a:solidFill>
                <a:schemeClr val="tx1"/>
              </a:solidFill>
            </a:endParaRPr>
          </a:p>
          <a:p>
            <a:pPr algn="ctr"/>
            <a:r>
              <a:rPr lang="en-US" altLang="zh-CN" sz="2400" dirty="0">
                <a:solidFill>
                  <a:schemeClr val="tx1"/>
                </a:solidFill>
                <a:hlinkClick r:id="rId13"/>
              </a:rPr>
              <a:t>http://gzccidtr.yanj.cn/</a:t>
            </a:r>
            <a:r>
              <a:rPr lang="en-US" altLang="zh-CN" sz="2400" dirty="0">
                <a:solidFill>
                  <a:schemeClr val="tx1"/>
                </a:solidFill>
              </a:rPr>
              <a:t>   </a:t>
            </a:r>
            <a:r>
              <a:rPr lang="en-US" altLang="zh-CN" sz="2400" dirty="0">
                <a:solidFill>
                  <a:schemeClr val="tx1"/>
                </a:solidFill>
                <a:hlinkClick r:id="rId14"/>
              </a:rPr>
              <a:t>https://wenku.baidu.com/p/cir201?from=wenku</a:t>
            </a:r>
            <a:endParaRPr lang="zh-CN" altLang="en-US" sz="2400" dirty="0">
              <a:solidFill>
                <a:schemeClr val="tx1"/>
              </a:solidFill>
            </a:endParaRPr>
          </a:p>
        </p:txBody>
      </p:sp>
      <p:pic>
        <p:nvPicPr>
          <p:cNvPr id="13" name="图片 12"/>
          <p:cNvPicPr>
            <a:picLocks noChangeAspect="1"/>
          </p:cNvPicPr>
          <p:nvPr userDrawn="1"/>
        </p:nvPicPr>
        <p:blipFill>
          <a:blip r:embed="rId15">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5303912" y="331914"/>
            <a:ext cx="1358774" cy="1358774"/>
          </a:xfrm>
          <a:prstGeom prst="rect">
            <a:avLst/>
          </a:prstGeom>
        </p:spPr>
      </p:pic>
      <p:pic>
        <p:nvPicPr>
          <p:cNvPr id="14" name="图片 13"/>
          <p:cNvPicPr>
            <a:picLocks noChangeAspect="1"/>
          </p:cNvPicPr>
          <p:nvPr userDrawn="1"/>
        </p:nvPicPr>
        <p:blipFill rotWithShape="1">
          <a:blip r:embed="rId16">
            <a:duotone>
              <a:schemeClr val="accent2">
                <a:shade val="45000"/>
                <a:satMod val="135000"/>
              </a:schemeClr>
              <a:prstClr val="white"/>
            </a:duotone>
            <a:extLst>
              <a:ext uri="{28A0092B-C50C-407E-A947-70E740481C1C}">
                <a14:useLocalDpi xmlns:a14="http://schemas.microsoft.com/office/drawing/2010/main" val="0"/>
              </a:ext>
            </a:extLst>
          </a:blip>
          <a:srcRect l="85604" t="79479" r="-399" b="199"/>
          <a:stretch>
            <a:fillRect/>
          </a:stretch>
        </p:blipFill>
        <p:spPr>
          <a:xfrm>
            <a:off x="5303912" y="4081762"/>
            <a:ext cx="1728192" cy="1588565"/>
          </a:xfrm>
          <a:prstGeom prst="rect">
            <a:avLst/>
          </a:prstGeom>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advTm="20000"/>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3" name="图片 22" descr="图片包含 文字, 屏幕截图&#10;&#10;已生成高可信度的说明"/>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1" y="0"/>
            <a:ext cx="12107609" cy="6858000"/>
          </a:xfrm>
          <a:prstGeom prst="rect">
            <a:avLst/>
          </a:prstGeom>
        </p:spPr>
      </p:pic>
      <p:sp>
        <p:nvSpPr>
          <p:cNvPr id="24" name="Rectangle 4"/>
          <p:cNvSpPr/>
          <p:nvPr userDrawn="1"/>
        </p:nvSpPr>
        <p:spPr>
          <a:xfrm>
            <a:off x="16591" y="6165304"/>
            <a:ext cx="12175410" cy="68621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更多共享课件与模板资源下载地址如下，也可以扫描右侧二维码下载。</a:t>
            </a:r>
            <a:endParaRPr lang="en-US" altLang="zh-CN" sz="2400" dirty="0">
              <a:solidFill>
                <a:schemeClr val="tx1"/>
              </a:solidFill>
            </a:endParaRPr>
          </a:p>
          <a:p>
            <a:pPr algn="ctr"/>
            <a:r>
              <a:rPr lang="en-US" altLang="zh-CN" sz="2400" dirty="0">
                <a:solidFill>
                  <a:schemeClr val="tx1"/>
                </a:solidFill>
                <a:hlinkClick r:id="rId13"/>
              </a:rPr>
              <a:t>http://gzccidtr.yanj.cn/</a:t>
            </a:r>
            <a:r>
              <a:rPr lang="en-US" altLang="zh-CN" sz="2400" dirty="0">
                <a:solidFill>
                  <a:schemeClr val="tx1"/>
                </a:solidFill>
              </a:rPr>
              <a:t>         </a:t>
            </a:r>
            <a:r>
              <a:rPr lang="en-US" altLang="zh-CN" sz="2400" dirty="0">
                <a:solidFill>
                  <a:schemeClr val="tx1"/>
                </a:solidFill>
                <a:hlinkClick r:id="rId14"/>
              </a:rPr>
              <a:t>https://wenku.baidu.com/p/cir201?from=wenku</a:t>
            </a:r>
            <a:endParaRPr lang="zh-CN" altLang="en-US" sz="2400" dirty="0">
              <a:solidFill>
                <a:schemeClr val="tx1"/>
              </a:solidFill>
            </a:endParaRPr>
          </a:p>
        </p:txBody>
      </p:sp>
      <p:pic>
        <p:nvPicPr>
          <p:cNvPr id="25" name="图片 24"/>
          <p:cNvPicPr>
            <a:picLocks noChangeAspect="1"/>
          </p:cNvPicPr>
          <p:nvPr userDrawn="1"/>
        </p:nvPicPr>
        <p:blipFill>
          <a:blip r:embed="rId15">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9993810" y="4522887"/>
            <a:ext cx="1358774" cy="1358774"/>
          </a:xfrm>
          <a:prstGeom prst="rect">
            <a:avLst/>
          </a:prstGeom>
        </p:spPr>
      </p:pic>
      <p:pic>
        <p:nvPicPr>
          <p:cNvPr id="26" name="图片 25"/>
          <p:cNvPicPr>
            <a:picLocks noChangeAspect="1"/>
          </p:cNvPicPr>
          <p:nvPr userDrawn="1"/>
        </p:nvPicPr>
        <p:blipFill rotWithShape="1">
          <a:blip r:embed="rId16">
            <a:duotone>
              <a:schemeClr val="accent2">
                <a:shade val="45000"/>
                <a:satMod val="135000"/>
              </a:schemeClr>
              <a:prstClr val="white"/>
            </a:duotone>
            <a:extLst>
              <a:ext uri="{28A0092B-C50C-407E-A947-70E740481C1C}">
                <a14:useLocalDpi xmlns:a14="http://schemas.microsoft.com/office/drawing/2010/main" val="0"/>
              </a:ext>
            </a:extLst>
          </a:blip>
          <a:srcRect l="85604" t="79479" r="-399" b="199"/>
          <a:stretch>
            <a:fillRect/>
          </a:stretch>
        </p:blipFill>
        <p:spPr>
          <a:xfrm>
            <a:off x="7977586" y="4425476"/>
            <a:ext cx="1584176" cy="1456185"/>
          </a:xfrm>
          <a:prstGeom prst="rect">
            <a:avLst/>
          </a:prstGeom>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defRPr sz="1200" noProof="1">
                <a:solidFill>
                  <a:schemeClr val="tx1">
                    <a:tint val="75000"/>
                  </a:schemeClr>
                </a:solidFill>
                <a:latin typeface="+mn-lt"/>
                <a:ea typeface="+mn-ea"/>
              </a:defRPr>
            </a:lvl1pPr>
          </a:lstStyle>
          <a:p>
            <a:pPr>
              <a:defRPr/>
            </a:pPr>
            <a:fld id="{F156C3B3-7730-416A-AF19-5920DD2A8F31}" type="datetimeFigureOut">
              <a:rPr lang="zh-CN" altLang="en-US"/>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defRPr sz="1200" noProof="1">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defRPr sz="1200" noProof="1">
                <a:solidFill>
                  <a:schemeClr val="tx1">
                    <a:tint val="75000"/>
                  </a:schemeClr>
                </a:solidFill>
                <a:latin typeface="+mn-lt"/>
                <a:ea typeface="+mn-ea"/>
              </a:defRPr>
            </a:lvl1pPr>
          </a:lstStyle>
          <a:p>
            <a:pPr>
              <a:defRPr/>
            </a:pPr>
            <a:fld id="{79DBD48E-45EE-414C-B22A-618849C4E762}"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jpeg"/><Relationship Id="rId1"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10.pn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openxmlformats.org/officeDocument/2006/relationships/image" Target="../media/image13.jpeg"/><Relationship Id="rId4" Type="http://schemas.openxmlformats.org/officeDocument/2006/relationships/image" Target="../media/image12.jpeg"/><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6" Type="http://schemas.openxmlformats.org/officeDocument/2006/relationships/slideLayout" Target="../slideLayouts/slideLayout5.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5.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9.xml.rels><?xml version="1.0" encoding="UTF-8" standalone="yes"?>
<Relationships xmlns="http://schemas.openxmlformats.org/package/2006/relationships"><Relationship Id="rId9" Type="http://schemas.openxmlformats.org/officeDocument/2006/relationships/image" Target="../media/image32.png"/><Relationship Id="rId8" Type="http://schemas.openxmlformats.org/officeDocument/2006/relationships/image" Target="../media/image31.png"/><Relationship Id="rId7" Type="http://schemas.openxmlformats.org/officeDocument/2006/relationships/image" Target="../media/image30.png"/><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3" Type="http://schemas.openxmlformats.org/officeDocument/2006/relationships/notesSlide" Target="../notesSlides/notesSlide3.xml"/><Relationship Id="rId12" Type="http://schemas.openxmlformats.org/officeDocument/2006/relationships/slideLayout" Target="../slideLayouts/slideLayout5.xml"/><Relationship Id="rId11" Type="http://schemas.openxmlformats.org/officeDocument/2006/relationships/image" Target="../media/image34.png"/><Relationship Id="rId10" Type="http://schemas.openxmlformats.org/officeDocument/2006/relationships/image" Target="../media/image33.png"/><Relationship Id="rId1" Type="http://schemas.openxmlformats.org/officeDocument/2006/relationships/image" Target="../media/image24.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5.xml"/><Relationship Id="rId8" Type="http://schemas.openxmlformats.org/officeDocument/2006/relationships/image" Target="../media/image42.png"/><Relationship Id="rId7" Type="http://schemas.openxmlformats.org/officeDocument/2006/relationships/image" Target="../media/image41.png"/><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5.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openxmlformats.org/officeDocument/2006/relationships/image" Target="../media/image53.png"/><Relationship Id="rId4" Type="http://schemas.openxmlformats.org/officeDocument/2006/relationships/image" Target="../media/image52.png"/><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5.xml"/><Relationship Id="rId5" Type="http://schemas.openxmlformats.org/officeDocument/2006/relationships/image" Target="../media/image59.png"/><Relationship Id="rId4" Type="http://schemas.openxmlformats.org/officeDocument/2006/relationships/image" Target="../media/image58.png"/><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image" Target="../media/image55.png"/></Relationships>
</file>

<file path=ppt/slides/_rels/slide16.xml.rels><?xml version="1.0" encoding="UTF-8" standalone="yes"?>
<Relationships xmlns="http://schemas.openxmlformats.org/package/2006/relationships"><Relationship Id="rId9" Type="http://schemas.openxmlformats.org/officeDocument/2006/relationships/image" Target="../media/image68.png"/><Relationship Id="rId8" Type="http://schemas.openxmlformats.org/officeDocument/2006/relationships/image" Target="../media/image67.png"/><Relationship Id="rId7" Type="http://schemas.openxmlformats.org/officeDocument/2006/relationships/image" Target="../media/image66.png"/><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 Id="rId3" Type="http://schemas.openxmlformats.org/officeDocument/2006/relationships/image" Target="../media/image62.png"/><Relationship Id="rId2" Type="http://schemas.openxmlformats.org/officeDocument/2006/relationships/image" Target="../media/image61.png"/><Relationship Id="rId10" Type="http://schemas.openxmlformats.org/officeDocument/2006/relationships/slideLayout" Target="../slideLayouts/slideLayout5.xml"/><Relationship Id="rId1" Type="http://schemas.openxmlformats.org/officeDocument/2006/relationships/image" Target="../media/image60.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69.png"/></Relationships>
</file>

<file path=ppt/slides/_rels/slide18.xml.rels><?xml version="1.0" encoding="UTF-8" standalone="yes"?>
<Relationships xmlns="http://schemas.openxmlformats.org/package/2006/relationships"><Relationship Id="rId9" Type="http://schemas.openxmlformats.org/officeDocument/2006/relationships/image" Target="../media/image80.png"/><Relationship Id="rId8" Type="http://schemas.openxmlformats.org/officeDocument/2006/relationships/image" Target="../media/image79.png"/><Relationship Id="rId7" Type="http://schemas.openxmlformats.org/officeDocument/2006/relationships/image" Target="../media/image78.png"/><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 Id="rId3" Type="http://schemas.openxmlformats.org/officeDocument/2006/relationships/image" Target="../media/image74.png"/><Relationship Id="rId2" Type="http://schemas.openxmlformats.org/officeDocument/2006/relationships/image" Target="../media/image73.png"/><Relationship Id="rId10" Type="http://schemas.openxmlformats.org/officeDocument/2006/relationships/slideLayout" Target="../slideLayouts/slideLayout5.xml"/><Relationship Id="rId1" Type="http://schemas.openxmlformats.org/officeDocument/2006/relationships/image" Target="../media/image7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9" Type="http://schemas.openxmlformats.org/officeDocument/2006/relationships/image" Target="../media/image82.png"/><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image" Target="../media/image81.png"/><Relationship Id="rId2" Type="http://schemas.openxmlformats.org/officeDocument/2006/relationships/tags" Target="../tags/tag18.xml"/><Relationship Id="rId14" Type="http://schemas.openxmlformats.org/officeDocument/2006/relationships/slideLayout" Target="../slideLayouts/slideLayout5.xml"/><Relationship Id="rId13" Type="http://schemas.openxmlformats.org/officeDocument/2006/relationships/image" Target="../media/image84.png"/><Relationship Id="rId12" Type="http://schemas.openxmlformats.org/officeDocument/2006/relationships/image" Target="../media/image83.png"/><Relationship Id="rId11" Type="http://schemas.openxmlformats.org/officeDocument/2006/relationships/tags" Target="../tags/tag25.xml"/><Relationship Id="rId10" Type="http://schemas.openxmlformats.org/officeDocument/2006/relationships/tags" Target="../tags/tag24.xml"/><Relationship Id="rId1" Type="http://schemas.openxmlformats.org/officeDocument/2006/relationships/tags" Target="../tags/tag17.xml"/></Relationships>
</file>

<file path=ppt/slides/_rels/slide21.xml.rels><?xml version="1.0" encoding="UTF-8" standalone="yes"?>
<Relationships xmlns="http://schemas.openxmlformats.org/package/2006/relationships"><Relationship Id="rId9" Type="http://schemas.openxmlformats.org/officeDocument/2006/relationships/image" Target="../media/image93.png"/><Relationship Id="rId8" Type="http://schemas.openxmlformats.org/officeDocument/2006/relationships/image" Target="../media/image92.png"/><Relationship Id="rId7" Type="http://schemas.openxmlformats.org/officeDocument/2006/relationships/image" Target="../media/image91.png"/><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 Id="rId3" Type="http://schemas.openxmlformats.org/officeDocument/2006/relationships/image" Target="../media/image87.png"/><Relationship Id="rId2" Type="http://schemas.openxmlformats.org/officeDocument/2006/relationships/image" Target="../media/image86.png"/><Relationship Id="rId11" Type="http://schemas.openxmlformats.org/officeDocument/2006/relationships/slideLayout" Target="../slideLayouts/slideLayout5.xml"/><Relationship Id="rId10" Type="http://schemas.openxmlformats.org/officeDocument/2006/relationships/image" Target="../media/image94.png"/><Relationship Id="rId1" Type="http://schemas.openxmlformats.org/officeDocument/2006/relationships/image" Target="../media/image85.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95.png"/></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5.xml"/><Relationship Id="rId8" Type="http://schemas.openxmlformats.org/officeDocument/2006/relationships/image" Target="../media/image100.png"/><Relationship Id="rId7" Type="http://schemas.openxmlformats.org/officeDocument/2006/relationships/image" Target="../media/image99.png"/><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89.png"/><Relationship Id="rId3" Type="http://schemas.openxmlformats.org/officeDocument/2006/relationships/image" Target="../media/image88.png"/><Relationship Id="rId2" Type="http://schemas.openxmlformats.org/officeDocument/2006/relationships/image" Target="../media/image96.png"/><Relationship Id="rId1" Type="http://schemas.openxmlformats.org/officeDocument/2006/relationships/image" Target="../media/image85.png"/></Relationships>
</file>

<file path=ppt/slides/_rels/slide24.xml.rels><?xml version="1.0" encoding="UTF-8" standalone="yes"?>
<Relationships xmlns="http://schemas.openxmlformats.org/package/2006/relationships"><Relationship Id="rId9" Type="http://schemas.openxmlformats.org/officeDocument/2006/relationships/image" Target="../media/image104.png"/><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image" Target="../media/image103.png"/><Relationship Id="rId26" Type="http://schemas.openxmlformats.org/officeDocument/2006/relationships/notesSlide" Target="../notesSlides/notesSlide5.xml"/><Relationship Id="rId25" Type="http://schemas.openxmlformats.org/officeDocument/2006/relationships/slideLayout" Target="../slideLayouts/slideLayout5.xml"/><Relationship Id="rId24" Type="http://schemas.openxmlformats.org/officeDocument/2006/relationships/image" Target="../media/image108.png"/><Relationship Id="rId23" Type="http://schemas.openxmlformats.org/officeDocument/2006/relationships/tags" Target="../tags/tag41.xml"/><Relationship Id="rId22" Type="http://schemas.openxmlformats.org/officeDocument/2006/relationships/image" Target="../media/image107.png"/><Relationship Id="rId21" Type="http://schemas.openxmlformats.org/officeDocument/2006/relationships/tags" Target="../tags/tag40.xml"/><Relationship Id="rId20" Type="http://schemas.openxmlformats.org/officeDocument/2006/relationships/tags" Target="../tags/tag39.xml"/><Relationship Id="rId2" Type="http://schemas.openxmlformats.org/officeDocument/2006/relationships/image" Target="../media/image102.png"/><Relationship Id="rId19" Type="http://schemas.openxmlformats.org/officeDocument/2006/relationships/tags" Target="../tags/tag38.xml"/><Relationship Id="rId18" Type="http://schemas.openxmlformats.org/officeDocument/2006/relationships/image" Target="../media/image106.png"/><Relationship Id="rId17" Type="http://schemas.openxmlformats.org/officeDocument/2006/relationships/tags" Target="../tags/tag37.xml"/><Relationship Id="rId16" Type="http://schemas.openxmlformats.org/officeDocument/2006/relationships/tags" Target="../tags/tag36.xml"/><Relationship Id="rId15" Type="http://schemas.openxmlformats.org/officeDocument/2006/relationships/tags" Target="../tags/tag35.xml"/><Relationship Id="rId14" Type="http://schemas.openxmlformats.org/officeDocument/2006/relationships/tags" Target="../tags/tag34.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image" Target="../media/image105.png"/><Relationship Id="rId10" Type="http://schemas.openxmlformats.org/officeDocument/2006/relationships/tags" Target="../tags/tag31.xml"/><Relationship Id="rId1" Type="http://schemas.openxmlformats.org/officeDocument/2006/relationships/image" Target="../media/image10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image" Target="../media/image109.png"/></Relationships>
</file>

<file path=ppt/slides/_rels/slide26.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5.xml"/><Relationship Id="rId7" Type="http://schemas.openxmlformats.org/officeDocument/2006/relationships/image" Target="../media/image115.wmf"/><Relationship Id="rId6" Type="http://schemas.openxmlformats.org/officeDocument/2006/relationships/oleObject" Target="../embeddings/oleObject1.bin"/><Relationship Id="rId5" Type="http://schemas.openxmlformats.org/officeDocument/2006/relationships/image" Target="../media/image114.png"/><Relationship Id="rId4" Type="http://schemas.openxmlformats.org/officeDocument/2006/relationships/image" Target="../media/image113.png"/><Relationship Id="rId3" Type="http://schemas.openxmlformats.org/officeDocument/2006/relationships/image" Target="../media/image112.png"/><Relationship Id="rId2" Type="http://schemas.openxmlformats.org/officeDocument/2006/relationships/image" Target="../media/image111.png"/><Relationship Id="rId10" Type="http://schemas.openxmlformats.org/officeDocument/2006/relationships/notesSlide" Target="../notesSlides/notesSlide7.xml"/><Relationship Id="rId1" Type="http://schemas.openxmlformats.org/officeDocument/2006/relationships/image" Target="../media/image1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图片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26188" y="5200650"/>
            <a:ext cx="5865812"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任意多边形 47"/>
          <p:cNvSpPr/>
          <p:nvPr/>
        </p:nvSpPr>
        <p:spPr>
          <a:xfrm rot="5400000">
            <a:off x="2059305" y="-1601470"/>
            <a:ext cx="914400" cy="5032375"/>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grpSp>
        <p:nvGrpSpPr>
          <p:cNvPr id="62" name="组合 61"/>
          <p:cNvGrpSpPr/>
          <p:nvPr/>
        </p:nvGrpSpPr>
        <p:grpSpPr>
          <a:xfrm>
            <a:off x="550554" y="544121"/>
            <a:ext cx="1029952" cy="685949"/>
            <a:chOff x="5302250" y="2903538"/>
            <a:chExt cx="1587500" cy="1057276"/>
          </a:xfrm>
          <a:solidFill>
            <a:srgbClr val="4B649F"/>
          </a:solidFill>
        </p:grpSpPr>
        <p:sp>
          <p:nvSpPr>
            <p:cNvPr id="55" name="Freeform 84"/>
            <p:cNvSpPr/>
            <p:nvPr/>
          </p:nvSpPr>
          <p:spPr bwMode="auto">
            <a:xfrm>
              <a:off x="5362575" y="3040063"/>
              <a:ext cx="706438" cy="614363"/>
            </a:xfrm>
            <a:custGeom>
              <a:avLst/>
              <a:gdLst>
                <a:gd name="T0" fmla="*/ 181 w 187"/>
                <a:gd name="T1" fmla="*/ 49 h 162"/>
                <a:gd name="T2" fmla="*/ 187 w 187"/>
                <a:gd name="T3" fmla="*/ 66 h 162"/>
                <a:gd name="T4" fmla="*/ 187 w 187"/>
                <a:gd name="T5" fmla="*/ 162 h 162"/>
                <a:gd name="T6" fmla="*/ 176 w 187"/>
                <a:gd name="T7" fmla="*/ 153 h 162"/>
                <a:gd name="T8" fmla="*/ 92 w 187"/>
                <a:gd name="T9" fmla="*/ 115 h 162"/>
                <a:gd name="T10" fmla="*/ 73 w 187"/>
                <a:gd name="T11" fmla="*/ 114 h 162"/>
                <a:gd name="T12" fmla="*/ 8 w 187"/>
                <a:gd name="T13" fmla="*/ 131 h 162"/>
                <a:gd name="T14" fmla="*/ 1 w 187"/>
                <a:gd name="T15" fmla="*/ 131 h 162"/>
                <a:gd name="T16" fmla="*/ 2 w 187"/>
                <a:gd name="T17" fmla="*/ 126 h 162"/>
                <a:gd name="T18" fmla="*/ 26 w 187"/>
                <a:gd name="T19" fmla="*/ 70 h 162"/>
                <a:gd name="T20" fmla="*/ 48 w 187"/>
                <a:gd name="T21" fmla="*/ 20 h 162"/>
                <a:gd name="T22" fmla="*/ 53 w 187"/>
                <a:gd name="T23" fmla="*/ 13 h 162"/>
                <a:gd name="T24" fmla="*/ 62 w 187"/>
                <a:gd name="T25" fmla="*/ 9 h 162"/>
                <a:gd name="T26" fmla="*/ 130 w 187"/>
                <a:gd name="T27" fmla="*/ 11 h 162"/>
                <a:gd name="T28" fmla="*/ 181 w 187"/>
                <a:gd name="T29"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7" h="162">
                  <a:moveTo>
                    <a:pt x="181" y="49"/>
                  </a:moveTo>
                  <a:cubicBezTo>
                    <a:pt x="184" y="54"/>
                    <a:pt x="187" y="60"/>
                    <a:pt x="187" y="66"/>
                  </a:cubicBezTo>
                  <a:cubicBezTo>
                    <a:pt x="187" y="162"/>
                    <a:pt x="187" y="162"/>
                    <a:pt x="187" y="162"/>
                  </a:cubicBezTo>
                  <a:cubicBezTo>
                    <a:pt x="187" y="162"/>
                    <a:pt x="178" y="154"/>
                    <a:pt x="176" y="153"/>
                  </a:cubicBezTo>
                  <a:cubicBezTo>
                    <a:pt x="168" y="148"/>
                    <a:pt x="133" y="120"/>
                    <a:pt x="92" y="115"/>
                  </a:cubicBezTo>
                  <a:cubicBezTo>
                    <a:pt x="86" y="114"/>
                    <a:pt x="79" y="114"/>
                    <a:pt x="73" y="114"/>
                  </a:cubicBezTo>
                  <a:cubicBezTo>
                    <a:pt x="32" y="114"/>
                    <a:pt x="8" y="131"/>
                    <a:pt x="8" y="131"/>
                  </a:cubicBezTo>
                  <a:cubicBezTo>
                    <a:pt x="5" y="133"/>
                    <a:pt x="2" y="133"/>
                    <a:pt x="1" y="131"/>
                  </a:cubicBezTo>
                  <a:cubicBezTo>
                    <a:pt x="0" y="130"/>
                    <a:pt x="1" y="128"/>
                    <a:pt x="2" y="126"/>
                  </a:cubicBezTo>
                  <a:cubicBezTo>
                    <a:pt x="26" y="70"/>
                    <a:pt x="26" y="70"/>
                    <a:pt x="26" y="70"/>
                  </a:cubicBezTo>
                  <a:cubicBezTo>
                    <a:pt x="48" y="20"/>
                    <a:pt x="48" y="20"/>
                    <a:pt x="48" y="20"/>
                  </a:cubicBezTo>
                  <a:cubicBezTo>
                    <a:pt x="49" y="18"/>
                    <a:pt x="51" y="15"/>
                    <a:pt x="53" y="13"/>
                  </a:cubicBezTo>
                  <a:cubicBezTo>
                    <a:pt x="55" y="11"/>
                    <a:pt x="59" y="10"/>
                    <a:pt x="62" y="9"/>
                  </a:cubicBezTo>
                  <a:cubicBezTo>
                    <a:pt x="65" y="9"/>
                    <a:pt x="98" y="0"/>
                    <a:pt x="130" y="11"/>
                  </a:cubicBezTo>
                  <a:cubicBezTo>
                    <a:pt x="163" y="22"/>
                    <a:pt x="179" y="45"/>
                    <a:pt x="181"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56" name="Freeform 85"/>
            <p:cNvSpPr/>
            <p:nvPr/>
          </p:nvSpPr>
          <p:spPr bwMode="auto">
            <a:xfrm>
              <a:off x="6115050" y="2903538"/>
              <a:ext cx="400050" cy="747713"/>
            </a:xfrm>
            <a:custGeom>
              <a:avLst/>
              <a:gdLst>
                <a:gd name="T0" fmla="*/ 44 w 106"/>
                <a:gd name="T1" fmla="*/ 119 h 197"/>
                <a:gd name="T2" fmla="*/ 3 w 106"/>
                <a:gd name="T3" fmla="*/ 187 h 197"/>
                <a:gd name="T4" fmla="*/ 0 w 106"/>
                <a:gd name="T5" fmla="*/ 197 h 197"/>
                <a:gd name="T6" fmla="*/ 0 w 106"/>
                <a:gd name="T7" fmla="*/ 83 h 197"/>
                <a:gd name="T8" fmla="*/ 1 w 106"/>
                <a:gd name="T9" fmla="*/ 64 h 197"/>
                <a:gd name="T10" fmla="*/ 16 w 106"/>
                <a:gd name="T11" fmla="*/ 29 h 197"/>
                <a:gd name="T12" fmla="*/ 49 w 106"/>
                <a:gd name="T13" fmla="*/ 1 h 197"/>
                <a:gd name="T14" fmla="*/ 54 w 106"/>
                <a:gd name="T15" fmla="*/ 0 h 197"/>
                <a:gd name="T16" fmla="*/ 64 w 106"/>
                <a:gd name="T17" fmla="*/ 6 h 197"/>
                <a:gd name="T18" fmla="*/ 85 w 106"/>
                <a:gd name="T19" fmla="*/ 42 h 197"/>
                <a:gd name="T20" fmla="*/ 86 w 106"/>
                <a:gd name="T21" fmla="*/ 42 h 197"/>
                <a:gd name="T22" fmla="*/ 104 w 106"/>
                <a:gd name="T23" fmla="*/ 74 h 197"/>
                <a:gd name="T24" fmla="*/ 105 w 106"/>
                <a:gd name="T25" fmla="*/ 82 h 197"/>
                <a:gd name="T26" fmla="*/ 99 w 106"/>
                <a:gd name="T27" fmla="*/ 87 h 197"/>
                <a:gd name="T28" fmla="*/ 44 w 106"/>
                <a:gd name="T29" fmla="*/ 119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97">
                  <a:moveTo>
                    <a:pt x="44" y="119"/>
                  </a:moveTo>
                  <a:cubicBezTo>
                    <a:pt x="25" y="137"/>
                    <a:pt x="12" y="156"/>
                    <a:pt x="3" y="187"/>
                  </a:cubicBezTo>
                  <a:cubicBezTo>
                    <a:pt x="0" y="197"/>
                    <a:pt x="0" y="197"/>
                    <a:pt x="0" y="197"/>
                  </a:cubicBezTo>
                  <a:cubicBezTo>
                    <a:pt x="0" y="83"/>
                    <a:pt x="0" y="83"/>
                    <a:pt x="0" y="83"/>
                  </a:cubicBezTo>
                  <a:cubicBezTo>
                    <a:pt x="0" y="77"/>
                    <a:pt x="0" y="69"/>
                    <a:pt x="1" y="64"/>
                  </a:cubicBezTo>
                  <a:cubicBezTo>
                    <a:pt x="1" y="63"/>
                    <a:pt x="3" y="47"/>
                    <a:pt x="16" y="29"/>
                  </a:cubicBezTo>
                  <a:cubicBezTo>
                    <a:pt x="30" y="11"/>
                    <a:pt x="48" y="1"/>
                    <a:pt x="49" y="1"/>
                  </a:cubicBezTo>
                  <a:cubicBezTo>
                    <a:pt x="51" y="0"/>
                    <a:pt x="52" y="0"/>
                    <a:pt x="54" y="0"/>
                  </a:cubicBezTo>
                  <a:cubicBezTo>
                    <a:pt x="58" y="0"/>
                    <a:pt x="62" y="2"/>
                    <a:pt x="64" y="6"/>
                  </a:cubicBezTo>
                  <a:cubicBezTo>
                    <a:pt x="85" y="42"/>
                    <a:pt x="85" y="42"/>
                    <a:pt x="85" y="42"/>
                  </a:cubicBezTo>
                  <a:cubicBezTo>
                    <a:pt x="86" y="42"/>
                    <a:pt x="86" y="42"/>
                    <a:pt x="86" y="42"/>
                  </a:cubicBezTo>
                  <a:cubicBezTo>
                    <a:pt x="104" y="74"/>
                    <a:pt x="104" y="74"/>
                    <a:pt x="104" y="74"/>
                  </a:cubicBezTo>
                  <a:cubicBezTo>
                    <a:pt x="106" y="76"/>
                    <a:pt x="106" y="79"/>
                    <a:pt x="105" y="82"/>
                  </a:cubicBezTo>
                  <a:cubicBezTo>
                    <a:pt x="104" y="84"/>
                    <a:pt x="102" y="86"/>
                    <a:pt x="99" y="87"/>
                  </a:cubicBezTo>
                  <a:cubicBezTo>
                    <a:pt x="99" y="87"/>
                    <a:pt x="66" y="99"/>
                    <a:pt x="44"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57" name="Freeform 86"/>
            <p:cNvSpPr/>
            <p:nvPr/>
          </p:nvSpPr>
          <p:spPr bwMode="auto">
            <a:xfrm>
              <a:off x="6194425" y="3529013"/>
              <a:ext cx="642938" cy="160338"/>
            </a:xfrm>
            <a:custGeom>
              <a:avLst/>
              <a:gdLst>
                <a:gd name="T0" fmla="*/ 155 w 170"/>
                <a:gd name="T1" fmla="*/ 11 h 42"/>
                <a:gd name="T2" fmla="*/ 154 w 170"/>
                <a:gd name="T3" fmla="*/ 10 h 42"/>
                <a:gd name="T4" fmla="*/ 153 w 170"/>
                <a:gd name="T5" fmla="*/ 10 h 42"/>
                <a:gd name="T6" fmla="*/ 108 w 170"/>
                <a:gd name="T7" fmla="*/ 0 h 42"/>
                <a:gd name="T8" fmla="*/ 85 w 170"/>
                <a:gd name="T9" fmla="*/ 3 h 42"/>
                <a:gd name="T10" fmla="*/ 11 w 170"/>
                <a:gd name="T11" fmla="*/ 35 h 42"/>
                <a:gd name="T12" fmla="*/ 11 w 170"/>
                <a:gd name="T13" fmla="*/ 36 h 42"/>
                <a:gd name="T14" fmla="*/ 7 w 170"/>
                <a:gd name="T15" fmla="*/ 38 h 42"/>
                <a:gd name="T16" fmla="*/ 3 w 170"/>
                <a:gd name="T17" fmla="*/ 40 h 42"/>
                <a:gd name="T18" fmla="*/ 1 w 170"/>
                <a:gd name="T19" fmla="*/ 42 h 42"/>
                <a:gd name="T20" fmla="*/ 0 w 170"/>
                <a:gd name="T21" fmla="*/ 42 h 42"/>
                <a:gd name="T22" fmla="*/ 161 w 170"/>
                <a:gd name="T23" fmla="*/ 42 h 42"/>
                <a:gd name="T24" fmla="*/ 169 w 170"/>
                <a:gd name="T25" fmla="*/ 38 h 42"/>
                <a:gd name="T26" fmla="*/ 167 w 170"/>
                <a:gd name="T27" fmla="*/ 28 h 42"/>
                <a:gd name="T28" fmla="*/ 155 w 170"/>
                <a:gd name="T29"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42">
                  <a:moveTo>
                    <a:pt x="155" y="11"/>
                  </a:moveTo>
                  <a:cubicBezTo>
                    <a:pt x="155" y="11"/>
                    <a:pt x="154" y="10"/>
                    <a:pt x="154" y="10"/>
                  </a:cubicBezTo>
                  <a:cubicBezTo>
                    <a:pt x="153" y="10"/>
                    <a:pt x="153" y="10"/>
                    <a:pt x="153" y="10"/>
                  </a:cubicBezTo>
                  <a:cubicBezTo>
                    <a:pt x="152" y="9"/>
                    <a:pt x="132" y="0"/>
                    <a:pt x="108" y="0"/>
                  </a:cubicBezTo>
                  <a:cubicBezTo>
                    <a:pt x="100" y="0"/>
                    <a:pt x="92" y="1"/>
                    <a:pt x="85" y="3"/>
                  </a:cubicBezTo>
                  <a:cubicBezTo>
                    <a:pt x="46" y="15"/>
                    <a:pt x="15" y="33"/>
                    <a:pt x="11" y="35"/>
                  </a:cubicBezTo>
                  <a:cubicBezTo>
                    <a:pt x="11" y="36"/>
                    <a:pt x="11" y="36"/>
                    <a:pt x="11" y="36"/>
                  </a:cubicBezTo>
                  <a:cubicBezTo>
                    <a:pt x="10" y="36"/>
                    <a:pt x="9" y="37"/>
                    <a:pt x="7" y="38"/>
                  </a:cubicBezTo>
                  <a:cubicBezTo>
                    <a:pt x="6" y="39"/>
                    <a:pt x="4" y="40"/>
                    <a:pt x="3" y="40"/>
                  </a:cubicBezTo>
                  <a:cubicBezTo>
                    <a:pt x="2" y="41"/>
                    <a:pt x="2" y="41"/>
                    <a:pt x="1" y="42"/>
                  </a:cubicBezTo>
                  <a:cubicBezTo>
                    <a:pt x="0" y="42"/>
                    <a:pt x="0" y="42"/>
                    <a:pt x="0" y="42"/>
                  </a:cubicBezTo>
                  <a:cubicBezTo>
                    <a:pt x="161" y="42"/>
                    <a:pt x="161" y="42"/>
                    <a:pt x="161" y="42"/>
                  </a:cubicBezTo>
                  <a:cubicBezTo>
                    <a:pt x="165" y="42"/>
                    <a:pt x="167" y="41"/>
                    <a:pt x="169" y="38"/>
                  </a:cubicBezTo>
                  <a:cubicBezTo>
                    <a:pt x="170" y="35"/>
                    <a:pt x="169" y="32"/>
                    <a:pt x="167" y="28"/>
                  </a:cubicBezTo>
                  <a:cubicBezTo>
                    <a:pt x="167" y="28"/>
                    <a:pt x="162" y="20"/>
                    <a:pt x="15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58" name="Freeform 87"/>
            <p:cNvSpPr/>
            <p:nvPr/>
          </p:nvSpPr>
          <p:spPr bwMode="auto">
            <a:xfrm>
              <a:off x="5335588" y="3771901"/>
              <a:ext cx="1520825" cy="155575"/>
            </a:xfrm>
            <a:custGeom>
              <a:avLst/>
              <a:gdLst>
                <a:gd name="T0" fmla="*/ 402 w 402"/>
                <a:gd name="T1" fmla="*/ 24 h 41"/>
                <a:gd name="T2" fmla="*/ 385 w 402"/>
                <a:gd name="T3" fmla="*/ 41 h 41"/>
                <a:gd name="T4" fmla="*/ 382 w 402"/>
                <a:gd name="T5" fmla="*/ 41 h 41"/>
                <a:gd name="T6" fmla="*/ 232 w 402"/>
                <a:gd name="T7" fmla="*/ 28 h 41"/>
                <a:gd name="T8" fmla="*/ 217 w 402"/>
                <a:gd name="T9" fmla="*/ 34 h 41"/>
                <a:gd name="T10" fmla="*/ 216 w 402"/>
                <a:gd name="T11" fmla="*/ 35 h 41"/>
                <a:gd name="T12" fmla="*/ 201 w 402"/>
                <a:gd name="T13" fmla="*/ 40 h 41"/>
                <a:gd name="T14" fmla="*/ 201 w 402"/>
                <a:gd name="T15" fmla="*/ 40 h 41"/>
                <a:gd name="T16" fmla="*/ 186 w 402"/>
                <a:gd name="T17" fmla="*/ 35 h 41"/>
                <a:gd name="T18" fmla="*/ 185 w 402"/>
                <a:gd name="T19" fmla="*/ 34 h 41"/>
                <a:gd name="T20" fmla="*/ 170 w 402"/>
                <a:gd name="T21" fmla="*/ 28 h 41"/>
                <a:gd name="T22" fmla="*/ 20 w 402"/>
                <a:gd name="T23" fmla="*/ 41 h 41"/>
                <a:gd name="T24" fmla="*/ 17 w 402"/>
                <a:gd name="T25" fmla="*/ 41 h 41"/>
                <a:gd name="T26" fmla="*/ 0 w 402"/>
                <a:gd name="T27" fmla="*/ 24 h 41"/>
                <a:gd name="T28" fmla="*/ 16 w 402"/>
                <a:gd name="T29" fmla="*/ 7 h 41"/>
                <a:gd name="T30" fmla="*/ 17 w 402"/>
                <a:gd name="T31" fmla="*/ 7 h 41"/>
                <a:gd name="T32" fmla="*/ 164 w 402"/>
                <a:gd name="T33" fmla="*/ 0 h 41"/>
                <a:gd name="T34" fmla="*/ 177 w 402"/>
                <a:gd name="T35" fmla="*/ 6 h 41"/>
                <a:gd name="T36" fmla="*/ 182 w 402"/>
                <a:gd name="T37" fmla="*/ 6 h 41"/>
                <a:gd name="T38" fmla="*/ 194 w 402"/>
                <a:gd name="T39" fmla="*/ 0 h 41"/>
                <a:gd name="T40" fmla="*/ 208 w 402"/>
                <a:gd name="T41" fmla="*/ 0 h 41"/>
                <a:gd name="T42" fmla="*/ 220 w 402"/>
                <a:gd name="T43" fmla="*/ 6 h 41"/>
                <a:gd name="T44" fmla="*/ 225 w 402"/>
                <a:gd name="T45" fmla="*/ 6 h 41"/>
                <a:gd name="T46" fmla="*/ 238 w 402"/>
                <a:gd name="T47" fmla="*/ 0 h 41"/>
                <a:gd name="T48" fmla="*/ 385 w 402"/>
                <a:gd name="T49" fmla="*/ 7 h 41"/>
                <a:gd name="T50" fmla="*/ 386 w 402"/>
                <a:gd name="T51" fmla="*/ 7 h 41"/>
                <a:gd name="T52" fmla="*/ 402 w 402"/>
                <a:gd name="T53" fmla="*/ 2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2" h="41">
                  <a:moveTo>
                    <a:pt x="402" y="24"/>
                  </a:moveTo>
                  <a:cubicBezTo>
                    <a:pt x="402" y="33"/>
                    <a:pt x="394" y="41"/>
                    <a:pt x="385" y="41"/>
                  </a:cubicBezTo>
                  <a:cubicBezTo>
                    <a:pt x="384" y="41"/>
                    <a:pt x="383" y="41"/>
                    <a:pt x="382" y="41"/>
                  </a:cubicBezTo>
                  <a:cubicBezTo>
                    <a:pt x="232" y="28"/>
                    <a:pt x="232" y="28"/>
                    <a:pt x="232" y="28"/>
                  </a:cubicBezTo>
                  <a:cubicBezTo>
                    <a:pt x="227" y="28"/>
                    <a:pt x="220" y="31"/>
                    <a:pt x="217" y="34"/>
                  </a:cubicBezTo>
                  <a:cubicBezTo>
                    <a:pt x="217" y="34"/>
                    <a:pt x="217" y="34"/>
                    <a:pt x="216" y="35"/>
                  </a:cubicBezTo>
                  <a:cubicBezTo>
                    <a:pt x="214" y="38"/>
                    <a:pt x="208" y="40"/>
                    <a:pt x="201" y="40"/>
                  </a:cubicBezTo>
                  <a:cubicBezTo>
                    <a:pt x="201" y="40"/>
                    <a:pt x="201" y="40"/>
                    <a:pt x="201" y="40"/>
                  </a:cubicBezTo>
                  <a:cubicBezTo>
                    <a:pt x="194" y="40"/>
                    <a:pt x="188" y="38"/>
                    <a:pt x="186" y="35"/>
                  </a:cubicBezTo>
                  <a:cubicBezTo>
                    <a:pt x="185" y="34"/>
                    <a:pt x="185" y="34"/>
                    <a:pt x="185" y="34"/>
                  </a:cubicBezTo>
                  <a:cubicBezTo>
                    <a:pt x="182" y="31"/>
                    <a:pt x="175" y="28"/>
                    <a:pt x="170" y="28"/>
                  </a:cubicBezTo>
                  <a:cubicBezTo>
                    <a:pt x="20" y="41"/>
                    <a:pt x="20" y="41"/>
                    <a:pt x="20" y="41"/>
                  </a:cubicBezTo>
                  <a:cubicBezTo>
                    <a:pt x="19" y="41"/>
                    <a:pt x="18" y="41"/>
                    <a:pt x="17" y="41"/>
                  </a:cubicBezTo>
                  <a:cubicBezTo>
                    <a:pt x="8" y="41"/>
                    <a:pt x="0" y="33"/>
                    <a:pt x="0" y="24"/>
                  </a:cubicBezTo>
                  <a:cubicBezTo>
                    <a:pt x="0" y="15"/>
                    <a:pt x="7" y="8"/>
                    <a:pt x="16" y="7"/>
                  </a:cubicBezTo>
                  <a:cubicBezTo>
                    <a:pt x="16" y="7"/>
                    <a:pt x="16" y="7"/>
                    <a:pt x="17" y="7"/>
                  </a:cubicBezTo>
                  <a:cubicBezTo>
                    <a:pt x="164" y="0"/>
                    <a:pt x="164" y="0"/>
                    <a:pt x="164" y="0"/>
                  </a:cubicBezTo>
                  <a:cubicBezTo>
                    <a:pt x="169" y="0"/>
                    <a:pt x="175" y="2"/>
                    <a:pt x="177" y="6"/>
                  </a:cubicBezTo>
                  <a:cubicBezTo>
                    <a:pt x="178" y="10"/>
                    <a:pt x="181" y="10"/>
                    <a:pt x="182" y="6"/>
                  </a:cubicBezTo>
                  <a:cubicBezTo>
                    <a:pt x="183" y="2"/>
                    <a:pt x="189" y="0"/>
                    <a:pt x="194" y="0"/>
                  </a:cubicBezTo>
                  <a:cubicBezTo>
                    <a:pt x="208" y="0"/>
                    <a:pt x="208" y="0"/>
                    <a:pt x="208" y="0"/>
                  </a:cubicBezTo>
                  <a:cubicBezTo>
                    <a:pt x="213" y="0"/>
                    <a:pt x="219" y="2"/>
                    <a:pt x="220" y="6"/>
                  </a:cubicBezTo>
                  <a:cubicBezTo>
                    <a:pt x="221" y="10"/>
                    <a:pt x="224" y="10"/>
                    <a:pt x="225" y="6"/>
                  </a:cubicBezTo>
                  <a:cubicBezTo>
                    <a:pt x="227" y="2"/>
                    <a:pt x="233" y="0"/>
                    <a:pt x="238" y="0"/>
                  </a:cubicBezTo>
                  <a:cubicBezTo>
                    <a:pt x="385" y="7"/>
                    <a:pt x="385" y="7"/>
                    <a:pt x="385" y="7"/>
                  </a:cubicBezTo>
                  <a:cubicBezTo>
                    <a:pt x="386" y="7"/>
                    <a:pt x="386" y="7"/>
                    <a:pt x="386" y="7"/>
                  </a:cubicBezTo>
                  <a:cubicBezTo>
                    <a:pt x="395" y="8"/>
                    <a:pt x="402" y="15"/>
                    <a:pt x="40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59" name="Freeform 88"/>
            <p:cNvSpPr>
              <a:spLocks noEditPoints="1"/>
            </p:cNvSpPr>
            <p:nvPr/>
          </p:nvSpPr>
          <p:spPr bwMode="auto">
            <a:xfrm>
              <a:off x="5302250" y="3733801"/>
              <a:ext cx="1587500" cy="227013"/>
            </a:xfrm>
            <a:custGeom>
              <a:avLst/>
              <a:gdLst>
                <a:gd name="T0" fmla="*/ 394 w 420"/>
                <a:gd name="T1" fmla="*/ 60 h 60"/>
                <a:gd name="T2" fmla="*/ 394 w 420"/>
                <a:gd name="T3" fmla="*/ 60 h 60"/>
                <a:gd name="T4" fmla="*/ 391 w 420"/>
                <a:gd name="T5" fmla="*/ 60 h 60"/>
                <a:gd name="T6" fmla="*/ 390 w 420"/>
                <a:gd name="T7" fmla="*/ 60 h 60"/>
                <a:gd name="T8" fmla="*/ 240 w 420"/>
                <a:gd name="T9" fmla="*/ 47 h 60"/>
                <a:gd name="T10" fmla="*/ 240 w 420"/>
                <a:gd name="T11" fmla="*/ 47 h 60"/>
                <a:gd name="T12" fmla="*/ 235 w 420"/>
                <a:gd name="T13" fmla="*/ 49 h 60"/>
                <a:gd name="T14" fmla="*/ 235 w 420"/>
                <a:gd name="T15" fmla="*/ 52 h 60"/>
                <a:gd name="T16" fmla="*/ 230 w 420"/>
                <a:gd name="T17" fmla="*/ 53 h 60"/>
                <a:gd name="T18" fmla="*/ 210 w 420"/>
                <a:gd name="T19" fmla="*/ 59 h 60"/>
                <a:gd name="T20" fmla="*/ 210 w 420"/>
                <a:gd name="T21" fmla="*/ 59 h 60"/>
                <a:gd name="T22" fmla="*/ 190 w 420"/>
                <a:gd name="T23" fmla="*/ 53 h 60"/>
                <a:gd name="T24" fmla="*/ 186 w 420"/>
                <a:gd name="T25" fmla="*/ 52 h 60"/>
                <a:gd name="T26" fmla="*/ 185 w 420"/>
                <a:gd name="T27" fmla="*/ 49 h 60"/>
                <a:gd name="T28" fmla="*/ 180 w 420"/>
                <a:gd name="T29" fmla="*/ 47 h 60"/>
                <a:gd name="T30" fmla="*/ 29 w 420"/>
                <a:gd name="T31" fmla="*/ 60 h 60"/>
                <a:gd name="T32" fmla="*/ 26 w 420"/>
                <a:gd name="T33" fmla="*/ 60 h 60"/>
                <a:gd name="T34" fmla="*/ 0 w 420"/>
                <a:gd name="T35" fmla="*/ 34 h 60"/>
                <a:gd name="T36" fmla="*/ 25 w 420"/>
                <a:gd name="T37" fmla="*/ 8 h 60"/>
                <a:gd name="T38" fmla="*/ 25 w 420"/>
                <a:gd name="T39" fmla="*/ 8 h 60"/>
                <a:gd name="T40" fmla="*/ 173 w 420"/>
                <a:gd name="T41" fmla="*/ 1 h 60"/>
                <a:gd name="T42" fmla="*/ 188 w 420"/>
                <a:gd name="T43" fmla="*/ 5 h 60"/>
                <a:gd name="T44" fmla="*/ 203 w 420"/>
                <a:gd name="T45" fmla="*/ 0 h 60"/>
                <a:gd name="T46" fmla="*/ 217 w 420"/>
                <a:gd name="T47" fmla="*/ 0 h 60"/>
                <a:gd name="T48" fmla="*/ 232 w 420"/>
                <a:gd name="T49" fmla="*/ 5 h 60"/>
                <a:gd name="T50" fmla="*/ 247 w 420"/>
                <a:gd name="T51" fmla="*/ 1 h 60"/>
                <a:gd name="T52" fmla="*/ 395 w 420"/>
                <a:gd name="T53" fmla="*/ 8 h 60"/>
                <a:gd name="T54" fmla="*/ 420 w 420"/>
                <a:gd name="T55" fmla="*/ 34 h 60"/>
                <a:gd name="T56" fmla="*/ 394 w 420"/>
                <a:gd name="T57" fmla="*/ 60 h 60"/>
                <a:gd name="T58" fmla="*/ 26 w 420"/>
                <a:gd name="T59" fmla="*/ 26 h 60"/>
                <a:gd name="T60" fmla="*/ 18 w 420"/>
                <a:gd name="T61" fmla="*/ 34 h 60"/>
                <a:gd name="T62" fmla="*/ 26 w 420"/>
                <a:gd name="T63" fmla="*/ 42 h 60"/>
                <a:gd name="T64" fmla="*/ 26 w 420"/>
                <a:gd name="T65" fmla="*/ 42 h 60"/>
                <a:gd name="T66" fmla="*/ 28 w 420"/>
                <a:gd name="T67" fmla="*/ 42 h 60"/>
                <a:gd name="T68" fmla="*/ 178 w 420"/>
                <a:gd name="T69" fmla="*/ 29 h 60"/>
                <a:gd name="T70" fmla="*/ 180 w 420"/>
                <a:gd name="T71" fmla="*/ 29 h 60"/>
                <a:gd name="T72" fmla="*/ 199 w 420"/>
                <a:gd name="T73" fmla="*/ 36 h 60"/>
                <a:gd name="T74" fmla="*/ 200 w 420"/>
                <a:gd name="T75" fmla="*/ 36 h 60"/>
                <a:gd name="T76" fmla="*/ 202 w 420"/>
                <a:gd name="T77" fmla="*/ 39 h 60"/>
                <a:gd name="T78" fmla="*/ 210 w 420"/>
                <a:gd name="T79" fmla="*/ 41 h 60"/>
                <a:gd name="T80" fmla="*/ 210 w 420"/>
                <a:gd name="T81" fmla="*/ 41 h 60"/>
                <a:gd name="T82" fmla="*/ 218 w 420"/>
                <a:gd name="T83" fmla="*/ 39 h 60"/>
                <a:gd name="T84" fmla="*/ 220 w 420"/>
                <a:gd name="T85" fmla="*/ 36 h 60"/>
                <a:gd name="T86" fmla="*/ 221 w 420"/>
                <a:gd name="T87" fmla="*/ 36 h 60"/>
                <a:gd name="T88" fmla="*/ 242 w 420"/>
                <a:gd name="T89" fmla="*/ 29 h 60"/>
                <a:gd name="T90" fmla="*/ 392 w 420"/>
                <a:gd name="T91" fmla="*/ 42 h 60"/>
                <a:gd name="T92" fmla="*/ 394 w 420"/>
                <a:gd name="T93" fmla="*/ 42 h 60"/>
                <a:gd name="T94" fmla="*/ 402 w 420"/>
                <a:gd name="T95" fmla="*/ 34 h 60"/>
                <a:gd name="T96" fmla="*/ 395 w 420"/>
                <a:gd name="T97" fmla="*/ 26 h 60"/>
                <a:gd name="T98" fmla="*/ 394 w 420"/>
                <a:gd name="T99" fmla="*/ 26 h 60"/>
                <a:gd name="T100" fmla="*/ 246 w 420"/>
                <a:gd name="T101" fmla="*/ 19 h 60"/>
                <a:gd name="T102" fmla="*/ 246 w 420"/>
                <a:gd name="T103" fmla="*/ 19 h 60"/>
                <a:gd name="T104" fmla="*/ 242 w 420"/>
                <a:gd name="T105" fmla="*/ 20 h 60"/>
                <a:gd name="T106" fmla="*/ 231 w 420"/>
                <a:gd name="T107" fmla="*/ 28 h 60"/>
                <a:gd name="T108" fmla="*/ 221 w 420"/>
                <a:gd name="T109" fmla="*/ 20 h 60"/>
                <a:gd name="T110" fmla="*/ 217 w 420"/>
                <a:gd name="T111" fmla="*/ 19 h 60"/>
                <a:gd name="T112" fmla="*/ 203 w 420"/>
                <a:gd name="T113" fmla="*/ 19 h 60"/>
                <a:gd name="T114" fmla="*/ 199 w 420"/>
                <a:gd name="T115" fmla="*/ 20 h 60"/>
                <a:gd name="T116" fmla="*/ 189 w 420"/>
                <a:gd name="T117" fmla="*/ 28 h 60"/>
                <a:gd name="T118" fmla="*/ 178 w 420"/>
                <a:gd name="T119" fmla="*/ 20 h 60"/>
                <a:gd name="T120" fmla="*/ 174 w 420"/>
                <a:gd name="T121" fmla="*/ 19 h 60"/>
                <a:gd name="T122" fmla="*/ 26 w 420"/>
                <a:gd name="T123" fmla="*/ 26 h 60"/>
                <a:gd name="T124" fmla="*/ 26 w 420"/>
                <a:gd name="T125" fmla="*/ 2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0" h="60">
                  <a:moveTo>
                    <a:pt x="394" y="60"/>
                  </a:moveTo>
                  <a:cubicBezTo>
                    <a:pt x="394" y="60"/>
                    <a:pt x="394" y="60"/>
                    <a:pt x="394" y="60"/>
                  </a:cubicBezTo>
                  <a:cubicBezTo>
                    <a:pt x="393" y="60"/>
                    <a:pt x="392" y="60"/>
                    <a:pt x="391" y="60"/>
                  </a:cubicBezTo>
                  <a:cubicBezTo>
                    <a:pt x="390" y="60"/>
                    <a:pt x="390" y="60"/>
                    <a:pt x="390" y="60"/>
                  </a:cubicBezTo>
                  <a:cubicBezTo>
                    <a:pt x="240" y="47"/>
                    <a:pt x="240" y="47"/>
                    <a:pt x="240" y="47"/>
                  </a:cubicBezTo>
                  <a:cubicBezTo>
                    <a:pt x="240" y="47"/>
                    <a:pt x="240" y="47"/>
                    <a:pt x="240" y="47"/>
                  </a:cubicBezTo>
                  <a:cubicBezTo>
                    <a:pt x="238" y="47"/>
                    <a:pt x="236" y="48"/>
                    <a:pt x="235" y="49"/>
                  </a:cubicBezTo>
                  <a:cubicBezTo>
                    <a:pt x="235" y="52"/>
                    <a:pt x="235" y="52"/>
                    <a:pt x="235" y="52"/>
                  </a:cubicBezTo>
                  <a:cubicBezTo>
                    <a:pt x="230" y="53"/>
                    <a:pt x="230" y="53"/>
                    <a:pt x="230" y="53"/>
                  </a:cubicBezTo>
                  <a:cubicBezTo>
                    <a:pt x="225" y="57"/>
                    <a:pt x="218" y="59"/>
                    <a:pt x="210" y="59"/>
                  </a:cubicBezTo>
                  <a:cubicBezTo>
                    <a:pt x="210" y="59"/>
                    <a:pt x="210" y="59"/>
                    <a:pt x="210" y="59"/>
                  </a:cubicBezTo>
                  <a:cubicBezTo>
                    <a:pt x="202" y="59"/>
                    <a:pt x="195" y="57"/>
                    <a:pt x="190" y="53"/>
                  </a:cubicBezTo>
                  <a:cubicBezTo>
                    <a:pt x="186" y="52"/>
                    <a:pt x="186" y="52"/>
                    <a:pt x="186" y="52"/>
                  </a:cubicBezTo>
                  <a:cubicBezTo>
                    <a:pt x="185" y="49"/>
                    <a:pt x="185" y="49"/>
                    <a:pt x="185" y="49"/>
                  </a:cubicBezTo>
                  <a:cubicBezTo>
                    <a:pt x="184" y="48"/>
                    <a:pt x="182" y="47"/>
                    <a:pt x="180" y="47"/>
                  </a:cubicBezTo>
                  <a:cubicBezTo>
                    <a:pt x="29" y="60"/>
                    <a:pt x="29" y="60"/>
                    <a:pt x="29" y="60"/>
                  </a:cubicBezTo>
                  <a:cubicBezTo>
                    <a:pt x="28" y="60"/>
                    <a:pt x="27" y="60"/>
                    <a:pt x="26" y="60"/>
                  </a:cubicBezTo>
                  <a:cubicBezTo>
                    <a:pt x="12" y="60"/>
                    <a:pt x="0" y="48"/>
                    <a:pt x="0" y="34"/>
                  </a:cubicBezTo>
                  <a:cubicBezTo>
                    <a:pt x="0" y="20"/>
                    <a:pt x="11" y="9"/>
                    <a:pt x="25" y="8"/>
                  </a:cubicBezTo>
                  <a:cubicBezTo>
                    <a:pt x="25" y="8"/>
                    <a:pt x="25" y="8"/>
                    <a:pt x="25" y="8"/>
                  </a:cubicBezTo>
                  <a:cubicBezTo>
                    <a:pt x="173" y="1"/>
                    <a:pt x="173" y="1"/>
                    <a:pt x="173" y="1"/>
                  </a:cubicBezTo>
                  <a:cubicBezTo>
                    <a:pt x="178" y="1"/>
                    <a:pt x="184" y="2"/>
                    <a:pt x="188" y="5"/>
                  </a:cubicBezTo>
                  <a:cubicBezTo>
                    <a:pt x="192" y="2"/>
                    <a:pt x="197" y="0"/>
                    <a:pt x="203" y="0"/>
                  </a:cubicBezTo>
                  <a:cubicBezTo>
                    <a:pt x="217" y="0"/>
                    <a:pt x="217" y="0"/>
                    <a:pt x="217" y="0"/>
                  </a:cubicBezTo>
                  <a:cubicBezTo>
                    <a:pt x="223" y="0"/>
                    <a:pt x="228" y="2"/>
                    <a:pt x="232" y="5"/>
                  </a:cubicBezTo>
                  <a:cubicBezTo>
                    <a:pt x="236" y="2"/>
                    <a:pt x="242" y="1"/>
                    <a:pt x="247" y="1"/>
                  </a:cubicBezTo>
                  <a:cubicBezTo>
                    <a:pt x="395" y="8"/>
                    <a:pt x="395" y="8"/>
                    <a:pt x="395" y="8"/>
                  </a:cubicBezTo>
                  <a:cubicBezTo>
                    <a:pt x="409" y="9"/>
                    <a:pt x="420" y="20"/>
                    <a:pt x="420" y="34"/>
                  </a:cubicBezTo>
                  <a:cubicBezTo>
                    <a:pt x="420" y="48"/>
                    <a:pt x="408" y="60"/>
                    <a:pt x="394" y="60"/>
                  </a:cubicBezTo>
                  <a:close/>
                  <a:moveTo>
                    <a:pt x="26" y="26"/>
                  </a:moveTo>
                  <a:cubicBezTo>
                    <a:pt x="21" y="26"/>
                    <a:pt x="18" y="30"/>
                    <a:pt x="18" y="34"/>
                  </a:cubicBezTo>
                  <a:cubicBezTo>
                    <a:pt x="18" y="38"/>
                    <a:pt x="22" y="42"/>
                    <a:pt x="26" y="42"/>
                  </a:cubicBezTo>
                  <a:cubicBezTo>
                    <a:pt x="26" y="42"/>
                    <a:pt x="26" y="42"/>
                    <a:pt x="26" y="42"/>
                  </a:cubicBezTo>
                  <a:cubicBezTo>
                    <a:pt x="27" y="42"/>
                    <a:pt x="28" y="42"/>
                    <a:pt x="28" y="42"/>
                  </a:cubicBezTo>
                  <a:cubicBezTo>
                    <a:pt x="178" y="29"/>
                    <a:pt x="178" y="29"/>
                    <a:pt x="178" y="29"/>
                  </a:cubicBezTo>
                  <a:cubicBezTo>
                    <a:pt x="179" y="29"/>
                    <a:pt x="179" y="29"/>
                    <a:pt x="180" y="29"/>
                  </a:cubicBezTo>
                  <a:cubicBezTo>
                    <a:pt x="187" y="29"/>
                    <a:pt x="194" y="32"/>
                    <a:pt x="199" y="36"/>
                  </a:cubicBezTo>
                  <a:cubicBezTo>
                    <a:pt x="200" y="36"/>
                    <a:pt x="200" y="36"/>
                    <a:pt x="200" y="36"/>
                  </a:cubicBezTo>
                  <a:cubicBezTo>
                    <a:pt x="202" y="39"/>
                    <a:pt x="202" y="39"/>
                    <a:pt x="202" y="39"/>
                  </a:cubicBezTo>
                  <a:cubicBezTo>
                    <a:pt x="202" y="40"/>
                    <a:pt x="205" y="41"/>
                    <a:pt x="210" y="41"/>
                  </a:cubicBezTo>
                  <a:cubicBezTo>
                    <a:pt x="210" y="41"/>
                    <a:pt x="210" y="41"/>
                    <a:pt x="210" y="41"/>
                  </a:cubicBezTo>
                  <a:cubicBezTo>
                    <a:pt x="215" y="41"/>
                    <a:pt x="218" y="40"/>
                    <a:pt x="218" y="39"/>
                  </a:cubicBezTo>
                  <a:cubicBezTo>
                    <a:pt x="220" y="36"/>
                    <a:pt x="220" y="36"/>
                    <a:pt x="220" y="36"/>
                  </a:cubicBezTo>
                  <a:cubicBezTo>
                    <a:pt x="221" y="36"/>
                    <a:pt x="221" y="36"/>
                    <a:pt x="221" y="36"/>
                  </a:cubicBezTo>
                  <a:cubicBezTo>
                    <a:pt x="227" y="32"/>
                    <a:pt x="235" y="29"/>
                    <a:pt x="242" y="29"/>
                  </a:cubicBezTo>
                  <a:cubicBezTo>
                    <a:pt x="392" y="42"/>
                    <a:pt x="392" y="42"/>
                    <a:pt x="392" y="42"/>
                  </a:cubicBezTo>
                  <a:cubicBezTo>
                    <a:pt x="392" y="42"/>
                    <a:pt x="393" y="42"/>
                    <a:pt x="394" y="42"/>
                  </a:cubicBezTo>
                  <a:cubicBezTo>
                    <a:pt x="398" y="42"/>
                    <a:pt x="402" y="38"/>
                    <a:pt x="402" y="34"/>
                  </a:cubicBezTo>
                  <a:cubicBezTo>
                    <a:pt x="402" y="30"/>
                    <a:pt x="399" y="26"/>
                    <a:pt x="395" y="26"/>
                  </a:cubicBezTo>
                  <a:cubicBezTo>
                    <a:pt x="394" y="26"/>
                    <a:pt x="394" y="26"/>
                    <a:pt x="394" y="26"/>
                  </a:cubicBezTo>
                  <a:cubicBezTo>
                    <a:pt x="246" y="19"/>
                    <a:pt x="246" y="19"/>
                    <a:pt x="246" y="19"/>
                  </a:cubicBezTo>
                  <a:cubicBezTo>
                    <a:pt x="246" y="19"/>
                    <a:pt x="246" y="19"/>
                    <a:pt x="246" y="19"/>
                  </a:cubicBezTo>
                  <a:cubicBezTo>
                    <a:pt x="244" y="19"/>
                    <a:pt x="243" y="20"/>
                    <a:pt x="242" y="20"/>
                  </a:cubicBezTo>
                  <a:cubicBezTo>
                    <a:pt x="239" y="27"/>
                    <a:pt x="234" y="28"/>
                    <a:pt x="231" y="28"/>
                  </a:cubicBezTo>
                  <a:cubicBezTo>
                    <a:pt x="227" y="28"/>
                    <a:pt x="223" y="25"/>
                    <a:pt x="221" y="20"/>
                  </a:cubicBezTo>
                  <a:cubicBezTo>
                    <a:pt x="220" y="19"/>
                    <a:pt x="219" y="19"/>
                    <a:pt x="217" y="19"/>
                  </a:cubicBezTo>
                  <a:cubicBezTo>
                    <a:pt x="203" y="19"/>
                    <a:pt x="203" y="19"/>
                    <a:pt x="203" y="19"/>
                  </a:cubicBezTo>
                  <a:cubicBezTo>
                    <a:pt x="201" y="19"/>
                    <a:pt x="200" y="19"/>
                    <a:pt x="199" y="20"/>
                  </a:cubicBezTo>
                  <a:cubicBezTo>
                    <a:pt x="197" y="25"/>
                    <a:pt x="193" y="28"/>
                    <a:pt x="189" y="28"/>
                  </a:cubicBezTo>
                  <a:cubicBezTo>
                    <a:pt x="186" y="28"/>
                    <a:pt x="181" y="27"/>
                    <a:pt x="178" y="20"/>
                  </a:cubicBezTo>
                  <a:cubicBezTo>
                    <a:pt x="177" y="20"/>
                    <a:pt x="176" y="19"/>
                    <a:pt x="174" y="19"/>
                  </a:cubicBezTo>
                  <a:cubicBezTo>
                    <a:pt x="26" y="26"/>
                    <a:pt x="26" y="26"/>
                    <a:pt x="26" y="26"/>
                  </a:cubicBezTo>
                  <a:cubicBezTo>
                    <a:pt x="26" y="26"/>
                    <a:pt x="26" y="26"/>
                    <a:pt x="26"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60" name="Freeform 89"/>
            <p:cNvSpPr/>
            <p:nvPr/>
          </p:nvSpPr>
          <p:spPr bwMode="auto">
            <a:xfrm>
              <a:off x="5354638" y="3525838"/>
              <a:ext cx="669925" cy="163513"/>
            </a:xfrm>
            <a:custGeom>
              <a:avLst/>
              <a:gdLst>
                <a:gd name="T0" fmla="*/ 169 w 177"/>
                <a:gd name="T1" fmla="*/ 37 h 43"/>
                <a:gd name="T2" fmla="*/ 168 w 177"/>
                <a:gd name="T3" fmla="*/ 36 h 43"/>
                <a:gd name="T4" fmla="*/ 92 w 177"/>
                <a:gd name="T5" fmla="*/ 1 h 43"/>
                <a:gd name="T6" fmla="*/ 75 w 177"/>
                <a:gd name="T7" fmla="*/ 0 h 43"/>
                <a:gd name="T8" fmla="*/ 18 w 177"/>
                <a:gd name="T9" fmla="*/ 15 h 43"/>
                <a:gd name="T10" fmla="*/ 3 w 177"/>
                <a:gd name="T11" fmla="*/ 29 h 43"/>
                <a:gd name="T12" fmla="*/ 1 w 177"/>
                <a:gd name="T13" fmla="*/ 39 h 43"/>
                <a:gd name="T14" fmla="*/ 9 w 177"/>
                <a:gd name="T15" fmla="*/ 43 h 43"/>
                <a:gd name="T16" fmla="*/ 177 w 177"/>
                <a:gd name="T17" fmla="*/ 43 h 43"/>
                <a:gd name="T18" fmla="*/ 169 w 177"/>
                <a:gd name="T19" fmla="*/ 3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7" h="43">
                  <a:moveTo>
                    <a:pt x="169" y="37"/>
                  </a:moveTo>
                  <a:cubicBezTo>
                    <a:pt x="168" y="36"/>
                    <a:pt x="168" y="36"/>
                    <a:pt x="168" y="36"/>
                  </a:cubicBezTo>
                  <a:cubicBezTo>
                    <a:pt x="141" y="16"/>
                    <a:pt x="115" y="5"/>
                    <a:pt x="92" y="1"/>
                  </a:cubicBezTo>
                  <a:cubicBezTo>
                    <a:pt x="87" y="1"/>
                    <a:pt x="81" y="0"/>
                    <a:pt x="75" y="0"/>
                  </a:cubicBezTo>
                  <a:cubicBezTo>
                    <a:pt x="40" y="0"/>
                    <a:pt x="18" y="15"/>
                    <a:pt x="18" y="15"/>
                  </a:cubicBezTo>
                  <a:cubicBezTo>
                    <a:pt x="16" y="16"/>
                    <a:pt x="6" y="23"/>
                    <a:pt x="3" y="29"/>
                  </a:cubicBezTo>
                  <a:cubicBezTo>
                    <a:pt x="1" y="33"/>
                    <a:pt x="0" y="36"/>
                    <a:pt x="1" y="39"/>
                  </a:cubicBezTo>
                  <a:cubicBezTo>
                    <a:pt x="3" y="42"/>
                    <a:pt x="5" y="43"/>
                    <a:pt x="9" y="43"/>
                  </a:cubicBezTo>
                  <a:cubicBezTo>
                    <a:pt x="177" y="43"/>
                    <a:pt x="177" y="43"/>
                    <a:pt x="177" y="43"/>
                  </a:cubicBezTo>
                  <a:cubicBezTo>
                    <a:pt x="174" y="40"/>
                    <a:pt x="170" y="37"/>
                    <a:pt x="169"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61" name="Freeform 90"/>
            <p:cNvSpPr/>
            <p:nvPr/>
          </p:nvSpPr>
          <p:spPr bwMode="auto">
            <a:xfrm>
              <a:off x="6175375" y="3063876"/>
              <a:ext cx="654050" cy="571500"/>
            </a:xfrm>
            <a:custGeom>
              <a:avLst/>
              <a:gdLst>
                <a:gd name="T0" fmla="*/ 171 w 173"/>
                <a:gd name="T1" fmla="*/ 114 h 151"/>
                <a:gd name="T2" fmla="*/ 157 w 173"/>
                <a:gd name="T3" fmla="*/ 87 h 151"/>
                <a:gd name="T4" fmla="*/ 157 w 173"/>
                <a:gd name="T5" fmla="*/ 86 h 151"/>
                <a:gd name="T6" fmla="*/ 123 w 173"/>
                <a:gd name="T7" fmla="*/ 21 h 151"/>
                <a:gd name="T8" fmla="*/ 116 w 173"/>
                <a:gd name="T9" fmla="*/ 8 h 151"/>
                <a:gd name="T10" fmla="*/ 115 w 173"/>
                <a:gd name="T11" fmla="*/ 7 h 151"/>
                <a:gd name="T12" fmla="*/ 87 w 173"/>
                <a:gd name="T13" fmla="*/ 0 h 151"/>
                <a:gd name="T14" fmla="*/ 101 w 173"/>
                <a:gd name="T15" fmla="*/ 24 h 151"/>
                <a:gd name="T16" fmla="*/ 103 w 173"/>
                <a:gd name="T17" fmla="*/ 45 h 151"/>
                <a:gd name="T18" fmla="*/ 88 w 173"/>
                <a:gd name="T19" fmla="*/ 59 h 151"/>
                <a:gd name="T20" fmla="*/ 38 w 173"/>
                <a:gd name="T21" fmla="*/ 87 h 151"/>
                <a:gd name="T22" fmla="*/ 1 w 173"/>
                <a:gd name="T23" fmla="*/ 149 h 151"/>
                <a:gd name="T24" fmla="*/ 0 w 173"/>
                <a:gd name="T25" fmla="*/ 151 h 151"/>
                <a:gd name="T26" fmla="*/ 1 w 173"/>
                <a:gd name="T27" fmla="*/ 151 h 151"/>
                <a:gd name="T28" fmla="*/ 9 w 173"/>
                <a:gd name="T29" fmla="*/ 146 h 151"/>
                <a:gd name="T30" fmla="*/ 86 w 173"/>
                <a:gd name="T31" fmla="*/ 112 h 151"/>
                <a:gd name="T32" fmla="*/ 113 w 173"/>
                <a:gd name="T33" fmla="*/ 109 h 151"/>
                <a:gd name="T34" fmla="*/ 165 w 173"/>
                <a:gd name="T35" fmla="*/ 120 h 151"/>
                <a:gd name="T36" fmla="*/ 169 w 173"/>
                <a:gd name="T37" fmla="*/ 121 h 151"/>
                <a:gd name="T38" fmla="*/ 172 w 173"/>
                <a:gd name="T39" fmla="*/ 120 h 151"/>
                <a:gd name="T40" fmla="*/ 171 w 173"/>
                <a:gd name="T41" fmla="*/ 114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3" h="151">
                  <a:moveTo>
                    <a:pt x="171" y="114"/>
                  </a:moveTo>
                  <a:cubicBezTo>
                    <a:pt x="157" y="87"/>
                    <a:pt x="157" y="87"/>
                    <a:pt x="157" y="87"/>
                  </a:cubicBezTo>
                  <a:cubicBezTo>
                    <a:pt x="157" y="86"/>
                    <a:pt x="157" y="86"/>
                    <a:pt x="157" y="86"/>
                  </a:cubicBezTo>
                  <a:cubicBezTo>
                    <a:pt x="123" y="21"/>
                    <a:pt x="123" y="21"/>
                    <a:pt x="123" y="21"/>
                  </a:cubicBezTo>
                  <a:cubicBezTo>
                    <a:pt x="120" y="17"/>
                    <a:pt x="117" y="11"/>
                    <a:pt x="116" y="8"/>
                  </a:cubicBezTo>
                  <a:cubicBezTo>
                    <a:pt x="115" y="7"/>
                    <a:pt x="115" y="7"/>
                    <a:pt x="115" y="7"/>
                  </a:cubicBezTo>
                  <a:cubicBezTo>
                    <a:pt x="115" y="7"/>
                    <a:pt x="101" y="0"/>
                    <a:pt x="87" y="0"/>
                  </a:cubicBezTo>
                  <a:cubicBezTo>
                    <a:pt x="101" y="24"/>
                    <a:pt x="101" y="24"/>
                    <a:pt x="101" y="24"/>
                  </a:cubicBezTo>
                  <a:cubicBezTo>
                    <a:pt x="105" y="31"/>
                    <a:pt x="105" y="38"/>
                    <a:pt x="103" y="45"/>
                  </a:cubicBezTo>
                  <a:cubicBezTo>
                    <a:pt x="100" y="51"/>
                    <a:pt x="95" y="56"/>
                    <a:pt x="88" y="59"/>
                  </a:cubicBezTo>
                  <a:cubicBezTo>
                    <a:pt x="85" y="60"/>
                    <a:pt x="56" y="71"/>
                    <a:pt x="38" y="87"/>
                  </a:cubicBezTo>
                  <a:cubicBezTo>
                    <a:pt x="19" y="105"/>
                    <a:pt x="8" y="123"/>
                    <a:pt x="1" y="149"/>
                  </a:cubicBezTo>
                  <a:cubicBezTo>
                    <a:pt x="0" y="151"/>
                    <a:pt x="0" y="151"/>
                    <a:pt x="0" y="151"/>
                  </a:cubicBezTo>
                  <a:cubicBezTo>
                    <a:pt x="0" y="151"/>
                    <a:pt x="1" y="151"/>
                    <a:pt x="1" y="151"/>
                  </a:cubicBezTo>
                  <a:cubicBezTo>
                    <a:pt x="3" y="149"/>
                    <a:pt x="6" y="147"/>
                    <a:pt x="9" y="146"/>
                  </a:cubicBezTo>
                  <a:cubicBezTo>
                    <a:pt x="9" y="146"/>
                    <a:pt x="42" y="125"/>
                    <a:pt x="86" y="112"/>
                  </a:cubicBezTo>
                  <a:cubicBezTo>
                    <a:pt x="95" y="110"/>
                    <a:pt x="104" y="109"/>
                    <a:pt x="113" y="109"/>
                  </a:cubicBezTo>
                  <a:cubicBezTo>
                    <a:pt x="141" y="109"/>
                    <a:pt x="165" y="120"/>
                    <a:pt x="165" y="120"/>
                  </a:cubicBezTo>
                  <a:cubicBezTo>
                    <a:pt x="167" y="121"/>
                    <a:pt x="168" y="121"/>
                    <a:pt x="169" y="121"/>
                  </a:cubicBezTo>
                  <a:cubicBezTo>
                    <a:pt x="171" y="121"/>
                    <a:pt x="172" y="120"/>
                    <a:pt x="172" y="120"/>
                  </a:cubicBezTo>
                  <a:cubicBezTo>
                    <a:pt x="173" y="118"/>
                    <a:pt x="172" y="116"/>
                    <a:pt x="171" y="1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grpSp>
      <p:sp>
        <p:nvSpPr>
          <p:cNvPr id="26630" name="文本框 62"/>
          <p:cNvSpPr txBox="1">
            <a:spLocks noChangeArrowheads="1"/>
          </p:cNvSpPr>
          <p:nvPr/>
        </p:nvSpPr>
        <p:spPr bwMode="auto">
          <a:xfrm>
            <a:off x="2441258" y="2580323"/>
            <a:ext cx="7802880" cy="132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Tx/>
              <a:buNone/>
            </a:pPr>
            <a:r>
              <a:rPr lang="zh-CN" altLang="en-US" sz="4000" b="1">
                <a:solidFill>
                  <a:srgbClr val="003366"/>
                </a:solidFill>
                <a:sym typeface="+mn-ea"/>
              </a:rPr>
              <a:t>线性系统的安全集构造</a:t>
            </a:r>
            <a:endParaRPr lang="zh-CN" altLang="en-US" sz="4000" b="1">
              <a:solidFill>
                <a:srgbClr val="003366"/>
              </a:solidFill>
              <a:sym typeface="+mn-ea"/>
            </a:endParaRPr>
          </a:p>
          <a:p>
            <a:pPr algn="ctr" eaLnBrk="1" hangingPunct="1">
              <a:lnSpc>
                <a:spcPct val="100000"/>
              </a:lnSpc>
              <a:spcBef>
                <a:spcPct val="0"/>
              </a:spcBef>
              <a:buFontTx/>
              <a:buNone/>
            </a:pPr>
            <a:r>
              <a:rPr lang="zh-CN" altLang="en-US" sz="4000" b="1">
                <a:solidFill>
                  <a:srgbClr val="003366"/>
                </a:solidFill>
                <a:sym typeface="+mn-ea"/>
              </a:rPr>
              <a:t>与扰动环境下的最优控制策略设计</a:t>
            </a:r>
            <a:endParaRPr lang="zh-CN" altLang="en-US" sz="4000" b="1" dirty="0">
              <a:solidFill>
                <a:srgbClr val="4B649F"/>
              </a:solidFill>
            </a:endParaRPr>
          </a:p>
        </p:txBody>
      </p:sp>
      <p:grpSp>
        <p:nvGrpSpPr>
          <p:cNvPr id="2" name="组合 1"/>
          <p:cNvGrpSpPr/>
          <p:nvPr/>
        </p:nvGrpSpPr>
        <p:grpSpPr>
          <a:xfrm>
            <a:off x="3733800" y="3999230"/>
            <a:ext cx="2099310" cy="369570"/>
            <a:chOff x="4056" y="6310"/>
            <a:chExt cx="3306" cy="582"/>
          </a:xfrm>
        </p:grpSpPr>
        <p:grpSp>
          <p:nvGrpSpPr>
            <p:cNvPr id="26631" name="组合 1026"/>
            <p:cNvGrpSpPr/>
            <p:nvPr/>
          </p:nvGrpSpPr>
          <p:grpSpPr bwMode="auto">
            <a:xfrm>
              <a:off x="4056" y="6392"/>
              <a:ext cx="498" cy="500"/>
              <a:chOff x="2724480" y="3856218"/>
              <a:chExt cx="317004" cy="317004"/>
            </a:xfrm>
          </p:grpSpPr>
          <p:sp>
            <p:nvSpPr>
              <p:cNvPr id="1024" name="椭圆 1023"/>
              <p:cNvSpPr/>
              <p:nvPr/>
            </p:nvSpPr>
            <p:spPr>
              <a:xfrm>
                <a:off x="2724480" y="3856218"/>
                <a:ext cx="317004" cy="317004"/>
              </a:xfrm>
              <a:prstGeom prst="ellipse">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03" name="KSO_Shape"/>
              <p:cNvSpPr/>
              <p:nvPr/>
            </p:nvSpPr>
            <p:spPr bwMode="auto">
              <a:xfrm>
                <a:off x="2799351" y="3908524"/>
                <a:ext cx="167263" cy="212393"/>
              </a:xfrm>
              <a:custGeom>
                <a:avLst/>
                <a:gdLst>
                  <a:gd name="T0" fmla="*/ 646796 w 5367"/>
                  <a:gd name="T1" fmla="*/ 843536 h 6897"/>
                  <a:gd name="T2" fmla="*/ 520861 w 5367"/>
                  <a:gd name="T3" fmla="*/ 880824 h 6897"/>
                  <a:gd name="T4" fmla="*/ 403764 w 5367"/>
                  <a:gd name="T5" fmla="*/ 946285 h 6897"/>
                  <a:gd name="T6" fmla="*/ 297714 w 5367"/>
                  <a:gd name="T7" fmla="*/ 1036605 h 6897"/>
                  <a:gd name="T8" fmla="*/ 204644 w 5367"/>
                  <a:gd name="T9" fmla="*/ 1149850 h 6897"/>
                  <a:gd name="T10" fmla="*/ 126487 w 5367"/>
                  <a:gd name="T11" fmla="*/ 1282429 h 6897"/>
                  <a:gd name="T12" fmla="*/ 65729 w 5367"/>
                  <a:gd name="T13" fmla="*/ 1432134 h 6897"/>
                  <a:gd name="T14" fmla="*/ 23475 w 5367"/>
                  <a:gd name="T15" fmla="*/ 1595648 h 6897"/>
                  <a:gd name="T16" fmla="*/ 2209 w 5367"/>
                  <a:gd name="T17" fmla="*/ 1771316 h 6897"/>
                  <a:gd name="T18" fmla="*/ 1481389 w 5367"/>
                  <a:gd name="T19" fmla="*/ 1905000 h 6897"/>
                  <a:gd name="T20" fmla="*/ 1480009 w 5367"/>
                  <a:gd name="T21" fmla="*/ 1771316 h 6897"/>
                  <a:gd name="T22" fmla="*/ 1459020 w 5367"/>
                  <a:gd name="T23" fmla="*/ 1595648 h 6897"/>
                  <a:gd name="T24" fmla="*/ 1417041 w 5367"/>
                  <a:gd name="T25" fmla="*/ 1432134 h 6897"/>
                  <a:gd name="T26" fmla="*/ 1355731 w 5367"/>
                  <a:gd name="T27" fmla="*/ 1282429 h 6897"/>
                  <a:gd name="T28" fmla="*/ 1277850 w 5367"/>
                  <a:gd name="T29" fmla="*/ 1149850 h 6897"/>
                  <a:gd name="T30" fmla="*/ 1184780 w 5367"/>
                  <a:gd name="T31" fmla="*/ 1036605 h 6897"/>
                  <a:gd name="T32" fmla="*/ 1078730 w 5367"/>
                  <a:gd name="T33" fmla="*/ 946285 h 6897"/>
                  <a:gd name="T34" fmla="*/ 961633 w 5367"/>
                  <a:gd name="T35" fmla="*/ 880824 h 6897"/>
                  <a:gd name="T36" fmla="*/ 835422 w 5367"/>
                  <a:gd name="T37" fmla="*/ 843536 h 6897"/>
                  <a:gd name="T38" fmla="*/ 747875 w 5367"/>
                  <a:gd name="T39" fmla="*/ 731120 h 6897"/>
                  <a:gd name="T40" fmla="*/ 805043 w 5367"/>
                  <a:gd name="T41" fmla="*/ 726701 h 6897"/>
                  <a:gd name="T42" fmla="*/ 868286 w 5367"/>
                  <a:gd name="T43" fmla="*/ 711786 h 6897"/>
                  <a:gd name="T44" fmla="*/ 926559 w 5367"/>
                  <a:gd name="T45" fmla="*/ 686927 h 6897"/>
                  <a:gd name="T46" fmla="*/ 979032 w 5367"/>
                  <a:gd name="T47" fmla="*/ 653230 h 6897"/>
                  <a:gd name="T48" fmla="*/ 1024876 w 5367"/>
                  <a:gd name="T49" fmla="*/ 611246 h 6897"/>
                  <a:gd name="T50" fmla="*/ 1063264 w 5367"/>
                  <a:gd name="T51" fmla="*/ 562358 h 6897"/>
                  <a:gd name="T52" fmla="*/ 1092815 w 5367"/>
                  <a:gd name="T53" fmla="*/ 507945 h 6897"/>
                  <a:gd name="T54" fmla="*/ 1112699 w 5367"/>
                  <a:gd name="T55" fmla="*/ 448008 h 6897"/>
                  <a:gd name="T56" fmla="*/ 1121813 w 5367"/>
                  <a:gd name="T57" fmla="*/ 384204 h 6897"/>
                  <a:gd name="T58" fmla="*/ 1120432 w 5367"/>
                  <a:gd name="T59" fmla="*/ 328134 h 6897"/>
                  <a:gd name="T60" fmla="*/ 1108004 w 5367"/>
                  <a:gd name="T61" fmla="*/ 265711 h 6897"/>
                  <a:gd name="T62" fmla="*/ 1085358 w 5367"/>
                  <a:gd name="T63" fmla="*/ 207155 h 6897"/>
                  <a:gd name="T64" fmla="*/ 1053322 w 5367"/>
                  <a:gd name="T65" fmla="*/ 153847 h 6897"/>
                  <a:gd name="T66" fmla="*/ 1012725 w 5367"/>
                  <a:gd name="T67" fmla="*/ 107168 h 6897"/>
                  <a:gd name="T68" fmla="*/ 964671 w 5367"/>
                  <a:gd name="T69" fmla="*/ 67395 h 6897"/>
                  <a:gd name="T70" fmla="*/ 910541 w 5367"/>
                  <a:gd name="T71" fmla="*/ 36183 h 6897"/>
                  <a:gd name="T72" fmla="*/ 850335 w 5367"/>
                  <a:gd name="T73" fmla="*/ 14087 h 6897"/>
                  <a:gd name="T74" fmla="*/ 786263 w 5367"/>
                  <a:gd name="T75" fmla="*/ 1933 h 6897"/>
                  <a:gd name="T76" fmla="*/ 728819 w 5367"/>
                  <a:gd name="T77" fmla="*/ 276 h 6897"/>
                  <a:gd name="T78" fmla="*/ 663366 w 5367"/>
                  <a:gd name="T79" fmla="*/ 9391 h 6897"/>
                  <a:gd name="T80" fmla="*/ 602332 w 5367"/>
                  <a:gd name="T81" fmla="*/ 28726 h 6897"/>
                  <a:gd name="T82" fmla="*/ 546545 w 5367"/>
                  <a:gd name="T83" fmla="*/ 57451 h 6897"/>
                  <a:gd name="T84" fmla="*/ 496282 w 5367"/>
                  <a:gd name="T85" fmla="*/ 95015 h 6897"/>
                  <a:gd name="T86" fmla="*/ 453751 w 5367"/>
                  <a:gd name="T87" fmla="*/ 139761 h 6897"/>
                  <a:gd name="T88" fmla="*/ 418954 w 5367"/>
                  <a:gd name="T89" fmla="*/ 191411 h 6897"/>
                  <a:gd name="T90" fmla="*/ 393546 w 5367"/>
                  <a:gd name="T91" fmla="*/ 248310 h 6897"/>
                  <a:gd name="T92" fmla="*/ 378356 w 5367"/>
                  <a:gd name="T93" fmla="*/ 309628 h 6897"/>
                  <a:gd name="T94" fmla="*/ 373938 w 5367"/>
                  <a:gd name="T95" fmla="*/ 365698 h 6897"/>
                  <a:gd name="T96" fmla="*/ 380013 w 5367"/>
                  <a:gd name="T97" fmla="*/ 430054 h 6897"/>
                  <a:gd name="T98" fmla="*/ 396584 w 5367"/>
                  <a:gd name="T99" fmla="*/ 491096 h 6897"/>
                  <a:gd name="T100" fmla="*/ 423372 w 5367"/>
                  <a:gd name="T101" fmla="*/ 547719 h 6897"/>
                  <a:gd name="T102" fmla="*/ 459551 w 5367"/>
                  <a:gd name="T103" fmla="*/ 597988 h 6897"/>
                  <a:gd name="T104" fmla="*/ 503186 w 5367"/>
                  <a:gd name="T105" fmla="*/ 641905 h 6897"/>
                  <a:gd name="T106" fmla="*/ 554278 w 5367"/>
                  <a:gd name="T107" fmla="*/ 678088 h 6897"/>
                  <a:gd name="T108" fmla="*/ 610894 w 5367"/>
                  <a:gd name="T109" fmla="*/ 705709 h 6897"/>
                  <a:gd name="T110" fmla="*/ 672756 w 5367"/>
                  <a:gd name="T111" fmla="*/ 723662 h 6897"/>
                  <a:gd name="T112" fmla="*/ 738209 w 5367"/>
                  <a:gd name="T113" fmla="*/ 730844 h 689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5367" h="6897">
                    <a:moveTo>
                      <a:pt x="2684" y="3025"/>
                    </a:moveTo>
                    <a:lnTo>
                      <a:pt x="2684" y="3025"/>
                    </a:lnTo>
                    <a:lnTo>
                      <a:pt x="2615" y="3026"/>
                    </a:lnTo>
                    <a:lnTo>
                      <a:pt x="2545" y="3029"/>
                    </a:lnTo>
                    <a:lnTo>
                      <a:pt x="2478" y="3035"/>
                    </a:lnTo>
                    <a:lnTo>
                      <a:pt x="2409" y="3043"/>
                    </a:lnTo>
                    <a:lnTo>
                      <a:pt x="2342" y="3054"/>
                    </a:lnTo>
                    <a:lnTo>
                      <a:pt x="2275" y="3066"/>
                    </a:lnTo>
                    <a:lnTo>
                      <a:pt x="2209" y="3081"/>
                    </a:lnTo>
                    <a:lnTo>
                      <a:pt x="2143" y="3099"/>
                    </a:lnTo>
                    <a:lnTo>
                      <a:pt x="2077" y="3118"/>
                    </a:lnTo>
                    <a:lnTo>
                      <a:pt x="2013" y="3140"/>
                    </a:lnTo>
                    <a:lnTo>
                      <a:pt x="1949" y="3163"/>
                    </a:lnTo>
                    <a:lnTo>
                      <a:pt x="1886" y="3189"/>
                    </a:lnTo>
                    <a:lnTo>
                      <a:pt x="1823" y="3217"/>
                    </a:lnTo>
                    <a:lnTo>
                      <a:pt x="1761" y="3247"/>
                    </a:lnTo>
                    <a:lnTo>
                      <a:pt x="1700" y="3279"/>
                    </a:lnTo>
                    <a:lnTo>
                      <a:pt x="1639" y="3313"/>
                    </a:lnTo>
                    <a:lnTo>
                      <a:pt x="1579" y="3349"/>
                    </a:lnTo>
                    <a:lnTo>
                      <a:pt x="1521" y="3386"/>
                    </a:lnTo>
                    <a:lnTo>
                      <a:pt x="1462" y="3426"/>
                    </a:lnTo>
                    <a:lnTo>
                      <a:pt x="1405" y="3468"/>
                    </a:lnTo>
                    <a:lnTo>
                      <a:pt x="1348" y="3511"/>
                    </a:lnTo>
                    <a:lnTo>
                      <a:pt x="1293" y="3556"/>
                    </a:lnTo>
                    <a:lnTo>
                      <a:pt x="1237" y="3603"/>
                    </a:lnTo>
                    <a:lnTo>
                      <a:pt x="1183" y="3651"/>
                    </a:lnTo>
                    <a:lnTo>
                      <a:pt x="1131" y="3702"/>
                    </a:lnTo>
                    <a:lnTo>
                      <a:pt x="1078" y="3753"/>
                    </a:lnTo>
                    <a:lnTo>
                      <a:pt x="1027" y="3807"/>
                    </a:lnTo>
                    <a:lnTo>
                      <a:pt x="976" y="3863"/>
                    </a:lnTo>
                    <a:lnTo>
                      <a:pt x="927" y="3920"/>
                    </a:lnTo>
                    <a:lnTo>
                      <a:pt x="880" y="3978"/>
                    </a:lnTo>
                    <a:lnTo>
                      <a:pt x="833" y="4038"/>
                    </a:lnTo>
                    <a:lnTo>
                      <a:pt x="786" y="4100"/>
                    </a:lnTo>
                    <a:lnTo>
                      <a:pt x="741" y="4163"/>
                    </a:lnTo>
                    <a:lnTo>
                      <a:pt x="698" y="4227"/>
                    </a:lnTo>
                    <a:lnTo>
                      <a:pt x="655" y="4293"/>
                    </a:lnTo>
                    <a:lnTo>
                      <a:pt x="613" y="4361"/>
                    </a:lnTo>
                    <a:lnTo>
                      <a:pt x="573" y="4429"/>
                    </a:lnTo>
                    <a:lnTo>
                      <a:pt x="533" y="4499"/>
                    </a:lnTo>
                    <a:lnTo>
                      <a:pt x="495" y="4570"/>
                    </a:lnTo>
                    <a:lnTo>
                      <a:pt x="458" y="4643"/>
                    </a:lnTo>
                    <a:lnTo>
                      <a:pt x="423" y="4717"/>
                    </a:lnTo>
                    <a:lnTo>
                      <a:pt x="388" y="4791"/>
                    </a:lnTo>
                    <a:lnTo>
                      <a:pt x="356" y="4868"/>
                    </a:lnTo>
                    <a:lnTo>
                      <a:pt x="324" y="4945"/>
                    </a:lnTo>
                    <a:lnTo>
                      <a:pt x="294" y="5024"/>
                    </a:lnTo>
                    <a:lnTo>
                      <a:pt x="265" y="5104"/>
                    </a:lnTo>
                    <a:lnTo>
                      <a:pt x="238" y="5185"/>
                    </a:lnTo>
                    <a:lnTo>
                      <a:pt x="211" y="5266"/>
                    </a:lnTo>
                    <a:lnTo>
                      <a:pt x="186" y="5349"/>
                    </a:lnTo>
                    <a:lnTo>
                      <a:pt x="163" y="5433"/>
                    </a:lnTo>
                    <a:lnTo>
                      <a:pt x="141" y="5518"/>
                    </a:lnTo>
                    <a:lnTo>
                      <a:pt x="121" y="5603"/>
                    </a:lnTo>
                    <a:lnTo>
                      <a:pt x="102" y="5690"/>
                    </a:lnTo>
                    <a:lnTo>
                      <a:pt x="85" y="5777"/>
                    </a:lnTo>
                    <a:lnTo>
                      <a:pt x="69" y="5866"/>
                    </a:lnTo>
                    <a:lnTo>
                      <a:pt x="54" y="5955"/>
                    </a:lnTo>
                    <a:lnTo>
                      <a:pt x="42" y="6045"/>
                    </a:lnTo>
                    <a:lnTo>
                      <a:pt x="31" y="6136"/>
                    </a:lnTo>
                    <a:lnTo>
                      <a:pt x="22" y="6227"/>
                    </a:lnTo>
                    <a:lnTo>
                      <a:pt x="14" y="6319"/>
                    </a:lnTo>
                    <a:lnTo>
                      <a:pt x="8" y="6413"/>
                    </a:lnTo>
                    <a:lnTo>
                      <a:pt x="4" y="6506"/>
                    </a:lnTo>
                    <a:lnTo>
                      <a:pt x="1" y="6600"/>
                    </a:lnTo>
                    <a:lnTo>
                      <a:pt x="0" y="6695"/>
                    </a:lnTo>
                    <a:lnTo>
                      <a:pt x="1" y="6796"/>
                    </a:lnTo>
                    <a:lnTo>
                      <a:pt x="5" y="6897"/>
                    </a:lnTo>
                    <a:lnTo>
                      <a:pt x="5364" y="6897"/>
                    </a:lnTo>
                    <a:lnTo>
                      <a:pt x="5366" y="6796"/>
                    </a:lnTo>
                    <a:lnTo>
                      <a:pt x="5367" y="6695"/>
                    </a:lnTo>
                    <a:lnTo>
                      <a:pt x="5367" y="6600"/>
                    </a:lnTo>
                    <a:lnTo>
                      <a:pt x="5364" y="6506"/>
                    </a:lnTo>
                    <a:lnTo>
                      <a:pt x="5359" y="6413"/>
                    </a:lnTo>
                    <a:lnTo>
                      <a:pt x="5353" y="6319"/>
                    </a:lnTo>
                    <a:lnTo>
                      <a:pt x="5346" y="6227"/>
                    </a:lnTo>
                    <a:lnTo>
                      <a:pt x="5337" y="6136"/>
                    </a:lnTo>
                    <a:lnTo>
                      <a:pt x="5325" y="6045"/>
                    </a:lnTo>
                    <a:lnTo>
                      <a:pt x="5313" y="5955"/>
                    </a:lnTo>
                    <a:lnTo>
                      <a:pt x="5298" y="5866"/>
                    </a:lnTo>
                    <a:lnTo>
                      <a:pt x="5283" y="5777"/>
                    </a:lnTo>
                    <a:lnTo>
                      <a:pt x="5266" y="5690"/>
                    </a:lnTo>
                    <a:lnTo>
                      <a:pt x="5247" y="5603"/>
                    </a:lnTo>
                    <a:lnTo>
                      <a:pt x="5226" y="5518"/>
                    </a:lnTo>
                    <a:lnTo>
                      <a:pt x="5205" y="5433"/>
                    </a:lnTo>
                    <a:lnTo>
                      <a:pt x="5181" y="5349"/>
                    </a:lnTo>
                    <a:lnTo>
                      <a:pt x="5157" y="5266"/>
                    </a:lnTo>
                    <a:lnTo>
                      <a:pt x="5131" y="5185"/>
                    </a:lnTo>
                    <a:lnTo>
                      <a:pt x="5103" y="5104"/>
                    </a:lnTo>
                    <a:lnTo>
                      <a:pt x="5073" y="5024"/>
                    </a:lnTo>
                    <a:lnTo>
                      <a:pt x="5043" y="4945"/>
                    </a:lnTo>
                    <a:lnTo>
                      <a:pt x="5012" y="4868"/>
                    </a:lnTo>
                    <a:lnTo>
                      <a:pt x="4979" y="4791"/>
                    </a:lnTo>
                    <a:lnTo>
                      <a:pt x="4945" y="4717"/>
                    </a:lnTo>
                    <a:lnTo>
                      <a:pt x="4909" y="4643"/>
                    </a:lnTo>
                    <a:lnTo>
                      <a:pt x="4872" y="4570"/>
                    </a:lnTo>
                    <a:lnTo>
                      <a:pt x="4834" y="4499"/>
                    </a:lnTo>
                    <a:lnTo>
                      <a:pt x="4796" y="4429"/>
                    </a:lnTo>
                    <a:lnTo>
                      <a:pt x="4755" y="4361"/>
                    </a:lnTo>
                    <a:lnTo>
                      <a:pt x="4713" y="4293"/>
                    </a:lnTo>
                    <a:lnTo>
                      <a:pt x="4671" y="4227"/>
                    </a:lnTo>
                    <a:lnTo>
                      <a:pt x="4627" y="4163"/>
                    </a:lnTo>
                    <a:lnTo>
                      <a:pt x="4582" y="4100"/>
                    </a:lnTo>
                    <a:lnTo>
                      <a:pt x="4536" y="4038"/>
                    </a:lnTo>
                    <a:lnTo>
                      <a:pt x="4489" y="3978"/>
                    </a:lnTo>
                    <a:lnTo>
                      <a:pt x="4440" y="3920"/>
                    </a:lnTo>
                    <a:lnTo>
                      <a:pt x="4391" y="3863"/>
                    </a:lnTo>
                    <a:lnTo>
                      <a:pt x="4340" y="3807"/>
                    </a:lnTo>
                    <a:lnTo>
                      <a:pt x="4290" y="3753"/>
                    </a:lnTo>
                    <a:lnTo>
                      <a:pt x="4238" y="3702"/>
                    </a:lnTo>
                    <a:lnTo>
                      <a:pt x="4184" y="3651"/>
                    </a:lnTo>
                    <a:lnTo>
                      <a:pt x="4130" y="3603"/>
                    </a:lnTo>
                    <a:lnTo>
                      <a:pt x="4076" y="3556"/>
                    </a:lnTo>
                    <a:lnTo>
                      <a:pt x="4020" y="3511"/>
                    </a:lnTo>
                    <a:lnTo>
                      <a:pt x="3963" y="3468"/>
                    </a:lnTo>
                    <a:lnTo>
                      <a:pt x="3906" y="3426"/>
                    </a:lnTo>
                    <a:lnTo>
                      <a:pt x="3848" y="3386"/>
                    </a:lnTo>
                    <a:lnTo>
                      <a:pt x="3788" y="3349"/>
                    </a:lnTo>
                    <a:lnTo>
                      <a:pt x="3728" y="3313"/>
                    </a:lnTo>
                    <a:lnTo>
                      <a:pt x="3668" y="3279"/>
                    </a:lnTo>
                    <a:lnTo>
                      <a:pt x="3607" y="3247"/>
                    </a:lnTo>
                    <a:lnTo>
                      <a:pt x="3545" y="3217"/>
                    </a:lnTo>
                    <a:lnTo>
                      <a:pt x="3482" y="3189"/>
                    </a:lnTo>
                    <a:lnTo>
                      <a:pt x="3419" y="3163"/>
                    </a:lnTo>
                    <a:lnTo>
                      <a:pt x="3355" y="3140"/>
                    </a:lnTo>
                    <a:lnTo>
                      <a:pt x="3290" y="3118"/>
                    </a:lnTo>
                    <a:lnTo>
                      <a:pt x="3225" y="3099"/>
                    </a:lnTo>
                    <a:lnTo>
                      <a:pt x="3159" y="3081"/>
                    </a:lnTo>
                    <a:lnTo>
                      <a:pt x="3093" y="3066"/>
                    </a:lnTo>
                    <a:lnTo>
                      <a:pt x="3025" y="3054"/>
                    </a:lnTo>
                    <a:lnTo>
                      <a:pt x="2958" y="3043"/>
                    </a:lnTo>
                    <a:lnTo>
                      <a:pt x="2891" y="3035"/>
                    </a:lnTo>
                    <a:lnTo>
                      <a:pt x="2822" y="3029"/>
                    </a:lnTo>
                    <a:lnTo>
                      <a:pt x="2753" y="3026"/>
                    </a:lnTo>
                    <a:lnTo>
                      <a:pt x="2684" y="3025"/>
                    </a:lnTo>
                    <a:close/>
                    <a:moveTo>
                      <a:pt x="2708" y="2647"/>
                    </a:moveTo>
                    <a:lnTo>
                      <a:pt x="2708" y="2647"/>
                    </a:lnTo>
                    <a:lnTo>
                      <a:pt x="2743" y="2646"/>
                    </a:lnTo>
                    <a:lnTo>
                      <a:pt x="2778" y="2645"/>
                    </a:lnTo>
                    <a:lnTo>
                      <a:pt x="2813" y="2643"/>
                    </a:lnTo>
                    <a:lnTo>
                      <a:pt x="2847" y="2640"/>
                    </a:lnTo>
                    <a:lnTo>
                      <a:pt x="2882" y="2636"/>
                    </a:lnTo>
                    <a:lnTo>
                      <a:pt x="2915" y="2631"/>
                    </a:lnTo>
                    <a:lnTo>
                      <a:pt x="2949" y="2626"/>
                    </a:lnTo>
                    <a:lnTo>
                      <a:pt x="2982" y="2620"/>
                    </a:lnTo>
                    <a:lnTo>
                      <a:pt x="3014" y="2613"/>
                    </a:lnTo>
                    <a:lnTo>
                      <a:pt x="3047" y="2605"/>
                    </a:lnTo>
                    <a:lnTo>
                      <a:pt x="3079" y="2596"/>
                    </a:lnTo>
                    <a:lnTo>
                      <a:pt x="3112" y="2587"/>
                    </a:lnTo>
                    <a:lnTo>
                      <a:pt x="3144" y="2577"/>
                    </a:lnTo>
                    <a:lnTo>
                      <a:pt x="3175" y="2566"/>
                    </a:lnTo>
                    <a:lnTo>
                      <a:pt x="3205" y="2555"/>
                    </a:lnTo>
                    <a:lnTo>
                      <a:pt x="3236" y="2542"/>
                    </a:lnTo>
                    <a:lnTo>
                      <a:pt x="3266" y="2530"/>
                    </a:lnTo>
                    <a:lnTo>
                      <a:pt x="3297" y="2517"/>
                    </a:lnTo>
                    <a:lnTo>
                      <a:pt x="3326" y="2502"/>
                    </a:lnTo>
                    <a:lnTo>
                      <a:pt x="3355" y="2487"/>
                    </a:lnTo>
                    <a:lnTo>
                      <a:pt x="3383" y="2472"/>
                    </a:lnTo>
                    <a:lnTo>
                      <a:pt x="3411" y="2455"/>
                    </a:lnTo>
                    <a:lnTo>
                      <a:pt x="3439" y="2438"/>
                    </a:lnTo>
                    <a:lnTo>
                      <a:pt x="3466" y="2421"/>
                    </a:lnTo>
                    <a:lnTo>
                      <a:pt x="3493" y="2403"/>
                    </a:lnTo>
                    <a:lnTo>
                      <a:pt x="3519" y="2384"/>
                    </a:lnTo>
                    <a:lnTo>
                      <a:pt x="3545" y="2365"/>
                    </a:lnTo>
                    <a:lnTo>
                      <a:pt x="3571" y="2345"/>
                    </a:lnTo>
                    <a:lnTo>
                      <a:pt x="3596" y="2324"/>
                    </a:lnTo>
                    <a:lnTo>
                      <a:pt x="3619" y="2303"/>
                    </a:lnTo>
                    <a:lnTo>
                      <a:pt x="3643" y="2282"/>
                    </a:lnTo>
                    <a:lnTo>
                      <a:pt x="3667" y="2259"/>
                    </a:lnTo>
                    <a:lnTo>
                      <a:pt x="3689" y="2237"/>
                    </a:lnTo>
                    <a:lnTo>
                      <a:pt x="3711" y="2213"/>
                    </a:lnTo>
                    <a:lnTo>
                      <a:pt x="3733" y="2189"/>
                    </a:lnTo>
                    <a:lnTo>
                      <a:pt x="3754" y="2165"/>
                    </a:lnTo>
                    <a:lnTo>
                      <a:pt x="3774" y="2140"/>
                    </a:lnTo>
                    <a:lnTo>
                      <a:pt x="3795" y="2115"/>
                    </a:lnTo>
                    <a:lnTo>
                      <a:pt x="3814" y="2089"/>
                    </a:lnTo>
                    <a:lnTo>
                      <a:pt x="3832" y="2063"/>
                    </a:lnTo>
                    <a:lnTo>
                      <a:pt x="3850" y="2036"/>
                    </a:lnTo>
                    <a:lnTo>
                      <a:pt x="3868" y="2010"/>
                    </a:lnTo>
                    <a:lnTo>
                      <a:pt x="3884" y="1983"/>
                    </a:lnTo>
                    <a:lnTo>
                      <a:pt x="3900" y="1954"/>
                    </a:lnTo>
                    <a:lnTo>
                      <a:pt x="3915" y="1925"/>
                    </a:lnTo>
                    <a:lnTo>
                      <a:pt x="3930" y="1897"/>
                    </a:lnTo>
                    <a:lnTo>
                      <a:pt x="3944" y="1868"/>
                    </a:lnTo>
                    <a:lnTo>
                      <a:pt x="3957" y="1839"/>
                    </a:lnTo>
                    <a:lnTo>
                      <a:pt x="3970" y="1808"/>
                    </a:lnTo>
                    <a:lnTo>
                      <a:pt x="3981" y="1778"/>
                    </a:lnTo>
                    <a:lnTo>
                      <a:pt x="3993" y="1748"/>
                    </a:lnTo>
                    <a:lnTo>
                      <a:pt x="4003" y="1717"/>
                    </a:lnTo>
                    <a:lnTo>
                      <a:pt x="4012" y="1686"/>
                    </a:lnTo>
                    <a:lnTo>
                      <a:pt x="4021" y="1654"/>
                    </a:lnTo>
                    <a:lnTo>
                      <a:pt x="4029" y="1622"/>
                    </a:lnTo>
                    <a:lnTo>
                      <a:pt x="4036" y="1590"/>
                    </a:lnTo>
                    <a:lnTo>
                      <a:pt x="4042" y="1557"/>
                    </a:lnTo>
                    <a:lnTo>
                      <a:pt x="4048" y="1525"/>
                    </a:lnTo>
                    <a:lnTo>
                      <a:pt x="4052" y="1492"/>
                    </a:lnTo>
                    <a:lnTo>
                      <a:pt x="4057" y="1459"/>
                    </a:lnTo>
                    <a:lnTo>
                      <a:pt x="4060" y="1425"/>
                    </a:lnTo>
                    <a:lnTo>
                      <a:pt x="4062" y="1391"/>
                    </a:lnTo>
                    <a:lnTo>
                      <a:pt x="4063" y="1357"/>
                    </a:lnTo>
                    <a:lnTo>
                      <a:pt x="4063" y="1324"/>
                    </a:lnTo>
                    <a:lnTo>
                      <a:pt x="4063" y="1289"/>
                    </a:lnTo>
                    <a:lnTo>
                      <a:pt x="4062" y="1255"/>
                    </a:lnTo>
                    <a:lnTo>
                      <a:pt x="4060" y="1221"/>
                    </a:lnTo>
                    <a:lnTo>
                      <a:pt x="4057" y="1188"/>
                    </a:lnTo>
                    <a:lnTo>
                      <a:pt x="4052" y="1155"/>
                    </a:lnTo>
                    <a:lnTo>
                      <a:pt x="4048" y="1121"/>
                    </a:lnTo>
                    <a:lnTo>
                      <a:pt x="4042" y="1089"/>
                    </a:lnTo>
                    <a:lnTo>
                      <a:pt x="4036" y="1057"/>
                    </a:lnTo>
                    <a:lnTo>
                      <a:pt x="4029" y="1025"/>
                    </a:lnTo>
                    <a:lnTo>
                      <a:pt x="4021" y="993"/>
                    </a:lnTo>
                    <a:lnTo>
                      <a:pt x="4012" y="962"/>
                    </a:lnTo>
                    <a:lnTo>
                      <a:pt x="4003" y="930"/>
                    </a:lnTo>
                    <a:lnTo>
                      <a:pt x="3993" y="899"/>
                    </a:lnTo>
                    <a:lnTo>
                      <a:pt x="3981" y="868"/>
                    </a:lnTo>
                    <a:lnTo>
                      <a:pt x="3970" y="838"/>
                    </a:lnTo>
                    <a:lnTo>
                      <a:pt x="3957" y="809"/>
                    </a:lnTo>
                    <a:lnTo>
                      <a:pt x="3944" y="778"/>
                    </a:lnTo>
                    <a:lnTo>
                      <a:pt x="3930" y="750"/>
                    </a:lnTo>
                    <a:lnTo>
                      <a:pt x="3915" y="721"/>
                    </a:lnTo>
                    <a:lnTo>
                      <a:pt x="3900" y="693"/>
                    </a:lnTo>
                    <a:lnTo>
                      <a:pt x="3884" y="665"/>
                    </a:lnTo>
                    <a:lnTo>
                      <a:pt x="3868" y="638"/>
                    </a:lnTo>
                    <a:lnTo>
                      <a:pt x="3850" y="610"/>
                    </a:lnTo>
                    <a:lnTo>
                      <a:pt x="3832" y="584"/>
                    </a:lnTo>
                    <a:lnTo>
                      <a:pt x="3814" y="557"/>
                    </a:lnTo>
                    <a:lnTo>
                      <a:pt x="3795" y="532"/>
                    </a:lnTo>
                    <a:lnTo>
                      <a:pt x="3774" y="506"/>
                    </a:lnTo>
                    <a:lnTo>
                      <a:pt x="3754" y="481"/>
                    </a:lnTo>
                    <a:lnTo>
                      <a:pt x="3733" y="458"/>
                    </a:lnTo>
                    <a:lnTo>
                      <a:pt x="3711" y="433"/>
                    </a:lnTo>
                    <a:lnTo>
                      <a:pt x="3689" y="411"/>
                    </a:lnTo>
                    <a:lnTo>
                      <a:pt x="3667" y="388"/>
                    </a:lnTo>
                    <a:lnTo>
                      <a:pt x="3643" y="366"/>
                    </a:lnTo>
                    <a:lnTo>
                      <a:pt x="3619" y="344"/>
                    </a:lnTo>
                    <a:lnTo>
                      <a:pt x="3596" y="323"/>
                    </a:lnTo>
                    <a:lnTo>
                      <a:pt x="3571" y="303"/>
                    </a:lnTo>
                    <a:lnTo>
                      <a:pt x="3545" y="282"/>
                    </a:lnTo>
                    <a:lnTo>
                      <a:pt x="3519" y="263"/>
                    </a:lnTo>
                    <a:lnTo>
                      <a:pt x="3493" y="244"/>
                    </a:lnTo>
                    <a:lnTo>
                      <a:pt x="3466" y="226"/>
                    </a:lnTo>
                    <a:lnTo>
                      <a:pt x="3439" y="208"/>
                    </a:lnTo>
                    <a:lnTo>
                      <a:pt x="3411" y="191"/>
                    </a:lnTo>
                    <a:lnTo>
                      <a:pt x="3383" y="176"/>
                    </a:lnTo>
                    <a:lnTo>
                      <a:pt x="3355" y="160"/>
                    </a:lnTo>
                    <a:lnTo>
                      <a:pt x="3326" y="145"/>
                    </a:lnTo>
                    <a:lnTo>
                      <a:pt x="3297" y="131"/>
                    </a:lnTo>
                    <a:lnTo>
                      <a:pt x="3266" y="117"/>
                    </a:lnTo>
                    <a:lnTo>
                      <a:pt x="3236" y="104"/>
                    </a:lnTo>
                    <a:lnTo>
                      <a:pt x="3205" y="92"/>
                    </a:lnTo>
                    <a:lnTo>
                      <a:pt x="3175" y="80"/>
                    </a:lnTo>
                    <a:lnTo>
                      <a:pt x="3144" y="70"/>
                    </a:lnTo>
                    <a:lnTo>
                      <a:pt x="3112" y="60"/>
                    </a:lnTo>
                    <a:lnTo>
                      <a:pt x="3079" y="51"/>
                    </a:lnTo>
                    <a:lnTo>
                      <a:pt x="3047" y="42"/>
                    </a:lnTo>
                    <a:lnTo>
                      <a:pt x="3014" y="34"/>
                    </a:lnTo>
                    <a:lnTo>
                      <a:pt x="2982" y="27"/>
                    </a:lnTo>
                    <a:lnTo>
                      <a:pt x="2949" y="20"/>
                    </a:lnTo>
                    <a:lnTo>
                      <a:pt x="2915" y="15"/>
                    </a:lnTo>
                    <a:lnTo>
                      <a:pt x="2882" y="10"/>
                    </a:lnTo>
                    <a:lnTo>
                      <a:pt x="2847" y="7"/>
                    </a:lnTo>
                    <a:lnTo>
                      <a:pt x="2813" y="4"/>
                    </a:lnTo>
                    <a:lnTo>
                      <a:pt x="2778" y="1"/>
                    </a:lnTo>
                    <a:lnTo>
                      <a:pt x="2743" y="0"/>
                    </a:lnTo>
                    <a:lnTo>
                      <a:pt x="2708" y="0"/>
                    </a:lnTo>
                    <a:lnTo>
                      <a:pt x="2673" y="0"/>
                    </a:lnTo>
                    <a:lnTo>
                      <a:pt x="2639" y="1"/>
                    </a:lnTo>
                    <a:lnTo>
                      <a:pt x="2605" y="4"/>
                    </a:lnTo>
                    <a:lnTo>
                      <a:pt x="2570" y="7"/>
                    </a:lnTo>
                    <a:lnTo>
                      <a:pt x="2536" y="10"/>
                    </a:lnTo>
                    <a:lnTo>
                      <a:pt x="2503" y="15"/>
                    </a:lnTo>
                    <a:lnTo>
                      <a:pt x="2469" y="20"/>
                    </a:lnTo>
                    <a:lnTo>
                      <a:pt x="2436" y="27"/>
                    </a:lnTo>
                    <a:lnTo>
                      <a:pt x="2402" y="34"/>
                    </a:lnTo>
                    <a:lnTo>
                      <a:pt x="2370" y="42"/>
                    </a:lnTo>
                    <a:lnTo>
                      <a:pt x="2338" y="51"/>
                    </a:lnTo>
                    <a:lnTo>
                      <a:pt x="2306" y="60"/>
                    </a:lnTo>
                    <a:lnTo>
                      <a:pt x="2274" y="70"/>
                    </a:lnTo>
                    <a:lnTo>
                      <a:pt x="2243" y="80"/>
                    </a:lnTo>
                    <a:lnTo>
                      <a:pt x="2212" y="92"/>
                    </a:lnTo>
                    <a:lnTo>
                      <a:pt x="2181" y="104"/>
                    </a:lnTo>
                    <a:lnTo>
                      <a:pt x="2152" y="117"/>
                    </a:lnTo>
                    <a:lnTo>
                      <a:pt x="2121" y="131"/>
                    </a:lnTo>
                    <a:lnTo>
                      <a:pt x="2092" y="145"/>
                    </a:lnTo>
                    <a:lnTo>
                      <a:pt x="2063" y="160"/>
                    </a:lnTo>
                    <a:lnTo>
                      <a:pt x="2035" y="176"/>
                    </a:lnTo>
                    <a:lnTo>
                      <a:pt x="2007" y="191"/>
                    </a:lnTo>
                    <a:lnTo>
                      <a:pt x="1979" y="208"/>
                    </a:lnTo>
                    <a:lnTo>
                      <a:pt x="1952" y="226"/>
                    </a:lnTo>
                    <a:lnTo>
                      <a:pt x="1925" y="244"/>
                    </a:lnTo>
                    <a:lnTo>
                      <a:pt x="1899" y="263"/>
                    </a:lnTo>
                    <a:lnTo>
                      <a:pt x="1873" y="282"/>
                    </a:lnTo>
                    <a:lnTo>
                      <a:pt x="1847" y="303"/>
                    </a:lnTo>
                    <a:lnTo>
                      <a:pt x="1822" y="323"/>
                    </a:lnTo>
                    <a:lnTo>
                      <a:pt x="1797" y="344"/>
                    </a:lnTo>
                    <a:lnTo>
                      <a:pt x="1774" y="366"/>
                    </a:lnTo>
                    <a:lnTo>
                      <a:pt x="1751" y="388"/>
                    </a:lnTo>
                    <a:lnTo>
                      <a:pt x="1728" y="411"/>
                    </a:lnTo>
                    <a:lnTo>
                      <a:pt x="1706" y="433"/>
                    </a:lnTo>
                    <a:lnTo>
                      <a:pt x="1685" y="458"/>
                    </a:lnTo>
                    <a:lnTo>
                      <a:pt x="1664" y="481"/>
                    </a:lnTo>
                    <a:lnTo>
                      <a:pt x="1643" y="506"/>
                    </a:lnTo>
                    <a:lnTo>
                      <a:pt x="1623" y="532"/>
                    </a:lnTo>
                    <a:lnTo>
                      <a:pt x="1604" y="557"/>
                    </a:lnTo>
                    <a:lnTo>
                      <a:pt x="1586" y="584"/>
                    </a:lnTo>
                    <a:lnTo>
                      <a:pt x="1568" y="610"/>
                    </a:lnTo>
                    <a:lnTo>
                      <a:pt x="1550" y="638"/>
                    </a:lnTo>
                    <a:lnTo>
                      <a:pt x="1533" y="665"/>
                    </a:lnTo>
                    <a:lnTo>
                      <a:pt x="1517" y="693"/>
                    </a:lnTo>
                    <a:lnTo>
                      <a:pt x="1503" y="721"/>
                    </a:lnTo>
                    <a:lnTo>
                      <a:pt x="1488" y="750"/>
                    </a:lnTo>
                    <a:lnTo>
                      <a:pt x="1474" y="778"/>
                    </a:lnTo>
                    <a:lnTo>
                      <a:pt x="1461" y="809"/>
                    </a:lnTo>
                    <a:lnTo>
                      <a:pt x="1448" y="838"/>
                    </a:lnTo>
                    <a:lnTo>
                      <a:pt x="1436" y="868"/>
                    </a:lnTo>
                    <a:lnTo>
                      <a:pt x="1425" y="899"/>
                    </a:lnTo>
                    <a:lnTo>
                      <a:pt x="1415" y="930"/>
                    </a:lnTo>
                    <a:lnTo>
                      <a:pt x="1406" y="962"/>
                    </a:lnTo>
                    <a:lnTo>
                      <a:pt x="1397" y="993"/>
                    </a:lnTo>
                    <a:lnTo>
                      <a:pt x="1389" y="1025"/>
                    </a:lnTo>
                    <a:lnTo>
                      <a:pt x="1381" y="1057"/>
                    </a:lnTo>
                    <a:lnTo>
                      <a:pt x="1376" y="1089"/>
                    </a:lnTo>
                    <a:lnTo>
                      <a:pt x="1370" y="1121"/>
                    </a:lnTo>
                    <a:lnTo>
                      <a:pt x="1366" y="1155"/>
                    </a:lnTo>
                    <a:lnTo>
                      <a:pt x="1361" y="1188"/>
                    </a:lnTo>
                    <a:lnTo>
                      <a:pt x="1358" y="1221"/>
                    </a:lnTo>
                    <a:lnTo>
                      <a:pt x="1355" y="1255"/>
                    </a:lnTo>
                    <a:lnTo>
                      <a:pt x="1354" y="1289"/>
                    </a:lnTo>
                    <a:lnTo>
                      <a:pt x="1354" y="1324"/>
                    </a:lnTo>
                    <a:lnTo>
                      <a:pt x="1354" y="1357"/>
                    </a:lnTo>
                    <a:lnTo>
                      <a:pt x="1355" y="1391"/>
                    </a:lnTo>
                    <a:lnTo>
                      <a:pt x="1358" y="1425"/>
                    </a:lnTo>
                    <a:lnTo>
                      <a:pt x="1361" y="1459"/>
                    </a:lnTo>
                    <a:lnTo>
                      <a:pt x="1366" y="1492"/>
                    </a:lnTo>
                    <a:lnTo>
                      <a:pt x="1370" y="1525"/>
                    </a:lnTo>
                    <a:lnTo>
                      <a:pt x="1376" y="1557"/>
                    </a:lnTo>
                    <a:lnTo>
                      <a:pt x="1381" y="1590"/>
                    </a:lnTo>
                    <a:lnTo>
                      <a:pt x="1389" y="1622"/>
                    </a:lnTo>
                    <a:lnTo>
                      <a:pt x="1397" y="1654"/>
                    </a:lnTo>
                    <a:lnTo>
                      <a:pt x="1406" y="1686"/>
                    </a:lnTo>
                    <a:lnTo>
                      <a:pt x="1415" y="1717"/>
                    </a:lnTo>
                    <a:lnTo>
                      <a:pt x="1425" y="1748"/>
                    </a:lnTo>
                    <a:lnTo>
                      <a:pt x="1436" y="1778"/>
                    </a:lnTo>
                    <a:lnTo>
                      <a:pt x="1448" y="1808"/>
                    </a:lnTo>
                    <a:lnTo>
                      <a:pt x="1461" y="1839"/>
                    </a:lnTo>
                    <a:lnTo>
                      <a:pt x="1474" y="1868"/>
                    </a:lnTo>
                    <a:lnTo>
                      <a:pt x="1488" y="1897"/>
                    </a:lnTo>
                    <a:lnTo>
                      <a:pt x="1503" y="1925"/>
                    </a:lnTo>
                    <a:lnTo>
                      <a:pt x="1517" y="1954"/>
                    </a:lnTo>
                    <a:lnTo>
                      <a:pt x="1533" y="1983"/>
                    </a:lnTo>
                    <a:lnTo>
                      <a:pt x="1550" y="2010"/>
                    </a:lnTo>
                    <a:lnTo>
                      <a:pt x="1568" y="2036"/>
                    </a:lnTo>
                    <a:lnTo>
                      <a:pt x="1586" y="2063"/>
                    </a:lnTo>
                    <a:lnTo>
                      <a:pt x="1604" y="2089"/>
                    </a:lnTo>
                    <a:lnTo>
                      <a:pt x="1623" y="2115"/>
                    </a:lnTo>
                    <a:lnTo>
                      <a:pt x="1643" y="2140"/>
                    </a:lnTo>
                    <a:lnTo>
                      <a:pt x="1664" y="2165"/>
                    </a:lnTo>
                    <a:lnTo>
                      <a:pt x="1685" y="2189"/>
                    </a:lnTo>
                    <a:lnTo>
                      <a:pt x="1706" y="2213"/>
                    </a:lnTo>
                    <a:lnTo>
                      <a:pt x="1728" y="2237"/>
                    </a:lnTo>
                    <a:lnTo>
                      <a:pt x="1751" y="2259"/>
                    </a:lnTo>
                    <a:lnTo>
                      <a:pt x="1774" y="2282"/>
                    </a:lnTo>
                    <a:lnTo>
                      <a:pt x="1797" y="2303"/>
                    </a:lnTo>
                    <a:lnTo>
                      <a:pt x="1822" y="2324"/>
                    </a:lnTo>
                    <a:lnTo>
                      <a:pt x="1847" y="2345"/>
                    </a:lnTo>
                    <a:lnTo>
                      <a:pt x="1873" y="2365"/>
                    </a:lnTo>
                    <a:lnTo>
                      <a:pt x="1899" y="2384"/>
                    </a:lnTo>
                    <a:lnTo>
                      <a:pt x="1925" y="2403"/>
                    </a:lnTo>
                    <a:lnTo>
                      <a:pt x="1952" y="2421"/>
                    </a:lnTo>
                    <a:lnTo>
                      <a:pt x="1979" y="2438"/>
                    </a:lnTo>
                    <a:lnTo>
                      <a:pt x="2007" y="2455"/>
                    </a:lnTo>
                    <a:lnTo>
                      <a:pt x="2035" y="2472"/>
                    </a:lnTo>
                    <a:lnTo>
                      <a:pt x="2063" y="2487"/>
                    </a:lnTo>
                    <a:lnTo>
                      <a:pt x="2092" y="2502"/>
                    </a:lnTo>
                    <a:lnTo>
                      <a:pt x="2121" y="2517"/>
                    </a:lnTo>
                    <a:lnTo>
                      <a:pt x="2152" y="2530"/>
                    </a:lnTo>
                    <a:lnTo>
                      <a:pt x="2181" y="2542"/>
                    </a:lnTo>
                    <a:lnTo>
                      <a:pt x="2212" y="2555"/>
                    </a:lnTo>
                    <a:lnTo>
                      <a:pt x="2243" y="2566"/>
                    </a:lnTo>
                    <a:lnTo>
                      <a:pt x="2274" y="2577"/>
                    </a:lnTo>
                    <a:lnTo>
                      <a:pt x="2306" y="2587"/>
                    </a:lnTo>
                    <a:lnTo>
                      <a:pt x="2338" y="2596"/>
                    </a:lnTo>
                    <a:lnTo>
                      <a:pt x="2370" y="2605"/>
                    </a:lnTo>
                    <a:lnTo>
                      <a:pt x="2402" y="2613"/>
                    </a:lnTo>
                    <a:lnTo>
                      <a:pt x="2436" y="2620"/>
                    </a:lnTo>
                    <a:lnTo>
                      <a:pt x="2469" y="2626"/>
                    </a:lnTo>
                    <a:lnTo>
                      <a:pt x="2503" y="2631"/>
                    </a:lnTo>
                    <a:lnTo>
                      <a:pt x="2536" y="2636"/>
                    </a:lnTo>
                    <a:lnTo>
                      <a:pt x="2570" y="2640"/>
                    </a:lnTo>
                    <a:lnTo>
                      <a:pt x="2605" y="2643"/>
                    </a:lnTo>
                    <a:lnTo>
                      <a:pt x="2639" y="2645"/>
                    </a:lnTo>
                    <a:lnTo>
                      <a:pt x="2673" y="2646"/>
                    </a:lnTo>
                    <a:lnTo>
                      <a:pt x="2708" y="2647"/>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noProof="1">
                  <a:solidFill>
                    <a:srgbClr val="FFFFFF"/>
                  </a:solidFill>
                </a:endParaRPr>
              </a:p>
            </p:txBody>
          </p:sp>
        </p:grpSp>
        <p:sp>
          <p:nvSpPr>
            <p:cNvPr id="26633" name="文本框 1027"/>
            <p:cNvSpPr txBox="1">
              <a:spLocks noChangeArrowheads="1"/>
            </p:cNvSpPr>
            <p:nvPr/>
          </p:nvSpPr>
          <p:spPr bwMode="auto">
            <a:xfrm>
              <a:off x="4554" y="6310"/>
              <a:ext cx="2808"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1800"/>
                <a:t>答辩人：</a:t>
              </a:r>
              <a:r>
                <a:rPr lang="zh-CN" altLang="en-US" sz="1800"/>
                <a:t>赵健豪</a:t>
              </a:r>
              <a:endParaRPr lang="zh-CN" altLang="en-US" sz="1800"/>
            </a:p>
          </p:txBody>
        </p:sp>
      </p:grpSp>
      <p:grpSp>
        <p:nvGrpSpPr>
          <p:cNvPr id="3" name="组合 2"/>
          <p:cNvGrpSpPr/>
          <p:nvPr/>
        </p:nvGrpSpPr>
        <p:grpSpPr>
          <a:xfrm>
            <a:off x="6978968" y="3999230"/>
            <a:ext cx="2098992" cy="369570"/>
            <a:chOff x="12383" y="6298"/>
            <a:chExt cx="3305" cy="582"/>
          </a:xfrm>
        </p:grpSpPr>
        <p:grpSp>
          <p:nvGrpSpPr>
            <p:cNvPr id="26632" name="组合 1025"/>
            <p:cNvGrpSpPr/>
            <p:nvPr/>
          </p:nvGrpSpPr>
          <p:grpSpPr bwMode="auto">
            <a:xfrm>
              <a:off x="12383" y="6380"/>
              <a:ext cx="497" cy="500"/>
              <a:chOff x="5253802" y="3856218"/>
              <a:chExt cx="317004" cy="317004"/>
            </a:xfrm>
          </p:grpSpPr>
          <p:sp>
            <p:nvSpPr>
              <p:cNvPr id="104" name="椭圆 103"/>
              <p:cNvSpPr/>
              <p:nvPr/>
            </p:nvSpPr>
            <p:spPr>
              <a:xfrm>
                <a:off x="5253802" y="3856218"/>
                <a:ext cx="317004" cy="317004"/>
              </a:xfrm>
              <a:prstGeom prst="ellipse">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06" name="KSO_Shape"/>
              <p:cNvSpPr/>
              <p:nvPr/>
            </p:nvSpPr>
            <p:spPr bwMode="auto">
              <a:xfrm>
                <a:off x="5309556" y="3908524"/>
                <a:ext cx="205496" cy="193372"/>
              </a:xfrm>
              <a:custGeom>
                <a:avLst/>
                <a:gdLst/>
                <a:ahLst/>
                <a:cxnLst/>
                <a:rect l="0" t="0" r="r" b="b"/>
                <a:pathLst>
                  <a:path w="1917701" h="1819275">
                    <a:moveTo>
                      <a:pt x="711992" y="795933"/>
                    </a:moveTo>
                    <a:lnTo>
                      <a:pt x="722042" y="796197"/>
                    </a:lnTo>
                    <a:lnTo>
                      <a:pt x="731828" y="796462"/>
                    </a:lnTo>
                    <a:lnTo>
                      <a:pt x="742143" y="796991"/>
                    </a:lnTo>
                    <a:lnTo>
                      <a:pt x="751929" y="797784"/>
                    </a:lnTo>
                    <a:lnTo>
                      <a:pt x="761979" y="798577"/>
                    </a:lnTo>
                    <a:lnTo>
                      <a:pt x="771765" y="799635"/>
                    </a:lnTo>
                    <a:lnTo>
                      <a:pt x="781551" y="800957"/>
                    </a:lnTo>
                    <a:lnTo>
                      <a:pt x="791337" y="802544"/>
                    </a:lnTo>
                    <a:lnTo>
                      <a:pt x="800858" y="804130"/>
                    </a:lnTo>
                    <a:lnTo>
                      <a:pt x="810644" y="805981"/>
                    </a:lnTo>
                    <a:lnTo>
                      <a:pt x="820166" y="807832"/>
                    </a:lnTo>
                    <a:lnTo>
                      <a:pt x="829687" y="810212"/>
                    </a:lnTo>
                    <a:lnTo>
                      <a:pt x="839473" y="812592"/>
                    </a:lnTo>
                    <a:lnTo>
                      <a:pt x="848994" y="814972"/>
                    </a:lnTo>
                    <a:lnTo>
                      <a:pt x="858252" y="817616"/>
                    </a:lnTo>
                    <a:lnTo>
                      <a:pt x="867773" y="820525"/>
                    </a:lnTo>
                    <a:lnTo>
                      <a:pt x="886551" y="826871"/>
                    </a:lnTo>
                    <a:lnTo>
                      <a:pt x="905065" y="833746"/>
                    </a:lnTo>
                    <a:lnTo>
                      <a:pt x="923315" y="841415"/>
                    </a:lnTo>
                    <a:lnTo>
                      <a:pt x="941300" y="849612"/>
                    </a:lnTo>
                    <a:lnTo>
                      <a:pt x="959284" y="858603"/>
                    </a:lnTo>
                    <a:lnTo>
                      <a:pt x="976740" y="868122"/>
                    </a:lnTo>
                    <a:lnTo>
                      <a:pt x="993932" y="878170"/>
                    </a:lnTo>
                    <a:lnTo>
                      <a:pt x="1011123" y="889012"/>
                    </a:lnTo>
                    <a:lnTo>
                      <a:pt x="1003189" y="891392"/>
                    </a:lnTo>
                    <a:lnTo>
                      <a:pt x="995254" y="893772"/>
                    </a:lnTo>
                    <a:lnTo>
                      <a:pt x="987055" y="896416"/>
                    </a:lnTo>
                    <a:lnTo>
                      <a:pt x="979121" y="899325"/>
                    </a:lnTo>
                    <a:lnTo>
                      <a:pt x="971186" y="902762"/>
                    </a:lnTo>
                    <a:lnTo>
                      <a:pt x="962987" y="905936"/>
                    </a:lnTo>
                    <a:lnTo>
                      <a:pt x="955053" y="909638"/>
                    </a:lnTo>
                    <a:lnTo>
                      <a:pt x="947383" y="913604"/>
                    </a:lnTo>
                    <a:lnTo>
                      <a:pt x="939448" y="917835"/>
                    </a:lnTo>
                    <a:lnTo>
                      <a:pt x="932043" y="922066"/>
                    </a:lnTo>
                    <a:lnTo>
                      <a:pt x="924637" y="926826"/>
                    </a:lnTo>
                    <a:lnTo>
                      <a:pt x="917231" y="931850"/>
                    </a:lnTo>
                    <a:lnTo>
                      <a:pt x="910090" y="936874"/>
                    </a:lnTo>
                    <a:lnTo>
                      <a:pt x="902949" y="942427"/>
                    </a:lnTo>
                    <a:lnTo>
                      <a:pt x="896073" y="948509"/>
                    </a:lnTo>
                    <a:lnTo>
                      <a:pt x="889461" y="954326"/>
                    </a:lnTo>
                    <a:lnTo>
                      <a:pt x="883113" y="960937"/>
                    </a:lnTo>
                    <a:lnTo>
                      <a:pt x="877030" y="967812"/>
                    </a:lnTo>
                    <a:lnTo>
                      <a:pt x="871211" y="974952"/>
                    </a:lnTo>
                    <a:lnTo>
                      <a:pt x="865393" y="982356"/>
                    </a:lnTo>
                    <a:lnTo>
                      <a:pt x="859838" y="990024"/>
                    </a:lnTo>
                    <a:lnTo>
                      <a:pt x="854813" y="998486"/>
                    </a:lnTo>
                    <a:lnTo>
                      <a:pt x="850052" y="1006683"/>
                    </a:lnTo>
                    <a:lnTo>
                      <a:pt x="845556" y="1015674"/>
                    </a:lnTo>
                    <a:lnTo>
                      <a:pt x="841324" y="1025193"/>
                    </a:lnTo>
                    <a:lnTo>
                      <a:pt x="837886" y="1034713"/>
                    </a:lnTo>
                    <a:lnTo>
                      <a:pt x="834183" y="1044761"/>
                    </a:lnTo>
                    <a:lnTo>
                      <a:pt x="831274" y="1055074"/>
                    </a:lnTo>
                    <a:lnTo>
                      <a:pt x="828629" y="1066180"/>
                    </a:lnTo>
                    <a:lnTo>
                      <a:pt x="826249" y="1077550"/>
                    </a:lnTo>
                    <a:lnTo>
                      <a:pt x="824398" y="1089185"/>
                    </a:lnTo>
                    <a:lnTo>
                      <a:pt x="823340" y="1101349"/>
                    </a:lnTo>
                    <a:lnTo>
                      <a:pt x="822017" y="1115893"/>
                    </a:lnTo>
                    <a:lnTo>
                      <a:pt x="821488" y="1129907"/>
                    </a:lnTo>
                    <a:lnTo>
                      <a:pt x="821488" y="1143129"/>
                    </a:lnTo>
                    <a:lnTo>
                      <a:pt x="821753" y="1156086"/>
                    </a:lnTo>
                    <a:lnTo>
                      <a:pt x="822546" y="1168514"/>
                    </a:lnTo>
                    <a:lnTo>
                      <a:pt x="824133" y="1180413"/>
                    </a:lnTo>
                    <a:lnTo>
                      <a:pt x="825984" y="1192048"/>
                    </a:lnTo>
                    <a:lnTo>
                      <a:pt x="828100" y="1203154"/>
                    </a:lnTo>
                    <a:lnTo>
                      <a:pt x="830745" y="1213731"/>
                    </a:lnTo>
                    <a:lnTo>
                      <a:pt x="833654" y="1224044"/>
                    </a:lnTo>
                    <a:lnTo>
                      <a:pt x="836828" y="1233828"/>
                    </a:lnTo>
                    <a:lnTo>
                      <a:pt x="840531" y="1243348"/>
                    </a:lnTo>
                    <a:lnTo>
                      <a:pt x="844763" y="1252338"/>
                    </a:lnTo>
                    <a:lnTo>
                      <a:pt x="848994" y="1260800"/>
                    </a:lnTo>
                    <a:lnTo>
                      <a:pt x="853491" y="1269262"/>
                    </a:lnTo>
                    <a:lnTo>
                      <a:pt x="858516" y="1276930"/>
                    </a:lnTo>
                    <a:lnTo>
                      <a:pt x="863806" y="1284334"/>
                    </a:lnTo>
                    <a:lnTo>
                      <a:pt x="869360" y="1291474"/>
                    </a:lnTo>
                    <a:lnTo>
                      <a:pt x="874914" y="1298349"/>
                    </a:lnTo>
                    <a:lnTo>
                      <a:pt x="880997" y="1304960"/>
                    </a:lnTo>
                    <a:lnTo>
                      <a:pt x="887080" y="1311042"/>
                    </a:lnTo>
                    <a:lnTo>
                      <a:pt x="893428" y="1316859"/>
                    </a:lnTo>
                    <a:lnTo>
                      <a:pt x="900040" y="1322412"/>
                    </a:lnTo>
                    <a:lnTo>
                      <a:pt x="906652" y="1327436"/>
                    </a:lnTo>
                    <a:lnTo>
                      <a:pt x="913264" y="1332196"/>
                    </a:lnTo>
                    <a:lnTo>
                      <a:pt x="920405" y="1336956"/>
                    </a:lnTo>
                    <a:lnTo>
                      <a:pt x="927546" y="1341187"/>
                    </a:lnTo>
                    <a:lnTo>
                      <a:pt x="934687" y="1345417"/>
                    </a:lnTo>
                    <a:lnTo>
                      <a:pt x="941828" y="1349119"/>
                    </a:lnTo>
                    <a:lnTo>
                      <a:pt x="949234" y="1352821"/>
                    </a:lnTo>
                    <a:lnTo>
                      <a:pt x="956904" y="1355995"/>
                    </a:lnTo>
                    <a:lnTo>
                      <a:pt x="964310" y="1358903"/>
                    </a:lnTo>
                    <a:lnTo>
                      <a:pt x="971715" y="1361812"/>
                    </a:lnTo>
                    <a:lnTo>
                      <a:pt x="979121" y="1364456"/>
                    </a:lnTo>
                    <a:lnTo>
                      <a:pt x="986526" y="1366836"/>
                    </a:lnTo>
                    <a:lnTo>
                      <a:pt x="993932" y="1368952"/>
                    </a:lnTo>
                    <a:lnTo>
                      <a:pt x="1008479" y="1372654"/>
                    </a:lnTo>
                    <a:lnTo>
                      <a:pt x="1023025" y="1375562"/>
                    </a:lnTo>
                    <a:lnTo>
                      <a:pt x="1037043" y="1378471"/>
                    </a:lnTo>
                    <a:lnTo>
                      <a:pt x="1050532" y="1380058"/>
                    </a:lnTo>
                    <a:lnTo>
                      <a:pt x="1063227" y="1381380"/>
                    </a:lnTo>
                    <a:lnTo>
                      <a:pt x="1075129" y="1382438"/>
                    </a:lnTo>
                    <a:lnTo>
                      <a:pt x="1086237" y="1382702"/>
                    </a:lnTo>
                    <a:lnTo>
                      <a:pt x="1096287" y="1383231"/>
                    </a:lnTo>
                    <a:lnTo>
                      <a:pt x="1105015" y="1383495"/>
                    </a:lnTo>
                    <a:lnTo>
                      <a:pt x="1112421" y="1383231"/>
                    </a:lnTo>
                    <a:lnTo>
                      <a:pt x="1122736" y="1382702"/>
                    </a:lnTo>
                    <a:lnTo>
                      <a:pt x="1126703" y="1382438"/>
                    </a:lnTo>
                    <a:lnTo>
                      <a:pt x="1126703" y="1394337"/>
                    </a:lnTo>
                    <a:lnTo>
                      <a:pt x="1126968" y="1406236"/>
                    </a:lnTo>
                    <a:lnTo>
                      <a:pt x="1127232" y="1417607"/>
                    </a:lnTo>
                    <a:lnTo>
                      <a:pt x="1128025" y="1428977"/>
                    </a:lnTo>
                    <a:lnTo>
                      <a:pt x="1129083" y="1439554"/>
                    </a:lnTo>
                    <a:lnTo>
                      <a:pt x="1130141" y="1450131"/>
                    </a:lnTo>
                    <a:lnTo>
                      <a:pt x="1131728" y="1460444"/>
                    </a:lnTo>
                    <a:lnTo>
                      <a:pt x="1133580" y="1470228"/>
                    </a:lnTo>
                    <a:lnTo>
                      <a:pt x="1135431" y="1480012"/>
                    </a:lnTo>
                    <a:lnTo>
                      <a:pt x="1137547" y="1489267"/>
                    </a:lnTo>
                    <a:lnTo>
                      <a:pt x="1139927" y="1498522"/>
                    </a:lnTo>
                    <a:lnTo>
                      <a:pt x="1142572" y="1507513"/>
                    </a:lnTo>
                    <a:lnTo>
                      <a:pt x="1145481" y="1515710"/>
                    </a:lnTo>
                    <a:lnTo>
                      <a:pt x="1148391" y="1524172"/>
                    </a:lnTo>
                    <a:lnTo>
                      <a:pt x="1151564" y="1532105"/>
                    </a:lnTo>
                    <a:lnTo>
                      <a:pt x="1155003" y="1539773"/>
                    </a:lnTo>
                    <a:lnTo>
                      <a:pt x="1158441" y="1547442"/>
                    </a:lnTo>
                    <a:lnTo>
                      <a:pt x="1162408" y="1554581"/>
                    </a:lnTo>
                    <a:lnTo>
                      <a:pt x="1166111" y="1561721"/>
                    </a:lnTo>
                    <a:lnTo>
                      <a:pt x="1170078" y="1568596"/>
                    </a:lnTo>
                    <a:lnTo>
                      <a:pt x="1174575" y="1575207"/>
                    </a:lnTo>
                    <a:lnTo>
                      <a:pt x="1178806" y="1581553"/>
                    </a:lnTo>
                    <a:lnTo>
                      <a:pt x="1183038" y="1587370"/>
                    </a:lnTo>
                    <a:lnTo>
                      <a:pt x="1187799" y="1593452"/>
                    </a:lnTo>
                    <a:lnTo>
                      <a:pt x="1192560" y="1599005"/>
                    </a:lnTo>
                    <a:lnTo>
                      <a:pt x="1197320" y="1604558"/>
                    </a:lnTo>
                    <a:lnTo>
                      <a:pt x="1202346" y="1609582"/>
                    </a:lnTo>
                    <a:lnTo>
                      <a:pt x="1207635" y="1614607"/>
                    </a:lnTo>
                    <a:lnTo>
                      <a:pt x="1212660" y="1619366"/>
                    </a:lnTo>
                    <a:lnTo>
                      <a:pt x="1217950" y="1624126"/>
                    </a:lnTo>
                    <a:lnTo>
                      <a:pt x="1223240" y="1628357"/>
                    </a:lnTo>
                    <a:lnTo>
                      <a:pt x="1229058" y="1632852"/>
                    </a:lnTo>
                    <a:lnTo>
                      <a:pt x="1234348" y="1636819"/>
                    </a:lnTo>
                    <a:lnTo>
                      <a:pt x="1239902" y="1640521"/>
                    </a:lnTo>
                    <a:lnTo>
                      <a:pt x="1245721" y="1644487"/>
                    </a:lnTo>
                    <a:lnTo>
                      <a:pt x="1251540" y="1647660"/>
                    </a:lnTo>
                    <a:lnTo>
                      <a:pt x="1263177" y="1654271"/>
                    </a:lnTo>
                    <a:lnTo>
                      <a:pt x="1274814" y="1660353"/>
                    </a:lnTo>
                    <a:lnTo>
                      <a:pt x="1286716" y="1665377"/>
                    </a:lnTo>
                    <a:lnTo>
                      <a:pt x="1298882" y="1670137"/>
                    </a:lnTo>
                    <a:lnTo>
                      <a:pt x="1310784" y="1673839"/>
                    </a:lnTo>
                    <a:lnTo>
                      <a:pt x="1322686" y="1677541"/>
                    </a:lnTo>
                    <a:lnTo>
                      <a:pt x="1334588" y="1680714"/>
                    </a:lnTo>
                    <a:lnTo>
                      <a:pt x="1346225" y="1683094"/>
                    </a:lnTo>
                    <a:lnTo>
                      <a:pt x="1357862" y="1685474"/>
                    </a:lnTo>
                    <a:lnTo>
                      <a:pt x="1368971" y="1687325"/>
                    </a:lnTo>
                    <a:lnTo>
                      <a:pt x="1380079" y="1688382"/>
                    </a:lnTo>
                    <a:lnTo>
                      <a:pt x="1390658" y="1689705"/>
                    </a:lnTo>
                    <a:lnTo>
                      <a:pt x="1401238" y="1690498"/>
                    </a:lnTo>
                    <a:lnTo>
                      <a:pt x="1411024" y="1690762"/>
                    </a:lnTo>
                    <a:lnTo>
                      <a:pt x="1411817" y="1709537"/>
                    </a:lnTo>
                    <a:lnTo>
                      <a:pt x="1412346" y="1728311"/>
                    </a:lnTo>
                    <a:lnTo>
                      <a:pt x="1412875" y="1747086"/>
                    </a:lnTo>
                    <a:lnTo>
                      <a:pt x="1412875" y="1766125"/>
                    </a:lnTo>
                    <a:lnTo>
                      <a:pt x="1412346" y="1792832"/>
                    </a:lnTo>
                    <a:lnTo>
                      <a:pt x="1411553" y="1819275"/>
                    </a:lnTo>
                    <a:lnTo>
                      <a:pt x="793" y="1811078"/>
                    </a:lnTo>
                    <a:lnTo>
                      <a:pt x="264" y="1784635"/>
                    </a:lnTo>
                    <a:lnTo>
                      <a:pt x="0" y="1757928"/>
                    </a:lnTo>
                    <a:lnTo>
                      <a:pt x="529" y="1733071"/>
                    </a:lnTo>
                    <a:lnTo>
                      <a:pt x="1058" y="1708215"/>
                    </a:lnTo>
                    <a:lnTo>
                      <a:pt x="2645" y="1683623"/>
                    </a:lnTo>
                    <a:lnTo>
                      <a:pt x="4232" y="1659031"/>
                    </a:lnTo>
                    <a:lnTo>
                      <a:pt x="6612" y="1634968"/>
                    </a:lnTo>
                    <a:lnTo>
                      <a:pt x="8992" y="1610905"/>
                    </a:lnTo>
                    <a:lnTo>
                      <a:pt x="12166" y="1587106"/>
                    </a:lnTo>
                    <a:lnTo>
                      <a:pt x="15340" y="1563307"/>
                    </a:lnTo>
                    <a:lnTo>
                      <a:pt x="19307" y="1539773"/>
                    </a:lnTo>
                    <a:lnTo>
                      <a:pt x="23804" y="1516503"/>
                    </a:lnTo>
                    <a:lnTo>
                      <a:pt x="28300" y="1493762"/>
                    </a:lnTo>
                    <a:lnTo>
                      <a:pt x="33590" y="1470757"/>
                    </a:lnTo>
                    <a:lnTo>
                      <a:pt x="38879" y="1448280"/>
                    </a:lnTo>
                    <a:lnTo>
                      <a:pt x="44962" y="1425804"/>
                    </a:lnTo>
                    <a:lnTo>
                      <a:pt x="51045" y="1403856"/>
                    </a:lnTo>
                    <a:lnTo>
                      <a:pt x="57658" y="1382173"/>
                    </a:lnTo>
                    <a:lnTo>
                      <a:pt x="64799" y="1360754"/>
                    </a:lnTo>
                    <a:lnTo>
                      <a:pt x="72204" y="1339336"/>
                    </a:lnTo>
                    <a:lnTo>
                      <a:pt x="79874" y="1318710"/>
                    </a:lnTo>
                    <a:lnTo>
                      <a:pt x="88073" y="1298085"/>
                    </a:lnTo>
                    <a:lnTo>
                      <a:pt x="96272" y="1277459"/>
                    </a:lnTo>
                    <a:lnTo>
                      <a:pt x="105265" y="1257627"/>
                    </a:lnTo>
                    <a:lnTo>
                      <a:pt x="114522" y="1238059"/>
                    </a:lnTo>
                    <a:lnTo>
                      <a:pt x="123779" y="1218491"/>
                    </a:lnTo>
                    <a:lnTo>
                      <a:pt x="133565" y="1199452"/>
                    </a:lnTo>
                    <a:lnTo>
                      <a:pt x="143615" y="1180678"/>
                    </a:lnTo>
                    <a:lnTo>
                      <a:pt x="153930" y="1162432"/>
                    </a:lnTo>
                    <a:lnTo>
                      <a:pt x="165038" y="1144451"/>
                    </a:lnTo>
                    <a:lnTo>
                      <a:pt x="176147" y="1126734"/>
                    </a:lnTo>
                    <a:lnTo>
                      <a:pt x="187255" y="1109546"/>
                    </a:lnTo>
                    <a:lnTo>
                      <a:pt x="198892" y="1092623"/>
                    </a:lnTo>
                    <a:lnTo>
                      <a:pt x="210794" y="1075964"/>
                    </a:lnTo>
                    <a:lnTo>
                      <a:pt x="222960" y="1059834"/>
                    </a:lnTo>
                    <a:lnTo>
                      <a:pt x="235391" y="1044232"/>
                    </a:lnTo>
                    <a:lnTo>
                      <a:pt x="248351" y="1028895"/>
                    </a:lnTo>
                    <a:lnTo>
                      <a:pt x="261310" y="1013823"/>
                    </a:lnTo>
                    <a:lnTo>
                      <a:pt x="274799" y="999544"/>
                    </a:lnTo>
                    <a:lnTo>
                      <a:pt x="288288" y="985529"/>
                    </a:lnTo>
                    <a:lnTo>
                      <a:pt x="302041" y="971779"/>
                    </a:lnTo>
                    <a:lnTo>
                      <a:pt x="316059" y="958557"/>
                    </a:lnTo>
                    <a:lnTo>
                      <a:pt x="330341" y="946129"/>
                    </a:lnTo>
                    <a:lnTo>
                      <a:pt x="344888" y="933965"/>
                    </a:lnTo>
                    <a:lnTo>
                      <a:pt x="359963" y="922066"/>
                    </a:lnTo>
                    <a:lnTo>
                      <a:pt x="374774" y="910695"/>
                    </a:lnTo>
                    <a:lnTo>
                      <a:pt x="389850" y="899589"/>
                    </a:lnTo>
                    <a:lnTo>
                      <a:pt x="405454" y="889541"/>
                    </a:lnTo>
                    <a:lnTo>
                      <a:pt x="420794" y="879757"/>
                    </a:lnTo>
                    <a:lnTo>
                      <a:pt x="436664" y="870238"/>
                    </a:lnTo>
                    <a:lnTo>
                      <a:pt x="452533" y="861511"/>
                    </a:lnTo>
                    <a:lnTo>
                      <a:pt x="468666" y="853314"/>
                    </a:lnTo>
                    <a:lnTo>
                      <a:pt x="485064" y="845646"/>
                    </a:lnTo>
                    <a:lnTo>
                      <a:pt x="501727" y="838242"/>
                    </a:lnTo>
                    <a:lnTo>
                      <a:pt x="518389" y="831631"/>
                    </a:lnTo>
                    <a:lnTo>
                      <a:pt x="535316" y="825285"/>
                    </a:lnTo>
                    <a:lnTo>
                      <a:pt x="552243" y="819732"/>
                    </a:lnTo>
                    <a:lnTo>
                      <a:pt x="569435" y="814972"/>
                    </a:lnTo>
                    <a:lnTo>
                      <a:pt x="586891" y="810477"/>
                    </a:lnTo>
                    <a:lnTo>
                      <a:pt x="604347" y="806510"/>
                    </a:lnTo>
                    <a:lnTo>
                      <a:pt x="622067" y="803337"/>
                    </a:lnTo>
                    <a:lnTo>
                      <a:pt x="639787" y="800693"/>
                    </a:lnTo>
                    <a:lnTo>
                      <a:pt x="657508" y="798577"/>
                    </a:lnTo>
                    <a:lnTo>
                      <a:pt x="675757" y="796991"/>
                    </a:lnTo>
                    <a:lnTo>
                      <a:pt x="693742" y="796197"/>
                    </a:lnTo>
                    <a:lnTo>
                      <a:pt x="711992" y="795933"/>
                    </a:lnTo>
                    <a:close/>
                    <a:moveTo>
                      <a:pt x="1463280" y="660400"/>
                    </a:moveTo>
                    <a:lnTo>
                      <a:pt x="1469893" y="660400"/>
                    </a:lnTo>
                    <a:lnTo>
                      <a:pt x="1477034" y="660665"/>
                    </a:lnTo>
                    <a:lnTo>
                      <a:pt x="1483912" y="660929"/>
                    </a:lnTo>
                    <a:lnTo>
                      <a:pt x="1490789" y="661988"/>
                    </a:lnTo>
                    <a:lnTo>
                      <a:pt x="1497666" y="663046"/>
                    </a:lnTo>
                    <a:lnTo>
                      <a:pt x="1504279" y="664898"/>
                    </a:lnTo>
                    <a:lnTo>
                      <a:pt x="1510891" y="666750"/>
                    </a:lnTo>
                    <a:lnTo>
                      <a:pt x="1516975" y="668867"/>
                    </a:lnTo>
                    <a:lnTo>
                      <a:pt x="1523323" y="671248"/>
                    </a:lnTo>
                    <a:lnTo>
                      <a:pt x="1529142" y="673894"/>
                    </a:lnTo>
                    <a:lnTo>
                      <a:pt x="1535226" y="676804"/>
                    </a:lnTo>
                    <a:lnTo>
                      <a:pt x="1540780" y="679979"/>
                    </a:lnTo>
                    <a:lnTo>
                      <a:pt x="1546599" y="683683"/>
                    </a:lnTo>
                    <a:lnTo>
                      <a:pt x="1551625" y="687123"/>
                    </a:lnTo>
                    <a:lnTo>
                      <a:pt x="1556915" y="691356"/>
                    </a:lnTo>
                    <a:lnTo>
                      <a:pt x="1561676" y="695590"/>
                    </a:lnTo>
                    <a:lnTo>
                      <a:pt x="1566437" y="700088"/>
                    </a:lnTo>
                    <a:lnTo>
                      <a:pt x="1570934" y="704850"/>
                    </a:lnTo>
                    <a:lnTo>
                      <a:pt x="1575431" y="709613"/>
                    </a:lnTo>
                    <a:lnTo>
                      <a:pt x="1579134" y="714640"/>
                    </a:lnTo>
                    <a:lnTo>
                      <a:pt x="1583101" y="719931"/>
                    </a:lnTo>
                    <a:lnTo>
                      <a:pt x="1586540" y="725223"/>
                    </a:lnTo>
                    <a:lnTo>
                      <a:pt x="1589978" y="731044"/>
                    </a:lnTo>
                    <a:lnTo>
                      <a:pt x="1592888" y="736600"/>
                    </a:lnTo>
                    <a:lnTo>
                      <a:pt x="1595533" y="742685"/>
                    </a:lnTo>
                    <a:lnTo>
                      <a:pt x="1597914" y="748771"/>
                    </a:lnTo>
                    <a:lnTo>
                      <a:pt x="1600030" y="754856"/>
                    </a:lnTo>
                    <a:lnTo>
                      <a:pt x="1601881" y="761206"/>
                    </a:lnTo>
                    <a:lnTo>
                      <a:pt x="1603204" y="767556"/>
                    </a:lnTo>
                    <a:lnTo>
                      <a:pt x="1604526" y="774435"/>
                    </a:lnTo>
                    <a:lnTo>
                      <a:pt x="1605320" y="781050"/>
                    </a:lnTo>
                    <a:lnTo>
                      <a:pt x="1605584" y="787665"/>
                    </a:lnTo>
                    <a:lnTo>
                      <a:pt x="1605849" y="794544"/>
                    </a:lnTo>
                    <a:lnTo>
                      <a:pt x="1604791" y="967581"/>
                    </a:lnTo>
                    <a:lnTo>
                      <a:pt x="1781745" y="968375"/>
                    </a:lnTo>
                    <a:lnTo>
                      <a:pt x="1788887" y="968640"/>
                    </a:lnTo>
                    <a:lnTo>
                      <a:pt x="1795764" y="969169"/>
                    </a:lnTo>
                    <a:lnTo>
                      <a:pt x="1802641" y="970227"/>
                    </a:lnTo>
                    <a:lnTo>
                      <a:pt x="1809518" y="971285"/>
                    </a:lnTo>
                    <a:lnTo>
                      <a:pt x="1815866" y="972873"/>
                    </a:lnTo>
                    <a:lnTo>
                      <a:pt x="1822479" y="974725"/>
                    </a:lnTo>
                    <a:lnTo>
                      <a:pt x="1828827" y="977106"/>
                    </a:lnTo>
                    <a:lnTo>
                      <a:pt x="1834911" y="979488"/>
                    </a:lnTo>
                    <a:lnTo>
                      <a:pt x="1840994" y="982133"/>
                    </a:lnTo>
                    <a:lnTo>
                      <a:pt x="1846813" y="985044"/>
                    </a:lnTo>
                    <a:lnTo>
                      <a:pt x="1852633" y="988219"/>
                    </a:lnTo>
                    <a:lnTo>
                      <a:pt x="1857923" y="991923"/>
                    </a:lnTo>
                    <a:lnTo>
                      <a:pt x="1863213" y="995363"/>
                    </a:lnTo>
                    <a:lnTo>
                      <a:pt x="1868503" y="999596"/>
                    </a:lnTo>
                    <a:lnTo>
                      <a:pt x="1873264" y="1003829"/>
                    </a:lnTo>
                    <a:lnTo>
                      <a:pt x="1878025" y="1008327"/>
                    </a:lnTo>
                    <a:lnTo>
                      <a:pt x="1882522" y="1012825"/>
                    </a:lnTo>
                    <a:lnTo>
                      <a:pt x="1886754" y="1017852"/>
                    </a:lnTo>
                    <a:lnTo>
                      <a:pt x="1890986" y="1022879"/>
                    </a:lnTo>
                    <a:lnTo>
                      <a:pt x="1894689" y="1027906"/>
                    </a:lnTo>
                    <a:lnTo>
                      <a:pt x="1898128" y="1033463"/>
                    </a:lnTo>
                    <a:lnTo>
                      <a:pt x="1901302" y="1039283"/>
                    </a:lnTo>
                    <a:lnTo>
                      <a:pt x="1904211" y="1044840"/>
                    </a:lnTo>
                    <a:lnTo>
                      <a:pt x="1907385" y="1050660"/>
                    </a:lnTo>
                    <a:lnTo>
                      <a:pt x="1909766" y="1056746"/>
                    </a:lnTo>
                    <a:lnTo>
                      <a:pt x="1911882" y="1063096"/>
                    </a:lnTo>
                    <a:lnTo>
                      <a:pt x="1913469" y="1069181"/>
                    </a:lnTo>
                    <a:lnTo>
                      <a:pt x="1915056" y="1075796"/>
                    </a:lnTo>
                    <a:lnTo>
                      <a:pt x="1916114" y="1082410"/>
                    </a:lnTo>
                    <a:lnTo>
                      <a:pt x="1916908" y="1089290"/>
                    </a:lnTo>
                    <a:lnTo>
                      <a:pt x="1917436" y="1095640"/>
                    </a:lnTo>
                    <a:lnTo>
                      <a:pt x="1917701" y="1102783"/>
                    </a:lnTo>
                    <a:lnTo>
                      <a:pt x="1917436" y="1109663"/>
                    </a:lnTo>
                    <a:lnTo>
                      <a:pt x="1916908" y="1116277"/>
                    </a:lnTo>
                    <a:lnTo>
                      <a:pt x="1915849" y="1123156"/>
                    </a:lnTo>
                    <a:lnTo>
                      <a:pt x="1914791" y="1129506"/>
                    </a:lnTo>
                    <a:lnTo>
                      <a:pt x="1913204" y="1136121"/>
                    </a:lnTo>
                    <a:lnTo>
                      <a:pt x="1911088" y="1142471"/>
                    </a:lnTo>
                    <a:lnTo>
                      <a:pt x="1908972" y="1148556"/>
                    </a:lnTo>
                    <a:lnTo>
                      <a:pt x="1906592" y="1154642"/>
                    </a:lnTo>
                    <a:lnTo>
                      <a:pt x="1903682" y="1160463"/>
                    </a:lnTo>
                    <a:lnTo>
                      <a:pt x="1900773" y="1166283"/>
                    </a:lnTo>
                    <a:lnTo>
                      <a:pt x="1897599" y="1171840"/>
                    </a:lnTo>
                    <a:lnTo>
                      <a:pt x="1893896" y="1177131"/>
                    </a:lnTo>
                    <a:lnTo>
                      <a:pt x="1889928" y="1182158"/>
                    </a:lnTo>
                    <a:lnTo>
                      <a:pt x="1885960" y="1187450"/>
                    </a:lnTo>
                    <a:lnTo>
                      <a:pt x="1881728" y="1192213"/>
                    </a:lnTo>
                    <a:lnTo>
                      <a:pt x="1876967" y="1196975"/>
                    </a:lnTo>
                    <a:lnTo>
                      <a:pt x="1872206" y="1201208"/>
                    </a:lnTo>
                    <a:lnTo>
                      <a:pt x="1867445" y="1205442"/>
                    </a:lnTo>
                    <a:lnTo>
                      <a:pt x="1862155" y="1209411"/>
                    </a:lnTo>
                    <a:lnTo>
                      <a:pt x="1856600" y="1212850"/>
                    </a:lnTo>
                    <a:lnTo>
                      <a:pt x="1851046" y="1216554"/>
                    </a:lnTo>
                    <a:lnTo>
                      <a:pt x="1845491" y="1219465"/>
                    </a:lnTo>
                    <a:lnTo>
                      <a:pt x="1839407" y="1222375"/>
                    </a:lnTo>
                    <a:lnTo>
                      <a:pt x="1833588" y="1225021"/>
                    </a:lnTo>
                    <a:lnTo>
                      <a:pt x="1827240" y="1227402"/>
                    </a:lnTo>
                    <a:lnTo>
                      <a:pt x="1821156" y="1229519"/>
                    </a:lnTo>
                    <a:lnTo>
                      <a:pt x="1814544" y="1231371"/>
                    </a:lnTo>
                    <a:lnTo>
                      <a:pt x="1807931" y="1232958"/>
                    </a:lnTo>
                    <a:lnTo>
                      <a:pt x="1801054" y="1234017"/>
                    </a:lnTo>
                    <a:lnTo>
                      <a:pt x="1794177" y="1234546"/>
                    </a:lnTo>
                    <a:lnTo>
                      <a:pt x="1787300" y="1235340"/>
                    </a:lnTo>
                    <a:lnTo>
                      <a:pt x="1780158" y="1235340"/>
                    </a:lnTo>
                    <a:lnTo>
                      <a:pt x="1603204" y="1234281"/>
                    </a:lnTo>
                    <a:lnTo>
                      <a:pt x="1602410" y="1407319"/>
                    </a:lnTo>
                    <a:lnTo>
                      <a:pt x="1602146" y="1413933"/>
                    </a:lnTo>
                    <a:lnTo>
                      <a:pt x="1601617" y="1420813"/>
                    </a:lnTo>
                    <a:lnTo>
                      <a:pt x="1600559" y="1427692"/>
                    </a:lnTo>
                    <a:lnTo>
                      <a:pt x="1599501" y="1434306"/>
                    </a:lnTo>
                    <a:lnTo>
                      <a:pt x="1597914" y="1440392"/>
                    </a:lnTo>
                    <a:lnTo>
                      <a:pt x="1595798" y="1446742"/>
                    </a:lnTo>
                    <a:lnTo>
                      <a:pt x="1593682" y="1453092"/>
                    </a:lnTo>
                    <a:lnTo>
                      <a:pt x="1591301" y="1459177"/>
                    </a:lnTo>
                    <a:lnTo>
                      <a:pt x="1588656" y="1464998"/>
                    </a:lnTo>
                    <a:lnTo>
                      <a:pt x="1585482" y="1470819"/>
                    </a:lnTo>
                    <a:lnTo>
                      <a:pt x="1582043" y="1476111"/>
                    </a:lnTo>
                    <a:lnTo>
                      <a:pt x="1578605" y="1481931"/>
                    </a:lnTo>
                    <a:lnTo>
                      <a:pt x="1574637" y="1486958"/>
                    </a:lnTo>
                    <a:lnTo>
                      <a:pt x="1570670" y="1491986"/>
                    </a:lnTo>
                    <a:lnTo>
                      <a:pt x="1566437" y="1496748"/>
                    </a:lnTo>
                    <a:lnTo>
                      <a:pt x="1561941" y="1501511"/>
                    </a:lnTo>
                    <a:lnTo>
                      <a:pt x="1557180" y="1505744"/>
                    </a:lnTo>
                    <a:lnTo>
                      <a:pt x="1552154" y="1509713"/>
                    </a:lnTo>
                    <a:lnTo>
                      <a:pt x="1546864" y="1513946"/>
                    </a:lnTo>
                    <a:lnTo>
                      <a:pt x="1541309" y="1517650"/>
                    </a:lnTo>
                    <a:lnTo>
                      <a:pt x="1536019" y="1521090"/>
                    </a:lnTo>
                    <a:lnTo>
                      <a:pt x="1530200" y="1524000"/>
                    </a:lnTo>
                    <a:lnTo>
                      <a:pt x="1524381" y="1527175"/>
                    </a:lnTo>
                    <a:lnTo>
                      <a:pt x="1518297" y="1529821"/>
                    </a:lnTo>
                    <a:lnTo>
                      <a:pt x="1511949" y="1532202"/>
                    </a:lnTo>
                    <a:lnTo>
                      <a:pt x="1505601" y="1534319"/>
                    </a:lnTo>
                    <a:lnTo>
                      <a:pt x="1499253" y="1535906"/>
                    </a:lnTo>
                    <a:lnTo>
                      <a:pt x="1492640" y="1537494"/>
                    </a:lnTo>
                    <a:lnTo>
                      <a:pt x="1485763" y="1538288"/>
                    </a:lnTo>
                    <a:lnTo>
                      <a:pt x="1478886" y="1539346"/>
                    </a:lnTo>
                    <a:lnTo>
                      <a:pt x="1472009" y="1539875"/>
                    </a:lnTo>
                    <a:lnTo>
                      <a:pt x="1464867" y="1539875"/>
                    </a:lnTo>
                    <a:lnTo>
                      <a:pt x="1458255" y="1539611"/>
                    </a:lnTo>
                    <a:lnTo>
                      <a:pt x="1451113" y="1539346"/>
                    </a:lnTo>
                    <a:lnTo>
                      <a:pt x="1444236" y="1538288"/>
                    </a:lnTo>
                    <a:lnTo>
                      <a:pt x="1437623" y="1536965"/>
                    </a:lnTo>
                    <a:lnTo>
                      <a:pt x="1431010" y="1535377"/>
                    </a:lnTo>
                    <a:lnTo>
                      <a:pt x="1424398" y="1533525"/>
                    </a:lnTo>
                    <a:lnTo>
                      <a:pt x="1418314" y="1531673"/>
                    </a:lnTo>
                    <a:lnTo>
                      <a:pt x="1411966" y="1529292"/>
                    </a:lnTo>
                    <a:lnTo>
                      <a:pt x="1406147" y="1526381"/>
                    </a:lnTo>
                    <a:lnTo>
                      <a:pt x="1400063" y="1523471"/>
                    </a:lnTo>
                    <a:lnTo>
                      <a:pt x="1394509" y="1520296"/>
                    </a:lnTo>
                    <a:lnTo>
                      <a:pt x="1388690" y="1516592"/>
                    </a:lnTo>
                    <a:lnTo>
                      <a:pt x="1383399" y="1512888"/>
                    </a:lnTo>
                    <a:lnTo>
                      <a:pt x="1378374" y="1508919"/>
                    </a:lnTo>
                    <a:lnTo>
                      <a:pt x="1373348" y="1504686"/>
                    </a:lnTo>
                    <a:lnTo>
                      <a:pt x="1368852" y="1500188"/>
                    </a:lnTo>
                    <a:lnTo>
                      <a:pt x="1364355" y="1495425"/>
                    </a:lnTo>
                    <a:lnTo>
                      <a:pt x="1359858" y="1490663"/>
                    </a:lnTo>
                    <a:lnTo>
                      <a:pt x="1356155" y="1485636"/>
                    </a:lnTo>
                    <a:lnTo>
                      <a:pt x="1352188" y="1480344"/>
                    </a:lnTo>
                    <a:lnTo>
                      <a:pt x="1348749" y="1475052"/>
                    </a:lnTo>
                    <a:lnTo>
                      <a:pt x="1345311" y="1469496"/>
                    </a:lnTo>
                    <a:lnTo>
                      <a:pt x="1342401" y="1463675"/>
                    </a:lnTo>
                    <a:lnTo>
                      <a:pt x="1339756" y="1457854"/>
                    </a:lnTo>
                    <a:lnTo>
                      <a:pt x="1337375" y="1451504"/>
                    </a:lnTo>
                    <a:lnTo>
                      <a:pt x="1335259" y="1445154"/>
                    </a:lnTo>
                    <a:lnTo>
                      <a:pt x="1333408" y="1439069"/>
                    </a:lnTo>
                    <a:lnTo>
                      <a:pt x="1332085" y="1432454"/>
                    </a:lnTo>
                    <a:lnTo>
                      <a:pt x="1330763" y="1425840"/>
                    </a:lnTo>
                    <a:lnTo>
                      <a:pt x="1329969" y="1419490"/>
                    </a:lnTo>
                    <a:lnTo>
                      <a:pt x="1329440" y="1412611"/>
                    </a:lnTo>
                    <a:lnTo>
                      <a:pt x="1329440" y="1405731"/>
                    </a:lnTo>
                    <a:lnTo>
                      <a:pt x="1330234" y="1232958"/>
                    </a:lnTo>
                    <a:lnTo>
                      <a:pt x="1153279" y="1231636"/>
                    </a:lnTo>
                    <a:lnTo>
                      <a:pt x="1146402" y="1231371"/>
                    </a:lnTo>
                    <a:lnTo>
                      <a:pt x="1139525" y="1231106"/>
                    </a:lnTo>
                    <a:lnTo>
                      <a:pt x="1132648" y="1230048"/>
                    </a:lnTo>
                    <a:lnTo>
                      <a:pt x="1125771" y="1228990"/>
                    </a:lnTo>
                    <a:lnTo>
                      <a:pt x="1119423" y="1227138"/>
                    </a:lnTo>
                    <a:lnTo>
                      <a:pt x="1112810" y="1225286"/>
                    </a:lnTo>
                    <a:lnTo>
                      <a:pt x="1106462" y="1223433"/>
                    </a:lnTo>
                    <a:lnTo>
                      <a:pt x="1100378" y="1221052"/>
                    </a:lnTo>
                    <a:lnTo>
                      <a:pt x="1094295" y="1218406"/>
                    </a:lnTo>
                    <a:lnTo>
                      <a:pt x="1088476" y="1215231"/>
                    </a:lnTo>
                    <a:lnTo>
                      <a:pt x="1082656" y="1212056"/>
                    </a:lnTo>
                    <a:lnTo>
                      <a:pt x="1077102" y="1208352"/>
                    </a:lnTo>
                    <a:lnTo>
                      <a:pt x="1071812" y="1204648"/>
                    </a:lnTo>
                    <a:lnTo>
                      <a:pt x="1066786" y="1200679"/>
                    </a:lnTo>
                    <a:lnTo>
                      <a:pt x="1062025" y="1196446"/>
                    </a:lnTo>
                    <a:lnTo>
                      <a:pt x="1057264" y="1192213"/>
                    </a:lnTo>
                    <a:lnTo>
                      <a:pt x="1052767" y="1187450"/>
                    </a:lnTo>
                    <a:lnTo>
                      <a:pt x="1048271" y="1182688"/>
                    </a:lnTo>
                    <a:lnTo>
                      <a:pt x="1044303" y="1177396"/>
                    </a:lnTo>
                    <a:lnTo>
                      <a:pt x="1040600" y="1172104"/>
                    </a:lnTo>
                    <a:lnTo>
                      <a:pt x="1036897" y="1166813"/>
                    </a:lnTo>
                    <a:lnTo>
                      <a:pt x="1033723" y="1161256"/>
                    </a:lnTo>
                    <a:lnTo>
                      <a:pt x="1030549" y="1155435"/>
                    </a:lnTo>
                    <a:lnTo>
                      <a:pt x="1027904" y="1149615"/>
                    </a:lnTo>
                    <a:lnTo>
                      <a:pt x="1025523" y="1143265"/>
                    </a:lnTo>
                    <a:lnTo>
                      <a:pt x="1023407" y="1137444"/>
                    </a:lnTo>
                    <a:lnTo>
                      <a:pt x="1021820" y="1130829"/>
                    </a:lnTo>
                    <a:lnTo>
                      <a:pt x="1020233" y="1124215"/>
                    </a:lnTo>
                    <a:lnTo>
                      <a:pt x="1019175" y="1117600"/>
                    </a:lnTo>
                    <a:lnTo>
                      <a:pt x="1018117" y="1111250"/>
                    </a:lnTo>
                    <a:lnTo>
                      <a:pt x="1017853" y="1104371"/>
                    </a:lnTo>
                    <a:lnTo>
                      <a:pt x="1017588" y="1097492"/>
                    </a:lnTo>
                    <a:lnTo>
                      <a:pt x="1017853" y="1090613"/>
                    </a:lnTo>
                    <a:lnTo>
                      <a:pt x="1018382" y="1083733"/>
                    </a:lnTo>
                    <a:lnTo>
                      <a:pt x="1019440" y="1077383"/>
                    </a:lnTo>
                    <a:lnTo>
                      <a:pt x="1020498" y="1070769"/>
                    </a:lnTo>
                    <a:lnTo>
                      <a:pt x="1022085" y="1064154"/>
                    </a:lnTo>
                    <a:lnTo>
                      <a:pt x="1024201" y="1057804"/>
                    </a:lnTo>
                    <a:lnTo>
                      <a:pt x="1026317" y="1051719"/>
                    </a:lnTo>
                    <a:lnTo>
                      <a:pt x="1028697" y="1045633"/>
                    </a:lnTo>
                    <a:lnTo>
                      <a:pt x="1031607" y="1039813"/>
                    </a:lnTo>
                    <a:lnTo>
                      <a:pt x="1034516" y="1033992"/>
                    </a:lnTo>
                    <a:lnTo>
                      <a:pt x="1037690" y="1028435"/>
                    </a:lnTo>
                    <a:lnTo>
                      <a:pt x="1041394" y="1023144"/>
                    </a:lnTo>
                    <a:lnTo>
                      <a:pt x="1045361" y="1017852"/>
                    </a:lnTo>
                    <a:lnTo>
                      <a:pt x="1049329" y="1012825"/>
                    </a:lnTo>
                    <a:lnTo>
                      <a:pt x="1053561" y="1008063"/>
                    </a:lnTo>
                    <a:lnTo>
                      <a:pt x="1058057" y="1003565"/>
                    </a:lnTo>
                    <a:lnTo>
                      <a:pt x="1062818" y="999067"/>
                    </a:lnTo>
                    <a:lnTo>
                      <a:pt x="1067844" y="994833"/>
                    </a:lnTo>
                    <a:lnTo>
                      <a:pt x="1073134" y="990865"/>
                    </a:lnTo>
                    <a:lnTo>
                      <a:pt x="1078689" y="987160"/>
                    </a:lnTo>
                    <a:lnTo>
                      <a:pt x="1083979" y="983721"/>
                    </a:lnTo>
                    <a:lnTo>
                      <a:pt x="1089798" y="980546"/>
                    </a:lnTo>
                    <a:lnTo>
                      <a:pt x="1095617" y="977635"/>
                    </a:lnTo>
                    <a:lnTo>
                      <a:pt x="1101701" y="975254"/>
                    </a:lnTo>
                    <a:lnTo>
                      <a:pt x="1108049" y="972873"/>
                    </a:lnTo>
                    <a:lnTo>
                      <a:pt x="1114133" y="970756"/>
                    </a:lnTo>
                    <a:lnTo>
                      <a:pt x="1120745" y="968904"/>
                    </a:lnTo>
                    <a:lnTo>
                      <a:pt x="1127358" y="967581"/>
                    </a:lnTo>
                    <a:lnTo>
                      <a:pt x="1134235" y="966258"/>
                    </a:lnTo>
                    <a:lnTo>
                      <a:pt x="1141112" y="965465"/>
                    </a:lnTo>
                    <a:lnTo>
                      <a:pt x="1147989" y="965200"/>
                    </a:lnTo>
                    <a:lnTo>
                      <a:pt x="1155131" y="964935"/>
                    </a:lnTo>
                    <a:lnTo>
                      <a:pt x="1332085" y="965994"/>
                    </a:lnTo>
                    <a:lnTo>
                      <a:pt x="1332879" y="793221"/>
                    </a:lnTo>
                    <a:lnTo>
                      <a:pt x="1333143" y="786342"/>
                    </a:lnTo>
                    <a:lnTo>
                      <a:pt x="1333672" y="779463"/>
                    </a:lnTo>
                    <a:lnTo>
                      <a:pt x="1334730" y="772583"/>
                    </a:lnTo>
                    <a:lnTo>
                      <a:pt x="1335788" y="765969"/>
                    </a:lnTo>
                    <a:lnTo>
                      <a:pt x="1337375" y="759883"/>
                    </a:lnTo>
                    <a:lnTo>
                      <a:pt x="1339227" y="753269"/>
                    </a:lnTo>
                    <a:lnTo>
                      <a:pt x="1341608" y="747448"/>
                    </a:lnTo>
                    <a:lnTo>
                      <a:pt x="1343988" y="741098"/>
                    </a:lnTo>
                    <a:lnTo>
                      <a:pt x="1346633" y="735013"/>
                    </a:lnTo>
                    <a:lnTo>
                      <a:pt x="1349807" y="729456"/>
                    </a:lnTo>
                    <a:lnTo>
                      <a:pt x="1353246" y="723900"/>
                    </a:lnTo>
                    <a:lnTo>
                      <a:pt x="1356684" y="718344"/>
                    </a:lnTo>
                    <a:lnTo>
                      <a:pt x="1360652" y="713317"/>
                    </a:lnTo>
                    <a:lnTo>
                      <a:pt x="1364355" y="708290"/>
                    </a:lnTo>
                    <a:lnTo>
                      <a:pt x="1368852" y="703527"/>
                    </a:lnTo>
                    <a:lnTo>
                      <a:pt x="1373348" y="698765"/>
                    </a:lnTo>
                    <a:lnTo>
                      <a:pt x="1378109" y="694267"/>
                    </a:lnTo>
                    <a:lnTo>
                      <a:pt x="1383135" y="690298"/>
                    </a:lnTo>
                    <a:lnTo>
                      <a:pt x="1388161" y="686329"/>
                    </a:lnTo>
                    <a:lnTo>
                      <a:pt x="1393451" y="682890"/>
                    </a:lnTo>
                    <a:lnTo>
                      <a:pt x="1399270" y="679186"/>
                    </a:lnTo>
                    <a:lnTo>
                      <a:pt x="1404824" y="676275"/>
                    </a:lnTo>
                    <a:lnTo>
                      <a:pt x="1410908" y="673365"/>
                    </a:lnTo>
                    <a:lnTo>
                      <a:pt x="1416992" y="670454"/>
                    </a:lnTo>
                    <a:lnTo>
                      <a:pt x="1423075" y="668073"/>
                    </a:lnTo>
                    <a:lnTo>
                      <a:pt x="1429688" y="666221"/>
                    </a:lnTo>
                    <a:lnTo>
                      <a:pt x="1436036" y="664369"/>
                    </a:lnTo>
                    <a:lnTo>
                      <a:pt x="1442649" y="662781"/>
                    </a:lnTo>
                    <a:lnTo>
                      <a:pt x="1449261" y="661988"/>
                    </a:lnTo>
                    <a:lnTo>
                      <a:pt x="1456138" y="660929"/>
                    </a:lnTo>
                    <a:lnTo>
                      <a:pt x="1463280" y="660400"/>
                    </a:lnTo>
                    <a:close/>
                    <a:moveTo>
                      <a:pt x="714108" y="0"/>
                    </a:moveTo>
                    <a:lnTo>
                      <a:pt x="723364" y="0"/>
                    </a:lnTo>
                    <a:lnTo>
                      <a:pt x="732621" y="264"/>
                    </a:lnTo>
                    <a:lnTo>
                      <a:pt x="741349" y="529"/>
                    </a:lnTo>
                    <a:lnTo>
                      <a:pt x="750606" y="1058"/>
                    </a:lnTo>
                    <a:lnTo>
                      <a:pt x="759599" y="2115"/>
                    </a:lnTo>
                    <a:lnTo>
                      <a:pt x="768591" y="3173"/>
                    </a:lnTo>
                    <a:lnTo>
                      <a:pt x="777319" y="4495"/>
                    </a:lnTo>
                    <a:lnTo>
                      <a:pt x="786312" y="5817"/>
                    </a:lnTo>
                    <a:lnTo>
                      <a:pt x="795040" y="7404"/>
                    </a:lnTo>
                    <a:lnTo>
                      <a:pt x="803503" y="9520"/>
                    </a:lnTo>
                    <a:lnTo>
                      <a:pt x="812231" y="11635"/>
                    </a:lnTo>
                    <a:lnTo>
                      <a:pt x="820959" y="14015"/>
                    </a:lnTo>
                    <a:lnTo>
                      <a:pt x="829158" y="16395"/>
                    </a:lnTo>
                    <a:lnTo>
                      <a:pt x="837622" y="19039"/>
                    </a:lnTo>
                    <a:lnTo>
                      <a:pt x="845821" y="21948"/>
                    </a:lnTo>
                    <a:lnTo>
                      <a:pt x="853755" y="24856"/>
                    </a:lnTo>
                    <a:lnTo>
                      <a:pt x="861954" y="28294"/>
                    </a:lnTo>
                    <a:lnTo>
                      <a:pt x="869889" y="31732"/>
                    </a:lnTo>
                    <a:lnTo>
                      <a:pt x="877559" y="35434"/>
                    </a:lnTo>
                    <a:lnTo>
                      <a:pt x="885493" y="39136"/>
                    </a:lnTo>
                    <a:lnTo>
                      <a:pt x="892899" y="43102"/>
                    </a:lnTo>
                    <a:lnTo>
                      <a:pt x="900569" y="47333"/>
                    </a:lnTo>
                    <a:lnTo>
                      <a:pt x="907710" y="51299"/>
                    </a:lnTo>
                    <a:lnTo>
                      <a:pt x="915116" y="56059"/>
                    </a:lnTo>
                    <a:lnTo>
                      <a:pt x="922257" y="60554"/>
                    </a:lnTo>
                    <a:lnTo>
                      <a:pt x="929398" y="65314"/>
                    </a:lnTo>
                    <a:lnTo>
                      <a:pt x="936274" y="70338"/>
                    </a:lnTo>
                    <a:lnTo>
                      <a:pt x="943151" y="75362"/>
                    </a:lnTo>
                    <a:lnTo>
                      <a:pt x="949763" y="80915"/>
                    </a:lnTo>
                    <a:lnTo>
                      <a:pt x="956111" y="86204"/>
                    </a:lnTo>
                    <a:lnTo>
                      <a:pt x="962458" y="91757"/>
                    </a:lnTo>
                    <a:lnTo>
                      <a:pt x="968806" y="97575"/>
                    </a:lnTo>
                    <a:lnTo>
                      <a:pt x="974889" y="103392"/>
                    </a:lnTo>
                    <a:lnTo>
                      <a:pt x="980972" y="109474"/>
                    </a:lnTo>
                    <a:lnTo>
                      <a:pt x="986526" y="115556"/>
                    </a:lnTo>
                    <a:lnTo>
                      <a:pt x="992080" y="121902"/>
                    </a:lnTo>
                    <a:lnTo>
                      <a:pt x="997635" y="128513"/>
                    </a:lnTo>
                    <a:lnTo>
                      <a:pt x="1002924" y="134859"/>
                    </a:lnTo>
                    <a:lnTo>
                      <a:pt x="1008214" y="141470"/>
                    </a:lnTo>
                    <a:lnTo>
                      <a:pt x="1013239" y="148345"/>
                    </a:lnTo>
                    <a:lnTo>
                      <a:pt x="1018000" y="155220"/>
                    </a:lnTo>
                    <a:lnTo>
                      <a:pt x="1022761" y="162360"/>
                    </a:lnTo>
                    <a:lnTo>
                      <a:pt x="1027257" y="169499"/>
                    </a:lnTo>
                    <a:lnTo>
                      <a:pt x="1031489" y="176903"/>
                    </a:lnTo>
                    <a:lnTo>
                      <a:pt x="1035720" y="184043"/>
                    </a:lnTo>
                    <a:lnTo>
                      <a:pt x="1039688" y="191711"/>
                    </a:lnTo>
                    <a:lnTo>
                      <a:pt x="1043655" y="199115"/>
                    </a:lnTo>
                    <a:lnTo>
                      <a:pt x="1047093" y="206784"/>
                    </a:lnTo>
                    <a:lnTo>
                      <a:pt x="1050532" y="214717"/>
                    </a:lnTo>
                    <a:lnTo>
                      <a:pt x="1053705" y="222650"/>
                    </a:lnTo>
                    <a:lnTo>
                      <a:pt x="1057144" y="230318"/>
                    </a:lnTo>
                    <a:lnTo>
                      <a:pt x="1059788" y="238780"/>
                    </a:lnTo>
                    <a:lnTo>
                      <a:pt x="1062433" y="246713"/>
                    </a:lnTo>
                    <a:lnTo>
                      <a:pt x="1064814" y="255175"/>
                    </a:lnTo>
                    <a:lnTo>
                      <a:pt x="1067194" y="263372"/>
                    </a:lnTo>
                    <a:lnTo>
                      <a:pt x="1069310" y="271834"/>
                    </a:lnTo>
                    <a:lnTo>
                      <a:pt x="1070897" y="280031"/>
                    </a:lnTo>
                    <a:lnTo>
                      <a:pt x="1072484" y="288757"/>
                    </a:lnTo>
                    <a:lnTo>
                      <a:pt x="1074071" y="297219"/>
                    </a:lnTo>
                    <a:lnTo>
                      <a:pt x="1075129" y="305945"/>
                    </a:lnTo>
                    <a:lnTo>
                      <a:pt x="1076186" y="314936"/>
                    </a:lnTo>
                    <a:lnTo>
                      <a:pt x="1076980" y="323397"/>
                    </a:lnTo>
                    <a:lnTo>
                      <a:pt x="1077509" y="332388"/>
                    </a:lnTo>
                    <a:lnTo>
                      <a:pt x="1077773" y="341379"/>
                    </a:lnTo>
                    <a:lnTo>
                      <a:pt x="1077773" y="350369"/>
                    </a:lnTo>
                    <a:lnTo>
                      <a:pt x="1077509" y="359360"/>
                    </a:lnTo>
                    <a:lnTo>
                      <a:pt x="1077244" y="368350"/>
                    </a:lnTo>
                    <a:lnTo>
                      <a:pt x="1076716" y="377341"/>
                    </a:lnTo>
                    <a:lnTo>
                      <a:pt x="1075658" y="385803"/>
                    </a:lnTo>
                    <a:lnTo>
                      <a:pt x="1074600" y="394793"/>
                    </a:lnTo>
                    <a:lnTo>
                      <a:pt x="1073277" y="403519"/>
                    </a:lnTo>
                    <a:lnTo>
                      <a:pt x="1071955" y="411981"/>
                    </a:lnTo>
                    <a:lnTo>
                      <a:pt x="1070103" y="420707"/>
                    </a:lnTo>
                    <a:lnTo>
                      <a:pt x="1068252" y="428905"/>
                    </a:lnTo>
                    <a:lnTo>
                      <a:pt x="1065872" y="437366"/>
                    </a:lnTo>
                    <a:lnTo>
                      <a:pt x="1063756" y="445564"/>
                    </a:lnTo>
                    <a:lnTo>
                      <a:pt x="1061111" y="454026"/>
                    </a:lnTo>
                    <a:lnTo>
                      <a:pt x="1058466" y="461958"/>
                    </a:lnTo>
                    <a:lnTo>
                      <a:pt x="1055557" y="469891"/>
                    </a:lnTo>
                    <a:lnTo>
                      <a:pt x="1052383" y="478089"/>
                    </a:lnTo>
                    <a:lnTo>
                      <a:pt x="1048945" y="485757"/>
                    </a:lnTo>
                    <a:lnTo>
                      <a:pt x="1045506" y="493426"/>
                    </a:lnTo>
                    <a:lnTo>
                      <a:pt x="1041804" y="501358"/>
                    </a:lnTo>
                    <a:lnTo>
                      <a:pt x="1038101" y="508762"/>
                    </a:lnTo>
                    <a:lnTo>
                      <a:pt x="1033869" y="516166"/>
                    </a:lnTo>
                    <a:lnTo>
                      <a:pt x="1029637" y="523570"/>
                    </a:lnTo>
                    <a:lnTo>
                      <a:pt x="1025141" y="530710"/>
                    </a:lnTo>
                    <a:lnTo>
                      <a:pt x="1020380" y="537850"/>
                    </a:lnTo>
                    <a:lnTo>
                      <a:pt x="1015620" y="544725"/>
                    </a:lnTo>
                    <a:lnTo>
                      <a:pt x="1010859" y="551864"/>
                    </a:lnTo>
                    <a:lnTo>
                      <a:pt x="1005834" y="558211"/>
                    </a:lnTo>
                    <a:lnTo>
                      <a:pt x="1000544" y="564821"/>
                    </a:lnTo>
                    <a:lnTo>
                      <a:pt x="995254" y="571432"/>
                    </a:lnTo>
                    <a:lnTo>
                      <a:pt x="989436" y="578043"/>
                    </a:lnTo>
                    <a:lnTo>
                      <a:pt x="983882" y="584125"/>
                    </a:lnTo>
                    <a:lnTo>
                      <a:pt x="977798" y="590207"/>
                    </a:lnTo>
                    <a:lnTo>
                      <a:pt x="971980" y="596024"/>
                    </a:lnTo>
                    <a:lnTo>
                      <a:pt x="965632" y="601842"/>
                    </a:lnTo>
                    <a:lnTo>
                      <a:pt x="959549" y="607659"/>
                    </a:lnTo>
                    <a:lnTo>
                      <a:pt x="953201" y="612948"/>
                    </a:lnTo>
                    <a:lnTo>
                      <a:pt x="946325" y="618501"/>
                    </a:lnTo>
                    <a:lnTo>
                      <a:pt x="939713" y="623789"/>
                    </a:lnTo>
                    <a:lnTo>
                      <a:pt x="933100" y="628813"/>
                    </a:lnTo>
                    <a:lnTo>
                      <a:pt x="926224" y="633573"/>
                    </a:lnTo>
                    <a:lnTo>
                      <a:pt x="919083" y="638333"/>
                    </a:lnTo>
                    <a:lnTo>
                      <a:pt x="911942" y="642828"/>
                    </a:lnTo>
                    <a:lnTo>
                      <a:pt x="904536" y="647323"/>
                    </a:lnTo>
                    <a:lnTo>
                      <a:pt x="897131" y="651290"/>
                    </a:lnTo>
                    <a:lnTo>
                      <a:pt x="889461" y="655521"/>
                    </a:lnTo>
                    <a:lnTo>
                      <a:pt x="881791" y="659487"/>
                    </a:lnTo>
                    <a:lnTo>
                      <a:pt x="874120" y="663189"/>
                    </a:lnTo>
                    <a:lnTo>
                      <a:pt x="866186" y="666627"/>
                    </a:lnTo>
                    <a:lnTo>
                      <a:pt x="857987" y="670064"/>
                    </a:lnTo>
                    <a:lnTo>
                      <a:pt x="850052" y="672973"/>
                    </a:lnTo>
                    <a:lnTo>
                      <a:pt x="841853" y="676146"/>
                    </a:lnTo>
                    <a:lnTo>
                      <a:pt x="833654" y="679055"/>
                    </a:lnTo>
                    <a:lnTo>
                      <a:pt x="825455" y="681699"/>
                    </a:lnTo>
                    <a:lnTo>
                      <a:pt x="816992" y="684079"/>
                    </a:lnTo>
                    <a:lnTo>
                      <a:pt x="808264" y="686195"/>
                    </a:lnTo>
                    <a:lnTo>
                      <a:pt x="799800" y="688310"/>
                    </a:lnTo>
                    <a:lnTo>
                      <a:pt x="791072" y="690161"/>
                    </a:lnTo>
                    <a:lnTo>
                      <a:pt x="782609" y="691483"/>
                    </a:lnTo>
                    <a:lnTo>
                      <a:pt x="773616" y="693070"/>
                    </a:lnTo>
                    <a:lnTo>
                      <a:pt x="764624" y="694128"/>
                    </a:lnTo>
                    <a:lnTo>
                      <a:pt x="755632" y="695185"/>
                    </a:lnTo>
                    <a:lnTo>
                      <a:pt x="746639" y="695714"/>
                    </a:lnTo>
                    <a:lnTo>
                      <a:pt x="737647" y="696243"/>
                    </a:lnTo>
                    <a:lnTo>
                      <a:pt x="728390" y="696507"/>
                    </a:lnTo>
                    <a:lnTo>
                      <a:pt x="719133" y="696507"/>
                    </a:lnTo>
                    <a:lnTo>
                      <a:pt x="709876" y="696507"/>
                    </a:lnTo>
                    <a:lnTo>
                      <a:pt x="700883" y="695979"/>
                    </a:lnTo>
                    <a:lnTo>
                      <a:pt x="691891" y="695450"/>
                    </a:lnTo>
                    <a:lnTo>
                      <a:pt x="682898" y="694392"/>
                    </a:lnTo>
                    <a:lnTo>
                      <a:pt x="673906" y="693599"/>
                    </a:lnTo>
                    <a:lnTo>
                      <a:pt x="664913" y="692541"/>
                    </a:lnTo>
                    <a:lnTo>
                      <a:pt x="656186" y="690954"/>
                    </a:lnTo>
                    <a:lnTo>
                      <a:pt x="647458" y="689103"/>
                    </a:lnTo>
                    <a:lnTo>
                      <a:pt x="638730" y="687252"/>
                    </a:lnTo>
                    <a:lnTo>
                      <a:pt x="630266" y="684872"/>
                    </a:lnTo>
                    <a:lnTo>
                      <a:pt x="621538" y="683021"/>
                    </a:lnTo>
                    <a:lnTo>
                      <a:pt x="613339" y="680113"/>
                    </a:lnTo>
                    <a:lnTo>
                      <a:pt x="604876" y="677468"/>
                    </a:lnTo>
                    <a:lnTo>
                      <a:pt x="596676" y="674824"/>
                    </a:lnTo>
                    <a:lnTo>
                      <a:pt x="588478" y="671651"/>
                    </a:lnTo>
                    <a:lnTo>
                      <a:pt x="580543" y="668213"/>
                    </a:lnTo>
                    <a:lnTo>
                      <a:pt x="572873" y="665040"/>
                    </a:lnTo>
                    <a:lnTo>
                      <a:pt x="564674" y="661603"/>
                    </a:lnTo>
                    <a:lnTo>
                      <a:pt x="557004" y="657636"/>
                    </a:lnTo>
                    <a:lnTo>
                      <a:pt x="549598" y="653405"/>
                    </a:lnTo>
                    <a:lnTo>
                      <a:pt x="541928" y="649439"/>
                    </a:lnTo>
                    <a:lnTo>
                      <a:pt x="534787" y="645208"/>
                    </a:lnTo>
                    <a:lnTo>
                      <a:pt x="527382" y="640713"/>
                    </a:lnTo>
                    <a:lnTo>
                      <a:pt x="520241" y="635953"/>
                    </a:lnTo>
                    <a:lnTo>
                      <a:pt x="513364" y="631193"/>
                    </a:lnTo>
                    <a:lnTo>
                      <a:pt x="506223" y="626169"/>
                    </a:lnTo>
                    <a:lnTo>
                      <a:pt x="499611" y="621145"/>
                    </a:lnTo>
                    <a:lnTo>
                      <a:pt x="492734" y="615592"/>
                    </a:lnTo>
                    <a:lnTo>
                      <a:pt x="486122" y="610303"/>
                    </a:lnTo>
                    <a:lnTo>
                      <a:pt x="480039" y="604750"/>
                    </a:lnTo>
                    <a:lnTo>
                      <a:pt x="473691" y="598933"/>
                    </a:lnTo>
                    <a:lnTo>
                      <a:pt x="467873" y="593115"/>
                    </a:lnTo>
                    <a:lnTo>
                      <a:pt x="461790" y="587298"/>
                    </a:lnTo>
                    <a:lnTo>
                      <a:pt x="455971" y="580952"/>
                    </a:lnTo>
                    <a:lnTo>
                      <a:pt x="450152" y="574605"/>
                    </a:lnTo>
                    <a:lnTo>
                      <a:pt x="444863" y="568523"/>
                    </a:lnTo>
                    <a:lnTo>
                      <a:pt x="439573" y="561913"/>
                    </a:lnTo>
                    <a:lnTo>
                      <a:pt x="434283" y="555038"/>
                    </a:lnTo>
                    <a:lnTo>
                      <a:pt x="429258" y="548162"/>
                    </a:lnTo>
                    <a:lnTo>
                      <a:pt x="424497" y="541287"/>
                    </a:lnTo>
                    <a:lnTo>
                      <a:pt x="419737" y="534148"/>
                    </a:lnTo>
                    <a:lnTo>
                      <a:pt x="415240" y="527008"/>
                    </a:lnTo>
                    <a:lnTo>
                      <a:pt x="411009" y="519868"/>
                    </a:lnTo>
                    <a:lnTo>
                      <a:pt x="406777" y="512464"/>
                    </a:lnTo>
                    <a:lnTo>
                      <a:pt x="402545" y="505060"/>
                    </a:lnTo>
                    <a:lnTo>
                      <a:pt x="398842" y="497392"/>
                    </a:lnTo>
                    <a:lnTo>
                      <a:pt x="395140" y="489988"/>
                    </a:lnTo>
                    <a:lnTo>
                      <a:pt x="391966" y="481791"/>
                    </a:lnTo>
                    <a:lnTo>
                      <a:pt x="388792" y="474122"/>
                    </a:lnTo>
                    <a:lnTo>
                      <a:pt x="385618" y="466189"/>
                    </a:lnTo>
                    <a:lnTo>
                      <a:pt x="382709" y="458256"/>
                    </a:lnTo>
                    <a:lnTo>
                      <a:pt x="380064" y="449795"/>
                    </a:lnTo>
                    <a:lnTo>
                      <a:pt x="377684" y="441862"/>
                    </a:lnTo>
                    <a:lnTo>
                      <a:pt x="375303" y="433400"/>
                    </a:lnTo>
                    <a:lnTo>
                      <a:pt x="373187" y="425203"/>
                    </a:lnTo>
                    <a:lnTo>
                      <a:pt x="371336" y="416477"/>
                    </a:lnTo>
                    <a:lnTo>
                      <a:pt x="370014" y="407750"/>
                    </a:lnTo>
                    <a:lnTo>
                      <a:pt x="368427" y="399289"/>
                    </a:lnTo>
                    <a:lnTo>
                      <a:pt x="367369" y="390562"/>
                    </a:lnTo>
                    <a:lnTo>
                      <a:pt x="366311" y="382101"/>
                    </a:lnTo>
                    <a:lnTo>
                      <a:pt x="365517" y="373110"/>
                    </a:lnTo>
                    <a:lnTo>
                      <a:pt x="364988" y="364120"/>
                    </a:lnTo>
                    <a:lnTo>
                      <a:pt x="364724" y="355129"/>
                    </a:lnTo>
                    <a:lnTo>
                      <a:pt x="364724" y="346403"/>
                    </a:lnTo>
                    <a:lnTo>
                      <a:pt x="364988" y="337412"/>
                    </a:lnTo>
                    <a:lnTo>
                      <a:pt x="365253" y="328422"/>
                    </a:lnTo>
                    <a:lnTo>
                      <a:pt x="365782" y="319695"/>
                    </a:lnTo>
                    <a:lnTo>
                      <a:pt x="366575" y="310705"/>
                    </a:lnTo>
                    <a:lnTo>
                      <a:pt x="367898" y="301979"/>
                    </a:lnTo>
                    <a:lnTo>
                      <a:pt x="368956" y="292988"/>
                    </a:lnTo>
                    <a:lnTo>
                      <a:pt x="370542" y="284791"/>
                    </a:lnTo>
                    <a:lnTo>
                      <a:pt x="372394" y="276064"/>
                    </a:lnTo>
                    <a:lnTo>
                      <a:pt x="374245" y="267603"/>
                    </a:lnTo>
                    <a:lnTo>
                      <a:pt x="376626" y="259141"/>
                    </a:lnTo>
                    <a:lnTo>
                      <a:pt x="378477" y="250944"/>
                    </a:lnTo>
                    <a:lnTo>
                      <a:pt x="381386" y="242746"/>
                    </a:lnTo>
                    <a:lnTo>
                      <a:pt x="384031" y="234549"/>
                    </a:lnTo>
                    <a:lnTo>
                      <a:pt x="386940" y="226616"/>
                    </a:lnTo>
                    <a:lnTo>
                      <a:pt x="390114" y="218683"/>
                    </a:lnTo>
                    <a:lnTo>
                      <a:pt x="393553" y="210750"/>
                    </a:lnTo>
                    <a:lnTo>
                      <a:pt x="396991" y="203082"/>
                    </a:lnTo>
                    <a:lnTo>
                      <a:pt x="400694" y="195678"/>
                    </a:lnTo>
                    <a:lnTo>
                      <a:pt x="404396" y="187745"/>
                    </a:lnTo>
                    <a:lnTo>
                      <a:pt x="408628" y="180341"/>
                    </a:lnTo>
                    <a:lnTo>
                      <a:pt x="412860" y="173201"/>
                    </a:lnTo>
                    <a:lnTo>
                      <a:pt x="417356" y="165797"/>
                    </a:lnTo>
                    <a:lnTo>
                      <a:pt x="422117" y="158658"/>
                    </a:lnTo>
                    <a:lnTo>
                      <a:pt x="426878" y="151783"/>
                    </a:lnTo>
                    <a:lnTo>
                      <a:pt x="431638" y="144907"/>
                    </a:lnTo>
                    <a:lnTo>
                      <a:pt x="436664" y="138297"/>
                    </a:lnTo>
                    <a:lnTo>
                      <a:pt x="441953" y="131686"/>
                    </a:lnTo>
                    <a:lnTo>
                      <a:pt x="447243" y="125075"/>
                    </a:lnTo>
                    <a:lnTo>
                      <a:pt x="453062" y="118993"/>
                    </a:lnTo>
                    <a:lnTo>
                      <a:pt x="458616" y="112647"/>
                    </a:lnTo>
                    <a:lnTo>
                      <a:pt x="464434" y="106301"/>
                    </a:lnTo>
                    <a:lnTo>
                      <a:pt x="470518" y="100483"/>
                    </a:lnTo>
                    <a:lnTo>
                      <a:pt x="476865" y="94666"/>
                    </a:lnTo>
                    <a:lnTo>
                      <a:pt x="482948" y="89113"/>
                    </a:lnTo>
                    <a:lnTo>
                      <a:pt x="489560" y="83560"/>
                    </a:lnTo>
                    <a:lnTo>
                      <a:pt x="496172" y="78271"/>
                    </a:lnTo>
                    <a:lnTo>
                      <a:pt x="502520" y="72983"/>
                    </a:lnTo>
                    <a:lnTo>
                      <a:pt x="509397" y="67958"/>
                    </a:lnTo>
                    <a:lnTo>
                      <a:pt x="516538" y="62934"/>
                    </a:lnTo>
                    <a:lnTo>
                      <a:pt x="523414" y="58175"/>
                    </a:lnTo>
                    <a:lnTo>
                      <a:pt x="530820" y="53679"/>
                    </a:lnTo>
                    <a:lnTo>
                      <a:pt x="537961" y="49184"/>
                    </a:lnTo>
                    <a:lnTo>
                      <a:pt x="545367" y="45217"/>
                    </a:lnTo>
                    <a:lnTo>
                      <a:pt x="553301" y="40987"/>
                    </a:lnTo>
                    <a:lnTo>
                      <a:pt x="560707" y="37020"/>
                    </a:lnTo>
                    <a:lnTo>
                      <a:pt x="568377" y="33583"/>
                    </a:lnTo>
                    <a:lnTo>
                      <a:pt x="576311" y="29881"/>
                    </a:lnTo>
                    <a:lnTo>
                      <a:pt x="584510" y="26707"/>
                    </a:lnTo>
                    <a:lnTo>
                      <a:pt x="592445" y="23534"/>
                    </a:lnTo>
                    <a:lnTo>
                      <a:pt x="600379" y="20361"/>
                    </a:lnTo>
                    <a:lnTo>
                      <a:pt x="608843" y="17717"/>
                    </a:lnTo>
                    <a:lnTo>
                      <a:pt x="617042" y="15073"/>
                    </a:lnTo>
                    <a:lnTo>
                      <a:pt x="625505" y="12693"/>
                    </a:lnTo>
                    <a:lnTo>
                      <a:pt x="633969" y="10313"/>
                    </a:lnTo>
                    <a:lnTo>
                      <a:pt x="642697" y="8462"/>
                    </a:lnTo>
                    <a:lnTo>
                      <a:pt x="651425" y="6875"/>
                    </a:lnTo>
                    <a:lnTo>
                      <a:pt x="659888" y="5024"/>
                    </a:lnTo>
                    <a:lnTo>
                      <a:pt x="668881" y="3702"/>
                    </a:lnTo>
                    <a:lnTo>
                      <a:pt x="677873" y="2644"/>
                    </a:lnTo>
                    <a:lnTo>
                      <a:pt x="686601" y="1851"/>
                    </a:lnTo>
                    <a:lnTo>
                      <a:pt x="695858" y="793"/>
                    </a:lnTo>
                    <a:lnTo>
                      <a:pt x="704851" y="264"/>
                    </a:lnTo>
                    <a:lnTo>
                      <a:pt x="714108" y="0"/>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noProof="1">
                  <a:solidFill>
                    <a:srgbClr val="FFFFFF"/>
                  </a:solidFill>
                </a:endParaRPr>
              </a:p>
            </p:txBody>
          </p:sp>
        </p:grpSp>
        <p:sp>
          <p:nvSpPr>
            <p:cNvPr id="26634" name="文本框 112"/>
            <p:cNvSpPr txBox="1">
              <a:spLocks noChangeArrowheads="1"/>
            </p:cNvSpPr>
            <p:nvPr/>
          </p:nvSpPr>
          <p:spPr bwMode="auto">
            <a:xfrm>
              <a:off x="12880" y="6298"/>
              <a:ext cx="2808"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1800"/>
                <a:t>指导教师：</a:t>
              </a:r>
              <a:r>
                <a:rPr lang="zh-CN" altLang="en-US" sz="1800"/>
                <a:t>许鋆</a:t>
              </a:r>
              <a:endParaRPr lang="zh-CN" altLang="en-US" sz="1800"/>
            </a:p>
          </p:txBody>
        </p:sp>
      </p:grpSp>
      <p:sp>
        <p:nvSpPr>
          <p:cNvPr id="26635" name="文本框 1066"/>
          <p:cNvSpPr txBox="1">
            <a:spLocks noChangeArrowheads="1"/>
          </p:cNvSpPr>
          <p:nvPr/>
        </p:nvSpPr>
        <p:spPr bwMode="auto">
          <a:xfrm>
            <a:off x="1766888" y="598488"/>
            <a:ext cx="302768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3200" b="1">
                <a:solidFill>
                  <a:schemeClr val="bg1"/>
                </a:solidFill>
              </a:rPr>
              <a:t>哈尔滨</a:t>
            </a:r>
            <a:r>
              <a:rPr lang="zh-CN" altLang="en-US" sz="3200" b="1">
                <a:solidFill>
                  <a:schemeClr val="bg1"/>
                </a:solidFill>
              </a:rPr>
              <a:t>工业大学</a:t>
            </a:r>
            <a:endParaRPr lang="zh-CN" altLang="en-US" sz="3200" b="1">
              <a:solidFill>
                <a:schemeClr val="bg1"/>
              </a:solidFill>
            </a:endParaRPr>
          </a:p>
        </p:txBody>
      </p:sp>
      <p:sp>
        <p:nvSpPr>
          <p:cNvPr id="1068" name="矩形 1067"/>
          <p:cNvSpPr/>
          <p:nvPr/>
        </p:nvSpPr>
        <p:spPr>
          <a:xfrm>
            <a:off x="1466850" y="2439988"/>
            <a:ext cx="9677400" cy="2114550"/>
          </a:xfrm>
          <a:prstGeom prst="rect">
            <a:avLst/>
          </a:prstGeom>
          <a:noFill/>
          <a:ln w="254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069" name="矩形 1068"/>
          <p:cNvSpPr/>
          <p:nvPr/>
        </p:nvSpPr>
        <p:spPr>
          <a:xfrm>
            <a:off x="10906125" y="4237038"/>
            <a:ext cx="476250" cy="4762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17" name="矩形 116"/>
          <p:cNvSpPr/>
          <p:nvPr/>
        </p:nvSpPr>
        <p:spPr>
          <a:xfrm>
            <a:off x="10637838" y="4008438"/>
            <a:ext cx="474662" cy="474662"/>
          </a:xfrm>
          <a:prstGeom prst="rect">
            <a:avLst/>
          </a:prstGeom>
          <a:solidFill>
            <a:srgbClr val="4B649F">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18" name="矩形 117"/>
          <p:cNvSpPr/>
          <p:nvPr/>
        </p:nvSpPr>
        <p:spPr>
          <a:xfrm>
            <a:off x="1308100" y="2233613"/>
            <a:ext cx="474663" cy="474662"/>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19" name="矩形 118"/>
          <p:cNvSpPr/>
          <p:nvPr/>
        </p:nvSpPr>
        <p:spPr>
          <a:xfrm>
            <a:off x="1460500" y="2386013"/>
            <a:ext cx="474663" cy="474662"/>
          </a:xfrm>
          <a:prstGeom prst="rect">
            <a:avLst/>
          </a:prstGeom>
          <a:solidFill>
            <a:srgbClr val="4B649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pic>
        <p:nvPicPr>
          <p:cNvPr id="4" name="图片 3"/>
          <p:cNvPicPr>
            <a:picLocks noChangeAspect="1"/>
          </p:cNvPicPr>
          <p:nvPr/>
        </p:nvPicPr>
        <p:blipFill>
          <a:blip r:embed="rId2"/>
          <a:srcRect l="4911" r="5418" b="8407"/>
          <a:stretch>
            <a:fillRect/>
          </a:stretch>
        </p:blipFill>
        <p:spPr>
          <a:xfrm>
            <a:off x="381000" y="283845"/>
            <a:ext cx="1334591" cy="1332000"/>
          </a:xfrm>
          <a:custGeom>
            <a:avLst/>
            <a:gdLst/>
            <a:ahLst/>
            <a:cxnLst>
              <a:cxn ang="3">
                <a:pos x="hc" y="t"/>
              </a:cxn>
              <a:cxn ang="cd2">
                <a:pos x="l" y="vc"/>
              </a:cxn>
              <a:cxn ang="cd4">
                <a:pos x="hc" y="b"/>
              </a:cxn>
              <a:cxn ang="0">
                <a:pos x="r" y="vc"/>
              </a:cxn>
            </a:cxnLst>
            <a:rect l="l" t="t" r="r" b="b"/>
            <a:pathLst>
              <a:path w="9914" h="9892">
                <a:moveTo>
                  <a:pt x="4488" y="0"/>
                </a:moveTo>
                <a:lnTo>
                  <a:pt x="5426" y="0"/>
                </a:lnTo>
                <a:lnTo>
                  <a:pt x="5464" y="4"/>
                </a:lnTo>
                <a:cubicBezTo>
                  <a:pt x="7963" y="257"/>
                  <a:pt x="9914" y="2368"/>
                  <a:pt x="9914" y="4935"/>
                </a:cubicBezTo>
                <a:cubicBezTo>
                  <a:pt x="9914" y="7673"/>
                  <a:pt x="7695" y="9892"/>
                  <a:pt x="4957" y="9892"/>
                </a:cubicBezTo>
                <a:cubicBezTo>
                  <a:pt x="2219" y="9892"/>
                  <a:pt x="0" y="7673"/>
                  <a:pt x="0" y="4935"/>
                </a:cubicBezTo>
                <a:cubicBezTo>
                  <a:pt x="0" y="2368"/>
                  <a:pt x="1951" y="257"/>
                  <a:pt x="4450" y="4"/>
                </a:cubicBezTo>
                <a:lnTo>
                  <a:pt x="4488" y="0"/>
                </a:lnTo>
                <a:close/>
              </a:path>
            </a:pathLst>
          </a:custGeom>
        </p:spPr>
      </p:pic>
      <p:sp>
        <p:nvSpPr>
          <p:cNvPr id="10" name="椭圆 9"/>
          <p:cNvSpPr/>
          <p:nvPr/>
        </p:nvSpPr>
        <p:spPr>
          <a:xfrm>
            <a:off x="385445" y="274320"/>
            <a:ext cx="1333500" cy="1333500"/>
          </a:xfrm>
          <a:prstGeom prst="ellipse">
            <a:avLst/>
          </a:prstGeom>
          <a:solidFill>
            <a:schemeClr val="bg1"/>
          </a:solidFill>
          <a:ln w="381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grpSp>
        <p:nvGrpSpPr>
          <p:cNvPr id="11" name="组合 10"/>
          <p:cNvGrpSpPr/>
          <p:nvPr/>
        </p:nvGrpSpPr>
        <p:grpSpPr>
          <a:xfrm>
            <a:off x="564524" y="530786"/>
            <a:ext cx="1029952" cy="685949"/>
            <a:chOff x="5302250" y="2903538"/>
            <a:chExt cx="1587500" cy="1057276"/>
          </a:xfrm>
          <a:solidFill>
            <a:srgbClr val="4B649F"/>
          </a:solidFill>
        </p:grpSpPr>
        <p:sp>
          <p:nvSpPr>
            <p:cNvPr id="12" name="Freeform 84"/>
            <p:cNvSpPr/>
            <p:nvPr/>
          </p:nvSpPr>
          <p:spPr bwMode="auto">
            <a:xfrm>
              <a:off x="5362575" y="3040063"/>
              <a:ext cx="706438" cy="614363"/>
            </a:xfrm>
            <a:custGeom>
              <a:avLst/>
              <a:gdLst>
                <a:gd name="T0" fmla="*/ 181 w 187"/>
                <a:gd name="T1" fmla="*/ 49 h 162"/>
                <a:gd name="T2" fmla="*/ 187 w 187"/>
                <a:gd name="T3" fmla="*/ 66 h 162"/>
                <a:gd name="T4" fmla="*/ 187 w 187"/>
                <a:gd name="T5" fmla="*/ 162 h 162"/>
                <a:gd name="T6" fmla="*/ 176 w 187"/>
                <a:gd name="T7" fmla="*/ 153 h 162"/>
                <a:gd name="T8" fmla="*/ 92 w 187"/>
                <a:gd name="T9" fmla="*/ 115 h 162"/>
                <a:gd name="T10" fmla="*/ 73 w 187"/>
                <a:gd name="T11" fmla="*/ 114 h 162"/>
                <a:gd name="T12" fmla="*/ 8 w 187"/>
                <a:gd name="T13" fmla="*/ 131 h 162"/>
                <a:gd name="T14" fmla="*/ 1 w 187"/>
                <a:gd name="T15" fmla="*/ 131 h 162"/>
                <a:gd name="T16" fmla="*/ 2 w 187"/>
                <a:gd name="T17" fmla="*/ 126 h 162"/>
                <a:gd name="T18" fmla="*/ 26 w 187"/>
                <a:gd name="T19" fmla="*/ 70 h 162"/>
                <a:gd name="T20" fmla="*/ 48 w 187"/>
                <a:gd name="T21" fmla="*/ 20 h 162"/>
                <a:gd name="T22" fmla="*/ 53 w 187"/>
                <a:gd name="T23" fmla="*/ 13 h 162"/>
                <a:gd name="T24" fmla="*/ 62 w 187"/>
                <a:gd name="T25" fmla="*/ 9 h 162"/>
                <a:gd name="T26" fmla="*/ 130 w 187"/>
                <a:gd name="T27" fmla="*/ 11 h 162"/>
                <a:gd name="T28" fmla="*/ 181 w 187"/>
                <a:gd name="T29"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7" h="162">
                  <a:moveTo>
                    <a:pt x="181" y="49"/>
                  </a:moveTo>
                  <a:cubicBezTo>
                    <a:pt x="184" y="54"/>
                    <a:pt x="187" y="60"/>
                    <a:pt x="187" y="66"/>
                  </a:cubicBezTo>
                  <a:cubicBezTo>
                    <a:pt x="187" y="162"/>
                    <a:pt x="187" y="162"/>
                    <a:pt x="187" y="162"/>
                  </a:cubicBezTo>
                  <a:cubicBezTo>
                    <a:pt x="187" y="162"/>
                    <a:pt x="178" y="154"/>
                    <a:pt x="176" y="153"/>
                  </a:cubicBezTo>
                  <a:cubicBezTo>
                    <a:pt x="168" y="148"/>
                    <a:pt x="133" y="120"/>
                    <a:pt x="92" y="115"/>
                  </a:cubicBezTo>
                  <a:cubicBezTo>
                    <a:pt x="86" y="114"/>
                    <a:pt x="79" y="114"/>
                    <a:pt x="73" y="114"/>
                  </a:cubicBezTo>
                  <a:cubicBezTo>
                    <a:pt x="32" y="114"/>
                    <a:pt x="8" y="131"/>
                    <a:pt x="8" y="131"/>
                  </a:cubicBezTo>
                  <a:cubicBezTo>
                    <a:pt x="5" y="133"/>
                    <a:pt x="2" y="133"/>
                    <a:pt x="1" y="131"/>
                  </a:cubicBezTo>
                  <a:cubicBezTo>
                    <a:pt x="0" y="130"/>
                    <a:pt x="1" y="128"/>
                    <a:pt x="2" y="126"/>
                  </a:cubicBezTo>
                  <a:cubicBezTo>
                    <a:pt x="26" y="70"/>
                    <a:pt x="26" y="70"/>
                    <a:pt x="26" y="70"/>
                  </a:cubicBezTo>
                  <a:cubicBezTo>
                    <a:pt x="48" y="20"/>
                    <a:pt x="48" y="20"/>
                    <a:pt x="48" y="20"/>
                  </a:cubicBezTo>
                  <a:cubicBezTo>
                    <a:pt x="49" y="18"/>
                    <a:pt x="51" y="15"/>
                    <a:pt x="53" y="13"/>
                  </a:cubicBezTo>
                  <a:cubicBezTo>
                    <a:pt x="55" y="11"/>
                    <a:pt x="59" y="10"/>
                    <a:pt x="62" y="9"/>
                  </a:cubicBezTo>
                  <a:cubicBezTo>
                    <a:pt x="65" y="9"/>
                    <a:pt x="98" y="0"/>
                    <a:pt x="130" y="11"/>
                  </a:cubicBezTo>
                  <a:cubicBezTo>
                    <a:pt x="163" y="22"/>
                    <a:pt x="179" y="45"/>
                    <a:pt x="181"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13" name="Freeform 85"/>
            <p:cNvSpPr/>
            <p:nvPr/>
          </p:nvSpPr>
          <p:spPr bwMode="auto">
            <a:xfrm>
              <a:off x="6115050" y="2903538"/>
              <a:ext cx="400050" cy="747713"/>
            </a:xfrm>
            <a:custGeom>
              <a:avLst/>
              <a:gdLst>
                <a:gd name="T0" fmla="*/ 44 w 106"/>
                <a:gd name="T1" fmla="*/ 119 h 197"/>
                <a:gd name="T2" fmla="*/ 3 w 106"/>
                <a:gd name="T3" fmla="*/ 187 h 197"/>
                <a:gd name="T4" fmla="*/ 0 w 106"/>
                <a:gd name="T5" fmla="*/ 197 h 197"/>
                <a:gd name="T6" fmla="*/ 0 w 106"/>
                <a:gd name="T7" fmla="*/ 83 h 197"/>
                <a:gd name="T8" fmla="*/ 1 w 106"/>
                <a:gd name="T9" fmla="*/ 64 h 197"/>
                <a:gd name="T10" fmla="*/ 16 w 106"/>
                <a:gd name="T11" fmla="*/ 29 h 197"/>
                <a:gd name="T12" fmla="*/ 49 w 106"/>
                <a:gd name="T13" fmla="*/ 1 h 197"/>
                <a:gd name="T14" fmla="*/ 54 w 106"/>
                <a:gd name="T15" fmla="*/ 0 h 197"/>
                <a:gd name="T16" fmla="*/ 64 w 106"/>
                <a:gd name="T17" fmla="*/ 6 h 197"/>
                <a:gd name="T18" fmla="*/ 85 w 106"/>
                <a:gd name="T19" fmla="*/ 42 h 197"/>
                <a:gd name="T20" fmla="*/ 86 w 106"/>
                <a:gd name="T21" fmla="*/ 42 h 197"/>
                <a:gd name="T22" fmla="*/ 104 w 106"/>
                <a:gd name="T23" fmla="*/ 74 h 197"/>
                <a:gd name="T24" fmla="*/ 105 w 106"/>
                <a:gd name="T25" fmla="*/ 82 h 197"/>
                <a:gd name="T26" fmla="*/ 99 w 106"/>
                <a:gd name="T27" fmla="*/ 87 h 197"/>
                <a:gd name="T28" fmla="*/ 44 w 106"/>
                <a:gd name="T29" fmla="*/ 119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97">
                  <a:moveTo>
                    <a:pt x="44" y="119"/>
                  </a:moveTo>
                  <a:cubicBezTo>
                    <a:pt x="25" y="137"/>
                    <a:pt x="12" y="156"/>
                    <a:pt x="3" y="187"/>
                  </a:cubicBezTo>
                  <a:cubicBezTo>
                    <a:pt x="0" y="197"/>
                    <a:pt x="0" y="197"/>
                    <a:pt x="0" y="197"/>
                  </a:cubicBezTo>
                  <a:cubicBezTo>
                    <a:pt x="0" y="83"/>
                    <a:pt x="0" y="83"/>
                    <a:pt x="0" y="83"/>
                  </a:cubicBezTo>
                  <a:cubicBezTo>
                    <a:pt x="0" y="77"/>
                    <a:pt x="0" y="69"/>
                    <a:pt x="1" y="64"/>
                  </a:cubicBezTo>
                  <a:cubicBezTo>
                    <a:pt x="1" y="63"/>
                    <a:pt x="3" y="47"/>
                    <a:pt x="16" y="29"/>
                  </a:cubicBezTo>
                  <a:cubicBezTo>
                    <a:pt x="30" y="11"/>
                    <a:pt x="48" y="1"/>
                    <a:pt x="49" y="1"/>
                  </a:cubicBezTo>
                  <a:cubicBezTo>
                    <a:pt x="51" y="0"/>
                    <a:pt x="52" y="0"/>
                    <a:pt x="54" y="0"/>
                  </a:cubicBezTo>
                  <a:cubicBezTo>
                    <a:pt x="58" y="0"/>
                    <a:pt x="62" y="2"/>
                    <a:pt x="64" y="6"/>
                  </a:cubicBezTo>
                  <a:cubicBezTo>
                    <a:pt x="85" y="42"/>
                    <a:pt x="85" y="42"/>
                    <a:pt x="85" y="42"/>
                  </a:cubicBezTo>
                  <a:cubicBezTo>
                    <a:pt x="86" y="42"/>
                    <a:pt x="86" y="42"/>
                    <a:pt x="86" y="42"/>
                  </a:cubicBezTo>
                  <a:cubicBezTo>
                    <a:pt x="104" y="74"/>
                    <a:pt x="104" y="74"/>
                    <a:pt x="104" y="74"/>
                  </a:cubicBezTo>
                  <a:cubicBezTo>
                    <a:pt x="106" y="76"/>
                    <a:pt x="106" y="79"/>
                    <a:pt x="105" y="82"/>
                  </a:cubicBezTo>
                  <a:cubicBezTo>
                    <a:pt x="104" y="84"/>
                    <a:pt x="102" y="86"/>
                    <a:pt x="99" y="87"/>
                  </a:cubicBezTo>
                  <a:cubicBezTo>
                    <a:pt x="99" y="87"/>
                    <a:pt x="66" y="99"/>
                    <a:pt x="44"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14" name="Freeform 86"/>
            <p:cNvSpPr/>
            <p:nvPr/>
          </p:nvSpPr>
          <p:spPr bwMode="auto">
            <a:xfrm>
              <a:off x="6194425" y="3529013"/>
              <a:ext cx="642938" cy="160338"/>
            </a:xfrm>
            <a:custGeom>
              <a:avLst/>
              <a:gdLst>
                <a:gd name="T0" fmla="*/ 155 w 170"/>
                <a:gd name="T1" fmla="*/ 11 h 42"/>
                <a:gd name="T2" fmla="*/ 154 w 170"/>
                <a:gd name="T3" fmla="*/ 10 h 42"/>
                <a:gd name="T4" fmla="*/ 153 w 170"/>
                <a:gd name="T5" fmla="*/ 10 h 42"/>
                <a:gd name="T6" fmla="*/ 108 w 170"/>
                <a:gd name="T7" fmla="*/ 0 h 42"/>
                <a:gd name="T8" fmla="*/ 85 w 170"/>
                <a:gd name="T9" fmla="*/ 3 h 42"/>
                <a:gd name="T10" fmla="*/ 11 w 170"/>
                <a:gd name="T11" fmla="*/ 35 h 42"/>
                <a:gd name="T12" fmla="*/ 11 w 170"/>
                <a:gd name="T13" fmla="*/ 36 h 42"/>
                <a:gd name="T14" fmla="*/ 7 w 170"/>
                <a:gd name="T15" fmla="*/ 38 h 42"/>
                <a:gd name="T16" fmla="*/ 3 w 170"/>
                <a:gd name="T17" fmla="*/ 40 h 42"/>
                <a:gd name="T18" fmla="*/ 1 w 170"/>
                <a:gd name="T19" fmla="*/ 42 h 42"/>
                <a:gd name="T20" fmla="*/ 0 w 170"/>
                <a:gd name="T21" fmla="*/ 42 h 42"/>
                <a:gd name="T22" fmla="*/ 161 w 170"/>
                <a:gd name="T23" fmla="*/ 42 h 42"/>
                <a:gd name="T24" fmla="*/ 169 w 170"/>
                <a:gd name="T25" fmla="*/ 38 h 42"/>
                <a:gd name="T26" fmla="*/ 167 w 170"/>
                <a:gd name="T27" fmla="*/ 28 h 42"/>
                <a:gd name="T28" fmla="*/ 155 w 170"/>
                <a:gd name="T29"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42">
                  <a:moveTo>
                    <a:pt x="155" y="11"/>
                  </a:moveTo>
                  <a:cubicBezTo>
                    <a:pt x="155" y="11"/>
                    <a:pt x="154" y="10"/>
                    <a:pt x="154" y="10"/>
                  </a:cubicBezTo>
                  <a:cubicBezTo>
                    <a:pt x="153" y="10"/>
                    <a:pt x="153" y="10"/>
                    <a:pt x="153" y="10"/>
                  </a:cubicBezTo>
                  <a:cubicBezTo>
                    <a:pt x="152" y="9"/>
                    <a:pt x="132" y="0"/>
                    <a:pt x="108" y="0"/>
                  </a:cubicBezTo>
                  <a:cubicBezTo>
                    <a:pt x="100" y="0"/>
                    <a:pt x="92" y="1"/>
                    <a:pt x="85" y="3"/>
                  </a:cubicBezTo>
                  <a:cubicBezTo>
                    <a:pt x="46" y="15"/>
                    <a:pt x="15" y="33"/>
                    <a:pt x="11" y="35"/>
                  </a:cubicBezTo>
                  <a:cubicBezTo>
                    <a:pt x="11" y="36"/>
                    <a:pt x="11" y="36"/>
                    <a:pt x="11" y="36"/>
                  </a:cubicBezTo>
                  <a:cubicBezTo>
                    <a:pt x="10" y="36"/>
                    <a:pt x="9" y="37"/>
                    <a:pt x="7" y="38"/>
                  </a:cubicBezTo>
                  <a:cubicBezTo>
                    <a:pt x="6" y="39"/>
                    <a:pt x="4" y="40"/>
                    <a:pt x="3" y="40"/>
                  </a:cubicBezTo>
                  <a:cubicBezTo>
                    <a:pt x="2" y="41"/>
                    <a:pt x="2" y="41"/>
                    <a:pt x="1" y="42"/>
                  </a:cubicBezTo>
                  <a:cubicBezTo>
                    <a:pt x="0" y="42"/>
                    <a:pt x="0" y="42"/>
                    <a:pt x="0" y="42"/>
                  </a:cubicBezTo>
                  <a:cubicBezTo>
                    <a:pt x="161" y="42"/>
                    <a:pt x="161" y="42"/>
                    <a:pt x="161" y="42"/>
                  </a:cubicBezTo>
                  <a:cubicBezTo>
                    <a:pt x="165" y="42"/>
                    <a:pt x="167" y="41"/>
                    <a:pt x="169" y="38"/>
                  </a:cubicBezTo>
                  <a:cubicBezTo>
                    <a:pt x="170" y="35"/>
                    <a:pt x="169" y="32"/>
                    <a:pt x="167" y="28"/>
                  </a:cubicBezTo>
                  <a:cubicBezTo>
                    <a:pt x="167" y="28"/>
                    <a:pt x="162" y="20"/>
                    <a:pt x="15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15" name="Freeform 87"/>
            <p:cNvSpPr/>
            <p:nvPr/>
          </p:nvSpPr>
          <p:spPr bwMode="auto">
            <a:xfrm>
              <a:off x="5335588" y="3771901"/>
              <a:ext cx="1520825" cy="155575"/>
            </a:xfrm>
            <a:custGeom>
              <a:avLst/>
              <a:gdLst>
                <a:gd name="T0" fmla="*/ 402 w 402"/>
                <a:gd name="T1" fmla="*/ 24 h 41"/>
                <a:gd name="T2" fmla="*/ 385 w 402"/>
                <a:gd name="T3" fmla="*/ 41 h 41"/>
                <a:gd name="T4" fmla="*/ 382 w 402"/>
                <a:gd name="T5" fmla="*/ 41 h 41"/>
                <a:gd name="T6" fmla="*/ 232 w 402"/>
                <a:gd name="T7" fmla="*/ 28 h 41"/>
                <a:gd name="T8" fmla="*/ 217 w 402"/>
                <a:gd name="T9" fmla="*/ 34 h 41"/>
                <a:gd name="T10" fmla="*/ 216 w 402"/>
                <a:gd name="T11" fmla="*/ 35 h 41"/>
                <a:gd name="T12" fmla="*/ 201 w 402"/>
                <a:gd name="T13" fmla="*/ 40 h 41"/>
                <a:gd name="T14" fmla="*/ 201 w 402"/>
                <a:gd name="T15" fmla="*/ 40 h 41"/>
                <a:gd name="T16" fmla="*/ 186 w 402"/>
                <a:gd name="T17" fmla="*/ 35 h 41"/>
                <a:gd name="T18" fmla="*/ 185 w 402"/>
                <a:gd name="T19" fmla="*/ 34 h 41"/>
                <a:gd name="T20" fmla="*/ 170 w 402"/>
                <a:gd name="T21" fmla="*/ 28 h 41"/>
                <a:gd name="T22" fmla="*/ 20 w 402"/>
                <a:gd name="T23" fmla="*/ 41 h 41"/>
                <a:gd name="T24" fmla="*/ 17 w 402"/>
                <a:gd name="T25" fmla="*/ 41 h 41"/>
                <a:gd name="T26" fmla="*/ 0 w 402"/>
                <a:gd name="T27" fmla="*/ 24 h 41"/>
                <a:gd name="T28" fmla="*/ 16 w 402"/>
                <a:gd name="T29" fmla="*/ 7 h 41"/>
                <a:gd name="T30" fmla="*/ 17 w 402"/>
                <a:gd name="T31" fmla="*/ 7 h 41"/>
                <a:gd name="T32" fmla="*/ 164 w 402"/>
                <a:gd name="T33" fmla="*/ 0 h 41"/>
                <a:gd name="T34" fmla="*/ 177 w 402"/>
                <a:gd name="T35" fmla="*/ 6 h 41"/>
                <a:gd name="T36" fmla="*/ 182 w 402"/>
                <a:gd name="T37" fmla="*/ 6 h 41"/>
                <a:gd name="T38" fmla="*/ 194 w 402"/>
                <a:gd name="T39" fmla="*/ 0 h 41"/>
                <a:gd name="T40" fmla="*/ 208 w 402"/>
                <a:gd name="T41" fmla="*/ 0 h 41"/>
                <a:gd name="T42" fmla="*/ 220 w 402"/>
                <a:gd name="T43" fmla="*/ 6 h 41"/>
                <a:gd name="T44" fmla="*/ 225 w 402"/>
                <a:gd name="T45" fmla="*/ 6 h 41"/>
                <a:gd name="T46" fmla="*/ 238 w 402"/>
                <a:gd name="T47" fmla="*/ 0 h 41"/>
                <a:gd name="T48" fmla="*/ 385 w 402"/>
                <a:gd name="T49" fmla="*/ 7 h 41"/>
                <a:gd name="T50" fmla="*/ 386 w 402"/>
                <a:gd name="T51" fmla="*/ 7 h 41"/>
                <a:gd name="T52" fmla="*/ 402 w 402"/>
                <a:gd name="T53" fmla="*/ 2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2" h="41">
                  <a:moveTo>
                    <a:pt x="402" y="24"/>
                  </a:moveTo>
                  <a:cubicBezTo>
                    <a:pt x="402" y="33"/>
                    <a:pt x="394" y="41"/>
                    <a:pt x="385" y="41"/>
                  </a:cubicBezTo>
                  <a:cubicBezTo>
                    <a:pt x="384" y="41"/>
                    <a:pt x="383" y="41"/>
                    <a:pt x="382" y="41"/>
                  </a:cubicBezTo>
                  <a:cubicBezTo>
                    <a:pt x="232" y="28"/>
                    <a:pt x="232" y="28"/>
                    <a:pt x="232" y="28"/>
                  </a:cubicBezTo>
                  <a:cubicBezTo>
                    <a:pt x="227" y="28"/>
                    <a:pt x="220" y="31"/>
                    <a:pt x="217" y="34"/>
                  </a:cubicBezTo>
                  <a:cubicBezTo>
                    <a:pt x="217" y="34"/>
                    <a:pt x="217" y="34"/>
                    <a:pt x="216" y="35"/>
                  </a:cubicBezTo>
                  <a:cubicBezTo>
                    <a:pt x="214" y="38"/>
                    <a:pt x="208" y="40"/>
                    <a:pt x="201" y="40"/>
                  </a:cubicBezTo>
                  <a:cubicBezTo>
                    <a:pt x="201" y="40"/>
                    <a:pt x="201" y="40"/>
                    <a:pt x="201" y="40"/>
                  </a:cubicBezTo>
                  <a:cubicBezTo>
                    <a:pt x="194" y="40"/>
                    <a:pt x="188" y="38"/>
                    <a:pt x="186" y="35"/>
                  </a:cubicBezTo>
                  <a:cubicBezTo>
                    <a:pt x="185" y="34"/>
                    <a:pt x="185" y="34"/>
                    <a:pt x="185" y="34"/>
                  </a:cubicBezTo>
                  <a:cubicBezTo>
                    <a:pt x="182" y="31"/>
                    <a:pt x="175" y="28"/>
                    <a:pt x="170" y="28"/>
                  </a:cubicBezTo>
                  <a:cubicBezTo>
                    <a:pt x="20" y="41"/>
                    <a:pt x="20" y="41"/>
                    <a:pt x="20" y="41"/>
                  </a:cubicBezTo>
                  <a:cubicBezTo>
                    <a:pt x="19" y="41"/>
                    <a:pt x="18" y="41"/>
                    <a:pt x="17" y="41"/>
                  </a:cubicBezTo>
                  <a:cubicBezTo>
                    <a:pt x="8" y="41"/>
                    <a:pt x="0" y="33"/>
                    <a:pt x="0" y="24"/>
                  </a:cubicBezTo>
                  <a:cubicBezTo>
                    <a:pt x="0" y="15"/>
                    <a:pt x="7" y="8"/>
                    <a:pt x="16" y="7"/>
                  </a:cubicBezTo>
                  <a:cubicBezTo>
                    <a:pt x="16" y="7"/>
                    <a:pt x="16" y="7"/>
                    <a:pt x="17" y="7"/>
                  </a:cubicBezTo>
                  <a:cubicBezTo>
                    <a:pt x="164" y="0"/>
                    <a:pt x="164" y="0"/>
                    <a:pt x="164" y="0"/>
                  </a:cubicBezTo>
                  <a:cubicBezTo>
                    <a:pt x="169" y="0"/>
                    <a:pt x="175" y="2"/>
                    <a:pt x="177" y="6"/>
                  </a:cubicBezTo>
                  <a:cubicBezTo>
                    <a:pt x="178" y="10"/>
                    <a:pt x="181" y="10"/>
                    <a:pt x="182" y="6"/>
                  </a:cubicBezTo>
                  <a:cubicBezTo>
                    <a:pt x="183" y="2"/>
                    <a:pt x="189" y="0"/>
                    <a:pt x="194" y="0"/>
                  </a:cubicBezTo>
                  <a:cubicBezTo>
                    <a:pt x="208" y="0"/>
                    <a:pt x="208" y="0"/>
                    <a:pt x="208" y="0"/>
                  </a:cubicBezTo>
                  <a:cubicBezTo>
                    <a:pt x="213" y="0"/>
                    <a:pt x="219" y="2"/>
                    <a:pt x="220" y="6"/>
                  </a:cubicBezTo>
                  <a:cubicBezTo>
                    <a:pt x="221" y="10"/>
                    <a:pt x="224" y="10"/>
                    <a:pt x="225" y="6"/>
                  </a:cubicBezTo>
                  <a:cubicBezTo>
                    <a:pt x="227" y="2"/>
                    <a:pt x="233" y="0"/>
                    <a:pt x="238" y="0"/>
                  </a:cubicBezTo>
                  <a:cubicBezTo>
                    <a:pt x="385" y="7"/>
                    <a:pt x="385" y="7"/>
                    <a:pt x="385" y="7"/>
                  </a:cubicBezTo>
                  <a:cubicBezTo>
                    <a:pt x="386" y="7"/>
                    <a:pt x="386" y="7"/>
                    <a:pt x="386" y="7"/>
                  </a:cubicBezTo>
                  <a:cubicBezTo>
                    <a:pt x="395" y="8"/>
                    <a:pt x="402" y="15"/>
                    <a:pt x="40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16" name="Freeform 88"/>
            <p:cNvSpPr>
              <a:spLocks noEditPoints="1"/>
            </p:cNvSpPr>
            <p:nvPr/>
          </p:nvSpPr>
          <p:spPr bwMode="auto">
            <a:xfrm>
              <a:off x="5302250" y="3733801"/>
              <a:ext cx="1587500" cy="227013"/>
            </a:xfrm>
            <a:custGeom>
              <a:avLst/>
              <a:gdLst>
                <a:gd name="T0" fmla="*/ 394 w 420"/>
                <a:gd name="T1" fmla="*/ 60 h 60"/>
                <a:gd name="T2" fmla="*/ 394 w 420"/>
                <a:gd name="T3" fmla="*/ 60 h 60"/>
                <a:gd name="T4" fmla="*/ 391 w 420"/>
                <a:gd name="T5" fmla="*/ 60 h 60"/>
                <a:gd name="T6" fmla="*/ 390 w 420"/>
                <a:gd name="T7" fmla="*/ 60 h 60"/>
                <a:gd name="T8" fmla="*/ 240 w 420"/>
                <a:gd name="T9" fmla="*/ 47 h 60"/>
                <a:gd name="T10" fmla="*/ 240 w 420"/>
                <a:gd name="T11" fmla="*/ 47 h 60"/>
                <a:gd name="T12" fmla="*/ 235 w 420"/>
                <a:gd name="T13" fmla="*/ 49 h 60"/>
                <a:gd name="T14" fmla="*/ 235 w 420"/>
                <a:gd name="T15" fmla="*/ 52 h 60"/>
                <a:gd name="T16" fmla="*/ 230 w 420"/>
                <a:gd name="T17" fmla="*/ 53 h 60"/>
                <a:gd name="T18" fmla="*/ 210 w 420"/>
                <a:gd name="T19" fmla="*/ 59 h 60"/>
                <a:gd name="T20" fmla="*/ 210 w 420"/>
                <a:gd name="T21" fmla="*/ 59 h 60"/>
                <a:gd name="T22" fmla="*/ 190 w 420"/>
                <a:gd name="T23" fmla="*/ 53 h 60"/>
                <a:gd name="T24" fmla="*/ 186 w 420"/>
                <a:gd name="T25" fmla="*/ 52 h 60"/>
                <a:gd name="T26" fmla="*/ 185 w 420"/>
                <a:gd name="T27" fmla="*/ 49 h 60"/>
                <a:gd name="T28" fmla="*/ 180 w 420"/>
                <a:gd name="T29" fmla="*/ 47 h 60"/>
                <a:gd name="T30" fmla="*/ 29 w 420"/>
                <a:gd name="T31" fmla="*/ 60 h 60"/>
                <a:gd name="T32" fmla="*/ 26 w 420"/>
                <a:gd name="T33" fmla="*/ 60 h 60"/>
                <a:gd name="T34" fmla="*/ 0 w 420"/>
                <a:gd name="T35" fmla="*/ 34 h 60"/>
                <a:gd name="T36" fmla="*/ 25 w 420"/>
                <a:gd name="T37" fmla="*/ 8 h 60"/>
                <a:gd name="T38" fmla="*/ 25 w 420"/>
                <a:gd name="T39" fmla="*/ 8 h 60"/>
                <a:gd name="T40" fmla="*/ 173 w 420"/>
                <a:gd name="T41" fmla="*/ 1 h 60"/>
                <a:gd name="T42" fmla="*/ 188 w 420"/>
                <a:gd name="T43" fmla="*/ 5 h 60"/>
                <a:gd name="T44" fmla="*/ 203 w 420"/>
                <a:gd name="T45" fmla="*/ 0 h 60"/>
                <a:gd name="T46" fmla="*/ 217 w 420"/>
                <a:gd name="T47" fmla="*/ 0 h 60"/>
                <a:gd name="T48" fmla="*/ 232 w 420"/>
                <a:gd name="T49" fmla="*/ 5 h 60"/>
                <a:gd name="T50" fmla="*/ 247 w 420"/>
                <a:gd name="T51" fmla="*/ 1 h 60"/>
                <a:gd name="T52" fmla="*/ 395 w 420"/>
                <a:gd name="T53" fmla="*/ 8 h 60"/>
                <a:gd name="T54" fmla="*/ 420 w 420"/>
                <a:gd name="T55" fmla="*/ 34 h 60"/>
                <a:gd name="T56" fmla="*/ 394 w 420"/>
                <a:gd name="T57" fmla="*/ 60 h 60"/>
                <a:gd name="T58" fmla="*/ 26 w 420"/>
                <a:gd name="T59" fmla="*/ 26 h 60"/>
                <a:gd name="T60" fmla="*/ 18 w 420"/>
                <a:gd name="T61" fmla="*/ 34 h 60"/>
                <a:gd name="T62" fmla="*/ 26 w 420"/>
                <a:gd name="T63" fmla="*/ 42 h 60"/>
                <a:gd name="T64" fmla="*/ 26 w 420"/>
                <a:gd name="T65" fmla="*/ 42 h 60"/>
                <a:gd name="T66" fmla="*/ 28 w 420"/>
                <a:gd name="T67" fmla="*/ 42 h 60"/>
                <a:gd name="T68" fmla="*/ 178 w 420"/>
                <a:gd name="T69" fmla="*/ 29 h 60"/>
                <a:gd name="T70" fmla="*/ 180 w 420"/>
                <a:gd name="T71" fmla="*/ 29 h 60"/>
                <a:gd name="T72" fmla="*/ 199 w 420"/>
                <a:gd name="T73" fmla="*/ 36 h 60"/>
                <a:gd name="T74" fmla="*/ 200 w 420"/>
                <a:gd name="T75" fmla="*/ 36 h 60"/>
                <a:gd name="T76" fmla="*/ 202 w 420"/>
                <a:gd name="T77" fmla="*/ 39 h 60"/>
                <a:gd name="T78" fmla="*/ 210 w 420"/>
                <a:gd name="T79" fmla="*/ 41 h 60"/>
                <a:gd name="T80" fmla="*/ 210 w 420"/>
                <a:gd name="T81" fmla="*/ 41 h 60"/>
                <a:gd name="T82" fmla="*/ 218 w 420"/>
                <a:gd name="T83" fmla="*/ 39 h 60"/>
                <a:gd name="T84" fmla="*/ 220 w 420"/>
                <a:gd name="T85" fmla="*/ 36 h 60"/>
                <a:gd name="T86" fmla="*/ 221 w 420"/>
                <a:gd name="T87" fmla="*/ 36 h 60"/>
                <a:gd name="T88" fmla="*/ 242 w 420"/>
                <a:gd name="T89" fmla="*/ 29 h 60"/>
                <a:gd name="T90" fmla="*/ 392 w 420"/>
                <a:gd name="T91" fmla="*/ 42 h 60"/>
                <a:gd name="T92" fmla="*/ 394 w 420"/>
                <a:gd name="T93" fmla="*/ 42 h 60"/>
                <a:gd name="T94" fmla="*/ 402 w 420"/>
                <a:gd name="T95" fmla="*/ 34 h 60"/>
                <a:gd name="T96" fmla="*/ 395 w 420"/>
                <a:gd name="T97" fmla="*/ 26 h 60"/>
                <a:gd name="T98" fmla="*/ 394 w 420"/>
                <a:gd name="T99" fmla="*/ 26 h 60"/>
                <a:gd name="T100" fmla="*/ 246 w 420"/>
                <a:gd name="T101" fmla="*/ 19 h 60"/>
                <a:gd name="T102" fmla="*/ 246 w 420"/>
                <a:gd name="T103" fmla="*/ 19 h 60"/>
                <a:gd name="T104" fmla="*/ 242 w 420"/>
                <a:gd name="T105" fmla="*/ 20 h 60"/>
                <a:gd name="T106" fmla="*/ 231 w 420"/>
                <a:gd name="T107" fmla="*/ 28 h 60"/>
                <a:gd name="T108" fmla="*/ 221 w 420"/>
                <a:gd name="T109" fmla="*/ 20 h 60"/>
                <a:gd name="T110" fmla="*/ 217 w 420"/>
                <a:gd name="T111" fmla="*/ 19 h 60"/>
                <a:gd name="T112" fmla="*/ 203 w 420"/>
                <a:gd name="T113" fmla="*/ 19 h 60"/>
                <a:gd name="T114" fmla="*/ 199 w 420"/>
                <a:gd name="T115" fmla="*/ 20 h 60"/>
                <a:gd name="T116" fmla="*/ 189 w 420"/>
                <a:gd name="T117" fmla="*/ 28 h 60"/>
                <a:gd name="T118" fmla="*/ 178 w 420"/>
                <a:gd name="T119" fmla="*/ 20 h 60"/>
                <a:gd name="T120" fmla="*/ 174 w 420"/>
                <a:gd name="T121" fmla="*/ 19 h 60"/>
                <a:gd name="T122" fmla="*/ 26 w 420"/>
                <a:gd name="T123" fmla="*/ 26 h 60"/>
                <a:gd name="T124" fmla="*/ 26 w 420"/>
                <a:gd name="T125" fmla="*/ 2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0" h="60">
                  <a:moveTo>
                    <a:pt x="394" y="60"/>
                  </a:moveTo>
                  <a:cubicBezTo>
                    <a:pt x="394" y="60"/>
                    <a:pt x="394" y="60"/>
                    <a:pt x="394" y="60"/>
                  </a:cubicBezTo>
                  <a:cubicBezTo>
                    <a:pt x="393" y="60"/>
                    <a:pt x="392" y="60"/>
                    <a:pt x="391" y="60"/>
                  </a:cubicBezTo>
                  <a:cubicBezTo>
                    <a:pt x="390" y="60"/>
                    <a:pt x="390" y="60"/>
                    <a:pt x="390" y="60"/>
                  </a:cubicBezTo>
                  <a:cubicBezTo>
                    <a:pt x="240" y="47"/>
                    <a:pt x="240" y="47"/>
                    <a:pt x="240" y="47"/>
                  </a:cubicBezTo>
                  <a:cubicBezTo>
                    <a:pt x="240" y="47"/>
                    <a:pt x="240" y="47"/>
                    <a:pt x="240" y="47"/>
                  </a:cubicBezTo>
                  <a:cubicBezTo>
                    <a:pt x="238" y="47"/>
                    <a:pt x="236" y="48"/>
                    <a:pt x="235" y="49"/>
                  </a:cubicBezTo>
                  <a:cubicBezTo>
                    <a:pt x="235" y="52"/>
                    <a:pt x="235" y="52"/>
                    <a:pt x="235" y="52"/>
                  </a:cubicBezTo>
                  <a:cubicBezTo>
                    <a:pt x="230" y="53"/>
                    <a:pt x="230" y="53"/>
                    <a:pt x="230" y="53"/>
                  </a:cubicBezTo>
                  <a:cubicBezTo>
                    <a:pt x="225" y="57"/>
                    <a:pt x="218" y="59"/>
                    <a:pt x="210" y="59"/>
                  </a:cubicBezTo>
                  <a:cubicBezTo>
                    <a:pt x="210" y="59"/>
                    <a:pt x="210" y="59"/>
                    <a:pt x="210" y="59"/>
                  </a:cubicBezTo>
                  <a:cubicBezTo>
                    <a:pt x="202" y="59"/>
                    <a:pt x="195" y="57"/>
                    <a:pt x="190" y="53"/>
                  </a:cubicBezTo>
                  <a:cubicBezTo>
                    <a:pt x="186" y="52"/>
                    <a:pt x="186" y="52"/>
                    <a:pt x="186" y="52"/>
                  </a:cubicBezTo>
                  <a:cubicBezTo>
                    <a:pt x="185" y="49"/>
                    <a:pt x="185" y="49"/>
                    <a:pt x="185" y="49"/>
                  </a:cubicBezTo>
                  <a:cubicBezTo>
                    <a:pt x="184" y="48"/>
                    <a:pt x="182" y="47"/>
                    <a:pt x="180" y="47"/>
                  </a:cubicBezTo>
                  <a:cubicBezTo>
                    <a:pt x="29" y="60"/>
                    <a:pt x="29" y="60"/>
                    <a:pt x="29" y="60"/>
                  </a:cubicBezTo>
                  <a:cubicBezTo>
                    <a:pt x="28" y="60"/>
                    <a:pt x="27" y="60"/>
                    <a:pt x="26" y="60"/>
                  </a:cubicBezTo>
                  <a:cubicBezTo>
                    <a:pt x="12" y="60"/>
                    <a:pt x="0" y="48"/>
                    <a:pt x="0" y="34"/>
                  </a:cubicBezTo>
                  <a:cubicBezTo>
                    <a:pt x="0" y="20"/>
                    <a:pt x="11" y="9"/>
                    <a:pt x="25" y="8"/>
                  </a:cubicBezTo>
                  <a:cubicBezTo>
                    <a:pt x="25" y="8"/>
                    <a:pt x="25" y="8"/>
                    <a:pt x="25" y="8"/>
                  </a:cubicBezTo>
                  <a:cubicBezTo>
                    <a:pt x="173" y="1"/>
                    <a:pt x="173" y="1"/>
                    <a:pt x="173" y="1"/>
                  </a:cubicBezTo>
                  <a:cubicBezTo>
                    <a:pt x="178" y="1"/>
                    <a:pt x="184" y="2"/>
                    <a:pt x="188" y="5"/>
                  </a:cubicBezTo>
                  <a:cubicBezTo>
                    <a:pt x="192" y="2"/>
                    <a:pt x="197" y="0"/>
                    <a:pt x="203" y="0"/>
                  </a:cubicBezTo>
                  <a:cubicBezTo>
                    <a:pt x="217" y="0"/>
                    <a:pt x="217" y="0"/>
                    <a:pt x="217" y="0"/>
                  </a:cubicBezTo>
                  <a:cubicBezTo>
                    <a:pt x="223" y="0"/>
                    <a:pt x="228" y="2"/>
                    <a:pt x="232" y="5"/>
                  </a:cubicBezTo>
                  <a:cubicBezTo>
                    <a:pt x="236" y="2"/>
                    <a:pt x="242" y="1"/>
                    <a:pt x="247" y="1"/>
                  </a:cubicBezTo>
                  <a:cubicBezTo>
                    <a:pt x="395" y="8"/>
                    <a:pt x="395" y="8"/>
                    <a:pt x="395" y="8"/>
                  </a:cubicBezTo>
                  <a:cubicBezTo>
                    <a:pt x="409" y="9"/>
                    <a:pt x="420" y="20"/>
                    <a:pt x="420" y="34"/>
                  </a:cubicBezTo>
                  <a:cubicBezTo>
                    <a:pt x="420" y="48"/>
                    <a:pt x="408" y="60"/>
                    <a:pt x="394" y="60"/>
                  </a:cubicBezTo>
                  <a:close/>
                  <a:moveTo>
                    <a:pt x="26" y="26"/>
                  </a:moveTo>
                  <a:cubicBezTo>
                    <a:pt x="21" y="26"/>
                    <a:pt x="18" y="30"/>
                    <a:pt x="18" y="34"/>
                  </a:cubicBezTo>
                  <a:cubicBezTo>
                    <a:pt x="18" y="38"/>
                    <a:pt x="22" y="42"/>
                    <a:pt x="26" y="42"/>
                  </a:cubicBezTo>
                  <a:cubicBezTo>
                    <a:pt x="26" y="42"/>
                    <a:pt x="26" y="42"/>
                    <a:pt x="26" y="42"/>
                  </a:cubicBezTo>
                  <a:cubicBezTo>
                    <a:pt x="27" y="42"/>
                    <a:pt x="28" y="42"/>
                    <a:pt x="28" y="42"/>
                  </a:cubicBezTo>
                  <a:cubicBezTo>
                    <a:pt x="178" y="29"/>
                    <a:pt x="178" y="29"/>
                    <a:pt x="178" y="29"/>
                  </a:cubicBezTo>
                  <a:cubicBezTo>
                    <a:pt x="179" y="29"/>
                    <a:pt x="179" y="29"/>
                    <a:pt x="180" y="29"/>
                  </a:cubicBezTo>
                  <a:cubicBezTo>
                    <a:pt x="187" y="29"/>
                    <a:pt x="194" y="32"/>
                    <a:pt x="199" y="36"/>
                  </a:cubicBezTo>
                  <a:cubicBezTo>
                    <a:pt x="200" y="36"/>
                    <a:pt x="200" y="36"/>
                    <a:pt x="200" y="36"/>
                  </a:cubicBezTo>
                  <a:cubicBezTo>
                    <a:pt x="202" y="39"/>
                    <a:pt x="202" y="39"/>
                    <a:pt x="202" y="39"/>
                  </a:cubicBezTo>
                  <a:cubicBezTo>
                    <a:pt x="202" y="40"/>
                    <a:pt x="205" y="41"/>
                    <a:pt x="210" y="41"/>
                  </a:cubicBezTo>
                  <a:cubicBezTo>
                    <a:pt x="210" y="41"/>
                    <a:pt x="210" y="41"/>
                    <a:pt x="210" y="41"/>
                  </a:cubicBezTo>
                  <a:cubicBezTo>
                    <a:pt x="215" y="41"/>
                    <a:pt x="218" y="40"/>
                    <a:pt x="218" y="39"/>
                  </a:cubicBezTo>
                  <a:cubicBezTo>
                    <a:pt x="220" y="36"/>
                    <a:pt x="220" y="36"/>
                    <a:pt x="220" y="36"/>
                  </a:cubicBezTo>
                  <a:cubicBezTo>
                    <a:pt x="221" y="36"/>
                    <a:pt x="221" y="36"/>
                    <a:pt x="221" y="36"/>
                  </a:cubicBezTo>
                  <a:cubicBezTo>
                    <a:pt x="227" y="32"/>
                    <a:pt x="235" y="29"/>
                    <a:pt x="242" y="29"/>
                  </a:cubicBezTo>
                  <a:cubicBezTo>
                    <a:pt x="392" y="42"/>
                    <a:pt x="392" y="42"/>
                    <a:pt x="392" y="42"/>
                  </a:cubicBezTo>
                  <a:cubicBezTo>
                    <a:pt x="392" y="42"/>
                    <a:pt x="393" y="42"/>
                    <a:pt x="394" y="42"/>
                  </a:cubicBezTo>
                  <a:cubicBezTo>
                    <a:pt x="398" y="42"/>
                    <a:pt x="402" y="38"/>
                    <a:pt x="402" y="34"/>
                  </a:cubicBezTo>
                  <a:cubicBezTo>
                    <a:pt x="402" y="30"/>
                    <a:pt x="399" y="26"/>
                    <a:pt x="395" y="26"/>
                  </a:cubicBezTo>
                  <a:cubicBezTo>
                    <a:pt x="394" y="26"/>
                    <a:pt x="394" y="26"/>
                    <a:pt x="394" y="26"/>
                  </a:cubicBezTo>
                  <a:cubicBezTo>
                    <a:pt x="246" y="19"/>
                    <a:pt x="246" y="19"/>
                    <a:pt x="246" y="19"/>
                  </a:cubicBezTo>
                  <a:cubicBezTo>
                    <a:pt x="246" y="19"/>
                    <a:pt x="246" y="19"/>
                    <a:pt x="246" y="19"/>
                  </a:cubicBezTo>
                  <a:cubicBezTo>
                    <a:pt x="244" y="19"/>
                    <a:pt x="243" y="20"/>
                    <a:pt x="242" y="20"/>
                  </a:cubicBezTo>
                  <a:cubicBezTo>
                    <a:pt x="239" y="27"/>
                    <a:pt x="234" y="28"/>
                    <a:pt x="231" y="28"/>
                  </a:cubicBezTo>
                  <a:cubicBezTo>
                    <a:pt x="227" y="28"/>
                    <a:pt x="223" y="25"/>
                    <a:pt x="221" y="20"/>
                  </a:cubicBezTo>
                  <a:cubicBezTo>
                    <a:pt x="220" y="19"/>
                    <a:pt x="219" y="19"/>
                    <a:pt x="217" y="19"/>
                  </a:cubicBezTo>
                  <a:cubicBezTo>
                    <a:pt x="203" y="19"/>
                    <a:pt x="203" y="19"/>
                    <a:pt x="203" y="19"/>
                  </a:cubicBezTo>
                  <a:cubicBezTo>
                    <a:pt x="201" y="19"/>
                    <a:pt x="200" y="19"/>
                    <a:pt x="199" y="20"/>
                  </a:cubicBezTo>
                  <a:cubicBezTo>
                    <a:pt x="197" y="25"/>
                    <a:pt x="193" y="28"/>
                    <a:pt x="189" y="28"/>
                  </a:cubicBezTo>
                  <a:cubicBezTo>
                    <a:pt x="186" y="28"/>
                    <a:pt x="181" y="27"/>
                    <a:pt x="178" y="20"/>
                  </a:cubicBezTo>
                  <a:cubicBezTo>
                    <a:pt x="177" y="20"/>
                    <a:pt x="176" y="19"/>
                    <a:pt x="174" y="19"/>
                  </a:cubicBezTo>
                  <a:cubicBezTo>
                    <a:pt x="26" y="26"/>
                    <a:pt x="26" y="26"/>
                    <a:pt x="26" y="26"/>
                  </a:cubicBezTo>
                  <a:cubicBezTo>
                    <a:pt x="26" y="26"/>
                    <a:pt x="26" y="26"/>
                    <a:pt x="26"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17" name="Freeform 89"/>
            <p:cNvSpPr/>
            <p:nvPr/>
          </p:nvSpPr>
          <p:spPr bwMode="auto">
            <a:xfrm>
              <a:off x="5354638" y="3525838"/>
              <a:ext cx="669925" cy="163513"/>
            </a:xfrm>
            <a:custGeom>
              <a:avLst/>
              <a:gdLst>
                <a:gd name="T0" fmla="*/ 169 w 177"/>
                <a:gd name="T1" fmla="*/ 37 h 43"/>
                <a:gd name="T2" fmla="*/ 168 w 177"/>
                <a:gd name="T3" fmla="*/ 36 h 43"/>
                <a:gd name="T4" fmla="*/ 92 w 177"/>
                <a:gd name="T5" fmla="*/ 1 h 43"/>
                <a:gd name="T6" fmla="*/ 75 w 177"/>
                <a:gd name="T7" fmla="*/ 0 h 43"/>
                <a:gd name="T8" fmla="*/ 18 w 177"/>
                <a:gd name="T9" fmla="*/ 15 h 43"/>
                <a:gd name="T10" fmla="*/ 3 w 177"/>
                <a:gd name="T11" fmla="*/ 29 h 43"/>
                <a:gd name="T12" fmla="*/ 1 w 177"/>
                <a:gd name="T13" fmla="*/ 39 h 43"/>
                <a:gd name="T14" fmla="*/ 9 w 177"/>
                <a:gd name="T15" fmla="*/ 43 h 43"/>
                <a:gd name="T16" fmla="*/ 177 w 177"/>
                <a:gd name="T17" fmla="*/ 43 h 43"/>
                <a:gd name="T18" fmla="*/ 169 w 177"/>
                <a:gd name="T19" fmla="*/ 3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7" h="43">
                  <a:moveTo>
                    <a:pt x="169" y="37"/>
                  </a:moveTo>
                  <a:cubicBezTo>
                    <a:pt x="168" y="36"/>
                    <a:pt x="168" y="36"/>
                    <a:pt x="168" y="36"/>
                  </a:cubicBezTo>
                  <a:cubicBezTo>
                    <a:pt x="141" y="16"/>
                    <a:pt x="115" y="5"/>
                    <a:pt x="92" y="1"/>
                  </a:cubicBezTo>
                  <a:cubicBezTo>
                    <a:pt x="87" y="1"/>
                    <a:pt x="81" y="0"/>
                    <a:pt x="75" y="0"/>
                  </a:cubicBezTo>
                  <a:cubicBezTo>
                    <a:pt x="40" y="0"/>
                    <a:pt x="18" y="15"/>
                    <a:pt x="18" y="15"/>
                  </a:cubicBezTo>
                  <a:cubicBezTo>
                    <a:pt x="16" y="16"/>
                    <a:pt x="6" y="23"/>
                    <a:pt x="3" y="29"/>
                  </a:cubicBezTo>
                  <a:cubicBezTo>
                    <a:pt x="1" y="33"/>
                    <a:pt x="0" y="36"/>
                    <a:pt x="1" y="39"/>
                  </a:cubicBezTo>
                  <a:cubicBezTo>
                    <a:pt x="3" y="42"/>
                    <a:pt x="5" y="43"/>
                    <a:pt x="9" y="43"/>
                  </a:cubicBezTo>
                  <a:cubicBezTo>
                    <a:pt x="177" y="43"/>
                    <a:pt x="177" y="43"/>
                    <a:pt x="177" y="43"/>
                  </a:cubicBezTo>
                  <a:cubicBezTo>
                    <a:pt x="174" y="40"/>
                    <a:pt x="170" y="37"/>
                    <a:pt x="169"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18" name="Freeform 90"/>
            <p:cNvSpPr/>
            <p:nvPr/>
          </p:nvSpPr>
          <p:spPr bwMode="auto">
            <a:xfrm>
              <a:off x="6175375" y="3063876"/>
              <a:ext cx="654050" cy="571500"/>
            </a:xfrm>
            <a:custGeom>
              <a:avLst/>
              <a:gdLst>
                <a:gd name="T0" fmla="*/ 171 w 173"/>
                <a:gd name="T1" fmla="*/ 114 h 151"/>
                <a:gd name="T2" fmla="*/ 157 w 173"/>
                <a:gd name="T3" fmla="*/ 87 h 151"/>
                <a:gd name="T4" fmla="*/ 157 w 173"/>
                <a:gd name="T5" fmla="*/ 86 h 151"/>
                <a:gd name="T6" fmla="*/ 123 w 173"/>
                <a:gd name="T7" fmla="*/ 21 h 151"/>
                <a:gd name="T8" fmla="*/ 116 w 173"/>
                <a:gd name="T9" fmla="*/ 8 h 151"/>
                <a:gd name="T10" fmla="*/ 115 w 173"/>
                <a:gd name="T11" fmla="*/ 7 h 151"/>
                <a:gd name="T12" fmla="*/ 87 w 173"/>
                <a:gd name="T13" fmla="*/ 0 h 151"/>
                <a:gd name="T14" fmla="*/ 101 w 173"/>
                <a:gd name="T15" fmla="*/ 24 h 151"/>
                <a:gd name="T16" fmla="*/ 103 w 173"/>
                <a:gd name="T17" fmla="*/ 45 h 151"/>
                <a:gd name="T18" fmla="*/ 88 w 173"/>
                <a:gd name="T19" fmla="*/ 59 h 151"/>
                <a:gd name="T20" fmla="*/ 38 w 173"/>
                <a:gd name="T21" fmla="*/ 87 h 151"/>
                <a:gd name="T22" fmla="*/ 1 w 173"/>
                <a:gd name="T23" fmla="*/ 149 h 151"/>
                <a:gd name="T24" fmla="*/ 0 w 173"/>
                <a:gd name="T25" fmla="*/ 151 h 151"/>
                <a:gd name="T26" fmla="*/ 1 w 173"/>
                <a:gd name="T27" fmla="*/ 151 h 151"/>
                <a:gd name="T28" fmla="*/ 9 w 173"/>
                <a:gd name="T29" fmla="*/ 146 h 151"/>
                <a:gd name="T30" fmla="*/ 86 w 173"/>
                <a:gd name="T31" fmla="*/ 112 h 151"/>
                <a:gd name="T32" fmla="*/ 113 w 173"/>
                <a:gd name="T33" fmla="*/ 109 h 151"/>
                <a:gd name="T34" fmla="*/ 165 w 173"/>
                <a:gd name="T35" fmla="*/ 120 h 151"/>
                <a:gd name="T36" fmla="*/ 169 w 173"/>
                <a:gd name="T37" fmla="*/ 121 h 151"/>
                <a:gd name="T38" fmla="*/ 172 w 173"/>
                <a:gd name="T39" fmla="*/ 120 h 151"/>
                <a:gd name="T40" fmla="*/ 171 w 173"/>
                <a:gd name="T41" fmla="*/ 114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3" h="151">
                  <a:moveTo>
                    <a:pt x="171" y="114"/>
                  </a:moveTo>
                  <a:cubicBezTo>
                    <a:pt x="157" y="87"/>
                    <a:pt x="157" y="87"/>
                    <a:pt x="157" y="87"/>
                  </a:cubicBezTo>
                  <a:cubicBezTo>
                    <a:pt x="157" y="86"/>
                    <a:pt x="157" y="86"/>
                    <a:pt x="157" y="86"/>
                  </a:cubicBezTo>
                  <a:cubicBezTo>
                    <a:pt x="123" y="21"/>
                    <a:pt x="123" y="21"/>
                    <a:pt x="123" y="21"/>
                  </a:cubicBezTo>
                  <a:cubicBezTo>
                    <a:pt x="120" y="17"/>
                    <a:pt x="117" y="11"/>
                    <a:pt x="116" y="8"/>
                  </a:cubicBezTo>
                  <a:cubicBezTo>
                    <a:pt x="115" y="7"/>
                    <a:pt x="115" y="7"/>
                    <a:pt x="115" y="7"/>
                  </a:cubicBezTo>
                  <a:cubicBezTo>
                    <a:pt x="115" y="7"/>
                    <a:pt x="101" y="0"/>
                    <a:pt x="87" y="0"/>
                  </a:cubicBezTo>
                  <a:cubicBezTo>
                    <a:pt x="101" y="24"/>
                    <a:pt x="101" y="24"/>
                    <a:pt x="101" y="24"/>
                  </a:cubicBezTo>
                  <a:cubicBezTo>
                    <a:pt x="105" y="31"/>
                    <a:pt x="105" y="38"/>
                    <a:pt x="103" y="45"/>
                  </a:cubicBezTo>
                  <a:cubicBezTo>
                    <a:pt x="100" y="51"/>
                    <a:pt x="95" y="56"/>
                    <a:pt x="88" y="59"/>
                  </a:cubicBezTo>
                  <a:cubicBezTo>
                    <a:pt x="85" y="60"/>
                    <a:pt x="56" y="71"/>
                    <a:pt x="38" y="87"/>
                  </a:cubicBezTo>
                  <a:cubicBezTo>
                    <a:pt x="19" y="105"/>
                    <a:pt x="8" y="123"/>
                    <a:pt x="1" y="149"/>
                  </a:cubicBezTo>
                  <a:cubicBezTo>
                    <a:pt x="0" y="151"/>
                    <a:pt x="0" y="151"/>
                    <a:pt x="0" y="151"/>
                  </a:cubicBezTo>
                  <a:cubicBezTo>
                    <a:pt x="0" y="151"/>
                    <a:pt x="1" y="151"/>
                    <a:pt x="1" y="151"/>
                  </a:cubicBezTo>
                  <a:cubicBezTo>
                    <a:pt x="3" y="149"/>
                    <a:pt x="6" y="147"/>
                    <a:pt x="9" y="146"/>
                  </a:cubicBezTo>
                  <a:cubicBezTo>
                    <a:pt x="9" y="146"/>
                    <a:pt x="42" y="125"/>
                    <a:pt x="86" y="112"/>
                  </a:cubicBezTo>
                  <a:cubicBezTo>
                    <a:pt x="95" y="110"/>
                    <a:pt x="104" y="109"/>
                    <a:pt x="113" y="109"/>
                  </a:cubicBezTo>
                  <a:cubicBezTo>
                    <a:pt x="141" y="109"/>
                    <a:pt x="165" y="120"/>
                    <a:pt x="165" y="120"/>
                  </a:cubicBezTo>
                  <a:cubicBezTo>
                    <a:pt x="167" y="121"/>
                    <a:pt x="168" y="121"/>
                    <a:pt x="169" y="121"/>
                  </a:cubicBezTo>
                  <a:cubicBezTo>
                    <a:pt x="171" y="121"/>
                    <a:pt x="172" y="120"/>
                    <a:pt x="172" y="120"/>
                  </a:cubicBezTo>
                  <a:cubicBezTo>
                    <a:pt x="173" y="118"/>
                    <a:pt x="172" y="116"/>
                    <a:pt x="171" y="1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595120" y="1634490"/>
            <a:ext cx="7466965" cy="63246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矩形 25"/>
          <p:cNvSpPr/>
          <p:nvPr/>
        </p:nvSpPr>
        <p:spPr>
          <a:xfrm>
            <a:off x="1595120" y="2462530"/>
            <a:ext cx="7466965" cy="63246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矩形 26"/>
          <p:cNvSpPr/>
          <p:nvPr/>
        </p:nvSpPr>
        <p:spPr>
          <a:xfrm>
            <a:off x="1595120" y="3290570"/>
            <a:ext cx="7466965" cy="63246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矩形 27"/>
          <p:cNvSpPr/>
          <p:nvPr/>
        </p:nvSpPr>
        <p:spPr>
          <a:xfrm>
            <a:off x="1595120" y="4118610"/>
            <a:ext cx="7466965" cy="63246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矩形 28"/>
          <p:cNvSpPr/>
          <p:nvPr/>
        </p:nvSpPr>
        <p:spPr>
          <a:xfrm>
            <a:off x="1595120" y="4946650"/>
            <a:ext cx="7466965" cy="63246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1751" name="图片 10"/>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0" y="0"/>
            <a:ext cx="7878763"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任意多边形 3"/>
          <p:cNvSpPr/>
          <p:nvPr/>
        </p:nvSpPr>
        <p:spPr>
          <a:xfrm>
            <a:off x="951865" y="1649730"/>
            <a:ext cx="779780" cy="601980"/>
          </a:xfrm>
          <a:custGeom>
            <a:avLst/>
            <a:gdLst>
              <a:gd name="connsiteX0" fmla="*/ 0 w 1228"/>
              <a:gd name="connsiteY0" fmla="*/ 0 h 948"/>
              <a:gd name="connsiteX1" fmla="*/ 1228 w 1228"/>
              <a:gd name="connsiteY1" fmla="*/ 0 h 948"/>
              <a:gd name="connsiteX2" fmla="*/ 1092 w 1228"/>
              <a:gd name="connsiteY2" fmla="*/ 936 h 948"/>
              <a:gd name="connsiteX3" fmla="*/ 0 w 1228"/>
              <a:gd name="connsiteY3" fmla="*/ 948 h 948"/>
              <a:gd name="connsiteX4" fmla="*/ 0 w 1228"/>
              <a:gd name="connsiteY4" fmla="*/ 0 h 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8" h="948">
                <a:moveTo>
                  <a:pt x="0" y="0"/>
                </a:moveTo>
                <a:lnTo>
                  <a:pt x="1228" y="0"/>
                </a:lnTo>
                <a:lnTo>
                  <a:pt x="1092" y="936"/>
                </a:lnTo>
                <a:lnTo>
                  <a:pt x="0" y="948"/>
                </a:lnTo>
                <a:lnTo>
                  <a:pt x="0" y="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21" name="任意多边形 20"/>
          <p:cNvSpPr/>
          <p:nvPr/>
        </p:nvSpPr>
        <p:spPr>
          <a:xfrm>
            <a:off x="951865" y="2467610"/>
            <a:ext cx="779780" cy="601980"/>
          </a:xfrm>
          <a:custGeom>
            <a:avLst/>
            <a:gdLst>
              <a:gd name="connsiteX0" fmla="*/ 0 w 1228"/>
              <a:gd name="connsiteY0" fmla="*/ 0 h 948"/>
              <a:gd name="connsiteX1" fmla="*/ 1228 w 1228"/>
              <a:gd name="connsiteY1" fmla="*/ 0 h 948"/>
              <a:gd name="connsiteX2" fmla="*/ 1092 w 1228"/>
              <a:gd name="connsiteY2" fmla="*/ 936 h 948"/>
              <a:gd name="connsiteX3" fmla="*/ 0 w 1228"/>
              <a:gd name="connsiteY3" fmla="*/ 948 h 948"/>
              <a:gd name="connsiteX4" fmla="*/ 0 w 1228"/>
              <a:gd name="connsiteY4" fmla="*/ 0 h 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8" h="948">
                <a:moveTo>
                  <a:pt x="0" y="0"/>
                </a:moveTo>
                <a:lnTo>
                  <a:pt x="1228" y="0"/>
                </a:lnTo>
                <a:lnTo>
                  <a:pt x="1092" y="936"/>
                </a:lnTo>
                <a:lnTo>
                  <a:pt x="0" y="948"/>
                </a:lnTo>
                <a:lnTo>
                  <a:pt x="0" y="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22" name="任意多边形 21"/>
          <p:cNvSpPr/>
          <p:nvPr/>
        </p:nvSpPr>
        <p:spPr>
          <a:xfrm>
            <a:off x="951865" y="3318510"/>
            <a:ext cx="779780" cy="601980"/>
          </a:xfrm>
          <a:custGeom>
            <a:avLst/>
            <a:gdLst>
              <a:gd name="connsiteX0" fmla="*/ 0 w 1228"/>
              <a:gd name="connsiteY0" fmla="*/ 0 h 948"/>
              <a:gd name="connsiteX1" fmla="*/ 1228 w 1228"/>
              <a:gd name="connsiteY1" fmla="*/ 0 h 948"/>
              <a:gd name="connsiteX2" fmla="*/ 1092 w 1228"/>
              <a:gd name="connsiteY2" fmla="*/ 936 h 948"/>
              <a:gd name="connsiteX3" fmla="*/ 0 w 1228"/>
              <a:gd name="connsiteY3" fmla="*/ 948 h 948"/>
              <a:gd name="connsiteX4" fmla="*/ 0 w 1228"/>
              <a:gd name="connsiteY4" fmla="*/ 0 h 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8" h="948">
                <a:moveTo>
                  <a:pt x="0" y="0"/>
                </a:moveTo>
                <a:lnTo>
                  <a:pt x="1228" y="0"/>
                </a:lnTo>
                <a:lnTo>
                  <a:pt x="1092" y="936"/>
                </a:lnTo>
                <a:lnTo>
                  <a:pt x="0" y="948"/>
                </a:lnTo>
                <a:lnTo>
                  <a:pt x="0" y="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23" name="任意多边形 22"/>
          <p:cNvSpPr/>
          <p:nvPr/>
        </p:nvSpPr>
        <p:spPr>
          <a:xfrm>
            <a:off x="951865" y="4146550"/>
            <a:ext cx="779780" cy="601980"/>
          </a:xfrm>
          <a:custGeom>
            <a:avLst/>
            <a:gdLst>
              <a:gd name="connsiteX0" fmla="*/ 0 w 1228"/>
              <a:gd name="connsiteY0" fmla="*/ 0 h 948"/>
              <a:gd name="connsiteX1" fmla="*/ 1228 w 1228"/>
              <a:gd name="connsiteY1" fmla="*/ 0 h 948"/>
              <a:gd name="connsiteX2" fmla="*/ 1092 w 1228"/>
              <a:gd name="connsiteY2" fmla="*/ 936 h 948"/>
              <a:gd name="connsiteX3" fmla="*/ 0 w 1228"/>
              <a:gd name="connsiteY3" fmla="*/ 948 h 948"/>
              <a:gd name="connsiteX4" fmla="*/ 0 w 1228"/>
              <a:gd name="connsiteY4" fmla="*/ 0 h 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8" h="948">
                <a:moveTo>
                  <a:pt x="0" y="0"/>
                </a:moveTo>
                <a:lnTo>
                  <a:pt x="1228" y="0"/>
                </a:lnTo>
                <a:lnTo>
                  <a:pt x="1092" y="936"/>
                </a:lnTo>
                <a:lnTo>
                  <a:pt x="0" y="948"/>
                </a:lnTo>
                <a:lnTo>
                  <a:pt x="0" y="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24" name="任意多边形 23"/>
          <p:cNvSpPr/>
          <p:nvPr/>
        </p:nvSpPr>
        <p:spPr>
          <a:xfrm>
            <a:off x="951865" y="4966970"/>
            <a:ext cx="779780" cy="601980"/>
          </a:xfrm>
          <a:custGeom>
            <a:avLst/>
            <a:gdLst>
              <a:gd name="connsiteX0" fmla="*/ 0 w 1228"/>
              <a:gd name="connsiteY0" fmla="*/ 0 h 948"/>
              <a:gd name="connsiteX1" fmla="*/ 1228 w 1228"/>
              <a:gd name="connsiteY1" fmla="*/ 0 h 948"/>
              <a:gd name="connsiteX2" fmla="*/ 1092 w 1228"/>
              <a:gd name="connsiteY2" fmla="*/ 936 h 948"/>
              <a:gd name="connsiteX3" fmla="*/ 0 w 1228"/>
              <a:gd name="connsiteY3" fmla="*/ 948 h 948"/>
              <a:gd name="connsiteX4" fmla="*/ 0 w 1228"/>
              <a:gd name="connsiteY4" fmla="*/ 0 h 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8" h="948">
                <a:moveTo>
                  <a:pt x="0" y="0"/>
                </a:moveTo>
                <a:lnTo>
                  <a:pt x="1228" y="0"/>
                </a:lnTo>
                <a:lnTo>
                  <a:pt x="1092" y="936"/>
                </a:lnTo>
                <a:lnTo>
                  <a:pt x="0" y="948"/>
                </a:lnTo>
                <a:lnTo>
                  <a:pt x="0" y="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31747" name="文本框 2"/>
          <p:cNvSpPr txBox="1">
            <a:spLocks noChangeArrowheads="1"/>
          </p:cNvSpPr>
          <p:nvPr/>
        </p:nvSpPr>
        <p:spPr bwMode="auto">
          <a:xfrm>
            <a:off x="948055" y="1371600"/>
            <a:ext cx="9125585" cy="4246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marL="0" indent="0" eaLnBrk="1" hangingPunct="1">
              <a:lnSpc>
                <a:spcPct val="150000"/>
              </a:lnSpc>
              <a:spcBef>
                <a:spcPct val="0"/>
              </a:spcBef>
              <a:buFont typeface="+mj-ea"/>
              <a:buNone/>
            </a:pPr>
            <a:r>
              <a:rPr lang="zh-CN" altLang="en-US" sz="3600" b="1">
                <a:solidFill>
                  <a:schemeClr val="bg1"/>
                </a:solidFill>
              </a:rPr>
              <a:t>一</a:t>
            </a:r>
            <a:r>
              <a:rPr lang="en-US" altLang="zh-CN" sz="3600" b="1">
                <a:solidFill>
                  <a:schemeClr val="bg1"/>
                </a:solidFill>
              </a:rPr>
              <a:t>    </a:t>
            </a:r>
            <a:r>
              <a:rPr lang="zh-CN" altLang="en-US" sz="3600" b="1">
                <a:solidFill>
                  <a:srgbClr val="4B649F"/>
                </a:solidFill>
              </a:rPr>
              <a:t>问题背景与研究内容</a:t>
            </a:r>
            <a:endParaRPr lang="zh-CN" altLang="en-US" sz="3600" b="1">
              <a:solidFill>
                <a:srgbClr val="4B649F"/>
              </a:solidFill>
            </a:endParaRPr>
          </a:p>
          <a:p>
            <a:pPr marL="0" indent="0" eaLnBrk="1" hangingPunct="1">
              <a:lnSpc>
                <a:spcPct val="150000"/>
              </a:lnSpc>
              <a:spcBef>
                <a:spcPct val="0"/>
              </a:spcBef>
              <a:buFont typeface="+mj-ea"/>
              <a:buNone/>
            </a:pPr>
            <a:r>
              <a:rPr lang="zh-CN" altLang="en-US" sz="3600" b="1">
                <a:solidFill>
                  <a:schemeClr val="bg1"/>
                </a:solidFill>
              </a:rPr>
              <a:t>二</a:t>
            </a:r>
            <a:r>
              <a:rPr lang="en-US" altLang="zh-CN" sz="3600" b="1">
                <a:solidFill>
                  <a:schemeClr val="bg1"/>
                </a:solidFill>
              </a:rPr>
              <a:t>    </a:t>
            </a:r>
            <a:r>
              <a:rPr lang="zh-CN" altLang="en-US" sz="3600" b="1">
                <a:solidFill>
                  <a:srgbClr val="4B649F"/>
                </a:solidFill>
              </a:rPr>
              <a:t>基于学习的分片</a:t>
            </a:r>
            <a:r>
              <a:rPr lang="zh-CN" altLang="en-US" sz="3600" b="1">
                <a:solidFill>
                  <a:srgbClr val="4B649F"/>
                </a:solidFill>
              </a:rPr>
              <a:t>仿射控制障碍</a:t>
            </a:r>
            <a:r>
              <a:rPr lang="zh-CN" altLang="en-US" sz="3600" b="1">
                <a:solidFill>
                  <a:srgbClr val="4B649F"/>
                </a:solidFill>
              </a:rPr>
              <a:t>网络</a:t>
            </a:r>
            <a:endParaRPr lang="zh-CN" altLang="en-US" sz="3600" b="1">
              <a:solidFill>
                <a:srgbClr val="4B649F"/>
              </a:solidFill>
            </a:endParaRPr>
          </a:p>
          <a:p>
            <a:pPr marL="0" indent="0" eaLnBrk="1" hangingPunct="1">
              <a:lnSpc>
                <a:spcPct val="150000"/>
              </a:lnSpc>
              <a:spcBef>
                <a:spcPct val="0"/>
              </a:spcBef>
              <a:buFont typeface="+mj-ea"/>
              <a:buNone/>
            </a:pPr>
            <a:r>
              <a:rPr lang="zh-CN" altLang="en-US" sz="3600" b="1">
                <a:solidFill>
                  <a:schemeClr val="bg1"/>
                </a:solidFill>
              </a:rPr>
              <a:t>三</a:t>
            </a:r>
            <a:r>
              <a:rPr lang="en-US" altLang="zh-CN" sz="3600" b="1">
                <a:solidFill>
                  <a:srgbClr val="4B649F"/>
                </a:solidFill>
              </a:rPr>
              <a:t>    </a:t>
            </a:r>
            <a:r>
              <a:rPr lang="zh-CN" altLang="en-US" sz="3600" b="1">
                <a:solidFill>
                  <a:srgbClr val="4B649F"/>
                </a:solidFill>
              </a:rPr>
              <a:t>强化学习与机会约束优化</a:t>
            </a:r>
            <a:r>
              <a:rPr lang="zh-CN" altLang="en-US" sz="3600" b="1">
                <a:solidFill>
                  <a:srgbClr val="4B649F"/>
                </a:solidFill>
              </a:rPr>
              <a:t>问题</a:t>
            </a:r>
            <a:endParaRPr lang="zh-CN" altLang="en-US" sz="3600" b="1">
              <a:solidFill>
                <a:srgbClr val="4B649F"/>
              </a:solidFill>
            </a:endParaRPr>
          </a:p>
          <a:p>
            <a:pPr marL="0" indent="0" eaLnBrk="1" hangingPunct="1">
              <a:lnSpc>
                <a:spcPct val="150000"/>
              </a:lnSpc>
              <a:spcBef>
                <a:spcPct val="0"/>
              </a:spcBef>
              <a:buFont typeface="+mj-ea"/>
              <a:buNone/>
            </a:pPr>
            <a:r>
              <a:rPr lang="zh-CN" altLang="en-US" sz="3600" b="1">
                <a:solidFill>
                  <a:schemeClr val="bg1"/>
                </a:solidFill>
              </a:rPr>
              <a:t>四</a:t>
            </a:r>
            <a:r>
              <a:rPr lang="en-US" altLang="zh-CN" sz="3600" b="1">
                <a:solidFill>
                  <a:srgbClr val="4B649F"/>
                </a:solidFill>
              </a:rPr>
              <a:t>    </a:t>
            </a:r>
            <a:r>
              <a:rPr lang="zh-CN" altLang="en-US" sz="3600" b="1">
                <a:solidFill>
                  <a:srgbClr val="4B649F"/>
                </a:solidFill>
              </a:rPr>
              <a:t>模型预测控制与机会约束优化</a:t>
            </a:r>
            <a:r>
              <a:rPr lang="zh-CN" altLang="en-US" sz="3600" b="1">
                <a:solidFill>
                  <a:srgbClr val="4B649F"/>
                </a:solidFill>
              </a:rPr>
              <a:t>问题</a:t>
            </a:r>
            <a:endParaRPr lang="zh-CN" altLang="en-US" sz="3600" b="1">
              <a:solidFill>
                <a:srgbClr val="4B649F"/>
              </a:solidFill>
            </a:endParaRPr>
          </a:p>
          <a:p>
            <a:pPr marL="0" indent="0" eaLnBrk="1" hangingPunct="1">
              <a:lnSpc>
                <a:spcPct val="150000"/>
              </a:lnSpc>
              <a:spcBef>
                <a:spcPct val="0"/>
              </a:spcBef>
              <a:buFont typeface="+mj-ea"/>
              <a:buNone/>
            </a:pPr>
            <a:r>
              <a:rPr lang="zh-CN" altLang="en-US" sz="3600" b="1">
                <a:solidFill>
                  <a:schemeClr val="bg1"/>
                </a:solidFill>
              </a:rPr>
              <a:t>五</a:t>
            </a:r>
            <a:r>
              <a:rPr lang="en-US" altLang="zh-CN" sz="3600" b="1">
                <a:solidFill>
                  <a:srgbClr val="4B649F"/>
                </a:solidFill>
              </a:rPr>
              <a:t>    </a:t>
            </a:r>
            <a:r>
              <a:rPr lang="zh-CN" altLang="en-US" sz="3600" b="1">
                <a:solidFill>
                  <a:srgbClr val="4B649F"/>
                </a:solidFill>
              </a:rPr>
              <a:t>全文</a:t>
            </a:r>
            <a:r>
              <a:rPr lang="zh-CN" altLang="en-US" sz="3600" b="1">
                <a:solidFill>
                  <a:srgbClr val="4B649F"/>
                </a:solidFill>
              </a:rPr>
              <a:t>总结</a:t>
            </a:r>
            <a:endParaRPr lang="zh-CN" altLang="en-US" sz="3600" b="1">
              <a:solidFill>
                <a:srgbClr val="4B649F"/>
              </a:solidFill>
            </a:endParaRPr>
          </a:p>
        </p:txBody>
      </p:sp>
      <p:sp>
        <p:nvSpPr>
          <p:cNvPr id="2" name="矩形 1"/>
          <p:cNvSpPr/>
          <p:nvPr/>
        </p:nvSpPr>
        <p:spPr>
          <a:xfrm>
            <a:off x="8115300" y="1905"/>
            <a:ext cx="4088765" cy="160782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pic>
        <p:nvPicPr>
          <p:cNvPr id="31750" name="图片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6188" y="5200650"/>
            <a:ext cx="5865812"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8462645" y="452120"/>
            <a:ext cx="3405505" cy="678815"/>
          </a:xfrm>
          <a:prstGeom prst="rect">
            <a:avLst/>
          </a:prstGeom>
          <a:noFill/>
        </p:spPr>
        <p:txBody>
          <a:bodyPr wrap="square" rtlCol="0">
            <a:noAutofit/>
          </a:bodyPr>
          <a:p>
            <a:pPr algn="ctr"/>
            <a:r>
              <a:rPr lang="zh-CN" altLang="en-US" sz="4000" b="1">
                <a:solidFill>
                  <a:schemeClr val="bg1"/>
                </a:solidFill>
              </a:rPr>
              <a:t>汇报内容</a:t>
            </a:r>
            <a:endParaRPr lang="zh-CN" altLang="en-US" sz="4000" b="1">
              <a:solidFill>
                <a:schemeClr val="bg1"/>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图片 34" descr="泥泞路"/>
          <p:cNvPicPr>
            <a:picLocks noChangeAspect="1"/>
          </p:cNvPicPr>
          <p:nvPr>
            <p:custDataLst>
              <p:tags r:id="rId1"/>
            </p:custDataLst>
          </p:nvPr>
        </p:nvPicPr>
        <p:blipFill>
          <a:blip r:embed="rId2"/>
          <a:srcRect t="2378" b="2693"/>
          <a:stretch>
            <a:fillRect/>
          </a:stretch>
        </p:blipFill>
        <p:spPr>
          <a:xfrm>
            <a:off x="6105525" y="2204085"/>
            <a:ext cx="3545840" cy="2242820"/>
          </a:xfrm>
          <a:custGeom>
            <a:avLst/>
            <a:gdLst/>
            <a:ahLst/>
            <a:cxnLst>
              <a:cxn ang="3">
                <a:pos x="hc" y="t"/>
              </a:cxn>
              <a:cxn ang="cd2">
                <a:pos x="l" y="vc"/>
              </a:cxn>
              <a:cxn ang="cd4">
                <a:pos x="hc" y="b"/>
              </a:cxn>
              <a:cxn ang="0">
                <a:pos x="r" y="vc"/>
              </a:cxn>
            </a:cxnLst>
            <a:rect l="l" t="t" r="r" b="b"/>
            <a:pathLst>
              <a:path w="7385" h="4671">
                <a:moveTo>
                  <a:pt x="0" y="0"/>
                </a:moveTo>
                <a:lnTo>
                  <a:pt x="7385" y="0"/>
                </a:lnTo>
                <a:lnTo>
                  <a:pt x="7385" y="4671"/>
                </a:lnTo>
                <a:lnTo>
                  <a:pt x="0" y="4671"/>
                </a:lnTo>
                <a:lnTo>
                  <a:pt x="0" y="0"/>
                </a:lnTo>
                <a:close/>
              </a:path>
            </a:pathLst>
          </a:custGeom>
        </p:spPr>
      </p:pic>
      <p:sp>
        <p:nvSpPr>
          <p:cNvPr id="15" name="文本占位符 14"/>
          <p:cNvSpPr>
            <a:spLocks noGrp="1"/>
          </p:cNvSpPr>
          <p:nvPr>
            <p:ph type="body" idx="1"/>
          </p:nvPr>
        </p:nvSpPr>
        <p:spPr/>
        <p:txBody>
          <a:bodyPr/>
          <a:p>
            <a:r>
              <a:rPr lang="zh-CN" altLang="en-US"/>
              <a:t>相比理想模型场景，包括安全范围约束</a:t>
            </a:r>
            <a:r>
              <a:rPr lang="zh-CN" altLang="en-US"/>
              <a:t>和抗扰动在内的安全</a:t>
            </a:r>
            <a:r>
              <a:rPr lang="zh-CN" altLang="en-US"/>
              <a:t>控制更加符合工程实际环境</a:t>
            </a:r>
            <a:endParaRPr lang="zh-CN" altLang="en-US"/>
          </a:p>
        </p:txBody>
      </p:sp>
      <p:sp>
        <p:nvSpPr>
          <p:cNvPr id="22" name="文本占位符 21"/>
          <p:cNvSpPr>
            <a:spLocks noGrp="1"/>
          </p:cNvSpPr>
          <p:nvPr>
            <p:ph type="body" idx="13"/>
          </p:nvPr>
        </p:nvSpPr>
        <p:spPr>
          <a:xfrm>
            <a:off x="0" y="670560"/>
            <a:ext cx="7871460" cy="448310"/>
          </a:xfrm>
        </p:spPr>
        <p:txBody>
          <a:bodyPr/>
          <a:p>
            <a:r>
              <a:rPr lang="en-US" altLang="zh-CN"/>
              <a:t>&gt;&gt;&gt;</a:t>
            </a:r>
            <a:r>
              <a:t>安全集</a:t>
            </a:r>
            <a:r>
              <a:t>构造与抗扰动控制在现实应用具有</a:t>
            </a:r>
            <a:r>
              <a:t>必要性</a:t>
            </a:r>
          </a:p>
        </p:txBody>
      </p:sp>
      <p:sp>
        <p:nvSpPr>
          <p:cNvPr id="23" name="文本占位符 22"/>
          <p:cNvSpPr>
            <a:spLocks noGrp="1"/>
          </p:cNvSpPr>
          <p:nvPr>
            <p:ph type="body" idx="14"/>
          </p:nvPr>
        </p:nvSpPr>
        <p:spPr/>
        <p:txBody>
          <a:bodyPr/>
          <a:p>
            <a:r>
              <a:t>绪论（</a:t>
            </a:r>
            <a:r>
              <a:rPr lang="en-US" altLang="zh-CN"/>
              <a:t>1.1</a:t>
            </a:r>
            <a:r>
              <a:t>）</a:t>
            </a:r>
          </a:p>
        </p:txBody>
      </p:sp>
      <p:pic>
        <p:nvPicPr>
          <p:cNvPr id="35842"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0"/>
            <a:ext cx="3581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图片 27" descr="车与悬崖"/>
          <p:cNvPicPr>
            <a:picLocks noChangeAspect="1"/>
          </p:cNvPicPr>
          <p:nvPr/>
        </p:nvPicPr>
        <p:blipFill>
          <a:blip r:embed="rId4"/>
          <a:stretch>
            <a:fillRect/>
          </a:stretch>
        </p:blipFill>
        <p:spPr>
          <a:xfrm>
            <a:off x="1005205" y="1503680"/>
            <a:ext cx="4716780" cy="2966085"/>
          </a:xfrm>
          <a:prstGeom prst="rect">
            <a:avLst/>
          </a:prstGeom>
        </p:spPr>
      </p:pic>
      <p:sp>
        <p:nvSpPr>
          <p:cNvPr id="9" name="矩形 8"/>
          <p:cNvSpPr/>
          <p:nvPr/>
        </p:nvSpPr>
        <p:spPr>
          <a:xfrm>
            <a:off x="0" y="6724650"/>
            <a:ext cx="12192000" cy="1333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24" name="灯片编号占位符 23"/>
          <p:cNvSpPr>
            <a:spLocks noGrp="1"/>
          </p:cNvSpPr>
          <p:nvPr>
            <p:ph type="sldNum" sz="quarter" idx="12"/>
          </p:nvPr>
        </p:nvSpPr>
        <p:spPr/>
        <p:txBody>
          <a:bodyPr/>
          <a:p>
            <a:pPr>
              <a:defRPr/>
            </a:pPr>
            <a:fld id="{AC6C5647-07D8-4AFC-B347-73DA68F3AADD}" type="slidenum">
              <a:rPr lang="zh-CN" altLang="en-US"/>
            </a:fld>
            <a:endParaRPr lang="en-US" altLang="zh-CN"/>
          </a:p>
        </p:txBody>
      </p:sp>
      <p:pic>
        <p:nvPicPr>
          <p:cNvPr id="38" name="图片 37" descr="越野车模型"/>
          <p:cNvPicPr>
            <a:picLocks noChangeAspect="1"/>
          </p:cNvPicPr>
          <p:nvPr/>
        </p:nvPicPr>
        <p:blipFill>
          <a:blip r:embed="rId5"/>
          <a:srcRect l="15515" r="15437"/>
          <a:stretch>
            <a:fillRect/>
          </a:stretch>
        </p:blipFill>
        <p:spPr>
          <a:xfrm flipH="1">
            <a:off x="9058275" y="1480820"/>
            <a:ext cx="2314575" cy="1701800"/>
          </a:xfrm>
          <a:prstGeom prst="rect">
            <a:avLst/>
          </a:prstGeom>
        </p:spPr>
      </p:pic>
      <p:sp>
        <p:nvSpPr>
          <p:cNvPr id="39" name="文本框 38"/>
          <p:cNvSpPr txBox="1"/>
          <p:nvPr/>
        </p:nvSpPr>
        <p:spPr>
          <a:xfrm>
            <a:off x="1002665" y="4531360"/>
            <a:ext cx="4715510" cy="368300"/>
          </a:xfrm>
          <a:prstGeom prst="rect">
            <a:avLst/>
          </a:prstGeom>
          <a:noFill/>
        </p:spPr>
        <p:txBody>
          <a:bodyPr wrap="square" rtlCol="0">
            <a:spAutoFit/>
          </a:bodyPr>
          <a:p>
            <a:pPr algn="ctr"/>
            <a:r>
              <a:rPr lang="zh-CN" altLang="en-US"/>
              <a:t>安全性难以得到严格保证</a:t>
            </a:r>
            <a:endParaRPr lang="zh-CN" altLang="en-US"/>
          </a:p>
        </p:txBody>
      </p:sp>
      <p:sp>
        <p:nvSpPr>
          <p:cNvPr id="40" name="文本框 39"/>
          <p:cNvSpPr txBox="1"/>
          <p:nvPr/>
        </p:nvSpPr>
        <p:spPr>
          <a:xfrm>
            <a:off x="6097270" y="4531360"/>
            <a:ext cx="5280025" cy="368300"/>
          </a:xfrm>
          <a:prstGeom prst="rect">
            <a:avLst/>
          </a:prstGeom>
          <a:noFill/>
        </p:spPr>
        <p:txBody>
          <a:bodyPr wrap="square" rtlCol="0">
            <a:spAutoFit/>
          </a:bodyPr>
          <a:p>
            <a:pPr algn="ctr"/>
            <a:r>
              <a:rPr lang="zh-CN" altLang="en-US"/>
              <a:t>建模不确定性与外部扰动的影响不可避免</a:t>
            </a:r>
            <a:endParaRPr lang="zh-CN" altLang="en-US"/>
          </a:p>
        </p:txBody>
      </p:sp>
      <p:sp>
        <p:nvSpPr>
          <p:cNvPr id="43" name="任意多边形 42"/>
          <p:cNvSpPr/>
          <p:nvPr/>
        </p:nvSpPr>
        <p:spPr>
          <a:xfrm>
            <a:off x="2846070" y="3228340"/>
            <a:ext cx="2834640" cy="624840"/>
          </a:xfrm>
          <a:custGeom>
            <a:avLst/>
            <a:gdLst>
              <a:gd name="connisteX0" fmla="*/ 0 w 2834640"/>
              <a:gd name="connsiteY0" fmla="*/ 182880 h 624840"/>
              <a:gd name="connisteX1" fmla="*/ 2788920 w 2834640"/>
              <a:gd name="connsiteY1" fmla="*/ 0 h 624840"/>
              <a:gd name="connisteX2" fmla="*/ 2834640 w 2834640"/>
              <a:gd name="connsiteY2" fmla="*/ 624840 h 624840"/>
              <a:gd name="connisteX3" fmla="*/ 60960 w 2834640"/>
              <a:gd name="connsiteY3" fmla="*/ 190500 h 624840"/>
            </a:gdLst>
            <a:ahLst/>
            <a:cxnLst>
              <a:cxn ang="0">
                <a:pos x="connisteX0" y="connsiteY0"/>
              </a:cxn>
              <a:cxn ang="0">
                <a:pos x="connisteX1" y="connsiteY1"/>
              </a:cxn>
              <a:cxn ang="0">
                <a:pos x="connisteX2" y="connsiteY2"/>
              </a:cxn>
              <a:cxn ang="0">
                <a:pos x="connisteX3" y="connsiteY3"/>
              </a:cxn>
            </a:cxnLst>
            <a:rect l="l" t="t" r="r" b="b"/>
            <a:pathLst>
              <a:path w="2834640" h="624840">
                <a:moveTo>
                  <a:pt x="0" y="182880"/>
                </a:moveTo>
                <a:lnTo>
                  <a:pt x="2788920" y="0"/>
                </a:lnTo>
                <a:lnTo>
                  <a:pt x="2834640" y="624840"/>
                </a:lnTo>
                <a:lnTo>
                  <a:pt x="60960" y="190500"/>
                </a:lnTo>
              </a:path>
            </a:pathLst>
          </a:custGeom>
          <a:noFill/>
          <a:ln w="28575">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椭圆 43"/>
          <p:cNvSpPr/>
          <p:nvPr/>
        </p:nvSpPr>
        <p:spPr>
          <a:xfrm>
            <a:off x="6412230" y="3428365"/>
            <a:ext cx="853440" cy="691515"/>
          </a:xfrm>
          <a:prstGeom prst="ellipse">
            <a:avLst/>
          </a:prstGeom>
          <a:noFill/>
          <a:ln w="28575">
            <a:solidFill>
              <a:srgbClr val="FF0000"/>
            </a:solidFill>
          </a:ln>
          <a:extLst>
            <a:ext uri="{909E8E84-426E-40DD-AFC4-6F175D3DCCD1}">
              <a14:hiddenFill xmlns:a14="http://schemas.microsoft.com/office/drawing/2010/main">
                <a:solidFill>
                  <a:schemeClr val="accent1">
                    <a:lumMod val="20000"/>
                    <a:lumOff val="8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45" name="直接箭头连接符 44"/>
          <p:cNvCxnSpPr/>
          <p:nvPr/>
        </p:nvCxnSpPr>
        <p:spPr>
          <a:xfrm flipV="1">
            <a:off x="8804910" y="3007360"/>
            <a:ext cx="449580" cy="312420"/>
          </a:xfrm>
          <a:prstGeom prst="straightConnector1">
            <a:avLst/>
          </a:prstGeom>
          <a:ln w="19050">
            <a:solidFill>
              <a:srgbClr val="FF0000"/>
            </a:solidFill>
            <a:headEnd type="arrow"/>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a:xfrm>
            <a:off x="824230" y="6152515"/>
            <a:ext cx="10515600" cy="356235"/>
          </a:xfrm>
        </p:spPr>
        <p:txBody>
          <a:bodyPr/>
          <a:p>
            <a:r>
              <a:rPr lang="zh-CN" altLang="en-US"/>
              <a:t>控制障碍函数解析法难以</a:t>
            </a:r>
            <a:r>
              <a:rPr lang="zh-CN" altLang="en-US"/>
              <a:t>计算，学习方法限制较大。抗扰动控制难以同时保证低保守性和高</a:t>
            </a:r>
            <a:r>
              <a:rPr lang="zh-CN" altLang="en-US"/>
              <a:t>理论性</a:t>
            </a:r>
            <a:endParaRPr lang="zh-CN" altLang="en-US"/>
          </a:p>
        </p:txBody>
      </p:sp>
      <p:sp>
        <p:nvSpPr>
          <p:cNvPr id="3" name="文本占位符 2"/>
          <p:cNvSpPr>
            <a:spLocks noGrp="1"/>
          </p:cNvSpPr>
          <p:nvPr>
            <p:ph type="body" idx="13"/>
          </p:nvPr>
        </p:nvSpPr>
        <p:spPr/>
        <p:txBody>
          <a:bodyPr/>
          <a:p>
            <a:r>
              <a:rPr lang="en-US" altLang="zh-CN"/>
              <a:t>&gt;&gt;&gt;</a:t>
            </a:r>
            <a:r>
              <a:rPr lang="zh-CN" altLang="en-US"/>
              <a:t>国内外研究</a:t>
            </a:r>
            <a:r>
              <a:rPr lang="zh-CN" altLang="en-US"/>
              <a:t>现状</a:t>
            </a:r>
            <a:endParaRPr lang="zh-CN" altLang="en-US"/>
          </a:p>
        </p:txBody>
      </p:sp>
      <p:sp>
        <p:nvSpPr>
          <p:cNvPr id="4" name="文本占位符 3"/>
          <p:cNvSpPr>
            <a:spLocks noGrp="1"/>
          </p:cNvSpPr>
          <p:nvPr>
            <p:ph type="body" idx="14"/>
          </p:nvPr>
        </p:nvSpPr>
        <p:spPr/>
        <p:txBody>
          <a:bodyPr/>
          <a:p>
            <a:r>
              <a:rPr>
                <a:sym typeface="+mn-ea"/>
              </a:rPr>
              <a:t>绪论（</a:t>
            </a:r>
            <a:r>
              <a:rPr lang="en-US" altLang="zh-CN">
                <a:sym typeface="+mn-ea"/>
              </a:rPr>
              <a:t>1.2</a:t>
            </a:r>
            <a:r>
              <a:rPr>
                <a:sym typeface="+mn-ea"/>
              </a:rPr>
              <a:t>）</a:t>
            </a:r>
            <a:endParaRPr lang="zh-CN" altLang="en-US"/>
          </a:p>
        </p:txBody>
      </p:sp>
      <p:sp>
        <p:nvSpPr>
          <p:cNvPr id="5" name="灯片编号占位符 4"/>
          <p:cNvSpPr>
            <a:spLocks noGrp="1"/>
          </p:cNvSpPr>
          <p:nvPr>
            <p:ph type="sldNum" sz="quarter" idx="12"/>
          </p:nvPr>
        </p:nvSpPr>
        <p:spPr/>
        <p:txBody>
          <a:bodyPr/>
          <a:p>
            <a:pPr>
              <a:defRPr/>
            </a:pPr>
            <a:fld id="{AC6C5647-07D8-4AFC-B347-73DA68F3AADD}" type="slidenum">
              <a:rPr lang="zh-CN" altLang="en-US"/>
            </a:fld>
            <a:endParaRPr lang="en-US" altLang="zh-CN"/>
          </a:p>
        </p:txBody>
      </p:sp>
      <p:sp>
        <p:nvSpPr>
          <p:cNvPr id="6" name="矩形 5"/>
          <p:cNvSpPr/>
          <p:nvPr/>
        </p:nvSpPr>
        <p:spPr>
          <a:xfrm>
            <a:off x="301625" y="1148080"/>
            <a:ext cx="11330305" cy="4708525"/>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9" name="圆角矩形 8"/>
          <p:cNvSpPr/>
          <p:nvPr>
            <p:custDataLst>
              <p:tags r:id="rId1"/>
            </p:custDataLst>
          </p:nvPr>
        </p:nvSpPr>
        <p:spPr>
          <a:xfrm>
            <a:off x="1544320" y="2185035"/>
            <a:ext cx="1490345" cy="605790"/>
          </a:xfrm>
          <a:prstGeom prst="roundRect">
            <a:avLst/>
          </a:prstGeom>
          <a:solidFill>
            <a:schemeClr val="bg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传统</a:t>
            </a:r>
            <a:r>
              <a:rPr lang="zh-CN" altLang="en-US">
                <a:solidFill>
                  <a:schemeClr val="tx1"/>
                </a:solidFill>
              </a:rPr>
              <a:t>解析法</a:t>
            </a:r>
            <a:endParaRPr lang="zh-CN" altLang="en-US">
              <a:solidFill>
                <a:schemeClr val="tx1"/>
              </a:solidFill>
            </a:endParaRPr>
          </a:p>
        </p:txBody>
      </p:sp>
      <p:sp>
        <p:nvSpPr>
          <p:cNvPr id="10" name="圆角矩形 9"/>
          <p:cNvSpPr/>
          <p:nvPr>
            <p:custDataLst>
              <p:tags r:id="rId2"/>
            </p:custDataLst>
          </p:nvPr>
        </p:nvSpPr>
        <p:spPr>
          <a:xfrm>
            <a:off x="3232150" y="2192655"/>
            <a:ext cx="1490345" cy="605790"/>
          </a:xfrm>
          <a:prstGeom prst="roundRect">
            <a:avLst/>
          </a:prstGeom>
          <a:solidFill>
            <a:schemeClr val="bg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800">
                <a:solidFill>
                  <a:schemeClr val="tx1"/>
                </a:solidFill>
                <a:sym typeface="+mn-ea"/>
              </a:rPr>
              <a:t>网络逼近</a:t>
            </a:r>
            <a:r>
              <a:rPr lang="zh-CN" altLang="en-US" sz="1800">
                <a:solidFill>
                  <a:schemeClr val="tx1"/>
                </a:solidFill>
                <a:sym typeface="+mn-ea"/>
              </a:rPr>
              <a:t>法</a:t>
            </a:r>
            <a:endParaRPr lang="zh-CN" altLang="en-US" sz="1800">
              <a:solidFill>
                <a:schemeClr val="tx1"/>
              </a:solidFill>
              <a:sym typeface="+mn-ea"/>
            </a:endParaRPr>
          </a:p>
        </p:txBody>
      </p:sp>
      <p:sp>
        <p:nvSpPr>
          <p:cNvPr id="15" name="圆角矩形 14"/>
          <p:cNvSpPr/>
          <p:nvPr>
            <p:custDataLst>
              <p:tags r:id="rId3"/>
            </p:custDataLst>
          </p:nvPr>
        </p:nvSpPr>
        <p:spPr>
          <a:xfrm>
            <a:off x="1544320" y="3995420"/>
            <a:ext cx="1490345" cy="1619885"/>
          </a:xfrm>
          <a:prstGeom prst="roundRect">
            <a:avLst/>
          </a:prstGeom>
          <a:solidFill>
            <a:srgbClr val="BFBFB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solidFill>
                  <a:schemeClr val="tx1"/>
                </a:solidFill>
              </a:rPr>
              <a:t>提供了</a:t>
            </a:r>
            <a:r>
              <a:rPr lang="zh-CN" altLang="en-US" sz="1600">
                <a:solidFill>
                  <a:srgbClr val="FF0000"/>
                </a:solidFill>
              </a:rPr>
              <a:t>严谨的证明</a:t>
            </a:r>
            <a:r>
              <a:rPr lang="zh-CN" altLang="en-US" sz="1600">
                <a:solidFill>
                  <a:schemeClr val="tx1"/>
                </a:solidFill>
              </a:rPr>
              <a:t>，但</a:t>
            </a:r>
            <a:r>
              <a:rPr lang="zh-CN" altLang="en-US" sz="1600">
                <a:solidFill>
                  <a:srgbClr val="FF0000"/>
                </a:solidFill>
              </a:rPr>
              <a:t>求解复杂，难以推广到高维</a:t>
            </a:r>
            <a:r>
              <a:rPr lang="zh-CN" altLang="en-US" sz="1600">
                <a:solidFill>
                  <a:srgbClr val="FF0000"/>
                </a:solidFill>
              </a:rPr>
              <a:t>系统。</a:t>
            </a:r>
            <a:endParaRPr lang="zh-CN" altLang="en-US" sz="1600">
              <a:solidFill>
                <a:srgbClr val="FF0000"/>
              </a:solidFill>
            </a:endParaRPr>
          </a:p>
        </p:txBody>
      </p:sp>
      <p:sp>
        <p:nvSpPr>
          <p:cNvPr id="16" name="圆角矩形 15"/>
          <p:cNvSpPr/>
          <p:nvPr>
            <p:custDataLst>
              <p:tags r:id="rId4"/>
            </p:custDataLst>
          </p:nvPr>
        </p:nvSpPr>
        <p:spPr>
          <a:xfrm>
            <a:off x="3232150" y="3995420"/>
            <a:ext cx="1490345" cy="1619885"/>
          </a:xfrm>
          <a:prstGeom prst="roundRect">
            <a:avLst/>
          </a:prstGeom>
          <a:solidFill>
            <a:srgbClr val="BFBFBF"/>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600">
                <a:solidFill>
                  <a:srgbClr val="FF0000"/>
                </a:solidFill>
                <a:sym typeface="+mn-ea"/>
              </a:rPr>
              <a:t>可用于高维</a:t>
            </a:r>
            <a:r>
              <a:rPr lang="zh-CN" altLang="en-US" sz="1600">
                <a:solidFill>
                  <a:schemeClr val="tx1"/>
                </a:solidFill>
                <a:sym typeface="+mn-ea"/>
              </a:rPr>
              <a:t>，策略被网络结构固定</a:t>
            </a:r>
            <a:r>
              <a:rPr lang="zh-CN" altLang="en-US" sz="1600">
                <a:solidFill>
                  <a:srgbClr val="FF0000"/>
                </a:solidFill>
                <a:sym typeface="+mn-ea"/>
              </a:rPr>
              <a:t>，训练条件比</a:t>
            </a:r>
            <a:r>
              <a:rPr lang="zh-CN" altLang="en-US" sz="1600">
                <a:solidFill>
                  <a:srgbClr val="FF0000"/>
                </a:solidFill>
                <a:sym typeface="+mn-ea"/>
              </a:rPr>
              <a:t>原理论</a:t>
            </a:r>
            <a:r>
              <a:rPr lang="zh-CN" altLang="en-US" sz="1600">
                <a:solidFill>
                  <a:srgbClr val="FF0000"/>
                </a:solidFill>
                <a:sym typeface="+mn-ea"/>
              </a:rPr>
              <a:t>严格</a:t>
            </a:r>
            <a:endParaRPr lang="zh-CN" altLang="en-US" sz="1600">
              <a:solidFill>
                <a:srgbClr val="FF0000"/>
              </a:solidFill>
              <a:sym typeface="+mn-ea"/>
            </a:endParaRPr>
          </a:p>
        </p:txBody>
      </p:sp>
      <p:sp>
        <p:nvSpPr>
          <p:cNvPr id="12" name="圆角矩形 11"/>
          <p:cNvSpPr/>
          <p:nvPr/>
        </p:nvSpPr>
        <p:spPr>
          <a:xfrm>
            <a:off x="1544320" y="1434465"/>
            <a:ext cx="3178175" cy="595630"/>
          </a:xfrm>
          <a:prstGeom prst="roundRect">
            <a:avLst/>
          </a:prstGeom>
          <a:solidFill>
            <a:schemeClr val="bg1">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控制障碍函数（</a:t>
            </a:r>
            <a:r>
              <a:rPr lang="en-US" altLang="zh-CN"/>
              <a:t>CBF</a:t>
            </a:r>
            <a:r>
              <a:rPr lang="zh-CN" altLang="en-US"/>
              <a:t>）</a:t>
            </a:r>
            <a:r>
              <a:rPr lang="zh-CN" altLang="en-US"/>
              <a:t>构造</a:t>
            </a:r>
            <a:endParaRPr lang="zh-CN" altLang="en-US"/>
          </a:p>
        </p:txBody>
      </p:sp>
      <p:sp>
        <p:nvSpPr>
          <p:cNvPr id="41" name="圆角矩形 40"/>
          <p:cNvSpPr/>
          <p:nvPr>
            <p:custDataLst>
              <p:tags r:id="rId5"/>
            </p:custDataLst>
          </p:nvPr>
        </p:nvSpPr>
        <p:spPr>
          <a:xfrm>
            <a:off x="1544320" y="2948305"/>
            <a:ext cx="1490345" cy="891540"/>
          </a:xfrm>
          <a:prstGeom prst="roundRect">
            <a:avLst/>
          </a:prstGeom>
          <a:solidFill>
            <a:srgbClr val="BFBFB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solidFill>
                <a:schemeClr val="tx1"/>
              </a:solidFill>
              <a:sym typeface="+mn-ea"/>
            </a:endParaRPr>
          </a:p>
          <a:p>
            <a:pPr algn="ctr"/>
            <a:r>
              <a:rPr lang="en-US" altLang="zh-CN" sz="1600">
                <a:solidFill>
                  <a:schemeClr val="tx1"/>
                </a:solidFill>
                <a:sym typeface="+mn-ea"/>
              </a:rPr>
              <a:t>Nagumo</a:t>
            </a:r>
            <a:r>
              <a:rPr lang="zh-CN" altLang="en-US" sz="1600">
                <a:solidFill>
                  <a:schemeClr val="tx1"/>
                </a:solidFill>
                <a:sym typeface="+mn-ea"/>
              </a:rPr>
              <a:t>引理零障碍函数、</a:t>
            </a:r>
            <a:endParaRPr lang="zh-CN" altLang="en-US" sz="1600">
              <a:solidFill>
                <a:schemeClr val="tx1"/>
              </a:solidFill>
            </a:endParaRPr>
          </a:p>
          <a:p>
            <a:pPr algn="ctr"/>
            <a:r>
              <a:rPr lang="zh-CN" altLang="en-US" sz="1600">
                <a:solidFill>
                  <a:schemeClr val="tx1"/>
                </a:solidFill>
              </a:rPr>
              <a:t>倒数障碍函数</a:t>
            </a:r>
            <a:endParaRPr lang="zh-CN" altLang="en-US" sz="1600">
              <a:solidFill>
                <a:schemeClr val="tx1"/>
              </a:solidFill>
            </a:endParaRPr>
          </a:p>
          <a:p>
            <a:pPr algn="ctr"/>
            <a:endParaRPr lang="zh-CN" altLang="en-US" sz="1600">
              <a:solidFill>
                <a:schemeClr val="tx1"/>
              </a:solidFill>
            </a:endParaRPr>
          </a:p>
        </p:txBody>
      </p:sp>
      <p:sp>
        <p:nvSpPr>
          <p:cNvPr id="42" name="圆角矩形 41"/>
          <p:cNvSpPr/>
          <p:nvPr>
            <p:custDataLst>
              <p:tags r:id="rId6"/>
            </p:custDataLst>
          </p:nvPr>
        </p:nvSpPr>
        <p:spPr>
          <a:xfrm>
            <a:off x="3232150" y="2948305"/>
            <a:ext cx="1490345" cy="891540"/>
          </a:xfrm>
          <a:prstGeom prst="roundRect">
            <a:avLst/>
          </a:prstGeom>
          <a:solidFill>
            <a:srgbClr val="BFBFBF"/>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buNone/>
            </a:pPr>
            <a:r>
              <a:rPr lang="zh-CN" altLang="en-US" sz="1600">
                <a:solidFill>
                  <a:schemeClr val="tx1"/>
                </a:solidFill>
                <a:sym typeface="+mn-ea"/>
              </a:rPr>
              <a:t>策略神经网络</a:t>
            </a:r>
            <a:endParaRPr lang="zh-CN" altLang="en-US" sz="1600">
              <a:solidFill>
                <a:schemeClr val="tx1"/>
              </a:solidFill>
              <a:sym typeface="+mn-ea"/>
            </a:endParaRPr>
          </a:p>
          <a:p>
            <a:pPr lvl="0" algn="ctr">
              <a:buClrTx/>
              <a:buSzTx/>
              <a:buFontTx/>
              <a:buNone/>
            </a:pPr>
            <a:r>
              <a:rPr lang="zh-CN" altLang="en-US" sz="1600">
                <a:solidFill>
                  <a:schemeClr val="tx1"/>
                </a:solidFill>
                <a:sym typeface="+mn-ea"/>
              </a:rPr>
              <a:t>专家数据</a:t>
            </a:r>
            <a:r>
              <a:rPr lang="zh-CN" altLang="en-US" sz="1600">
                <a:solidFill>
                  <a:schemeClr val="tx1"/>
                </a:solidFill>
                <a:sym typeface="+mn-ea"/>
              </a:rPr>
              <a:t>驱动</a:t>
            </a:r>
            <a:endParaRPr lang="zh-CN" altLang="en-US" sz="1600">
              <a:solidFill>
                <a:schemeClr val="tx1"/>
              </a:solidFill>
              <a:sym typeface="+mn-ea"/>
            </a:endParaRPr>
          </a:p>
        </p:txBody>
      </p:sp>
      <p:sp>
        <p:nvSpPr>
          <p:cNvPr id="29" name="圆角矩形 28"/>
          <p:cNvSpPr/>
          <p:nvPr>
            <p:custDataLst>
              <p:tags r:id="rId7"/>
            </p:custDataLst>
          </p:nvPr>
        </p:nvSpPr>
        <p:spPr>
          <a:xfrm>
            <a:off x="4953635" y="2179320"/>
            <a:ext cx="3178800" cy="604800"/>
          </a:xfrm>
          <a:prstGeom prst="roundRect">
            <a:avLst/>
          </a:prstGeom>
          <a:solidFill>
            <a:schemeClr val="bg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800">
                <a:solidFill>
                  <a:schemeClr val="tx1"/>
                </a:solidFill>
                <a:sym typeface="+mn-ea"/>
              </a:rPr>
              <a:t>使用罚函数处理扰动问题</a:t>
            </a:r>
            <a:endParaRPr lang="zh-CN" altLang="en-US" sz="1800">
              <a:solidFill>
                <a:schemeClr val="tx1"/>
              </a:solidFill>
              <a:sym typeface="+mn-ea"/>
            </a:endParaRPr>
          </a:p>
        </p:txBody>
      </p:sp>
      <p:sp>
        <p:nvSpPr>
          <p:cNvPr id="32" name="圆角矩形 31"/>
          <p:cNvSpPr/>
          <p:nvPr>
            <p:custDataLst>
              <p:tags r:id="rId8"/>
            </p:custDataLst>
          </p:nvPr>
        </p:nvSpPr>
        <p:spPr>
          <a:xfrm>
            <a:off x="4953635" y="3989070"/>
            <a:ext cx="3178800" cy="1619885"/>
          </a:xfrm>
          <a:prstGeom prst="roundRect">
            <a:avLst/>
          </a:prstGeom>
          <a:solidFill>
            <a:srgbClr val="BFBFBF"/>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600">
                <a:solidFill>
                  <a:schemeClr val="tx1"/>
                </a:solidFill>
                <a:sym typeface="+mn-ea"/>
              </a:rPr>
              <a:t>依赖系统模型和扰动分布假设，</a:t>
            </a:r>
            <a:r>
              <a:rPr lang="zh-CN" altLang="en-US" sz="1600">
                <a:solidFill>
                  <a:srgbClr val="FF0000"/>
                </a:solidFill>
                <a:sym typeface="+mn-ea"/>
              </a:rPr>
              <a:t>兼顾学习性能与概率安全性</a:t>
            </a:r>
            <a:r>
              <a:rPr lang="zh-CN" altLang="en-US" sz="1600">
                <a:solidFill>
                  <a:schemeClr val="tx1"/>
                </a:solidFill>
                <a:sym typeface="+mn-ea"/>
              </a:rPr>
              <a:t>。但依靠随机采样，罚函数处理存在放缩，</a:t>
            </a:r>
            <a:r>
              <a:rPr lang="zh-CN" altLang="en-US" sz="1600">
                <a:solidFill>
                  <a:srgbClr val="FF0000"/>
                </a:solidFill>
                <a:sym typeface="+mn-ea"/>
              </a:rPr>
              <a:t>训练方差大，满足安全约束概率不稳定，理论性</a:t>
            </a:r>
            <a:r>
              <a:rPr lang="zh-CN" altLang="en-US" sz="1600">
                <a:solidFill>
                  <a:srgbClr val="FF0000"/>
                </a:solidFill>
                <a:sym typeface="+mn-ea"/>
              </a:rPr>
              <a:t>不强</a:t>
            </a:r>
            <a:endParaRPr lang="zh-CN" altLang="en-US" sz="1600">
              <a:solidFill>
                <a:srgbClr val="FF0000"/>
              </a:solidFill>
              <a:sym typeface="+mn-ea"/>
            </a:endParaRPr>
          </a:p>
        </p:txBody>
      </p:sp>
      <p:sp>
        <p:nvSpPr>
          <p:cNvPr id="43" name="圆角矩形 42"/>
          <p:cNvSpPr/>
          <p:nvPr>
            <p:custDataLst>
              <p:tags r:id="rId9"/>
            </p:custDataLst>
          </p:nvPr>
        </p:nvSpPr>
        <p:spPr>
          <a:xfrm>
            <a:off x="4953635" y="2940050"/>
            <a:ext cx="3178800" cy="891540"/>
          </a:xfrm>
          <a:prstGeom prst="roundRect">
            <a:avLst/>
          </a:prstGeom>
          <a:solidFill>
            <a:srgbClr val="BFBFBF"/>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buNone/>
            </a:pPr>
            <a:r>
              <a:rPr lang="zh-CN" altLang="en-US" sz="1600">
                <a:solidFill>
                  <a:schemeClr val="tx1"/>
                </a:solidFill>
                <a:sym typeface="+mn-ea"/>
              </a:rPr>
              <a:t>Model based </a:t>
            </a:r>
            <a:r>
              <a:rPr lang="zh-CN" altLang="en-US" sz="1600">
                <a:solidFill>
                  <a:schemeClr val="tx1"/>
                </a:solidFill>
                <a:sym typeface="+mn-ea"/>
              </a:rPr>
              <a:t>AC </a:t>
            </a:r>
            <a:r>
              <a:rPr lang="zh-CN" altLang="en-US" sz="1600">
                <a:solidFill>
                  <a:schemeClr val="tx1"/>
                </a:solidFill>
                <a:sym typeface="+mn-ea"/>
              </a:rPr>
              <a:t>with chance const</a:t>
            </a:r>
            <a:r>
              <a:rPr lang="zh-CN" altLang="en-US" sz="1600">
                <a:solidFill>
                  <a:schemeClr val="tx1"/>
                </a:solidFill>
                <a:sym typeface="+mn-ea"/>
              </a:rPr>
              <a:t>raint</a:t>
            </a:r>
            <a:endParaRPr lang="zh-CN" altLang="en-US" sz="1600">
              <a:solidFill>
                <a:schemeClr val="tx1"/>
              </a:solidFill>
              <a:sym typeface="+mn-ea"/>
            </a:endParaRPr>
          </a:p>
        </p:txBody>
      </p:sp>
      <p:sp>
        <p:nvSpPr>
          <p:cNvPr id="54" name="圆角矩形 53"/>
          <p:cNvSpPr/>
          <p:nvPr/>
        </p:nvSpPr>
        <p:spPr>
          <a:xfrm>
            <a:off x="420370" y="2185670"/>
            <a:ext cx="899160" cy="605155"/>
          </a:xfrm>
          <a:prstGeom prst="roundRect">
            <a:avLst/>
          </a:prstGeom>
          <a:solidFill>
            <a:schemeClr val="bg1">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800">
                <a:sym typeface="+mn-ea"/>
              </a:rPr>
              <a:t>分类</a:t>
            </a:r>
            <a:endParaRPr lang="zh-CN" altLang="en-US" sz="1800">
              <a:sym typeface="+mn-ea"/>
            </a:endParaRPr>
          </a:p>
        </p:txBody>
      </p:sp>
      <p:sp>
        <p:nvSpPr>
          <p:cNvPr id="56" name="圆角矩形 55"/>
          <p:cNvSpPr/>
          <p:nvPr/>
        </p:nvSpPr>
        <p:spPr>
          <a:xfrm>
            <a:off x="420370" y="3995420"/>
            <a:ext cx="899160" cy="1620000"/>
          </a:xfrm>
          <a:prstGeom prst="roundRect">
            <a:avLst/>
          </a:prstGeom>
          <a:solidFill>
            <a:schemeClr val="bg1">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800">
                <a:sym typeface="+mn-ea"/>
              </a:rPr>
              <a:t>方法</a:t>
            </a:r>
            <a:r>
              <a:rPr lang="zh-CN" altLang="en-US" sz="1800">
                <a:sym typeface="+mn-ea"/>
              </a:rPr>
              <a:t>特点</a:t>
            </a:r>
            <a:endParaRPr lang="zh-CN" altLang="en-US" sz="1800">
              <a:sym typeface="+mn-ea"/>
            </a:endParaRPr>
          </a:p>
        </p:txBody>
      </p:sp>
      <p:sp>
        <p:nvSpPr>
          <p:cNvPr id="57" name="圆角矩形 56"/>
          <p:cNvSpPr/>
          <p:nvPr/>
        </p:nvSpPr>
        <p:spPr>
          <a:xfrm>
            <a:off x="420370" y="1434465"/>
            <a:ext cx="899160" cy="593725"/>
          </a:xfrm>
          <a:prstGeom prst="roundRect">
            <a:avLst/>
          </a:prstGeom>
          <a:solidFill>
            <a:schemeClr val="bg1">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800">
                <a:sym typeface="+mn-ea"/>
              </a:rPr>
              <a:t>内容</a:t>
            </a:r>
            <a:endParaRPr lang="zh-CN" altLang="en-US" sz="1800">
              <a:sym typeface="+mn-ea"/>
            </a:endParaRPr>
          </a:p>
        </p:txBody>
      </p:sp>
      <p:sp>
        <p:nvSpPr>
          <p:cNvPr id="40" name="圆角矩形 39"/>
          <p:cNvSpPr/>
          <p:nvPr/>
        </p:nvSpPr>
        <p:spPr>
          <a:xfrm>
            <a:off x="420370" y="2949575"/>
            <a:ext cx="899160" cy="890270"/>
          </a:xfrm>
          <a:prstGeom prst="roundRect">
            <a:avLst/>
          </a:prstGeom>
          <a:solidFill>
            <a:schemeClr val="bg1">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800">
                <a:sym typeface="+mn-ea"/>
              </a:rPr>
              <a:t>代表方</a:t>
            </a:r>
            <a:r>
              <a:rPr lang="zh-CN" altLang="en-US" sz="1800">
                <a:sym typeface="+mn-ea"/>
              </a:rPr>
              <a:t>法</a:t>
            </a:r>
            <a:endParaRPr lang="zh-CN" altLang="en-US" sz="1800">
              <a:sym typeface="+mn-ea"/>
            </a:endParaRPr>
          </a:p>
        </p:txBody>
      </p:sp>
      <p:sp>
        <p:nvSpPr>
          <p:cNvPr id="45" name="圆角矩形 44"/>
          <p:cNvSpPr/>
          <p:nvPr>
            <p:custDataLst>
              <p:tags r:id="rId10"/>
            </p:custDataLst>
          </p:nvPr>
        </p:nvSpPr>
        <p:spPr>
          <a:xfrm>
            <a:off x="8362950" y="2970530"/>
            <a:ext cx="1490980" cy="891540"/>
          </a:xfrm>
          <a:prstGeom prst="roundRect">
            <a:avLst/>
          </a:prstGeom>
          <a:solidFill>
            <a:srgbClr val="BFBFB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1400">
                <a:solidFill>
                  <a:schemeClr val="tx1"/>
                </a:solidFill>
              </a:rPr>
              <a:t>min-max </a:t>
            </a:r>
            <a:endParaRPr lang="en-US" sz="1400">
              <a:solidFill>
                <a:schemeClr val="tx1"/>
              </a:solidFill>
            </a:endParaRPr>
          </a:p>
          <a:p>
            <a:pPr algn="ctr"/>
            <a:r>
              <a:rPr lang="en-US" sz="1400">
                <a:solidFill>
                  <a:schemeClr val="tx1"/>
                </a:solidFill>
              </a:rPr>
              <a:t>Tube based</a:t>
            </a:r>
            <a:endParaRPr lang="en-US" sz="1400">
              <a:solidFill>
                <a:schemeClr val="tx1"/>
              </a:solidFill>
            </a:endParaRPr>
          </a:p>
        </p:txBody>
      </p:sp>
      <p:sp>
        <p:nvSpPr>
          <p:cNvPr id="46" name="圆角矩形 45"/>
          <p:cNvSpPr/>
          <p:nvPr>
            <p:custDataLst>
              <p:tags r:id="rId11"/>
            </p:custDataLst>
          </p:nvPr>
        </p:nvSpPr>
        <p:spPr>
          <a:xfrm>
            <a:off x="10050780" y="2970530"/>
            <a:ext cx="1490345" cy="891540"/>
          </a:xfrm>
          <a:prstGeom prst="roundRect">
            <a:avLst/>
          </a:prstGeom>
          <a:solidFill>
            <a:srgbClr val="BFBFBF"/>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buNone/>
            </a:pPr>
            <a:r>
              <a:rPr lang="en-US" sz="1400">
                <a:solidFill>
                  <a:schemeClr val="tx1"/>
                </a:solidFill>
                <a:sym typeface="+mn-ea"/>
              </a:rPr>
              <a:t>Senario based</a:t>
            </a:r>
            <a:endParaRPr lang="en-US" sz="1400">
              <a:solidFill>
                <a:schemeClr val="tx1"/>
              </a:solidFill>
              <a:sym typeface="+mn-ea"/>
            </a:endParaRPr>
          </a:p>
          <a:p>
            <a:pPr lvl="0" algn="ctr">
              <a:buClrTx/>
              <a:buSzTx/>
              <a:buFontTx/>
              <a:buNone/>
            </a:pPr>
            <a:r>
              <a:rPr lang="en-US" sz="1400">
                <a:solidFill>
                  <a:schemeClr val="tx1"/>
                </a:solidFill>
                <a:sym typeface="+mn-ea"/>
              </a:rPr>
              <a:t>Tube based</a:t>
            </a:r>
            <a:endParaRPr lang="en-US" sz="1400">
              <a:solidFill>
                <a:schemeClr val="tx1"/>
              </a:solidFill>
              <a:sym typeface="+mn-ea"/>
            </a:endParaRPr>
          </a:p>
        </p:txBody>
      </p:sp>
      <p:sp>
        <p:nvSpPr>
          <p:cNvPr id="35" name="圆角矩形 34"/>
          <p:cNvSpPr/>
          <p:nvPr>
            <p:custDataLst>
              <p:tags r:id="rId12"/>
            </p:custDataLst>
          </p:nvPr>
        </p:nvSpPr>
        <p:spPr>
          <a:xfrm>
            <a:off x="8362950" y="2209800"/>
            <a:ext cx="1490345" cy="605790"/>
          </a:xfrm>
          <a:prstGeom prst="roundRect">
            <a:avLst/>
          </a:prstGeom>
          <a:solidFill>
            <a:schemeClr val="bg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800">
                <a:solidFill>
                  <a:schemeClr val="tx1"/>
                </a:solidFill>
                <a:sym typeface="+mn-ea"/>
              </a:rPr>
              <a:t>鲁棒</a:t>
            </a:r>
            <a:r>
              <a:rPr lang="zh-CN" altLang="en-US" sz="1800">
                <a:solidFill>
                  <a:schemeClr val="tx1"/>
                </a:solidFill>
                <a:sym typeface="+mn-ea"/>
              </a:rPr>
              <a:t>MPC</a:t>
            </a:r>
            <a:endParaRPr lang="zh-CN" altLang="en-US" sz="1800">
              <a:solidFill>
                <a:schemeClr val="tx1"/>
              </a:solidFill>
              <a:sym typeface="+mn-ea"/>
            </a:endParaRPr>
          </a:p>
        </p:txBody>
      </p:sp>
      <p:sp>
        <p:nvSpPr>
          <p:cNvPr id="36" name="圆角矩形 35"/>
          <p:cNvSpPr/>
          <p:nvPr>
            <p:custDataLst>
              <p:tags r:id="rId13"/>
            </p:custDataLst>
          </p:nvPr>
        </p:nvSpPr>
        <p:spPr>
          <a:xfrm>
            <a:off x="10050780" y="2209800"/>
            <a:ext cx="1490345" cy="605790"/>
          </a:xfrm>
          <a:prstGeom prst="roundRect">
            <a:avLst/>
          </a:prstGeom>
          <a:solidFill>
            <a:schemeClr val="bg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800">
                <a:solidFill>
                  <a:schemeClr val="tx1"/>
                </a:solidFill>
                <a:sym typeface="+mn-ea"/>
              </a:rPr>
              <a:t>随机</a:t>
            </a:r>
            <a:r>
              <a:rPr lang="zh-CN" altLang="en-US" sz="1800">
                <a:solidFill>
                  <a:schemeClr val="tx1"/>
                </a:solidFill>
                <a:sym typeface="+mn-ea"/>
              </a:rPr>
              <a:t>MPC</a:t>
            </a:r>
            <a:endParaRPr lang="zh-CN" altLang="en-US" sz="1800">
              <a:solidFill>
                <a:schemeClr val="tx1"/>
              </a:solidFill>
              <a:sym typeface="+mn-ea"/>
            </a:endParaRPr>
          </a:p>
        </p:txBody>
      </p:sp>
      <p:sp>
        <p:nvSpPr>
          <p:cNvPr id="38" name="圆角矩形 37"/>
          <p:cNvSpPr/>
          <p:nvPr>
            <p:custDataLst>
              <p:tags r:id="rId14"/>
            </p:custDataLst>
          </p:nvPr>
        </p:nvSpPr>
        <p:spPr>
          <a:xfrm>
            <a:off x="8362950" y="4019550"/>
            <a:ext cx="1490345" cy="1619885"/>
          </a:xfrm>
          <a:prstGeom prst="roundRect">
            <a:avLst/>
          </a:prstGeom>
          <a:solidFill>
            <a:srgbClr val="BFBFBF"/>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600">
                <a:solidFill>
                  <a:schemeClr val="tx1"/>
                </a:solidFill>
                <a:sym typeface="+mn-ea"/>
              </a:rPr>
              <a:t>处理有界扰动，考虑最坏情形，</a:t>
            </a:r>
            <a:r>
              <a:rPr lang="zh-CN" altLang="en-US" sz="1600">
                <a:solidFill>
                  <a:srgbClr val="FF0000"/>
                </a:solidFill>
                <a:sym typeface="+mn-ea"/>
              </a:rPr>
              <a:t>安全严格</a:t>
            </a:r>
            <a:r>
              <a:rPr lang="zh-CN" altLang="en-US" sz="1600">
                <a:solidFill>
                  <a:schemeClr val="tx1"/>
                </a:solidFill>
                <a:sym typeface="+mn-ea"/>
              </a:rPr>
              <a:t>，</a:t>
            </a:r>
            <a:r>
              <a:rPr lang="zh-CN" altLang="en-US" sz="1600">
                <a:solidFill>
                  <a:srgbClr val="FF0000"/>
                </a:solidFill>
                <a:sym typeface="+mn-ea"/>
              </a:rPr>
              <a:t>保守</a:t>
            </a:r>
            <a:r>
              <a:rPr lang="zh-CN" altLang="en-US" sz="1600">
                <a:solidFill>
                  <a:srgbClr val="FF0000"/>
                </a:solidFill>
                <a:sym typeface="+mn-ea"/>
              </a:rPr>
              <a:t>性较强</a:t>
            </a:r>
            <a:r>
              <a:rPr lang="zh-CN" altLang="en-US" sz="1600">
                <a:solidFill>
                  <a:schemeClr val="tx1"/>
                </a:solidFill>
                <a:sym typeface="+mn-ea"/>
              </a:rPr>
              <a:t>。</a:t>
            </a:r>
            <a:r>
              <a:rPr lang="zh-CN" altLang="en-US" sz="1600">
                <a:solidFill>
                  <a:schemeClr val="tx1"/>
                </a:solidFill>
                <a:sym typeface="+mn-ea"/>
              </a:rPr>
              <a:t> </a:t>
            </a:r>
            <a:endParaRPr lang="zh-CN" altLang="en-US" sz="1600">
              <a:solidFill>
                <a:schemeClr val="tx1"/>
              </a:solidFill>
              <a:sym typeface="+mn-ea"/>
            </a:endParaRPr>
          </a:p>
        </p:txBody>
      </p:sp>
      <p:sp>
        <p:nvSpPr>
          <p:cNvPr id="39" name="圆角矩形 38"/>
          <p:cNvSpPr/>
          <p:nvPr>
            <p:custDataLst>
              <p:tags r:id="rId15"/>
            </p:custDataLst>
          </p:nvPr>
        </p:nvSpPr>
        <p:spPr>
          <a:xfrm>
            <a:off x="10050780" y="4019550"/>
            <a:ext cx="1490345" cy="1619885"/>
          </a:xfrm>
          <a:prstGeom prst="roundRect">
            <a:avLst/>
          </a:prstGeom>
          <a:solidFill>
            <a:srgbClr val="BFBFBF"/>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600">
                <a:solidFill>
                  <a:schemeClr val="tx1"/>
                </a:solidFill>
                <a:sym typeface="+mn-ea"/>
              </a:rPr>
              <a:t>基于采样的方法</a:t>
            </a:r>
            <a:r>
              <a:rPr lang="zh-CN" altLang="en-US" sz="1600">
                <a:solidFill>
                  <a:srgbClr val="FF0000"/>
                </a:solidFill>
                <a:sym typeface="+mn-ea"/>
              </a:rPr>
              <a:t>理论性质不强</a:t>
            </a:r>
            <a:r>
              <a:rPr lang="en-US" altLang="zh-CN" sz="1600">
                <a:solidFill>
                  <a:srgbClr val="FF0000"/>
                </a:solidFill>
                <a:sym typeface="+mn-ea"/>
              </a:rPr>
              <a:t>,</a:t>
            </a:r>
            <a:r>
              <a:rPr lang="zh-CN" altLang="en-US" sz="1600">
                <a:solidFill>
                  <a:srgbClr val="FF0000"/>
                </a:solidFill>
                <a:sym typeface="+mn-ea"/>
              </a:rPr>
              <a:t>计算</a:t>
            </a:r>
            <a:r>
              <a:rPr lang="zh-CN" altLang="en-US" sz="1600">
                <a:solidFill>
                  <a:srgbClr val="FF0000"/>
                </a:solidFill>
                <a:sym typeface="+mn-ea"/>
              </a:rPr>
              <a:t>成本高，</a:t>
            </a:r>
            <a:r>
              <a:rPr lang="zh-CN" altLang="en-US" sz="1600">
                <a:solidFill>
                  <a:schemeClr val="tx1"/>
                </a:solidFill>
                <a:sym typeface="+mn-ea"/>
              </a:rPr>
              <a:t>基于推导的方法</a:t>
            </a:r>
            <a:r>
              <a:rPr lang="zh-CN" altLang="en-US" sz="1600">
                <a:solidFill>
                  <a:srgbClr val="FF0000"/>
                </a:solidFill>
                <a:sym typeface="+mn-ea"/>
              </a:rPr>
              <a:t>保守性依然很大</a:t>
            </a:r>
            <a:r>
              <a:rPr lang="zh-CN" altLang="en-US" sz="1600">
                <a:solidFill>
                  <a:schemeClr val="tx1"/>
                </a:solidFill>
                <a:sym typeface="+mn-ea"/>
              </a:rPr>
              <a:t>。</a:t>
            </a:r>
            <a:endParaRPr lang="zh-CN" altLang="en-US" sz="1600">
              <a:solidFill>
                <a:srgbClr val="FF0000"/>
              </a:solidFill>
              <a:sym typeface="+mn-ea"/>
            </a:endParaRPr>
          </a:p>
        </p:txBody>
      </p:sp>
      <p:grpSp>
        <p:nvGrpSpPr>
          <p:cNvPr id="11" name="组合 10"/>
          <p:cNvGrpSpPr/>
          <p:nvPr/>
        </p:nvGrpSpPr>
        <p:grpSpPr>
          <a:xfrm>
            <a:off x="4953635" y="1427480"/>
            <a:ext cx="6586855" cy="617855"/>
            <a:chOff x="7801" y="2248"/>
            <a:chExt cx="10373" cy="973"/>
          </a:xfrm>
        </p:grpSpPr>
        <p:sp>
          <p:nvSpPr>
            <p:cNvPr id="31" name="圆角矩形 30"/>
            <p:cNvSpPr/>
            <p:nvPr/>
          </p:nvSpPr>
          <p:spPr>
            <a:xfrm>
              <a:off x="7801" y="2248"/>
              <a:ext cx="5005" cy="938"/>
            </a:xfrm>
            <a:prstGeom prst="roundRect">
              <a:avLst/>
            </a:prstGeom>
            <a:solidFill>
              <a:schemeClr val="bg1">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800">
                  <a:sym typeface="+mn-ea"/>
                </a:rPr>
                <a:t>抗扰动强化</a:t>
              </a:r>
              <a:r>
                <a:rPr lang="zh-CN" altLang="en-US" sz="1800">
                  <a:sym typeface="+mn-ea"/>
                </a:rPr>
                <a:t>学习</a:t>
              </a:r>
              <a:endParaRPr lang="zh-CN" altLang="en-US" sz="1800">
                <a:sym typeface="+mn-ea"/>
              </a:endParaRPr>
            </a:p>
          </p:txBody>
        </p:sp>
        <p:sp>
          <p:nvSpPr>
            <p:cNvPr id="37" name="圆角矩形 36"/>
            <p:cNvSpPr/>
            <p:nvPr/>
          </p:nvSpPr>
          <p:spPr>
            <a:xfrm>
              <a:off x="13170" y="2273"/>
              <a:ext cx="5005" cy="949"/>
            </a:xfrm>
            <a:prstGeom prst="roundRect">
              <a:avLst/>
            </a:prstGeom>
            <a:solidFill>
              <a:schemeClr val="bg1">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800">
                  <a:sym typeface="+mn-ea"/>
                </a:rPr>
                <a:t>抗扰动模型预测</a:t>
              </a:r>
              <a:r>
                <a:rPr lang="zh-CN" altLang="en-US" sz="1800">
                  <a:sym typeface="+mn-ea"/>
                </a:rPr>
                <a:t>控制</a:t>
              </a:r>
              <a:endParaRPr lang="zh-CN" altLang="en-US" sz="1800">
                <a:sym typeface="+mn-ea"/>
              </a:endParaRPr>
            </a:p>
          </p:txBody>
        </p:sp>
      </p:grpSp>
      <p:sp>
        <p:nvSpPr>
          <p:cNvPr id="7" name="文本框 6"/>
          <p:cNvSpPr txBox="1"/>
          <p:nvPr/>
        </p:nvSpPr>
        <p:spPr>
          <a:xfrm>
            <a:off x="2245678" y="1071880"/>
            <a:ext cx="1775460" cy="368300"/>
          </a:xfrm>
          <a:prstGeom prst="rect">
            <a:avLst/>
          </a:prstGeom>
          <a:noFill/>
        </p:spPr>
        <p:txBody>
          <a:bodyPr wrap="square" rtlCol="0">
            <a:spAutoFit/>
          </a:bodyPr>
          <a:p>
            <a:pPr algn="ctr"/>
            <a:r>
              <a:rPr lang="zh-CN" altLang="en-US"/>
              <a:t>安全集合</a:t>
            </a:r>
            <a:r>
              <a:rPr lang="zh-CN" altLang="en-US"/>
              <a:t>构造</a:t>
            </a:r>
            <a:endParaRPr lang="zh-CN" altLang="en-US"/>
          </a:p>
        </p:txBody>
      </p:sp>
      <p:sp>
        <p:nvSpPr>
          <p:cNvPr id="8" name="文本框 7"/>
          <p:cNvSpPr txBox="1"/>
          <p:nvPr/>
        </p:nvSpPr>
        <p:spPr>
          <a:xfrm>
            <a:off x="7516813" y="1071880"/>
            <a:ext cx="1460500" cy="368300"/>
          </a:xfrm>
          <a:prstGeom prst="rect">
            <a:avLst/>
          </a:prstGeom>
          <a:noFill/>
        </p:spPr>
        <p:txBody>
          <a:bodyPr wrap="square" rtlCol="0">
            <a:spAutoFit/>
          </a:bodyPr>
          <a:p>
            <a:pPr algn="ctr"/>
            <a:r>
              <a:rPr lang="zh-CN" altLang="en-US"/>
              <a:t>抗扰动</a:t>
            </a:r>
            <a:r>
              <a:rPr lang="zh-CN" altLang="en-US"/>
              <a:t>控制</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a:p>
            <a:r>
              <a:rPr lang="zh-CN" altLang="en-US"/>
              <a:t>探究</a:t>
            </a:r>
            <a:r>
              <a:rPr lang="zh-CN" altLang="en-US"/>
              <a:t>训练条件更宽松的</a:t>
            </a:r>
            <a:r>
              <a:rPr lang="en-US" altLang="zh-CN"/>
              <a:t>Learning CBF</a:t>
            </a:r>
            <a:r>
              <a:rPr lang="zh-CN" altLang="en-US"/>
              <a:t>方法；同时保证理论性和低保守性的扰动控制</a:t>
            </a:r>
            <a:r>
              <a:rPr lang="zh-CN" altLang="en-US"/>
              <a:t>方法。</a:t>
            </a:r>
            <a:endParaRPr lang="zh-CN" altLang="en-US"/>
          </a:p>
        </p:txBody>
      </p:sp>
      <p:sp>
        <p:nvSpPr>
          <p:cNvPr id="3" name="文本占位符 2"/>
          <p:cNvSpPr>
            <a:spLocks noGrp="1"/>
          </p:cNvSpPr>
          <p:nvPr>
            <p:ph type="body" idx="13"/>
          </p:nvPr>
        </p:nvSpPr>
        <p:spPr/>
        <p:txBody>
          <a:bodyPr/>
          <a:p>
            <a:r>
              <a:rPr lang="en-US" altLang="zh-CN"/>
              <a:t>&gt;&gt;&gt;</a:t>
            </a:r>
            <a:r>
              <a:t>主要研究</a:t>
            </a:r>
            <a:r>
              <a:t>内容</a:t>
            </a:r>
          </a:p>
        </p:txBody>
      </p:sp>
      <p:sp>
        <p:nvSpPr>
          <p:cNvPr id="4" name="文本占位符 3"/>
          <p:cNvSpPr>
            <a:spLocks noGrp="1"/>
          </p:cNvSpPr>
          <p:nvPr>
            <p:ph type="body" idx="14"/>
          </p:nvPr>
        </p:nvSpPr>
        <p:spPr/>
        <p:txBody>
          <a:bodyPr/>
          <a:p>
            <a:r>
              <a:rPr lang="zh-CN" altLang="en-US"/>
              <a:t>绪论（</a:t>
            </a:r>
            <a:r>
              <a:rPr lang="en-US" altLang="zh-CN"/>
              <a:t>1.3</a:t>
            </a:r>
            <a:r>
              <a:rPr lang="zh-CN" altLang="en-US"/>
              <a:t>）</a:t>
            </a:r>
            <a:endParaRPr lang="zh-CN" altLang="en-US"/>
          </a:p>
        </p:txBody>
      </p:sp>
      <p:sp>
        <p:nvSpPr>
          <p:cNvPr id="5" name="灯片编号占位符 4"/>
          <p:cNvSpPr>
            <a:spLocks noGrp="1"/>
          </p:cNvSpPr>
          <p:nvPr>
            <p:ph type="sldNum" sz="quarter" idx="12"/>
          </p:nvPr>
        </p:nvSpPr>
        <p:spPr/>
        <p:txBody>
          <a:bodyPr/>
          <a:p>
            <a:pPr>
              <a:defRPr/>
            </a:pPr>
            <a:fld id="{AC6C5647-07D8-4AFC-B347-73DA68F3AADD}" type="slidenum">
              <a:rPr lang="zh-CN" altLang="en-US"/>
            </a:fld>
            <a:endParaRPr lang="en-US" altLang="zh-CN"/>
          </a:p>
        </p:txBody>
      </p:sp>
      <p:grpSp>
        <p:nvGrpSpPr>
          <p:cNvPr id="18" name="组合 17"/>
          <p:cNvGrpSpPr/>
          <p:nvPr/>
        </p:nvGrpSpPr>
        <p:grpSpPr>
          <a:xfrm>
            <a:off x="608648" y="1420495"/>
            <a:ext cx="10746105" cy="4138295"/>
            <a:chOff x="639" y="2237"/>
            <a:chExt cx="16923" cy="6517"/>
          </a:xfrm>
        </p:grpSpPr>
        <p:sp>
          <p:nvSpPr>
            <p:cNvPr id="12" name="圆角矩形 11"/>
            <p:cNvSpPr/>
            <p:nvPr/>
          </p:nvSpPr>
          <p:spPr>
            <a:xfrm>
              <a:off x="5766" y="2237"/>
              <a:ext cx="3699" cy="938"/>
            </a:xfrm>
            <a:prstGeom prst="roundRect">
              <a:avLst/>
            </a:prstGeom>
            <a:solidFill>
              <a:schemeClr val="bg1">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系统</a:t>
              </a:r>
              <a:r>
                <a:rPr lang="zh-CN" altLang="en-US"/>
                <a:t>类型</a:t>
              </a:r>
              <a:endParaRPr lang="zh-CN" altLang="en-US"/>
            </a:p>
          </p:txBody>
        </p:sp>
        <p:sp>
          <p:nvSpPr>
            <p:cNvPr id="31" name="圆角矩形 30"/>
            <p:cNvSpPr/>
            <p:nvPr/>
          </p:nvSpPr>
          <p:spPr>
            <a:xfrm>
              <a:off x="1717" y="2237"/>
              <a:ext cx="3699" cy="938"/>
            </a:xfrm>
            <a:prstGeom prst="roundRect">
              <a:avLst/>
            </a:prstGeom>
            <a:solidFill>
              <a:schemeClr val="bg1">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800">
                  <a:sym typeface="+mn-ea"/>
                </a:rPr>
                <a:t>研究</a:t>
              </a:r>
              <a:r>
                <a:rPr lang="zh-CN" altLang="en-US" sz="1800">
                  <a:sym typeface="+mn-ea"/>
                </a:rPr>
                <a:t>问题</a:t>
              </a:r>
              <a:endParaRPr lang="zh-CN" altLang="en-US" sz="1800">
                <a:sym typeface="+mn-ea"/>
              </a:endParaRPr>
            </a:p>
          </p:txBody>
        </p:sp>
        <p:sp>
          <p:nvSpPr>
            <p:cNvPr id="37" name="圆角矩形 36"/>
            <p:cNvSpPr/>
            <p:nvPr/>
          </p:nvSpPr>
          <p:spPr>
            <a:xfrm>
              <a:off x="13864" y="2237"/>
              <a:ext cx="3699" cy="949"/>
            </a:xfrm>
            <a:prstGeom prst="roundRect">
              <a:avLst/>
            </a:prstGeom>
            <a:solidFill>
              <a:schemeClr val="bg1">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800">
                  <a:sym typeface="+mn-ea"/>
                </a:rPr>
                <a:t>方法</a:t>
              </a:r>
              <a:endParaRPr lang="zh-CN" altLang="en-US" sz="1800">
                <a:sym typeface="+mn-ea"/>
              </a:endParaRPr>
            </a:p>
          </p:txBody>
        </p:sp>
        <p:sp>
          <p:nvSpPr>
            <p:cNvPr id="7" name="圆角矩形 6"/>
            <p:cNvSpPr/>
            <p:nvPr/>
          </p:nvSpPr>
          <p:spPr>
            <a:xfrm>
              <a:off x="5766" y="3960"/>
              <a:ext cx="3699" cy="1442"/>
            </a:xfrm>
            <a:prstGeom prst="roundRect">
              <a:avLst/>
            </a:prstGeom>
            <a:solidFill>
              <a:srgbClr val="BFBFB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buClrTx/>
                <a:buSzTx/>
                <a:buFontTx/>
                <a:buNone/>
              </a:pPr>
              <a:r>
                <a:rPr lang="zh-CN" altLang="en-US" sz="1800">
                  <a:solidFill>
                    <a:schemeClr val="tx1"/>
                  </a:solidFill>
                  <a:sym typeface="+mn-ea"/>
                </a:rPr>
                <a:t>确定性线性系统</a:t>
              </a:r>
              <a:endParaRPr lang="zh-CN" altLang="en-US" sz="1800">
                <a:solidFill>
                  <a:schemeClr val="tx1"/>
                </a:solidFill>
              </a:endParaRPr>
            </a:p>
          </p:txBody>
        </p:sp>
        <p:sp>
          <p:nvSpPr>
            <p:cNvPr id="8" name="圆角矩形 7"/>
            <p:cNvSpPr/>
            <p:nvPr/>
          </p:nvSpPr>
          <p:spPr>
            <a:xfrm>
              <a:off x="1717" y="3960"/>
              <a:ext cx="3699" cy="1442"/>
            </a:xfrm>
            <a:prstGeom prst="roundRect">
              <a:avLst/>
            </a:prstGeom>
            <a:solidFill>
              <a:srgbClr val="BFBFBF"/>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algn="ctr">
                <a:buClrTx/>
                <a:buSzTx/>
                <a:buFontTx/>
                <a:buNone/>
              </a:pPr>
              <a:r>
                <a:rPr lang="zh-CN" altLang="en-US" sz="1800">
                  <a:solidFill>
                    <a:schemeClr val="tx1"/>
                  </a:solidFill>
                  <a:sym typeface="+mn-ea"/>
                </a:rPr>
                <a:t>安全集构造</a:t>
              </a:r>
              <a:endParaRPr lang="zh-CN" altLang="en-US" sz="1800">
                <a:solidFill>
                  <a:schemeClr val="tx1"/>
                </a:solidFill>
                <a:sym typeface="+mn-ea"/>
              </a:endParaRPr>
            </a:p>
          </p:txBody>
        </p:sp>
        <p:sp>
          <p:nvSpPr>
            <p:cNvPr id="9" name="圆角矩形 8"/>
            <p:cNvSpPr/>
            <p:nvPr/>
          </p:nvSpPr>
          <p:spPr>
            <a:xfrm>
              <a:off x="13864" y="3944"/>
              <a:ext cx="3699" cy="1458"/>
            </a:xfrm>
            <a:prstGeom prst="roundRect">
              <a:avLst/>
            </a:prstGeom>
            <a:solidFill>
              <a:srgbClr val="BFBFBF"/>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algn="ctr">
                <a:buNone/>
              </a:pPr>
              <a:r>
                <a:rPr lang="zh-CN" altLang="en-US" sz="1800">
                  <a:solidFill>
                    <a:schemeClr val="tx1"/>
                  </a:solidFill>
                  <a:sym typeface="+mn-ea"/>
                </a:rPr>
                <a:t>分片仿射 </a:t>
              </a:r>
              <a:r>
                <a:rPr lang="en-US" altLang="zh-CN" sz="1800" b="1">
                  <a:solidFill>
                    <a:srgbClr val="FF0000"/>
                  </a:solidFill>
                  <a:sym typeface="+mn-ea"/>
                </a:rPr>
                <a:t>CBF</a:t>
              </a:r>
              <a:endParaRPr lang="en-US" altLang="zh-CN" sz="1800" b="1">
                <a:solidFill>
                  <a:srgbClr val="FF0000"/>
                </a:solidFill>
                <a:sym typeface="+mn-ea"/>
              </a:endParaRPr>
            </a:p>
          </p:txBody>
        </p:sp>
        <p:sp>
          <p:nvSpPr>
            <p:cNvPr id="10" name="圆角矩形 9"/>
            <p:cNvSpPr/>
            <p:nvPr/>
          </p:nvSpPr>
          <p:spPr>
            <a:xfrm>
              <a:off x="5766" y="5636"/>
              <a:ext cx="3699" cy="1442"/>
            </a:xfrm>
            <a:prstGeom prst="roundRect">
              <a:avLst/>
            </a:prstGeom>
            <a:solidFill>
              <a:srgbClr val="BFBFB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buNone/>
              </a:pPr>
              <a:r>
                <a:rPr lang="zh-CN" altLang="en-US" sz="1800">
                  <a:solidFill>
                    <a:schemeClr val="tx1"/>
                  </a:solidFill>
                  <a:sym typeface="+mn-ea"/>
                </a:rPr>
                <a:t>随机扰动系统</a:t>
              </a:r>
              <a:endParaRPr lang="zh-CN" altLang="en-US" sz="1800">
                <a:solidFill>
                  <a:schemeClr val="tx1"/>
                </a:solidFill>
              </a:endParaRPr>
            </a:p>
          </p:txBody>
        </p:sp>
        <p:sp>
          <p:nvSpPr>
            <p:cNvPr id="11" name="圆角矩形 10"/>
            <p:cNvSpPr/>
            <p:nvPr/>
          </p:nvSpPr>
          <p:spPr>
            <a:xfrm>
              <a:off x="1717" y="5636"/>
              <a:ext cx="3699" cy="1442"/>
            </a:xfrm>
            <a:prstGeom prst="roundRect">
              <a:avLst/>
            </a:prstGeom>
            <a:solidFill>
              <a:srgbClr val="BFBFBF"/>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algn="ctr">
                <a:buClrTx/>
                <a:buSzTx/>
                <a:buFontTx/>
                <a:buNone/>
              </a:pPr>
              <a:r>
                <a:rPr lang="zh-CN" altLang="en-US" sz="1800">
                  <a:solidFill>
                    <a:schemeClr val="tx1"/>
                  </a:solidFill>
                  <a:sym typeface="+mn-ea"/>
                </a:rPr>
                <a:t>概率安全学习</a:t>
              </a:r>
              <a:endParaRPr lang="zh-CN" altLang="en-US" sz="1800">
                <a:solidFill>
                  <a:schemeClr val="tx1"/>
                </a:solidFill>
                <a:sym typeface="+mn-ea"/>
              </a:endParaRPr>
            </a:p>
          </p:txBody>
        </p:sp>
        <p:sp>
          <p:nvSpPr>
            <p:cNvPr id="13" name="圆角矩形 12"/>
            <p:cNvSpPr/>
            <p:nvPr/>
          </p:nvSpPr>
          <p:spPr>
            <a:xfrm>
              <a:off x="13864" y="5620"/>
              <a:ext cx="3699" cy="1458"/>
            </a:xfrm>
            <a:prstGeom prst="roundRect">
              <a:avLst/>
            </a:prstGeom>
            <a:solidFill>
              <a:srgbClr val="BFBFBF"/>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algn="ctr">
                <a:buClrTx/>
                <a:buSzTx/>
                <a:buFontTx/>
                <a:buNone/>
              </a:pPr>
              <a:r>
                <a:rPr lang="zh-CN" altLang="en-US" sz="1800">
                  <a:solidFill>
                    <a:schemeClr val="tx1"/>
                  </a:solidFill>
                  <a:sym typeface="+mn-ea"/>
                </a:rPr>
                <a:t>机会约束</a:t>
              </a:r>
              <a:r>
                <a:rPr lang="en-US" altLang="zh-CN" sz="1800">
                  <a:solidFill>
                    <a:srgbClr val="003366"/>
                  </a:solidFill>
                  <a:sym typeface="+mn-ea"/>
                </a:rPr>
                <a:t> </a:t>
              </a:r>
              <a:r>
                <a:rPr lang="en-US" altLang="zh-CN" sz="1800" b="1">
                  <a:solidFill>
                    <a:srgbClr val="FF0000"/>
                  </a:solidFill>
                  <a:sym typeface="+mn-ea"/>
                </a:rPr>
                <a:t>RL</a:t>
              </a:r>
              <a:endParaRPr lang="zh-CN" altLang="en-US" sz="1800">
                <a:solidFill>
                  <a:schemeClr val="tx1"/>
                </a:solidFill>
                <a:sym typeface="+mn-ea"/>
              </a:endParaRPr>
            </a:p>
          </p:txBody>
        </p:sp>
        <p:sp>
          <p:nvSpPr>
            <p:cNvPr id="21" name="圆角矩形 20"/>
            <p:cNvSpPr/>
            <p:nvPr/>
          </p:nvSpPr>
          <p:spPr>
            <a:xfrm>
              <a:off x="5766" y="7296"/>
              <a:ext cx="3699" cy="1442"/>
            </a:xfrm>
            <a:prstGeom prst="roundRect">
              <a:avLst/>
            </a:prstGeom>
            <a:solidFill>
              <a:srgbClr val="BFBFB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buNone/>
              </a:pPr>
              <a:r>
                <a:rPr lang="zh-CN" altLang="en-US" sz="1800">
                  <a:solidFill>
                    <a:schemeClr val="tx1"/>
                  </a:solidFill>
                  <a:sym typeface="+mn-ea"/>
                </a:rPr>
                <a:t>随机扰动系统</a:t>
              </a:r>
              <a:endParaRPr lang="zh-CN" altLang="en-US" sz="1800">
                <a:solidFill>
                  <a:schemeClr val="tx1"/>
                </a:solidFill>
              </a:endParaRPr>
            </a:p>
          </p:txBody>
        </p:sp>
        <p:sp>
          <p:nvSpPr>
            <p:cNvPr id="22" name="圆角矩形 21"/>
            <p:cNvSpPr/>
            <p:nvPr/>
          </p:nvSpPr>
          <p:spPr>
            <a:xfrm>
              <a:off x="1717" y="7296"/>
              <a:ext cx="3699" cy="1442"/>
            </a:xfrm>
            <a:prstGeom prst="roundRect">
              <a:avLst/>
            </a:prstGeom>
            <a:solidFill>
              <a:srgbClr val="BFBFBF"/>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algn="ctr">
                <a:buClrTx/>
                <a:buSzTx/>
                <a:buFontTx/>
                <a:buNone/>
              </a:pPr>
              <a:r>
                <a:rPr lang="zh-CN" altLang="en-US" sz="1800">
                  <a:solidFill>
                    <a:schemeClr val="tx1"/>
                  </a:solidFill>
                  <a:sym typeface="+mn-ea"/>
                </a:rPr>
                <a:t>概率安全</a:t>
              </a:r>
              <a:r>
                <a:rPr lang="zh-CN" altLang="en-US" sz="1800">
                  <a:solidFill>
                    <a:schemeClr val="tx1"/>
                  </a:solidFill>
                  <a:sym typeface="+mn-ea"/>
                </a:rPr>
                <a:t>优化</a:t>
              </a:r>
              <a:endParaRPr lang="zh-CN" altLang="en-US" sz="1800">
                <a:solidFill>
                  <a:schemeClr val="tx1"/>
                </a:solidFill>
                <a:sym typeface="+mn-ea"/>
              </a:endParaRPr>
            </a:p>
          </p:txBody>
        </p:sp>
        <p:sp>
          <p:nvSpPr>
            <p:cNvPr id="23" name="圆角矩形 22"/>
            <p:cNvSpPr/>
            <p:nvPr/>
          </p:nvSpPr>
          <p:spPr>
            <a:xfrm>
              <a:off x="13864" y="7296"/>
              <a:ext cx="3699" cy="1458"/>
            </a:xfrm>
            <a:prstGeom prst="roundRect">
              <a:avLst/>
            </a:prstGeom>
            <a:solidFill>
              <a:srgbClr val="BFBFBF"/>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algn="ctr">
                <a:buClrTx/>
                <a:buSzTx/>
                <a:buFontTx/>
                <a:buNone/>
              </a:pPr>
              <a:r>
                <a:rPr lang="zh-CN" altLang="en-US" sz="1800">
                  <a:solidFill>
                    <a:schemeClr val="tx1"/>
                  </a:solidFill>
                  <a:sym typeface="+mn-ea"/>
                </a:rPr>
                <a:t>机会约束</a:t>
              </a:r>
              <a:r>
                <a:rPr lang="en-US" altLang="zh-CN" sz="1800">
                  <a:solidFill>
                    <a:srgbClr val="003366"/>
                  </a:solidFill>
                  <a:sym typeface="+mn-ea"/>
                </a:rPr>
                <a:t> </a:t>
              </a:r>
              <a:r>
                <a:rPr lang="en-US" altLang="zh-CN" sz="1800" b="1">
                  <a:solidFill>
                    <a:srgbClr val="FF0000"/>
                  </a:solidFill>
                  <a:sym typeface="+mn-ea"/>
                </a:rPr>
                <a:t>MPC</a:t>
              </a:r>
              <a:endParaRPr lang="zh-CN" altLang="en-US" sz="1800" b="1">
                <a:solidFill>
                  <a:schemeClr val="tx1"/>
                </a:solidFill>
                <a:sym typeface="+mn-ea"/>
              </a:endParaRPr>
            </a:p>
          </p:txBody>
        </p:sp>
        <p:sp>
          <p:nvSpPr>
            <p:cNvPr id="6" name="圆角矩形 5"/>
            <p:cNvSpPr/>
            <p:nvPr/>
          </p:nvSpPr>
          <p:spPr>
            <a:xfrm>
              <a:off x="9808" y="2237"/>
              <a:ext cx="3699" cy="949"/>
            </a:xfrm>
            <a:prstGeom prst="roundRect">
              <a:avLst/>
            </a:prstGeom>
            <a:solidFill>
              <a:schemeClr val="bg1">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800">
                  <a:sym typeface="+mn-ea"/>
                </a:rPr>
                <a:t>研究目标</a:t>
              </a:r>
              <a:endParaRPr lang="zh-CN" altLang="en-US" sz="1800">
                <a:sym typeface="+mn-ea"/>
              </a:endParaRPr>
            </a:p>
          </p:txBody>
        </p:sp>
        <p:sp>
          <p:nvSpPr>
            <p:cNvPr id="25" name="圆角矩形 24"/>
            <p:cNvSpPr/>
            <p:nvPr/>
          </p:nvSpPr>
          <p:spPr>
            <a:xfrm>
              <a:off x="9808" y="3944"/>
              <a:ext cx="3699" cy="1458"/>
            </a:xfrm>
            <a:prstGeom prst="roundRect">
              <a:avLst/>
            </a:prstGeom>
            <a:solidFill>
              <a:srgbClr val="BFBFBF"/>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algn="ctr">
                <a:buNone/>
              </a:pPr>
              <a:r>
                <a:rPr lang="zh-CN" altLang="en-US" sz="1800">
                  <a:solidFill>
                    <a:srgbClr val="FF0000"/>
                  </a:solidFill>
                  <a:sym typeface="+mn-ea"/>
                </a:rPr>
                <a:t>更易训练同时更接近</a:t>
              </a:r>
              <a:r>
                <a:rPr lang="en-US" altLang="zh-CN" sz="1800">
                  <a:solidFill>
                    <a:srgbClr val="FF0000"/>
                  </a:solidFill>
                  <a:sym typeface="+mn-ea"/>
                </a:rPr>
                <a:t>CBF</a:t>
              </a:r>
              <a:r>
                <a:rPr lang="zh-CN" altLang="en-US" sz="1800">
                  <a:solidFill>
                    <a:srgbClr val="FF0000"/>
                  </a:solidFill>
                  <a:sym typeface="+mn-ea"/>
                </a:rPr>
                <a:t>传统理论保证的学习型</a:t>
              </a:r>
              <a:r>
                <a:rPr lang="en-US" altLang="zh-CN" sz="1800">
                  <a:solidFill>
                    <a:srgbClr val="FF0000"/>
                  </a:solidFill>
                  <a:sym typeface="+mn-ea"/>
                </a:rPr>
                <a:t> CBF </a:t>
              </a:r>
              <a:endParaRPr lang="en-US" altLang="zh-CN" sz="1800">
                <a:solidFill>
                  <a:srgbClr val="FF0000"/>
                </a:solidFill>
                <a:sym typeface="+mn-ea"/>
              </a:endParaRPr>
            </a:p>
          </p:txBody>
        </p:sp>
        <p:sp>
          <p:nvSpPr>
            <p:cNvPr id="30" name="圆角矩形 29"/>
            <p:cNvSpPr/>
            <p:nvPr/>
          </p:nvSpPr>
          <p:spPr>
            <a:xfrm>
              <a:off x="9808" y="5620"/>
              <a:ext cx="3699" cy="1458"/>
            </a:xfrm>
            <a:prstGeom prst="roundRect">
              <a:avLst/>
            </a:prstGeom>
            <a:solidFill>
              <a:srgbClr val="BFBFBF"/>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algn="ctr">
                <a:buNone/>
              </a:pPr>
              <a:r>
                <a:rPr lang="zh-CN" altLang="en-US" sz="1800">
                  <a:solidFill>
                    <a:srgbClr val="FF0000"/>
                  </a:solidFill>
                  <a:sym typeface="+mn-ea"/>
                </a:rPr>
                <a:t>更有利于机会约束收敛的罚函数与梯度处理机制</a:t>
              </a:r>
              <a:endParaRPr lang="zh-CN" altLang="en-US" sz="1800">
                <a:solidFill>
                  <a:srgbClr val="FF0000"/>
                </a:solidFill>
                <a:sym typeface="+mn-ea"/>
              </a:endParaRPr>
            </a:p>
          </p:txBody>
        </p:sp>
        <p:sp>
          <p:nvSpPr>
            <p:cNvPr id="32" name="圆角矩形 31"/>
            <p:cNvSpPr/>
            <p:nvPr/>
          </p:nvSpPr>
          <p:spPr>
            <a:xfrm>
              <a:off x="9808" y="7296"/>
              <a:ext cx="3699" cy="1458"/>
            </a:xfrm>
            <a:prstGeom prst="roundRect">
              <a:avLst/>
            </a:prstGeom>
            <a:solidFill>
              <a:srgbClr val="BFBFBF"/>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algn="ctr">
                <a:buNone/>
              </a:pPr>
              <a:r>
                <a:rPr lang="zh-CN" altLang="en-US" sz="1800">
                  <a:solidFill>
                    <a:srgbClr val="FF0000"/>
                  </a:solidFill>
                  <a:sym typeface="+mn-ea"/>
                </a:rPr>
                <a:t>兼具低保守性与理论可证明性的</a:t>
              </a:r>
              <a:r>
                <a:rPr lang="en-US" altLang="zh-CN" sz="1800">
                  <a:solidFill>
                    <a:srgbClr val="FF0000"/>
                  </a:solidFill>
                  <a:sym typeface="+mn-ea"/>
                </a:rPr>
                <a:t>SMPC</a:t>
              </a:r>
              <a:r>
                <a:rPr lang="zh-CN" altLang="en-US" sz="1800">
                  <a:solidFill>
                    <a:srgbClr val="FF0000"/>
                  </a:solidFill>
                  <a:sym typeface="+mn-ea"/>
                </a:rPr>
                <a:t>方法</a:t>
              </a:r>
              <a:endParaRPr lang="zh-CN" altLang="en-US" sz="1800">
                <a:solidFill>
                  <a:srgbClr val="FF0000"/>
                </a:solidFill>
                <a:sym typeface="+mn-ea"/>
              </a:endParaRPr>
            </a:p>
          </p:txBody>
        </p:sp>
        <p:sp>
          <p:nvSpPr>
            <p:cNvPr id="16" name="左中括号 15"/>
            <p:cNvSpPr/>
            <p:nvPr/>
          </p:nvSpPr>
          <p:spPr>
            <a:xfrm>
              <a:off x="1347" y="4074"/>
              <a:ext cx="344" cy="4601"/>
            </a:xfrm>
            <a:prstGeom prst="leftBracket">
              <a:avLst/>
            </a:prstGeom>
            <a:ln w="31750" cap="rnd">
              <a:solidFill>
                <a:schemeClr val="tx1"/>
              </a:solidFill>
              <a:round/>
            </a:ln>
          </p:spPr>
          <p:style>
            <a:lnRef idx="0">
              <a:srgbClr val="FFFFFF"/>
            </a:lnRef>
            <a:fillRef idx="0">
              <a:srgbClr val="FFFFFF"/>
            </a:fillRef>
            <a:effectRef idx="0">
              <a:srgbClr val="FFFFFF"/>
            </a:effectRef>
            <a:fontRef idx="minor">
              <a:schemeClr val="tx1"/>
            </a:fontRef>
          </p:style>
          <p:txBody>
            <a:bodyPr rtlCol="0" anchor="ctr"/>
            <a:p>
              <a:pPr algn="ctr"/>
              <a:endParaRPr lang="zh-CN" altLang="en-US"/>
            </a:p>
          </p:txBody>
        </p:sp>
        <p:sp>
          <p:nvSpPr>
            <p:cNvPr id="17" name="文本框 16"/>
            <p:cNvSpPr txBox="1"/>
            <p:nvPr/>
          </p:nvSpPr>
          <p:spPr>
            <a:xfrm>
              <a:off x="639" y="4542"/>
              <a:ext cx="364" cy="3269"/>
            </a:xfrm>
            <a:prstGeom prst="rect">
              <a:avLst/>
            </a:prstGeom>
            <a:noFill/>
          </p:spPr>
          <p:txBody>
            <a:bodyPr wrap="square" rtlCol="0">
              <a:noAutofit/>
            </a:bodyPr>
            <a:p>
              <a:pPr algn="ctr"/>
              <a:r>
                <a:rPr lang="zh-CN" altLang="en-US" b="1">
                  <a:solidFill>
                    <a:srgbClr val="FF0000"/>
                  </a:solidFill>
                </a:rPr>
                <a:t>系统安全控制</a:t>
              </a:r>
              <a:endParaRPr lang="zh-CN" altLang="en-US" b="1">
                <a:solidFill>
                  <a:srgbClr val="FF0000"/>
                </a:solidFill>
              </a:endParaRPr>
            </a:p>
          </p:txBody>
        </p:sp>
      </p:grpSp>
      <p:sp>
        <p:nvSpPr>
          <p:cNvPr id="19" name="文本框 18"/>
          <p:cNvSpPr txBox="1"/>
          <p:nvPr/>
        </p:nvSpPr>
        <p:spPr>
          <a:xfrm>
            <a:off x="0" y="2048510"/>
            <a:ext cx="1778635" cy="368300"/>
          </a:xfrm>
          <a:prstGeom prst="rect">
            <a:avLst/>
          </a:prstGeom>
          <a:noFill/>
        </p:spPr>
        <p:txBody>
          <a:bodyPr wrap="square" rtlCol="0">
            <a:spAutoFit/>
          </a:bodyPr>
          <a:p>
            <a:pPr algn="ctr"/>
            <a:r>
              <a:rPr lang="zh-CN" altLang="en-US" b="1">
                <a:solidFill>
                  <a:schemeClr val="tx1"/>
                </a:solidFill>
              </a:rPr>
              <a:t>确定系统安全</a:t>
            </a:r>
            <a:r>
              <a:rPr lang="en-US" altLang="zh-CN">
                <a:solidFill>
                  <a:srgbClr val="FF0000"/>
                </a:solidFill>
              </a:rPr>
              <a:t>      </a:t>
            </a:r>
            <a:r>
              <a:rPr lang="en-US" altLang="zh-CN"/>
              <a:t>                               </a:t>
            </a:r>
            <a:endParaRPr lang="zh-CN" altLang="en-US"/>
          </a:p>
        </p:txBody>
      </p:sp>
      <p:cxnSp>
        <p:nvCxnSpPr>
          <p:cNvPr id="20" name="直接箭头连接符 19"/>
          <p:cNvCxnSpPr/>
          <p:nvPr/>
        </p:nvCxnSpPr>
        <p:spPr>
          <a:xfrm>
            <a:off x="405130" y="2602230"/>
            <a:ext cx="24130" cy="2886075"/>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24" name="文本框 23"/>
          <p:cNvSpPr txBox="1"/>
          <p:nvPr/>
        </p:nvSpPr>
        <p:spPr>
          <a:xfrm>
            <a:off x="-32385" y="5655945"/>
            <a:ext cx="1614170" cy="368300"/>
          </a:xfrm>
          <a:prstGeom prst="rect">
            <a:avLst/>
          </a:prstGeom>
          <a:noFill/>
        </p:spPr>
        <p:txBody>
          <a:bodyPr wrap="square" rtlCol="0">
            <a:spAutoFit/>
          </a:bodyPr>
          <a:p>
            <a:pPr algn="ctr"/>
            <a:r>
              <a:rPr lang="zh-CN" altLang="en-US" b="1">
                <a:sym typeface="+mn-ea"/>
              </a:rPr>
              <a:t>随机系统安全</a:t>
            </a:r>
            <a:endParaRPr lang="zh-CN" altLang="en-US"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1915795" y="3128645"/>
            <a:ext cx="7466965" cy="63246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buClrTx/>
              <a:buSzTx/>
              <a:buFontTx/>
            </a:pPr>
            <a:r>
              <a:rPr lang="zh-CN" altLang="en-US" sz="2800" b="1">
                <a:solidFill>
                  <a:schemeClr val="accent1"/>
                </a:solidFill>
                <a:sym typeface="+mn-ea"/>
              </a:rPr>
              <a:t>分片仿射网络理论基础</a:t>
            </a:r>
            <a:endParaRPr lang="zh-CN" altLang="en-US" sz="2800" b="1">
              <a:solidFill>
                <a:schemeClr val="accent1"/>
              </a:solidFill>
            </a:endParaRPr>
          </a:p>
        </p:txBody>
      </p:sp>
      <p:sp>
        <p:nvSpPr>
          <p:cNvPr id="27" name="矩形 26"/>
          <p:cNvSpPr/>
          <p:nvPr/>
        </p:nvSpPr>
        <p:spPr>
          <a:xfrm>
            <a:off x="1915160" y="3956685"/>
            <a:ext cx="7466965" cy="63246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buClrTx/>
              <a:buSzTx/>
              <a:buFontTx/>
            </a:pPr>
            <a:r>
              <a:rPr lang="zh-CN" altLang="en-US" sz="2800" b="1" u="sng">
                <a:solidFill>
                  <a:schemeClr val="accent1"/>
                </a:solidFill>
                <a:effectLst/>
                <a:sym typeface="+mn-ea"/>
              </a:rPr>
              <a:t>基于分片仿射网络的控制障碍函数逼近</a:t>
            </a:r>
            <a:endParaRPr lang="zh-CN" altLang="en-US" sz="2800" b="1" u="sng">
              <a:solidFill>
                <a:schemeClr val="accent1"/>
              </a:solidFill>
              <a:effectLst/>
              <a:sym typeface="+mn-ea"/>
            </a:endParaRPr>
          </a:p>
        </p:txBody>
      </p:sp>
      <p:sp>
        <p:nvSpPr>
          <p:cNvPr id="28" name="矩形 27"/>
          <p:cNvSpPr/>
          <p:nvPr/>
        </p:nvSpPr>
        <p:spPr>
          <a:xfrm>
            <a:off x="1914525" y="4784725"/>
            <a:ext cx="7466965" cy="63246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buClrTx/>
              <a:buSzTx/>
              <a:buFontTx/>
            </a:pPr>
            <a:r>
              <a:rPr lang="zh-CN" altLang="en-US" sz="2800" b="1">
                <a:solidFill>
                  <a:schemeClr val="accent1"/>
                </a:solidFill>
                <a:sym typeface="+mn-ea"/>
              </a:rPr>
              <a:t>实验结果</a:t>
            </a:r>
            <a:endParaRPr lang="zh-CN" altLang="en-US" sz="2800" b="1">
              <a:solidFill>
                <a:schemeClr val="accent1"/>
              </a:solidFill>
            </a:endParaRPr>
          </a:p>
        </p:txBody>
      </p:sp>
      <p:sp>
        <p:nvSpPr>
          <p:cNvPr id="2" name="矩形 1"/>
          <p:cNvSpPr/>
          <p:nvPr/>
        </p:nvSpPr>
        <p:spPr>
          <a:xfrm>
            <a:off x="8876665" y="1905"/>
            <a:ext cx="3327400" cy="1172845"/>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sz="1800" noProof="1"/>
          </a:p>
        </p:txBody>
      </p:sp>
      <p:sp>
        <p:nvSpPr>
          <p:cNvPr id="3" name="文本框 2"/>
          <p:cNvSpPr txBox="1"/>
          <p:nvPr/>
        </p:nvSpPr>
        <p:spPr>
          <a:xfrm>
            <a:off x="8850630" y="227965"/>
            <a:ext cx="3405505" cy="678815"/>
          </a:xfrm>
          <a:prstGeom prst="rect">
            <a:avLst/>
          </a:prstGeom>
          <a:noFill/>
        </p:spPr>
        <p:txBody>
          <a:bodyPr wrap="square" rtlCol="0">
            <a:noAutofit/>
          </a:bodyPr>
          <a:p>
            <a:pPr algn="ctr"/>
            <a:r>
              <a:rPr lang="zh-CN" altLang="en-US" sz="4000" b="1">
                <a:solidFill>
                  <a:schemeClr val="bg1"/>
                </a:solidFill>
              </a:rPr>
              <a:t>第二章</a:t>
            </a:r>
            <a:endParaRPr lang="zh-CN" altLang="en-US" sz="4000" b="1">
              <a:solidFill>
                <a:schemeClr val="bg1"/>
              </a:solidFill>
            </a:endParaRPr>
          </a:p>
        </p:txBody>
      </p:sp>
      <p:sp>
        <p:nvSpPr>
          <p:cNvPr id="5" name="文本框 4"/>
          <p:cNvSpPr txBox="1"/>
          <p:nvPr/>
        </p:nvSpPr>
        <p:spPr>
          <a:xfrm>
            <a:off x="1566545" y="1203325"/>
            <a:ext cx="8094345" cy="645160"/>
          </a:xfrm>
          <a:prstGeom prst="rect">
            <a:avLst/>
          </a:prstGeom>
          <a:noFill/>
        </p:spPr>
        <p:txBody>
          <a:bodyPr wrap="square" rtlCol="0" anchor="t">
            <a:spAutoFit/>
          </a:bodyPr>
          <a:p>
            <a:pPr algn="ctr">
              <a:buClrTx/>
              <a:buSzTx/>
              <a:buFontTx/>
            </a:pPr>
            <a:r>
              <a:rPr lang="zh-CN" altLang="en-US" sz="3600" b="1">
                <a:solidFill>
                  <a:schemeClr val="tx1"/>
                </a:solidFill>
                <a:latin typeface="+mn-lt"/>
                <a:ea typeface="+mn-ea"/>
                <a:sym typeface="+mn-ea"/>
              </a:rPr>
              <a:t>基于学习的分片仿射控制障碍网络</a:t>
            </a:r>
            <a:endParaRPr lang="zh-CN" altLang="en-US" sz="3600" b="1">
              <a:solidFill>
                <a:schemeClr val="tx1"/>
              </a:solidFill>
              <a:latin typeface="+mn-lt"/>
              <a:ea typeface="+mn-ea"/>
              <a:sym typeface="+mn-ea"/>
            </a:endParaRPr>
          </a:p>
        </p:txBody>
      </p:sp>
      <p:sp>
        <p:nvSpPr>
          <p:cNvPr id="25" name="矩形 24"/>
          <p:cNvSpPr/>
          <p:nvPr/>
        </p:nvSpPr>
        <p:spPr>
          <a:xfrm>
            <a:off x="1914525" y="2300605"/>
            <a:ext cx="7466965" cy="63246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b="1">
                <a:solidFill>
                  <a:schemeClr val="accent1"/>
                </a:solidFill>
                <a:sym typeface="+mn-ea"/>
              </a:rPr>
              <a:t>控制障碍函数理论基础</a:t>
            </a:r>
            <a:endParaRPr lang="zh-CN" altLang="en-US" sz="2800" b="1">
              <a:solidFill>
                <a:schemeClr val="accent1"/>
              </a:solidFill>
              <a:sym typeface="+mn-ea"/>
            </a:endParaRPr>
          </a:p>
        </p:txBody>
      </p:sp>
      <p:sp>
        <p:nvSpPr>
          <p:cNvPr id="4" name="右箭头 3"/>
          <p:cNvSpPr/>
          <p:nvPr/>
        </p:nvSpPr>
        <p:spPr>
          <a:xfrm>
            <a:off x="426085" y="4005580"/>
            <a:ext cx="1595755" cy="5181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主要工作</a:t>
            </a:r>
            <a:endParaRPr lang="zh-CN" alt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5" name="组合 14"/>
          <p:cNvGrpSpPr/>
          <p:nvPr/>
        </p:nvGrpSpPr>
        <p:grpSpPr>
          <a:xfrm>
            <a:off x="2044700" y="3400425"/>
            <a:ext cx="8315960" cy="2167890"/>
            <a:chOff x="2164" y="5354"/>
            <a:chExt cx="13096" cy="3414"/>
          </a:xfrm>
        </p:grpSpPr>
        <p:sp>
          <p:nvSpPr>
            <p:cNvPr id="6" name="圆角矩形 5"/>
            <p:cNvSpPr/>
            <p:nvPr/>
          </p:nvSpPr>
          <p:spPr>
            <a:xfrm>
              <a:off x="2164" y="5396"/>
              <a:ext cx="13096" cy="3330"/>
            </a:xfrm>
            <a:prstGeom prst="roundRect">
              <a:avLst/>
            </a:prstGeom>
            <a:solidFill>
              <a:srgbClr val="4E67C8">
                <a:alpha val="3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9" name="文本框 8"/>
                <p:cNvSpPr txBox="1"/>
                <p:nvPr/>
              </p:nvSpPr>
              <p:spPr>
                <a:xfrm>
                  <a:off x="2504" y="5354"/>
                  <a:ext cx="12417" cy="3415"/>
                </a:xfrm>
                <a:prstGeom prst="rect">
                  <a:avLst/>
                </a:prstGeom>
                <a:noFill/>
              </p:spPr>
              <p:txBody>
                <a:bodyPr wrap="square" rtlCol="0">
                  <a:spAutoFit/>
                </a:bodyPr>
                <a:p>
                  <a:pPr marL="0" algn="l" latinLnBrk="0">
                    <a:lnSpc>
                      <a:spcPct val="150000"/>
                    </a:lnSpc>
                  </a:pPr>
                  <a:r>
                    <a:rPr lang="zh-CN" altLang="en-US"/>
                    <a:t>离散时间</a:t>
                  </a:r>
                  <a:r>
                    <a:rPr lang="en-US" altLang="zh-CN"/>
                    <a:t>CBF</a:t>
                  </a:r>
                  <a:r>
                    <a:rPr lang="zh-CN" altLang="en-US"/>
                    <a:t>条件：</a:t>
                  </a:r>
                  <a:endParaRPr lang="zh-CN" altLang="en-US"/>
                </a:p>
                <a:p>
                  <a:pPr marL="0" algn="l" latinLnBrk="0">
                    <a:lnSpc>
                      <a:spcPct val="150000"/>
                    </a:lnSpc>
                  </a:pPr>
                  <a:r>
                    <a:rPr lang="zh-CN" altLang="en-US"/>
                    <a:t>若存在函数</a:t>
                  </a:r>
                  <a14:m>
                    <m:oMath xmlns:m="http://schemas.openxmlformats.org/officeDocument/2006/math">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oMath>
                  </a14:m>
                  <a:r>
                    <a:rPr lang="zh-CN" altLang="en-US">
                      <a:latin typeface="Cambria Math" panose="02040503050406030204" charset="0"/>
                      <a:cs typeface="Cambria Math" panose="02040503050406030204" charset="0"/>
                    </a:rPr>
                    <a:t>和常数</a:t>
                  </a:r>
                  <a14:m>
                    <m:oMath xmlns:m="http://schemas.openxmlformats.org/officeDocument/2006/math">
                      <m:r>
                        <a:rPr lang="en-US" altLang="zh-CN" i="1">
                          <a:latin typeface="Cambria Math" panose="02040503050406030204" charset="0"/>
                          <a:cs typeface="Cambria Math" panose="02040503050406030204" charset="0"/>
                        </a:rPr>
                        <m:t>𝛾</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oMath>
                  </a14:m>
                  <a:r>
                    <a:rPr lang="en-US" altLang="zh-CN"/>
                    <a:t>,</a:t>
                  </a:r>
                  <a:r>
                    <a:rPr lang="zh-CN" altLang="en-US"/>
                    <a:t>使得对任意</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𝐶</m:t>
                      </m:r>
                    </m:oMath>
                  </a14:m>
                  <a:r>
                    <a:rPr lang="en-US" altLang="zh-CN"/>
                    <a:t>,</a:t>
                  </a:r>
                  <a:r>
                    <a:rPr lang="zh-CN" altLang="en-US"/>
                    <a:t>存在控制输入</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𝑢</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𝑈</m:t>
                      </m:r>
                      <m:r>
                        <a:rPr lang="en-US" altLang="zh-CN" i="1">
                          <a:latin typeface="Cambria Math" panose="02040503050406030204" charset="0"/>
                          <a:cs typeface="Cambria Math" panose="02040503050406030204" charset="0"/>
                        </a:rPr>
                        <m:t>,</m:t>
                      </m:r>
                    </m:oMath>
                  </a14:m>
                  <a:r>
                    <a:rPr lang="zh-CN" altLang="en-US"/>
                    <a:t>满足</a:t>
                  </a:r>
                  <a:endParaRPr lang="zh-CN" altLang="en-US"/>
                </a:p>
                <a:p>
                  <a:pPr marL="0" indent="457200" algn="l" latinLnBrk="0">
                    <a:lnSpc>
                      <a:spcPct val="150000"/>
                    </a:lnSpc>
                  </a:pPr>
                  <a14:m>
                    <m:oMathPara xmlns:m="http://schemas.openxmlformats.org/officeDocument/2006/math">
                      <m:oMathParaPr>
                        <m:jc m:val="centerGroup"/>
                      </m:oMathParaPr>
                      <m:oMath xmlns:m="http://schemas.openxmlformats.org/officeDocument/2006/math">
                        <m:r>
                          <a:rPr lang="en-US" altLang="zh-CN" b="1" i="1">
                            <a:solidFill>
                              <a:srgbClr val="FF0000"/>
                            </a:solidFill>
                            <a:latin typeface="Cambria Math" panose="02040503050406030204" charset="0"/>
                            <a:cs typeface="Cambria Math" panose="02040503050406030204" charset="0"/>
                          </a:rPr>
                          <m:t>𝒉</m:t>
                        </m:r>
                        <m:r>
                          <a:rPr lang="en-US" altLang="zh-CN" b="1" i="1">
                            <a:solidFill>
                              <a:srgbClr val="FF0000"/>
                            </a:solidFill>
                            <a:latin typeface="Cambria Math" panose="02040503050406030204" charset="0"/>
                            <a:cs typeface="Cambria Math" panose="02040503050406030204" charset="0"/>
                          </a:rPr>
                          <m:t>(</m:t>
                        </m:r>
                        <m:sSub>
                          <m:sSubPr>
                            <m:ctrlPr>
                              <a:rPr lang="en-US" altLang="zh-CN" b="1" i="1">
                                <a:solidFill>
                                  <a:srgbClr val="FF0000"/>
                                </a:solidFill>
                                <a:latin typeface="Cambria Math" panose="02040503050406030204" charset="0"/>
                                <a:cs typeface="Cambria Math" panose="02040503050406030204" charset="0"/>
                              </a:rPr>
                            </m:ctrlPr>
                          </m:sSubPr>
                          <m:e>
                            <m:r>
                              <a:rPr lang="en-US" altLang="zh-CN" b="1" i="1">
                                <a:solidFill>
                                  <a:srgbClr val="FF0000"/>
                                </a:solidFill>
                                <a:latin typeface="Cambria Math" panose="02040503050406030204" charset="0"/>
                                <a:cs typeface="Cambria Math" panose="02040503050406030204" charset="0"/>
                              </a:rPr>
                              <m:t>𝒙</m:t>
                            </m:r>
                          </m:e>
                          <m:sub>
                            <m:r>
                              <a:rPr lang="en-US" altLang="zh-CN" b="1" i="1">
                                <a:solidFill>
                                  <a:srgbClr val="FF0000"/>
                                </a:solidFill>
                                <a:latin typeface="Cambria Math" panose="02040503050406030204" charset="0"/>
                                <a:cs typeface="Cambria Math" panose="02040503050406030204" charset="0"/>
                              </a:rPr>
                              <m:t>𝒌</m:t>
                            </m:r>
                            <m:r>
                              <a:rPr lang="en-US" altLang="zh-CN" b="1" i="1">
                                <a:solidFill>
                                  <a:srgbClr val="FF0000"/>
                                </a:solidFill>
                                <a:latin typeface="Cambria Math" panose="02040503050406030204" charset="0"/>
                                <a:cs typeface="Cambria Math" panose="02040503050406030204" charset="0"/>
                              </a:rPr>
                              <m:t>+</m:t>
                            </m:r>
                            <m:r>
                              <a:rPr lang="en-US" altLang="zh-CN" b="1" i="1">
                                <a:solidFill>
                                  <a:srgbClr val="FF0000"/>
                                </a:solidFill>
                                <a:latin typeface="Cambria Math" panose="02040503050406030204" charset="0"/>
                                <a:cs typeface="Cambria Math" panose="02040503050406030204" charset="0"/>
                              </a:rPr>
                              <m:t>𝟏</m:t>
                            </m:r>
                          </m:sub>
                        </m:sSub>
                        <m:r>
                          <a:rPr lang="en-US" altLang="zh-CN" b="1" i="1">
                            <a:solidFill>
                              <a:srgbClr val="FF0000"/>
                            </a:solidFill>
                            <a:latin typeface="Cambria Math" panose="02040503050406030204" charset="0"/>
                            <a:cs typeface="Cambria Math" panose="02040503050406030204" charset="0"/>
                          </a:rPr>
                          <m:t>)</m:t>
                        </m:r>
                        <m:r>
                          <a:rPr lang="en-US" altLang="zh-CN" b="1" i="1">
                            <a:solidFill>
                              <a:srgbClr val="FF0000"/>
                            </a:solidFill>
                            <a:latin typeface="Cambria Math" panose="02040503050406030204" charset="0"/>
                            <a:cs typeface="Cambria Math" panose="02040503050406030204" charset="0"/>
                          </a:rPr>
                          <m:t>−</m:t>
                        </m:r>
                        <m:r>
                          <a:rPr lang="en-US" altLang="zh-CN" b="1" i="1">
                            <a:solidFill>
                              <a:srgbClr val="FF0000"/>
                            </a:solidFill>
                            <a:latin typeface="Cambria Math" panose="02040503050406030204" charset="0"/>
                            <a:cs typeface="Cambria Math" panose="02040503050406030204" charset="0"/>
                          </a:rPr>
                          <m:t>𝒉</m:t>
                        </m:r>
                        <m:r>
                          <a:rPr lang="en-US" altLang="zh-CN" b="1" i="1">
                            <a:solidFill>
                              <a:srgbClr val="FF0000"/>
                            </a:solidFill>
                            <a:latin typeface="Cambria Math" panose="02040503050406030204" charset="0"/>
                            <a:cs typeface="Cambria Math" panose="02040503050406030204" charset="0"/>
                          </a:rPr>
                          <m:t>(</m:t>
                        </m:r>
                        <m:sSub>
                          <m:sSubPr>
                            <m:ctrlPr>
                              <a:rPr lang="en-US" altLang="zh-CN" b="1" i="1">
                                <a:solidFill>
                                  <a:srgbClr val="FF0000"/>
                                </a:solidFill>
                                <a:latin typeface="Cambria Math" panose="02040503050406030204" charset="0"/>
                                <a:cs typeface="Cambria Math" panose="02040503050406030204" charset="0"/>
                              </a:rPr>
                            </m:ctrlPr>
                          </m:sSubPr>
                          <m:e>
                            <m:r>
                              <a:rPr lang="en-US" altLang="zh-CN" b="1" i="1">
                                <a:solidFill>
                                  <a:srgbClr val="FF0000"/>
                                </a:solidFill>
                                <a:latin typeface="Cambria Math" panose="02040503050406030204" charset="0"/>
                                <a:cs typeface="Cambria Math" panose="02040503050406030204" charset="0"/>
                              </a:rPr>
                              <m:t>𝒙</m:t>
                            </m:r>
                          </m:e>
                          <m:sub>
                            <m:r>
                              <a:rPr lang="en-US" altLang="zh-CN" b="1" i="1">
                                <a:solidFill>
                                  <a:srgbClr val="FF0000"/>
                                </a:solidFill>
                                <a:latin typeface="Cambria Math" panose="02040503050406030204" charset="0"/>
                                <a:cs typeface="Cambria Math" panose="02040503050406030204" charset="0"/>
                              </a:rPr>
                              <m:t>𝒌</m:t>
                            </m:r>
                          </m:sub>
                        </m:sSub>
                        <m:r>
                          <a:rPr lang="en-US" altLang="zh-CN" b="1" i="1">
                            <a:solidFill>
                              <a:srgbClr val="FF0000"/>
                            </a:solidFill>
                            <a:latin typeface="Cambria Math" panose="02040503050406030204" charset="0"/>
                            <a:cs typeface="Cambria Math" panose="02040503050406030204" charset="0"/>
                          </a:rPr>
                          <m:t>)</m:t>
                        </m:r>
                        <m:r>
                          <a:rPr lang="en-US" altLang="zh-CN" b="1" i="1">
                            <a:solidFill>
                              <a:srgbClr val="FF0000"/>
                            </a:solidFill>
                            <a:latin typeface="Cambria Math" panose="02040503050406030204" charset="0"/>
                            <a:cs typeface="Cambria Math" panose="02040503050406030204" charset="0"/>
                          </a:rPr>
                          <m:t>≥</m:t>
                        </m:r>
                        <m:r>
                          <a:rPr lang="en-US" altLang="zh-CN" b="1" i="1">
                            <a:solidFill>
                              <a:srgbClr val="FF0000"/>
                            </a:solidFill>
                            <a:latin typeface="Cambria Math" panose="02040503050406030204" charset="0"/>
                            <a:cs typeface="Cambria Math" panose="02040503050406030204" charset="0"/>
                          </a:rPr>
                          <m:t>−</m:t>
                        </m:r>
                        <m:r>
                          <a:rPr lang="en-US" altLang="zh-CN" b="1" i="1">
                            <a:solidFill>
                              <a:srgbClr val="FF0000"/>
                            </a:solidFill>
                            <a:latin typeface="Cambria Math" panose="02040503050406030204" charset="0"/>
                            <a:cs typeface="Cambria Math" panose="02040503050406030204" charset="0"/>
                          </a:rPr>
                          <m:t>𝜸</m:t>
                        </m:r>
                        <m:r>
                          <a:rPr lang="en-US" altLang="zh-CN" b="1" i="1">
                            <a:solidFill>
                              <a:srgbClr val="FF0000"/>
                            </a:solidFill>
                            <a:latin typeface="Cambria Math" panose="02040503050406030204" charset="0"/>
                            <a:cs typeface="Cambria Math" panose="02040503050406030204" charset="0"/>
                          </a:rPr>
                          <m:t>𝒉</m:t>
                        </m:r>
                        <m:r>
                          <a:rPr lang="en-US" altLang="zh-CN" b="1" i="1">
                            <a:solidFill>
                              <a:srgbClr val="FF0000"/>
                            </a:solidFill>
                            <a:latin typeface="Cambria Math" panose="02040503050406030204" charset="0"/>
                            <a:cs typeface="Cambria Math" panose="02040503050406030204" charset="0"/>
                          </a:rPr>
                          <m:t>(</m:t>
                        </m:r>
                        <m:sSub>
                          <m:sSubPr>
                            <m:ctrlPr>
                              <a:rPr lang="en-US" altLang="zh-CN" b="1" i="1">
                                <a:solidFill>
                                  <a:srgbClr val="FF0000"/>
                                </a:solidFill>
                                <a:latin typeface="Cambria Math" panose="02040503050406030204" charset="0"/>
                                <a:cs typeface="Cambria Math" panose="02040503050406030204" charset="0"/>
                              </a:rPr>
                            </m:ctrlPr>
                          </m:sSubPr>
                          <m:e>
                            <m:r>
                              <a:rPr lang="en-US" altLang="zh-CN" b="1" i="1">
                                <a:solidFill>
                                  <a:srgbClr val="FF0000"/>
                                </a:solidFill>
                                <a:latin typeface="Cambria Math" panose="02040503050406030204" charset="0"/>
                                <a:cs typeface="Cambria Math" panose="02040503050406030204" charset="0"/>
                              </a:rPr>
                              <m:t>𝒙</m:t>
                            </m:r>
                          </m:e>
                          <m:sub>
                            <m:r>
                              <a:rPr lang="en-US" altLang="zh-CN" b="1" i="1">
                                <a:solidFill>
                                  <a:srgbClr val="FF0000"/>
                                </a:solidFill>
                                <a:latin typeface="Cambria Math" panose="02040503050406030204" charset="0"/>
                                <a:cs typeface="Cambria Math" panose="02040503050406030204" charset="0"/>
                              </a:rPr>
                              <m:t>𝒌</m:t>
                            </m:r>
                          </m:sub>
                        </m:sSub>
                        <m:r>
                          <a:rPr lang="en-US" altLang="zh-CN" b="1" i="1">
                            <a:solidFill>
                              <a:srgbClr val="FF0000"/>
                            </a:solidFill>
                            <a:latin typeface="Cambria Math" panose="02040503050406030204" charset="0"/>
                            <a:cs typeface="Cambria Math" panose="02040503050406030204" charset="0"/>
                          </a:rPr>
                          <m:t>)  </m:t>
                        </m:r>
                      </m:oMath>
                    </m:oMathPara>
                  </a14:m>
                  <a:endParaRPr lang="en-US" altLang="zh-CN" b="1" i="1">
                    <a:solidFill>
                      <a:srgbClr val="FF0000"/>
                    </a:solidFill>
                    <a:latin typeface="Cambria Math" panose="02040503050406030204" charset="0"/>
                    <a:cs typeface="Cambria Math" panose="02040503050406030204" charset="0"/>
                  </a:endParaRPr>
                </a:p>
                <a:p>
                  <a:pPr marL="0" indent="0" algn="l" latinLnBrk="0">
                    <a:lnSpc>
                      <a:spcPct val="150000"/>
                    </a:lnSpc>
                  </a:pPr>
                  <a:r>
                    <a:rPr lang="zh-CN" altLang="en-US"/>
                    <a:t>则集合</a:t>
                  </a:r>
                  <a:r>
                    <a:rPr lang="en-US" altLang="zh-CN"/>
                    <a:t>C</a:t>
                  </a:r>
                  <a:r>
                    <a:rPr lang="zh-CN" altLang="en-US"/>
                    <a:t>对系统是</a:t>
                  </a:r>
                  <a:r>
                    <a:rPr lang="zh-CN" altLang="en-US">
                      <a:solidFill>
                        <a:srgbClr val="FF0000"/>
                      </a:solidFill>
                    </a:rPr>
                    <a:t>控制不变集</a:t>
                  </a:r>
                  <a:r>
                    <a:rPr lang="zh-CN" altLang="en-US"/>
                    <a:t>，</a:t>
                  </a:r>
                  <a:r>
                    <a:rPr lang="zh-CN" altLang="en-US"/>
                    <a:t>即</a:t>
                  </a:r>
                  <a:endParaRPr lang="zh-CN" altLang="en-US"/>
                </a:p>
                <a:p>
                  <a:pPr marL="0" algn="l" latinLnBrk="0">
                    <a:lnSpc>
                      <a:spcPct val="15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0</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𝐶</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𝐶</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oMath>
                    </m:oMathPara>
                  </a14:m>
                  <a:endParaRPr lang="zh-CN" altLang="en-US"/>
                </a:p>
              </p:txBody>
            </p:sp>
          </mc:Choice>
          <mc:Fallback>
            <p:sp>
              <p:nvSpPr>
                <p:cNvPr id="9" name="文本框 8"/>
                <p:cNvSpPr txBox="1">
                  <a:spLocks noRot="1" noChangeAspect="1" noMove="1" noResize="1" noEditPoints="1" noAdjustHandles="1" noChangeArrowheads="1" noChangeShapeType="1" noTextEdit="1"/>
                </p:cNvSpPr>
                <p:nvPr/>
              </p:nvSpPr>
              <p:spPr>
                <a:xfrm>
                  <a:off x="2504" y="5354"/>
                  <a:ext cx="12417" cy="3415"/>
                </a:xfrm>
                <a:prstGeom prst="rect">
                  <a:avLst/>
                </a:prstGeom>
                <a:blipFill rotWithShape="1">
                  <a:blip r:embed="rId1"/>
                </a:blipFill>
              </p:spPr>
              <p:txBody>
                <a:bodyPr/>
                <a:lstStyle/>
                <a:p>
                  <a:r>
                    <a:rPr lang="zh-CN" altLang="en-US">
                      <a:noFill/>
                    </a:rPr>
                    <a:t> </a:t>
                  </a:r>
                </a:p>
              </p:txBody>
            </p:sp>
          </mc:Fallback>
        </mc:AlternateContent>
      </p:grpSp>
      <p:sp>
        <p:nvSpPr>
          <p:cNvPr id="2" name="文本占位符 1"/>
          <p:cNvSpPr>
            <a:spLocks noGrp="1"/>
          </p:cNvSpPr>
          <p:nvPr>
            <p:ph type="body" idx="1"/>
          </p:nvPr>
        </p:nvSpPr>
        <p:spPr>
          <a:xfrm>
            <a:off x="352425" y="5733415"/>
            <a:ext cx="11482705" cy="356235"/>
          </a:xfrm>
        </p:spPr>
        <p:txBody>
          <a:bodyPr/>
          <a:p>
            <a:r>
              <a:rPr lang="en-US" altLang="zh-CN"/>
              <a:t>CBF</a:t>
            </a:r>
            <a:r>
              <a:rPr lang="zh-CN" altLang="en-US"/>
              <a:t>约束能抑制状态向不安全区域扩张，可以对应</a:t>
            </a:r>
            <a:r>
              <a:rPr lang="zh-CN" altLang="en-US"/>
              <a:t>控制不变集，但维度越高越难以</a:t>
            </a:r>
            <a:r>
              <a:rPr lang="zh-CN" altLang="en-US"/>
              <a:t>解析求解得到。</a:t>
            </a:r>
            <a:endParaRPr lang="zh-CN" altLang="en-US"/>
          </a:p>
        </p:txBody>
      </p:sp>
      <p:sp>
        <p:nvSpPr>
          <p:cNvPr id="3" name="文本占位符 2"/>
          <p:cNvSpPr>
            <a:spLocks noGrp="1"/>
          </p:cNvSpPr>
          <p:nvPr>
            <p:ph type="body" idx="13"/>
          </p:nvPr>
        </p:nvSpPr>
        <p:spPr>
          <a:xfrm>
            <a:off x="0" y="670560"/>
            <a:ext cx="8573135" cy="448310"/>
          </a:xfrm>
        </p:spPr>
        <p:txBody>
          <a:bodyPr/>
          <a:p>
            <a:r>
              <a:rPr lang="en-US" altLang="zh-CN"/>
              <a:t>&gt;&gt;&gt;</a:t>
            </a:r>
            <a:r>
              <a:t>控制障碍函数</a:t>
            </a:r>
            <a:r>
              <a:rPr lang="en-US" altLang="zh-CN"/>
              <a:t>——</a:t>
            </a:r>
            <a:r>
              <a:t>构造安全集合的</a:t>
            </a:r>
            <a:r>
              <a:t>数学工具</a:t>
            </a:r>
          </a:p>
        </p:txBody>
      </p:sp>
      <p:sp>
        <p:nvSpPr>
          <p:cNvPr id="4" name="文本占位符 3"/>
          <p:cNvSpPr>
            <a:spLocks noGrp="1"/>
          </p:cNvSpPr>
          <p:nvPr>
            <p:ph type="body" idx="14"/>
          </p:nvPr>
        </p:nvSpPr>
        <p:spPr>
          <a:xfrm>
            <a:off x="805180" y="111760"/>
            <a:ext cx="6957695" cy="448310"/>
          </a:xfrm>
        </p:spPr>
        <p:txBody>
          <a:bodyPr/>
          <a:p>
            <a:r>
              <a:t>基于学习的分片仿射控制障碍网络</a:t>
            </a:r>
            <a:r>
              <a:rPr lang="en-US" altLang="zh-CN"/>
              <a:t>(2.1)</a:t>
            </a:r>
            <a:endParaRPr lang="en-US" altLang="zh-CN"/>
          </a:p>
        </p:txBody>
      </p:sp>
      <p:sp>
        <p:nvSpPr>
          <p:cNvPr id="5" name="灯片编号占位符 4"/>
          <p:cNvSpPr>
            <a:spLocks noGrp="1"/>
          </p:cNvSpPr>
          <p:nvPr>
            <p:ph type="sldNum" sz="quarter" idx="12"/>
          </p:nvPr>
        </p:nvSpPr>
        <p:spPr/>
        <p:txBody>
          <a:bodyPr/>
          <a:p>
            <a:pPr>
              <a:defRPr/>
            </a:pPr>
            <a:fld id="{AC6C5647-07D8-4AFC-B347-73DA68F3AADD}" type="slidenum">
              <a:rPr lang="zh-CN" altLang="en-US"/>
            </a:fld>
            <a:endParaRPr lang="en-US" altLang="zh-CN"/>
          </a:p>
        </p:txBody>
      </p:sp>
      <p:grpSp>
        <p:nvGrpSpPr>
          <p:cNvPr id="14" name="组合 13"/>
          <p:cNvGrpSpPr/>
          <p:nvPr/>
        </p:nvGrpSpPr>
        <p:grpSpPr>
          <a:xfrm>
            <a:off x="5464810" y="1143635"/>
            <a:ext cx="4895850" cy="687070"/>
            <a:chOff x="275" y="1801"/>
            <a:chExt cx="7710" cy="1082"/>
          </a:xfrm>
        </p:grpSpPr>
        <p:sp>
          <p:nvSpPr>
            <p:cNvPr id="11" name="圆角矩形 10"/>
            <p:cNvSpPr/>
            <p:nvPr/>
          </p:nvSpPr>
          <p:spPr>
            <a:xfrm>
              <a:off x="275" y="1801"/>
              <a:ext cx="7710" cy="1083"/>
            </a:xfrm>
            <a:prstGeom prst="roundRect">
              <a:avLst/>
            </a:prstGeom>
            <a:solidFill>
              <a:srgbClr val="4E67C8">
                <a:alpha val="3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7" name="文本框 6"/>
                <p:cNvSpPr txBox="1"/>
                <p:nvPr/>
              </p:nvSpPr>
              <p:spPr>
                <a:xfrm>
                  <a:off x="474" y="2053"/>
                  <a:ext cx="7418" cy="580"/>
                </a:xfrm>
                <a:prstGeom prst="rect">
                  <a:avLst/>
                </a:prstGeom>
                <a:noFill/>
              </p:spPr>
              <p:txBody>
                <a:bodyPr wrap="square" rtlCol="0">
                  <a:spAutoFit/>
                </a:bodyPr>
                <a:p>
                  <a:pPr algn="l"/>
                  <a:r>
                    <a:rPr lang="zh-CN" altLang="en-US"/>
                    <a:t>系统</a:t>
                  </a:r>
                  <a:r>
                    <a:rPr lang="zh-CN" altLang="en-US"/>
                    <a:t>表达式：</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𝐴</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𝐵</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𝑢</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𝑋</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𝑢</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𝑈</m:t>
                      </m:r>
                    </m:oMath>
                  </a14:m>
                  <a:endParaRPr lang="zh-CN" altLang="en-US"/>
                </a:p>
              </p:txBody>
            </p:sp>
          </mc:Choice>
          <mc:Fallback>
            <p:sp>
              <p:nvSpPr>
                <p:cNvPr id="7" name="文本框 6"/>
                <p:cNvSpPr txBox="1">
                  <a:spLocks noRot="1" noChangeAspect="1" noMove="1" noResize="1" noEditPoints="1" noAdjustHandles="1" noChangeArrowheads="1" noChangeShapeType="1" noTextEdit="1"/>
                </p:cNvSpPr>
                <p:nvPr/>
              </p:nvSpPr>
              <p:spPr>
                <a:xfrm>
                  <a:off x="474" y="2053"/>
                  <a:ext cx="7418" cy="580"/>
                </a:xfrm>
                <a:prstGeom prst="rect">
                  <a:avLst/>
                </a:prstGeom>
                <a:blipFill rotWithShape="1">
                  <a:blip r:embed="rId2"/>
                </a:blipFill>
              </p:spPr>
              <p:txBody>
                <a:bodyPr/>
                <a:lstStyle/>
                <a:p>
                  <a:r>
                    <a:rPr lang="zh-CN" altLang="en-US">
                      <a:noFill/>
                    </a:rPr>
                    <a:t> </a:t>
                  </a:r>
                </a:p>
              </p:txBody>
            </p:sp>
          </mc:Fallback>
        </mc:AlternateContent>
      </p:grpSp>
      <p:grpSp>
        <p:nvGrpSpPr>
          <p:cNvPr id="13" name="组合 12"/>
          <p:cNvGrpSpPr/>
          <p:nvPr/>
        </p:nvGrpSpPr>
        <p:grpSpPr>
          <a:xfrm>
            <a:off x="3732530" y="2258695"/>
            <a:ext cx="6788785" cy="713740"/>
            <a:chOff x="297" y="3364"/>
            <a:chExt cx="7951" cy="1124"/>
          </a:xfrm>
        </p:grpSpPr>
        <p:sp>
          <p:nvSpPr>
            <p:cNvPr id="12" name="圆角矩形 11"/>
            <p:cNvSpPr/>
            <p:nvPr/>
          </p:nvSpPr>
          <p:spPr>
            <a:xfrm>
              <a:off x="297" y="3364"/>
              <a:ext cx="7774" cy="1124"/>
            </a:xfrm>
            <a:prstGeom prst="roundRect">
              <a:avLst/>
            </a:prstGeom>
            <a:solidFill>
              <a:srgbClr val="4E67C8">
                <a:alpha val="3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8" name="文本框 7"/>
                <p:cNvSpPr txBox="1"/>
                <p:nvPr/>
              </p:nvSpPr>
              <p:spPr>
                <a:xfrm>
                  <a:off x="474" y="3626"/>
                  <a:ext cx="7774" cy="600"/>
                </a:xfrm>
                <a:prstGeom prst="rect">
                  <a:avLst/>
                </a:prstGeom>
                <a:noFill/>
              </p:spPr>
              <p:txBody>
                <a:bodyPr wrap="square" rtlCol="0">
                  <a:spAutoFit/>
                </a:bodyPr>
                <a:p>
                  <a:pPr algn="l"/>
                  <a:r>
                    <a:rPr lang="zh-CN" altLang="en-US"/>
                    <a:t>安全集（控制不变集）：</a:t>
                  </a:r>
                  <a14:m>
                    <m:oMath xmlns:m="http://schemas.openxmlformats.org/officeDocument/2006/math">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𝐶</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𝑅</m:t>
                          </m:r>
                        </m:e>
                        <m:sup>
                          <m:r>
                            <a:rPr lang="en-US" altLang="zh-CN" i="1">
                              <a:latin typeface="Cambria Math" panose="02040503050406030204" charset="0"/>
                              <a:cs typeface="Cambria Math" panose="02040503050406030204" charset="0"/>
                            </a:rPr>
                            <m:t>𝑛</m:t>
                          </m:r>
                        </m:sup>
                      </m:sSup>
                      <m:r>
                        <a:rPr lang="en-US" altLang="zh-CN" i="1">
                          <a:latin typeface="Cambria Math" panose="02040503050406030204" charset="0"/>
                          <a:cs typeface="Cambria Math" panose="02040503050406030204" charset="0"/>
                        </a:rPr>
                        <m:t>|</m:t>
                      </m:r>
                      <m:r>
                        <a:rPr lang="en-US" altLang="zh-CN" i="1">
                          <a:solidFill>
                            <a:srgbClr val="FF0000"/>
                          </a:solidFill>
                          <a:latin typeface="Cambria Math" panose="02040503050406030204" charset="0"/>
                          <a:cs typeface="Cambria Math" panose="02040503050406030204" charset="0"/>
                        </a:rPr>
                        <m:t>ℎ</m:t>
                      </m:r>
                      <m:r>
                        <a:rPr lang="en-US" altLang="zh-CN" i="1">
                          <a:solidFill>
                            <a:srgbClr val="FF0000"/>
                          </a:solidFill>
                          <a:latin typeface="Cambria Math" panose="02040503050406030204" charset="0"/>
                          <a:cs typeface="Cambria Math" panose="02040503050406030204" charset="0"/>
                        </a:rPr>
                        <m:t>(</m:t>
                      </m:r>
                      <m:r>
                        <a:rPr lang="en-US" altLang="zh-CN" i="1">
                          <a:solidFill>
                            <a:srgbClr val="FF0000"/>
                          </a:solidFill>
                          <a:latin typeface="Cambria Math" panose="02040503050406030204" charset="0"/>
                          <a:cs typeface="Cambria Math" panose="02040503050406030204" charset="0"/>
                        </a:rPr>
                        <m:t>𝑥</m:t>
                      </m:r>
                      <m:r>
                        <a:rPr lang="en-US" altLang="zh-CN" i="1">
                          <a:solidFill>
                            <a:srgbClr val="FF0000"/>
                          </a:solidFill>
                          <a:latin typeface="Cambria Math" panose="02040503050406030204" charset="0"/>
                          <a:cs typeface="Cambria Math" panose="02040503050406030204" charset="0"/>
                        </a:rPr>
                        <m:t>)≥</m:t>
                      </m:r>
                      <m:r>
                        <a:rPr lang="en-US" altLang="zh-CN" i="1">
                          <a:solidFill>
                            <a:srgbClr val="FF0000"/>
                          </a:solidFill>
                          <a:latin typeface="Cambria Math" panose="02040503050406030204" charset="0"/>
                          <a:cs typeface="Cambria Math" panose="02040503050406030204" charset="0"/>
                        </a:rPr>
                        <m:t>0</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ℎ</m:t>
                      </m:r>
                      <m:r>
                        <a:rPr lang="zh-CN" altLang="en-US" i="1">
                          <a:latin typeface="Cambria Math" panose="02040503050406030204" charset="0"/>
                          <a:ea typeface="MS Mincho" charset="0"/>
                          <a:cs typeface="Cambria Math" panose="02040503050406030204" charset="0"/>
                        </a:rPr>
                        <m:t>为连续函数</m:t>
                      </m:r>
                    </m:oMath>
                  </a14:m>
                  <a:endParaRPr lang="zh-CN" altLang="en-US" i="1">
                    <a:latin typeface="Cambria Math" panose="02040503050406030204" charset="0"/>
                    <a:ea typeface="MS Mincho" charset="0"/>
                    <a:cs typeface="Cambria Math" panose="02040503050406030204"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474" y="3626"/>
                  <a:ext cx="7774" cy="600"/>
                </a:xfrm>
                <a:prstGeom prst="rect">
                  <a:avLst/>
                </a:prstGeom>
                <a:blipFill rotWithShape="1">
                  <a:blip r:embed="rId3"/>
                </a:blipFill>
              </p:spPr>
              <p:txBody>
                <a:bodyPr/>
                <a:lstStyle/>
                <a:p>
                  <a:r>
                    <a:rPr lang="zh-CN" altLang="en-US">
                      <a:noFill/>
                    </a:rPr>
                    <a:t> </a:t>
                  </a:r>
                </a:p>
              </p:txBody>
            </p:sp>
          </mc:Fallback>
        </mc:AlternateContent>
      </p:grpSp>
      <p:pic>
        <p:nvPicPr>
          <p:cNvPr id="10" name="图片 9" descr="图片3"/>
          <p:cNvPicPr>
            <a:picLocks noChangeAspect="1"/>
          </p:cNvPicPr>
          <p:nvPr/>
        </p:nvPicPr>
        <p:blipFill>
          <a:blip r:embed="rId4"/>
          <a:stretch>
            <a:fillRect/>
          </a:stretch>
        </p:blipFill>
        <p:spPr>
          <a:xfrm>
            <a:off x="-152400" y="1050290"/>
            <a:ext cx="4323715" cy="2400300"/>
          </a:xfrm>
          <a:prstGeom prst="rect">
            <a:avLst/>
          </a:prstGeom>
          <a:effectLst/>
        </p:spPr>
      </p:pic>
      <p:sp>
        <p:nvSpPr>
          <p:cNvPr id="17" name="文本框 16"/>
          <p:cNvSpPr txBox="1"/>
          <p:nvPr/>
        </p:nvSpPr>
        <p:spPr>
          <a:xfrm>
            <a:off x="163830" y="3312160"/>
            <a:ext cx="1402080" cy="922020"/>
          </a:xfrm>
          <a:prstGeom prst="rect">
            <a:avLst/>
          </a:prstGeom>
          <a:noFill/>
        </p:spPr>
        <p:txBody>
          <a:bodyPr wrap="square" rtlCol="0">
            <a:spAutoFit/>
          </a:bodyPr>
          <a:p>
            <a:r>
              <a:rPr lang="zh-CN" altLang="en-US"/>
              <a:t>边界上存在</a:t>
            </a:r>
            <a:r>
              <a:rPr lang="en-US" altLang="zh-CN"/>
              <a:t>u</a:t>
            </a:r>
            <a:r>
              <a:rPr lang="zh-CN" altLang="en-US"/>
              <a:t>使他往里</a:t>
            </a:r>
            <a:r>
              <a:rPr lang="zh-CN" altLang="en-US"/>
              <a:t>走</a:t>
            </a:r>
            <a:endParaRPr lang="zh-CN" altLang="en-US"/>
          </a:p>
        </p:txBody>
      </p:sp>
      <p:sp>
        <p:nvSpPr>
          <p:cNvPr id="19" name="任意多边形 18"/>
          <p:cNvSpPr/>
          <p:nvPr/>
        </p:nvSpPr>
        <p:spPr>
          <a:xfrm>
            <a:off x="1114425" y="2623820"/>
            <a:ext cx="76200" cy="155575"/>
          </a:xfrm>
          <a:custGeom>
            <a:avLst/>
            <a:gdLst>
              <a:gd name="connisteX0" fmla="*/ 0 w 171450"/>
              <a:gd name="connsiteY0" fmla="*/ 462280 h 462280"/>
              <a:gd name="connisteX1" fmla="*/ 26035 w 171450"/>
              <a:gd name="connsiteY1" fmla="*/ 173990 h 462280"/>
              <a:gd name="connisteX2" fmla="*/ 171450 w 171450"/>
              <a:gd name="connsiteY2" fmla="*/ 0 h 462280"/>
              <a:gd name="connisteX3" fmla="*/ 197485 w 171450"/>
              <a:gd name="connsiteY3" fmla="*/ 28575 h 462280"/>
            </a:gdLst>
            <a:ahLst/>
            <a:cxnLst>
              <a:cxn ang="0">
                <a:pos x="connisteX0" y="connsiteY0"/>
              </a:cxn>
              <a:cxn ang="0">
                <a:pos x="connisteX1" y="connsiteY1"/>
              </a:cxn>
              <a:cxn ang="0">
                <a:pos x="connisteX2" y="connsiteY2"/>
              </a:cxn>
              <a:cxn ang="0">
                <a:pos x="connisteX3" y="connsiteY3"/>
              </a:cxn>
            </a:cxnLst>
            <a:rect l="l" t="t" r="r" b="b"/>
            <a:pathLst>
              <a:path w="171450" h="462280">
                <a:moveTo>
                  <a:pt x="0" y="462280"/>
                </a:moveTo>
                <a:cubicBezTo>
                  <a:pt x="2540" y="408305"/>
                  <a:pt x="-8255" y="266700"/>
                  <a:pt x="26035" y="173990"/>
                </a:cubicBezTo>
                <a:cubicBezTo>
                  <a:pt x="60325" y="81280"/>
                  <a:pt x="137160" y="29210"/>
                  <a:pt x="171450" y="0"/>
                </a:cubicBezTo>
              </a:path>
            </a:pathLst>
          </a:custGeom>
          <a:noFill/>
          <a:ln w="25400" cmpd="sng">
            <a:solidFill>
              <a:srgbClr val="FF0000"/>
            </a:solidFill>
            <a:prstDash val="solid"/>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任意多边形 19"/>
          <p:cNvSpPr/>
          <p:nvPr/>
        </p:nvSpPr>
        <p:spPr>
          <a:xfrm>
            <a:off x="1356995" y="2643505"/>
            <a:ext cx="90170" cy="190500"/>
          </a:xfrm>
          <a:custGeom>
            <a:avLst/>
            <a:gdLst>
              <a:gd name="connisteX0" fmla="*/ 0 w 52070"/>
              <a:gd name="connsiteY0" fmla="*/ 161925 h 161925"/>
              <a:gd name="connisteX1" fmla="*/ 12065 w 52070"/>
              <a:gd name="connsiteY1" fmla="*/ 40640 h 161925"/>
              <a:gd name="connisteX2" fmla="*/ 52070 w 52070"/>
              <a:gd name="connsiteY2" fmla="*/ 0 h 161925"/>
              <a:gd name="connisteX3" fmla="*/ 64135 w 52070"/>
              <a:gd name="connsiteY3" fmla="*/ 0 h 161925"/>
            </a:gdLst>
            <a:ahLst/>
            <a:cxnLst>
              <a:cxn ang="0">
                <a:pos x="connisteX0" y="connsiteY0"/>
              </a:cxn>
              <a:cxn ang="0">
                <a:pos x="connisteX1" y="connsiteY1"/>
              </a:cxn>
              <a:cxn ang="0">
                <a:pos x="connisteX2" y="connsiteY2"/>
              </a:cxn>
              <a:cxn ang="0">
                <a:pos x="connisteX3" y="connsiteY3"/>
              </a:cxn>
            </a:cxnLst>
            <a:rect l="l" t="t" r="r" b="b"/>
            <a:pathLst>
              <a:path w="52070" h="161925">
                <a:moveTo>
                  <a:pt x="0" y="161925"/>
                </a:moveTo>
                <a:cubicBezTo>
                  <a:pt x="1905" y="138430"/>
                  <a:pt x="1905" y="73025"/>
                  <a:pt x="12065" y="40640"/>
                </a:cubicBezTo>
                <a:cubicBezTo>
                  <a:pt x="22225" y="8255"/>
                  <a:pt x="41910" y="8255"/>
                  <a:pt x="52070" y="0"/>
                </a:cubicBezTo>
              </a:path>
            </a:pathLst>
          </a:custGeom>
          <a:noFill/>
          <a:ln w="25400">
            <a:solidFill>
              <a:srgbClr val="FF0000"/>
            </a:solid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任意多边形 20"/>
          <p:cNvSpPr/>
          <p:nvPr/>
        </p:nvSpPr>
        <p:spPr>
          <a:xfrm>
            <a:off x="2176145" y="2629535"/>
            <a:ext cx="90170" cy="156845"/>
          </a:xfrm>
          <a:custGeom>
            <a:avLst/>
            <a:gdLst>
              <a:gd name="connisteX0" fmla="*/ 85725 w 90438"/>
              <a:gd name="connsiteY0" fmla="*/ 156845 h 156845"/>
              <a:gd name="connisteX1" fmla="*/ 81280 w 90438"/>
              <a:gd name="connsiteY1" fmla="*/ 54610 h 156845"/>
              <a:gd name="connisteX2" fmla="*/ 0 w 90438"/>
              <a:gd name="connsiteY2" fmla="*/ 0 h 156845"/>
            </a:gdLst>
            <a:ahLst/>
            <a:cxnLst>
              <a:cxn ang="0">
                <a:pos x="connisteX0" y="connsiteY0"/>
              </a:cxn>
              <a:cxn ang="0">
                <a:pos x="connisteX1" y="connsiteY1"/>
              </a:cxn>
              <a:cxn ang="0">
                <a:pos x="connisteX2" y="connsiteY2"/>
              </a:cxn>
            </a:cxnLst>
            <a:rect l="l" t="t" r="r" b="b"/>
            <a:pathLst>
              <a:path w="90439" h="156845">
                <a:moveTo>
                  <a:pt x="85725" y="156845"/>
                </a:moveTo>
                <a:cubicBezTo>
                  <a:pt x="86360" y="137795"/>
                  <a:pt x="98425" y="85725"/>
                  <a:pt x="81280" y="54610"/>
                </a:cubicBezTo>
                <a:cubicBezTo>
                  <a:pt x="64135" y="23495"/>
                  <a:pt x="15875" y="8890"/>
                  <a:pt x="0" y="0"/>
                </a:cubicBezTo>
              </a:path>
            </a:pathLst>
          </a:custGeom>
          <a:noFill/>
          <a:ln w="25400">
            <a:solidFill>
              <a:srgbClr val="FF0000"/>
            </a:solid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任意多边形 21"/>
          <p:cNvSpPr/>
          <p:nvPr/>
        </p:nvSpPr>
        <p:spPr>
          <a:xfrm>
            <a:off x="2355215" y="2589530"/>
            <a:ext cx="90170" cy="156845"/>
          </a:xfrm>
          <a:custGeom>
            <a:avLst/>
            <a:gdLst>
              <a:gd name="connisteX0" fmla="*/ 85725 w 90438"/>
              <a:gd name="connsiteY0" fmla="*/ 156845 h 156845"/>
              <a:gd name="connisteX1" fmla="*/ 81280 w 90438"/>
              <a:gd name="connsiteY1" fmla="*/ 54610 h 156845"/>
              <a:gd name="connisteX2" fmla="*/ 0 w 90438"/>
              <a:gd name="connsiteY2" fmla="*/ 0 h 156845"/>
            </a:gdLst>
            <a:ahLst/>
            <a:cxnLst>
              <a:cxn ang="0">
                <a:pos x="connisteX0" y="connsiteY0"/>
              </a:cxn>
              <a:cxn ang="0">
                <a:pos x="connisteX1" y="connsiteY1"/>
              </a:cxn>
              <a:cxn ang="0">
                <a:pos x="connisteX2" y="connsiteY2"/>
              </a:cxn>
            </a:cxnLst>
            <a:rect l="l" t="t" r="r" b="b"/>
            <a:pathLst>
              <a:path w="90439" h="156845">
                <a:moveTo>
                  <a:pt x="85725" y="156845"/>
                </a:moveTo>
                <a:cubicBezTo>
                  <a:pt x="86360" y="137795"/>
                  <a:pt x="98425" y="85725"/>
                  <a:pt x="81280" y="54610"/>
                </a:cubicBezTo>
                <a:cubicBezTo>
                  <a:pt x="64135" y="23495"/>
                  <a:pt x="15875" y="8890"/>
                  <a:pt x="0" y="0"/>
                </a:cubicBezTo>
              </a:path>
            </a:pathLst>
          </a:custGeom>
          <a:noFill/>
          <a:ln w="25400">
            <a:solidFill>
              <a:srgbClr val="FF0000"/>
            </a:solid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任意多边形 22"/>
          <p:cNvSpPr/>
          <p:nvPr/>
        </p:nvSpPr>
        <p:spPr>
          <a:xfrm>
            <a:off x="2486660" y="2544445"/>
            <a:ext cx="90170" cy="156845"/>
          </a:xfrm>
          <a:custGeom>
            <a:avLst/>
            <a:gdLst>
              <a:gd name="connisteX0" fmla="*/ 85725 w 90438"/>
              <a:gd name="connsiteY0" fmla="*/ 156845 h 156845"/>
              <a:gd name="connisteX1" fmla="*/ 81280 w 90438"/>
              <a:gd name="connsiteY1" fmla="*/ 54610 h 156845"/>
              <a:gd name="connisteX2" fmla="*/ 0 w 90438"/>
              <a:gd name="connsiteY2" fmla="*/ 0 h 156845"/>
            </a:gdLst>
            <a:ahLst/>
            <a:cxnLst>
              <a:cxn ang="0">
                <a:pos x="connisteX0" y="connsiteY0"/>
              </a:cxn>
              <a:cxn ang="0">
                <a:pos x="connisteX1" y="connsiteY1"/>
              </a:cxn>
              <a:cxn ang="0">
                <a:pos x="connisteX2" y="connsiteY2"/>
              </a:cxn>
            </a:cxnLst>
            <a:rect l="l" t="t" r="r" b="b"/>
            <a:pathLst>
              <a:path w="90439" h="156845">
                <a:moveTo>
                  <a:pt x="85725" y="156845"/>
                </a:moveTo>
                <a:cubicBezTo>
                  <a:pt x="86360" y="137795"/>
                  <a:pt x="98425" y="85725"/>
                  <a:pt x="81280" y="54610"/>
                </a:cubicBezTo>
                <a:cubicBezTo>
                  <a:pt x="64135" y="23495"/>
                  <a:pt x="15875" y="8890"/>
                  <a:pt x="0" y="0"/>
                </a:cubicBezTo>
              </a:path>
            </a:pathLst>
          </a:custGeom>
          <a:noFill/>
          <a:ln w="25400">
            <a:solidFill>
              <a:srgbClr val="FF0000"/>
            </a:solid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任意多边形 23"/>
          <p:cNvSpPr/>
          <p:nvPr/>
        </p:nvSpPr>
        <p:spPr>
          <a:xfrm>
            <a:off x="1234440" y="2647950"/>
            <a:ext cx="80645" cy="174625"/>
          </a:xfrm>
          <a:custGeom>
            <a:avLst/>
            <a:gdLst>
              <a:gd name="connisteX0" fmla="*/ 0 w 171450"/>
              <a:gd name="connsiteY0" fmla="*/ 462280 h 462280"/>
              <a:gd name="connisteX1" fmla="*/ 26035 w 171450"/>
              <a:gd name="connsiteY1" fmla="*/ 173990 h 462280"/>
              <a:gd name="connisteX2" fmla="*/ 171450 w 171450"/>
              <a:gd name="connsiteY2" fmla="*/ 0 h 462280"/>
              <a:gd name="connisteX3" fmla="*/ 197485 w 171450"/>
              <a:gd name="connsiteY3" fmla="*/ 28575 h 462280"/>
            </a:gdLst>
            <a:ahLst/>
            <a:cxnLst>
              <a:cxn ang="0">
                <a:pos x="connisteX0" y="connsiteY0"/>
              </a:cxn>
              <a:cxn ang="0">
                <a:pos x="connisteX1" y="connsiteY1"/>
              </a:cxn>
              <a:cxn ang="0">
                <a:pos x="connisteX2" y="connsiteY2"/>
              </a:cxn>
              <a:cxn ang="0">
                <a:pos x="connisteX3" y="connsiteY3"/>
              </a:cxn>
            </a:cxnLst>
            <a:rect l="l" t="t" r="r" b="b"/>
            <a:pathLst>
              <a:path w="171450" h="462280">
                <a:moveTo>
                  <a:pt x="0" y="462280"/>
                </a:moveTo>
                <a:cubicBezTo>
                  <a:pt x="2540" y="408305"/>
                  <a:pt x="-8255" y="266700"/>
                  <a:pt x="26035" y="173990"/>
                </a:cubicBezTo>
                <a:cubicBezTo>
                  <a:pt x="60325" y="81280"/>
                  <a:pt x="137160" y="29210"/>
                  <a:pt x="171450" y="0"/>
                </a:cubicBezTo>
              </a:path>
            </a:pathLst>
          </a:custGeom>
          <a:noFill/>
          <a:ln w="25400" cmpd="sng">
            <a:solidFill>
              <a:srgbClr val="FF0000"/>
            </a:solidFill>
            <a:prstDash val="solid"/>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任意多边形 24"/>
          <p:cNvSpPr/>
          <p:nvPr/>
        </p:nvSpPr>
        <p:spPr>
          <a:xfrm>
            <a:off x="1388745" y="2143125"/>
            <a:ext cx="76200" cy="160020"/>
          </a:xfrm>
          <a:custGeom>
            <a:avLst/>
            <a:gdLst>
              <a:gd name="connisteX0" fmla="*/ 6081 w 30211"/>
              <a:gd name="connsiteY0" fmla="*/ 116840 h 116840"/>
              <a:gd name="connisteX1" fmla="*/ 1636 w 30211"/>
              <a:gd name="connsiteY1" fmla="*/ 40640 h 116840"/>
              <a:gd name="connisteX2" fmla="*/ 30211 w 30211"/>
              <a:gd name="connsiteY2" fmla="*/ 0 h 116840"/>
              <a:gd name="connisteX3" fmla="*/ 77836 w 30211"/>
              <a:gd name="connsiteY3" fmla="*/ -21590 h 116840"/>
            </a:gdLst>
            <a:ahLst/>
            <a:cxnLst>
              <a:cxn ang="0">
                <a:pos x="connisteX0" y="connsiteY0"/>
              </a:cxn>
              <a:cxn ang="0">
                <a:pos x="connisteX1" y="connsiteY1"/>
              </a:cxn>
              <a:cxn ang="0">
                <a:pos x="connisteX2" y="connsiteY2"/>
              </a:cxn>
              <a:cxn ang="0">
                <a:pos x="connisteX3" y="connsiteY3"/>
              </a:cxn>
            </a:cxnLst>
            <a:rect l="l" t="t" r="r" b="b"/>
            <a:pathLst>
              <a:path w="30211" h="116840">
                <a:moveTo>
                  <a:pt x="6081" y="116840"/>
                </a:moveTo>
                <a:cubicBezTo>
                  <a:pt x="4811" y="102235"/>
                  <a:pt x="-3444" y="64135"/>
                  <a:pt x="1636" y="40640"/>
                </a:cubicBezTo>
                <a:cubicBezTo>
                  <a:pt x="6716" y="17145"/>
                  <a:pt x="14971" y="12700"/>
                  <a:pt x="30211" y="0"/>
                </a:cubicBezTo>
              </a:path>
            </a:pathLst>
          </a:custGeom>
          <a:noFill/>
          <a:ln w="25400">
            <a:solidFill>
              <a:srgbClr val="FF0000"/>
            </a:solid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任意多边形 25"/>
          <p:cNvSpPr/>
          <p:nvPr/>
        </p:nvSpPr>
        <p:spPr>
          <a:xfrm>
            <a:off x="1517650" y="2124710"/>
            <a:ext cx="76200" cy="160020"/>
          </a:xfrm>
          <a:custGeom>
            <a:avLst/>
            <a:gdLst>
              <a:gd name="connisteX0" fmla="*/ 6081 w 30211"/>
              <a:gd name="connsiteY0" fmla="*/ 116840 h 116840"/>
              <a:gd name="connisteX1" fmla="*/ 1636 w 30211"/>
              <a:gd name="connsiteY1" fmla="*/ 40640 h 116840"/>
              <a:gd name="connisteX2" fmla="*/ 30211 w 30211"/>
              <a:gd name="connsiteY2" fmla="*/ 0 h 116840"/>
              <a:gd name="connisteX3" fmla="*/ 77836 w 30211"/>
              <a:gd name="connsiteY3" fmla="*/ -21590 h 116840"/>
            </a:gdLst>
            <a:ahLst/>
            <a:cxnLst>
              <a:cxn ang="0">
                <a:pos x="connisteX0" y="connsiteY0"/>
              </a:cxn>
              <a:cxn ang="0">
                <a:pos x="connisteX1" y="connsiteY1"/>
              </a:cxn>
              <a:cxn ang="0">
                <a:pos x="connisteX2" y="connsiteY2"/>
              </a:cxn>
              <a:cxn ang="0">
                <a:pos x="connisteX3" y="connsiteY3"/>
              </a:cxn>
            </a:cxnLst>
            <a:rect l="l" t="t" r="r" b="b"/>
            <a:pathLst>
              <a:path w="30211" h="116840">
                <a:moveTo>
                  <a:pt x="6081" y="116840"/>
                </a:moveTo>
                <a:cubicBezTo>
                  <a:pt x="4811" y="102235"/>
                  <a:pt x="-3444" y="64135"/>
                  <a:pt x="1636" y="40640"/>
                </a:cubicBezTo>
                <a:cubicBezTo>
                  <a:pt x="6716" y="17145"/>
                  <a:pt x="14971" y="12700"/>
                  <a:pt x="30211" y="0"/>
                </a:cubicBezTo>
              </a:path>
            </a:pathLst>
          </a:custGeom>
          <a:noFill/>
          <a:ln w="25400">
            <a:solidFill>
              <a:srgbClr val="FF0000"/>
            </a:solid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任意多边形 27"/>
          <p:cNvSpPr/>
          <p:nvPr/>
        </p:nvSpPr>
        <p:spPr>
          <a:xfrm>
            <a:off x="1289685" y="2174875"/>
            <a:ext cx="76200" cy="160020"/>
          </a:xfrm>
          <a:custGeom>
            <a:avLst/>
            <a:gdLst>
              <a:gd name="connisteX0" fmla="*/ 6081 w 30211"/>
              <a:gd name="connsiteY0" fmla="*/ 116840 h 116840"/>
              <a:gd name="connisteX1" fmla="*/ 1636 w 30211"/>
              <a:gd name="connsiteY1" fmla="*/ 40640 h 116840"/>
              <a:gd name="connisteX2" fmla="*/ 30211 w 30211"/>
              <a:gd name="connsiteY2" fmla="*/ 0 h 116840"/>
              <a:gd name="connisteX3" fmla="*/ 77836 w 30211"/>
              <a:gd name="connsiteY3" fmla="*/ -21590 h 116840"/>
            </a:gdLst>
            <a:ahLst/>
            <a:cxnLst>
              <a:cxn ang="0">
                <a:pos x="connisteX0" y="connsiteY0"/>
              </a:cxn>
              <a:cxn ang="0">
                <a:pos x="connisteX1" y="connsiteY1"/>
              </a:cxn>
              <a:cxn ang="0">
                <a:pos x="connisteX2" y="connsiteY2"/>
              </a:cxn>
              <a:cxn ang="0">
                <a:pos x="connisteX3" y="connsiteY3"/>
              </a:cxn>
            </a:cxnLst>
            <a:rect l="l" t="t" r="r" b="b"/>
            <a:pathLst>
              <a:path w="30211" h="116840">
                <a:moveTo>
                  <a:pt x="6081" y="116840"/>
                </a:moveTo>
                <a:cubicBezTo>
                  <a:pt x="4811" y="102235"/>
                  <a:pt x="-3444" y="64135"/>
                  <a:pt x="1636" y="40640"/>
                </a:cubicBezTo>
                <a:cubicBezTo>
                  <a:pt x="6716" y="17145"/>
                  <a:pt x="14971" y="12700"/>
                  <a:pt x="30211" y="0"/>
                </a:cubicBezTo>
              </a:path>
            </a:pathLst>
          </a:custGeom>
          <a:noFill/>
          <a:ln w="25400">
            <a:solidFill>
              <a:srgbClr val="FF0000"/>
            </a:solid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任意多边形 28"/>
          <p:cNvSpPr/>
          <p:nvPr/>
        </p:nvSpPr>
        <p:spPr>
          <a:xfrm>
            <a:off x="2118360" y="2136775"/>
            <a:ext cx="104775" cy="142875"/>
          </a:xfrm>
          <a:custGeom>
            <a:avLst/>
            <a:gdLst>
              <a:gd name="connisteX0" fmla="*/ 104775 w 104775"/>
              <a:gd name="connsiteY0" fmla="*/ 142875 h 142875"/>
              <a:gd name="connisteX1" fmla="*/ 78740 w 104775"/>
              <a:gd name="connsiteY1" fmla="*/ 47625 h 142875"/>
              <a:gd name="connisteX2" fmla="*/ 0 w 104775"/>
              <a:gd name="connsiteY2" fmla="*/ 0 h 142875"/>
            </a:gdLst>
            <a:ahLst/>
            <a:cxnLst>
              <a:cxn ang="0">
                <a:pos x="connisteX0" y="connsiteY0"/>
              </a:cxn>
              <a:cxn ang="0">
                <a:pos x="connisteX1" y="connsiteY1"/>
              </a:cxn>
              <a:cxn ang="0">
                <a:pos x="connisteX2" y="connsiteY2"/>
              </a:cxn>
            </a:cxnLst>
            <a:rect l="l" t="t" r="r" b="b"/>
            <a:pathLst>
              <a:path w="104775" h="142875">
                <a:moveTo>
                  <a:pt x="104775" y="142875"/>
                </a:moveTo>
                <a:cubicBezTo>
                  <a:pt x="100965" y="124460"/>
                  <a:pt x="99695" y="76200"/>
                  <a:pt x="78740" y="47625"/>
                </a:cubicBezTo>
                <a:cubicBezTo>
                  <a:pt x="57785" y="19050"/>
                  <a:pt x="15240" y="7620"/>
                  <a:pt x="0" y="0"/>
                </a:cubicBezTo>
              </a:path>
            </a:pathLst>
          </a:custGeom>
          <a:noFill/>
          <a:ln w="25400">
            <a:solidFill>
              <a:srgbClr val="FF0000"/>
            </a:solid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0" name="任意多边形 29"/>
          <p:cNvSpPr/>
          <p:nvPr/>
        </p:nvSpPr>
        <p:spPr>
          <a:xfrm>
            <a:off x="2233295" y="2157095"/>
            <a:ext cx="104775" cy="142875"/>
          </a:xfrm>
          <a:custGeom>
            <a:avLst/>
            <a:gdLst>
              <a:gd name="connisteX0" fmla="*/ 104775 w 104775"/>
              <a:gd name="connsiteY0" fmla="*/ 142875 h 142875"/>
              <a:gd name="connisteX1" fmla="*/ 78740 w 104775"/>
              <a:gd name="connsiteY1" fmla="*/ 47625 h 142875"/>
              <a:gd name="connisteX2" fmla="*/ 0 w 104775"/>
              <a:gd name="connsiteY2" fmla="*/ 0 h 142875"/>
            </a:gdLst>
            <a:ahLst/>
            <a:cxnLst>
              <a:cxn ang="0">
                <a:pos x="connisteX0" y="connsiteY0"/>
              </a:cxn>
              <a:cxn ang="0">
                <a:pos x="connisteX1" y="connsiteY1"/>
              </a:cxn>
              <a:cxn ang="0">
                <a:pos x="connisteX2" y="connsiteY2"/>
              </a:cxn>
            </a:cxnLst>
            <a:rect l="l" t="t" r="r" b="b"/>
            <a:pathLst>
              <a:path w="104775" h="142875">
                <a:moveTo>
                  <a:pt x="104775" y="142875"/>
                </a:moveTo>
                <a:cubicBezTo>
                  <a:pt x="100965" y="124460"/>
                  <a:pt x="99695" y="76200"/>
                  <a:pt x="78740" y="47625"/>
                </a:cubicBezTo>
                <a:cubicBezTo>
                  <a:pt x="57785" y="19050"/>
                  <a:pt x="15240" y="7620"/>
                  <a:pt x="0" y="0"/>
                </a:cubicBezTo>
              </a:path>
            </a:pathLst>
          </a:custGeom>
          <a:noFill/>
          <a:ln w="25400">
            <a:solidFill>
              <a:srgbClr val="FF0000"/>
            </a:solid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任意多边形 30"/>
          <p:cNvSpPr/>
          <p:nvPr/>
        </p:nvSpPr>
        <p:spPr>
          <a:xfrm>
            <a:off x="2338705" y="2180590"/>
            <a:ext cx="104775" cy="142875"/>
          </a:xfrm>
          <a:custGeom>
            <a:avLst/>
            <a:gdLst>
              <a:gd name="connisteX0" fmla="*/ 104775 w 104775"/>
              <a:gd name="connsiteY0" fmla="*/ 142875 h 142875"/>
              <a:gd name="connisteX1" fmla="*/ 78740 w 104775"/>
              <a:gd name="connsiteY1" fmla="*/ 47625 h 142875"/>
              <a:gd name="connisteX2" fmla="*/ 0 w 104775"/>
              <a:gd name="connsiteY2" fmla="*/ 0 h 142875"/>
            </a:gdLst>
            <a:ahLst/>
            <a:cxnLst>
              <a:cxn ang="0">
                <a:pos x="connisteX0" y="connsiteY0"/>
              </a:cxn>
              <a:cxn ang="0">
                <a:pos x="connisteX1" y="connsiteY1"/>
              </a:cxn>
              <a:cxn ang="0">
                <a:pos x="connisteX2" y="connsiteY2"/>
              </a:cxn>
            </a:cxnLst>
            <a:rect l="l" t="t" r="r" b="b"/>
            <a:pathLst>
              <a:path w="104775" h="142875">
                <a:moveTo>
                  <a:pt x="104775" y="142875"/>
                </a:moveTo>
                <a:cubicBezTo>
                  <a:pt x="100965" y="124460"/>
                  <a:pt x="99695" y="76200"/>
                  <a:pt x="78740" y="47625"/>
                </a:cubicBezTo>
                <a:cubicBezTo>
                  <a:pt x="57785" y="19050"/>
                  <a:pt x="15240" y="7620"/>
                  <a:pt x="0" y="0"/>
                </a:cubicBezTo>
              </a:path>
            </a:pathLst>
          </a:custGeom>
          <a:noFill/>
          <a:ln w="25400">
            <a:solidFill>
              <a:srgbClr val="FF0000"/>
            </a:solid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2" name="任意多边形 31"/>
          <p:cNvSpPr/>
          <p:nvPr/>
        </p:nvSpPr>
        <p:spPr>
          <a:xfrm>
            <a:off x="899160" y="2348865"/>
            <a:ext cx="97790" cy="226060"/>
          </a:xfrm>
          <a:custGeom>
            <a:avLst/>
            <a:gdLst>
              <a:gd name="connisteX0" fmla="*/ 6692 w 97497"/>
              <a:gd name="connsiteY0" fmla="*/ 226060 h 226060"/>
              <a:gd name="connisteX1" fmla="*/ 9232 w 97497"/>
              <a:gd name="connsiteY1" fmla="*/ 85725 h 226060"/>
              <a:gd name="connisteX2" fmla="*/ 97497 w 97497"/>
              <a:gd name="connsiteY2" fmla="*/ 0 h 226060"/>
              <a:gd name="connisteX3" fmla="*/ 109562 w 97497"/>
              <a:gd name="connsiteY3" fmla="*/ 0 h 226060"/>
            </a:gdLst>
            <a:ahLst/>
            <a:cxnLst>
              <a:cxn ang="0">
                <a:pos x="connisteX0" y="connsiteY0"/>
              </a:cxn>
              <a:cxn ang="0">
                <a:pos x="connisteX1" y="connsiteY1"/>
              </a:cxn>
              <a:cxn ang="0">
                <a:pos x="connisteX2" y="connsiteY2"/>
              </a:cxn>
              <a:cxn ang="0">
                <a:pos x="connisteX3" y="connsiteY3"/>
              </a:cxn>
            </a:cxnLst>
            <a:rect l="l" t="t" r="r" b="b"/>
            <a:pathLst>
              <a:path w="97497" h="226060">
                <a:moveTo>
                  <a:pt x="6692" y="226060"/>
                </a:moveTo>
                <a:cubicBezTo>
                  <a:pt x="5422" y="199390"/>
                  <a:pt x="-9183" y="130810"/>
                  <a:pt x="9232" y="85725"/>
                </a:cubicBezTo>
                <a:cubicBezTo>
                  <a:pt x="27647" y="40640"/>
                  <a:pt x="77177" y="17145"/>
                  <a:pt x="97497" y="0"/>
                </a:cubicBezTo>
              </a:path>
            </a:pathLst>
          </a:custGeom>
          <a:noFill/>
          <a:ln w="25400">
            <a:solidFill>
              <a:srgbClr val="FF0000"/>
            </a:solid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任意多边形 32"/>
          <p:cNvSpPr/>
          <p:nvPr/>
        </p:nvSpPr>
        <p:spPr>
          <a:xfrm>
            <a:off x="923925" y="2437765"/>
            <a:ext cx="97790" cy="226060"/>
          </a:xfrm>
          <a:custGeom>
            <a:avLst/>
            <a:gdLst>
              <a:gd name="connisteX0" fmla="*/ 6692 w 97497"/>
              <a:gd name="connsiteY0" fmla="*/ 226060 h 226060"/>
              <a:gd name="connisteX1" fmla="*/ 9232 w 97497"/>
              <a:gd name="connsiteY1" fmla="*/ 85725 h 226060"/>
              <a:gd name="connisteX2" fmla="*/ 97497 w 97497"/>
              <a:gd name="connsiteY2" fmla="*/ 0 h 226060"/>
              <a:gd name="connisteX3" fmla="*/ 109562 w 97497"/>
              <a:gd name="connsiteY3" fmla="*/ 0 h 226060"/>
            </a:gdLst>
            <a:ahLst/>
            <a:cxnLst>
              <a:cxn ang="0">
                <a:pos x="connisteX0" y="connsiteY0"/>
              </a:cxn>
              <a:cxn ang="0">
                <a:pos x="connisteX1" y="connsiteY1"/>
              </a:cxn>
              <a:cxn ang="0">
                <a:pos x="connisteX2" y="connsiteY2"/>
              </a:cxn>
              <a:cxn ang="0">
                <a:pos x="connisteX3" y="connsiteY3"/>
              </a:cxn>
            </a:cxnLst>
            <a:rect l="l" t="t" r="r" b="b"/>
            <a:pathLst>
              <a:path w="97497" h="226060">
                <a:moveTo>
                  <a:pt x="6692" y="226060"/>
                </a:moveTo>
                <a:cubicBezTo>
                  <a:pt x="5422" y="199390"/>
                  <a:pt x="-9183" y="130810"/>
                  <a:pt x="9232" y="85725"/>
                </a:cubicBezTo>
                <a:cubicBezTo>
                  <a:pt x="27647" y="40640"/>
                  <a:pt x="77177" y="17145"/>
                  <a:pt x="97497" y="0"/>
                </a:cubicBezTo>
              </a:path>
            </a:pathLst>
          </a:custGeom>
          <a:noFill/>
          <a:ln w="25400">
            <a:solidFill>
              <a:srgbClr val="FF0000"/>
            </a:solid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任意多边形 33"/>
          <p:cNvSpPr/>
          <p:nvPr/>
        </p:nvSpPr>
        <p:spPr>
          <a:xfrm>
            <a:off x="986790" y="2247900"/>
            <a:ext cx="137795" cy="193040"/>
          </a:xfrm>
          <a:custGeom>
            <a:avLst/>
            <a:gdLst>
              <a:gd name="connisteX0" fmla="*/ 6692 w 97497"/>
              <a:gd name="connsiteY0" fmla="*/ 226060 h 226060"/>
              <a:gd name="connisteX1" fmla="*/ 9232 w 97497"/>
              <a:gd name="connsiteY1" fmla="*/ 85725 h 226060"/>
              <a:gd name="connisteX2" fmla="*/ 97497 w 97497"/>
              <a:gd name="connsiteY2" fmla="*/ 0 h 226060"/>
              <a:gd name="connisteX3" fmla="*/ 109562 w 97497"/>
              <a:gd name="connsiteY3" fmla="*/ 0 h 226060"/>
            </a:gdLst>
            <a:ahLst/>
            <a:cxnLst>
              <a:cxn ang="0">
                <a:pos x="connisteX0" y="connsiteY0"/>
              </a:cxn>
              <a:cxn ang="0">
                <a:pos x="connisteX1" y="connsiteY1"/>
              </a:cxn>
              <a:cxn ang="0">
                <a:pos x="connisteX2" y="connsiteY2"/>
              </a:cxn>
              <a:cxn ang="0">
                <a:pos x="connisteX3" y="connsiteY3"/>
              </a:cxn>
            </a:cxnLst>
            <a:rect l="l" t="t" r="r" b="b"/>
            <a:pathLst>
              <a:path w="97497" h="226060">
                <a:moveTo>
                  <a:pt x="6692" y="226060"/>
                </a:moveTo>
                <a:cubicBezTo>
                  <a:pt x="5422" y="199390"/>
                  <a:pt x="-9183" y="130810"/>
                  <a:pt x="9232" y="85725"/>
                </a:cubicBezTo>
                <a:cubicBezTo>
                  <a:pt x="27647" y="40640"/>
                  <a:pt x="77177" y="17145"/>
                  <a:pt x="97497" y="0"/>
                </a:cubicBezTo>
              </a:path>
            </a:pathLst>
          </a:custGeom>
          <a:noFill/>
          <a:ln w="25400">
            <a:solidFill>
              <a:srgbClr val="FF0000"/>
            </a:solid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任意多边形 34"/>
          <p:cNvSpPr/>
          <p:nvPr/>
        </p:nvSpPr>
        <p:spPr>
          <a:xfrm>
            <a:off x="2575560" y="2303780"/>
            <a:ext cx="107315" cy="137795"/>
          </a:xfrm>
          <a:custGeom>
            <a:avLst/>
            <a:gdLst>
              <a:gd name="connisteX0" fmla="*/ 107315 w 107315"/>
              <a:gd name="connsiteY0" fmla="*/ 137795 h 137795"/>
              <a:gd name="connisteX1" fmla="*/ 76200 w 107315"/>
              <a:gd name="connsiteY1" fmla="*/ 21590 h 137795"/>
              <a:gd name="connisteX2" fmla="*/ 0 w 107315"/>
              <a:gd name="connsiteY2" fmla="*/ 0 h 137795"/>
            </a:gdLst>
            <a:ahLst/>
            <a:cxnLst>
              <a:cxn ang="0">
                <a:pos x="connisteX0" y="connsiteY0"/>
              </a:cxn>
              <a:cxn ang="0">
                <a:pos x="connisteX1" y="connsiteY1"/>
              </a:cxn>
              <a:cxn ang="0">
                <a:pos x="connisteX2" y="connsiteY2"/>
              </a:cxn>
            </a:cxnLst>
            <a:rect l="l" t="t" r="r" b="b"/>
            <a:pathLst>
              <a:path w="107315" h="137795">
                <a:moveTo>
                  <a:pt x="107315" y="137795"/>
                </a:moveTo>
                <a:cubicBezTo>
                  <a:pt x="102870" y="114935"/>
                  <a:pt x="97790" y="48895"/>
                  <a:pt x="76200" y="21590"/>
                </a:cubicBezTo>
                <a:cubicBezTo>
                  <a:pt x="54610" y="-5715"/>
                  <a:pt x="14605" y="1905"/>
                  <a:pt x="0" y="0"/>
                </a:cubicBezTo>
              </a:path>
            </a:pathLst>
          </a:custGeom>
          <a:noFill/>
          <a:ln w="25400">
            <a:solidFill>
              <a:srgbClr val="FF0000"/>
            </a:solid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6" name="任意多边形 35"/>
          <p:cNvSpPr/>
          <p:nvPr/>
        </p:nvSpPr>
        <p:spPr>
          <a:xfrm>
            <a:off x="2626995" y="2406650"/>
            <a:ext cx="107315" cy="137795"/>
          </a:xfrm>
          <a:custGeom>
            <a:avLst/>
            <a:gdLst>
              <a:gd name="connisteX0" fmla="*/ 107315 w 107315"/>
              <a:gd name="connsiteY0" fmla="*/ 137795 h 137795"/>
              <a:gd name="connisteX1" fmla="*/ 76200 w 107315"/>
              <a:gd name="connsiteY1" fmla="*/ 21590 h 137795"/>
              <a:gd name="connisteX2" fmla="*/ 0 w 107315"/>
              <a:gd name="connsiteY2" fmla="*/ 0 h 137795"/>
            </a:gdLst>
            <a:ahLst/>
            <a:cxnLst>
              <a:cxn ang="0">
                <a:pos x="connisteX0" y="connsiteY0"/>
              </a:cxn>
              <a:cxn ang="0">
                <a:pos x="connisteX1" y="connsiteY1"/>
              </a:cxn>
              <a:cxn ang="0">
                <a:pos x="connisteX2" y="connsiteY2"/>
              </a:cxn>
            </a:cxnLst>
            <a:rect l="l" t="t" r="r" b="b"/>
            <a:pathLst>
              <a:path w="107315" h="137795">
                <a:moveTo>
                  <a:pt x="107315" y="137795"/>
                </a:moveTo>
                <a:cubicBezTo>
                  <a:pt x="102870" y="114935"/>
                  <a:pt x="97790" y="48895"/>
                  <a:pt x="76200" y="21590"/>
                </a:cubicBezTo>
                <a:cubicBezTo>
                  <a:pt x="54610" y="-5715"/>
                  <a:pt x="14605" y="1905"/>
                  <a:pt x="0" y="0"/>
                </a:cubicBezTo>
              </a:path>
            </a:pathLst>
          </a:custGeom>
          <a:noFill/>
          <a:ln w="25400">
            <a:solidFill>
              <a:srgbClr val="FF0000"/>
            </a:solid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任意多边形 36"/>
          <p:cNvSpPr/>
          <p:nvPr/>
        </p:nvSpPr>
        <p:spPr>
          <a:xfrm>
            <a:off x="2523490" y="2276475"/>
            <a:ext cx="107315" cy="137795"/>
          </a:xfrm>
          <a:custGeom>
            <a:avLst/>
            <a:gdLst>
              <a:gd name="connisteX0" fmla="*/ 107315 w 107315"/>
              <a:gd name="connsiteY0" fmla="*/ 137795 h 137795"/>
              <a:gd name="connisteX1" fmla="*/ 76200 w 107315"/>
              <a:gd name="connsiteY1" fmla="*/ 21590 h 137795"/>
              <a:gd name="connisteX2" fmla="*/ 0 w 107315"/>
              <a:gd name="connsiteY2" fmla="*/ 0 h 137795"/>
            </a:gdLst>
            <a:ahLst/>
            <a:cxnLst>
              <a:cxn ang="0">
                <a:pos x="connisteX0" y="connsiteY0"/>
              </a:cxn>
              <a:cxn ang="0">
                <a:pos x="connisteX1" y="connsiteY1"/>
              </a:cxn>
              <a:cxn ang="0">
                <a:pos x="connisteX2" y="connsiteY2"/>
              </a:cxn>
            </a:cxnLst>
            <a:rect l="l" t="t" r="r" b="b"/>
            <a:pathLst>
              <a:path w="107315" h="137795">
                <a:moveTo>
                  <a:pt x="107315" y="137795"/>
                </a:moveTo>
                <a:cubicBezTo>
                  <a:pt x="102870" y="114935"/>
                  <a:pt x="97790" y="48895"/>
                  <a:pt x="76200" y="21590"/>
                </a:cubicBezTo>
                <a:cubicBezTo>
                  <a:pt x="54610" y="-5715"/>
                  <a:pt x="14605" y="1905"/>
                  <a:pt x="0" y="0"/>
                </a:cubicBezTo>
              </a:path>
            </a:pathLst>
          </a:custGeom>
          <a:noFill/>
          <a:ln w="25400">
            <a:solidFill>
              <a:srgbClr val="FF0000"/>
            </a:solid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矩形 37"/>
          <p:cNvSpPr/>
          <p:nvPr/>
        </p:nvSpPr>
        <p:spPr>
          <a:xfrm>
            <a:off x="848995" y="1818005"/>
            <a:ext cx="274320" cy="1358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任意多边形 38"/>
          <p:cNvSpPr/>
          <p:nvPr/>
        </p:nvSpPr>
        <p:spPr>
          <a:xfrm>
            <a:off x="862330" y="1923415"/>
            <a:ext cx="266700" cy="451485"/>
          </a:xfrm>
          <a:custGeom>
            <a:avLst/>
            <a:gdLst>
              <a:gd name="connisteX0" fmla="*/ 0 w 242570"/>
              <a:gd name="connsiteY0" fmla="*/ 433070 h 433070"/>
              <a:gd name="connisteX1" fmla="*/ 68580 w 242570"/>
              <a:gd name="connsiteY1" fmla="*/ 133350 h 433070"/>
              <a:gd name="connisteX2" fmla="*/ 242570 w 242570"/>
              <a:gd name="connsiteY2" fmla="*/ 0 h 433070"/>
              <a:gd name="connisteX3" fmla="*/ 242570 w 242570"/>
              <a:gd name="connsiteY3" fmla="*/ -6985 h 433070"/>
            </a:gdLst>
            <a:ahLst/>
            <a:cxnLst>
              <a:cxn ang="0">
                <a:pos x="connisteX0" y="connsiteY0"/>
              </a:cxn>
              <a:cxn ang="0">
                <a:pos x="connisteX1" y="connsiteY1"/>
              </a:cxn>
              <a:cxn ang="0">
                <a:pos x="connisteX2" y="connsiteY2"/>
              </a:cxn>
              <a:cxn ang="0">
                <a:pos x="connisteX3" y="connsiteY3"/>
              </a:cxn>
            </a:cxnLst>
            <a:rect l="l" t="t" r="r" b="b"/>
            <a:pathLst>
              <a:path w="242570" h="433070">
                <a:moveTo>
                  <a:pt x="0" y="433070"/>
                </a:moveTo>
                <a:cubicBezTo>
                  <a:pt x="10160" y="375920"/>
                  <a:pt x="20320" y="219710"/>
                  <a:pt x="68580" y="133350"/>
                </a:cubicBezTo>
                <a:cubicBezTo>
                  <a:pt x="116840" y="46990"/>
                  <a:pt x="207645" y="27940"/>
                  <a:pt x="242570" y="0"/>
                </a:cubicBezTo>
              </a:path>
            </a:pathLst>
          </a:custGeom>
          <a:solidFill>
            <a:schemeClr val="bg1"/>
          </a:solidFill>
          <a:ln w="41275">
            <a:solidFill>
              <a:schemeClr val="bg1"/>
            </a:solid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40" name="直接连接符 39"/>
          <p:cNvCxnSpPr/>
          <p:nvPr/>
        </p:nvCxnSpPr>
        <p:spPr>
          <a:xfrm>
            <a:off x="1544320" y="1785620"/>
            <a:ext cx="2540" cy="748030"/>
          </a:xfrm>
          <a:prstGeom prst="line">
            <a:avLst/>
          </a:prstGeom>
          <a:ln w="12700" cmpd="sng">
            <a:solidFill>
              <a:schemeClr val="tx1"/>
            </a:solidFill>
            <a:prstDash val="lgDashDotDot"/>
          </a:ln>
        </p:spPr>
        <p:style>
          <a:lnRef idx="2">
            <a:schemeClr val="accent1"/>
          </a:lnRef>
          <a:fillRef idx="0">
            <a:srgbClr val="FFFFFF"/>
          </a:fillRef>
          <a:effectRef idx="0">
            <a:srgbClr val="FFFFFF"/>
          </a:effectRef>
          <a:fontRef idx="minor">
            <a:schemeClr val="tx1"/>
          </a:fontRef>
        </p:style>
      </p:cxnSp>
      <p:cxnSp>
        <p:nvCxnSpPr>
          <p:cNvPr id="41" name="直接连接符 40"/>
          <p:cNvCxnSpPr/>
          <p:nvPr/>
        </p:nvCxnSpPr>
        <p:spPr>
          <a:xfrm>
            <a:off x="2261870" y="2465070"/>
            <a:ext cx="1905" cy="153035"/>
          </a:xfrm>
          <a:prstGeom prst="line">
            <a:avLst/>
          </a:prstGeom>
          <a:ln w="12700" cmpd="sng">
            <a:solidFill>
              <a:schemeClr val="tx1"/>
            </a:solidFill>
            <a:prstDash val="lgDashDotDot"/>
          </a:ln>
        </p:spPr>
        <p:style>
          <a:lnRef idx="2">
            <a:schemeClr val="accent1"/>
          </a:lnRef>
          <a:fillRef idx="0">
            <a:srgbClr val="FFFFFF"/>
          </a:fillRef>
          <a:effectRef idx="0">
            <a:srgbClr val="FFFFFF"/>
          </a:effectRef>
          <a:fontRef idx="minor">
            <a:schemeClr val="tx1"/>
          </a:fontRef>
        </p:style>
      </p:cxnSp>
      <p:sp>
        <p:nvSpPr>
          <p:cNvPr id="42" name="任意多边形 41"/>
          <p:cNvSpPr/>
          <p:nvPr/>
        </p:nvSpPr>
        <p:spPr>
          <a:xfrm>
            <a:off x="1776095" y="1796415"/>
            <a:ext cx="551180" cy="431165"/>
          </a:xfrm>
          <a:custGeom>
            <a:avLst/>
            <a:gdLst>
              <a:gd name="connisteX0" fmla="*/ 123825 w 346968"/>
              <a:gd name="connsiteY0" fmla="*/ 0 h 535940"/>
              <a:gd name="connisteX1" fmla="*/ 344805 w 346968"/>
              <a:gd name="connsiteY1" fmla="*/ 269240 h 535940"/>
              <a:gd name="connisteX2" fmla="*/ 0 w 346968"/>
              <a:gd name="connsiteY2" fmla="*/ 535940 h 535940"/>
              <a:gd name="connisteX3" fmla="*/ 11430 w 346968"/>
              <a:gd name="connsiteY3" fmla="*/ 519430 h 535940"/>
            </a:gdLst>
            <a:ahLst/>
            <a:cxnLst>
              <a:cxn ang="0">
                <a:pos x="connisteX0" y="connsiteY0"/>
              </a:cxn>
              <a:cxn ang="0">
                <a:pos x="connisteX1" y="connsiteY1"/>
              </a:cxn>
              <a:cxn ang="0">
                <a:pos x="connisteX2" y="connsiteY2"/>
              </a:cxn>
              <a:cxn ang="0">
                <a:pos x="connisteX3" y="connsiteY3"/>
              </a:cxn>
            </a:cxnLst>
            <a:rect l="l" t="t" r="r" b="b"/>
            <a:pathLst>
              <a:path w="346969" h="535940">
                <a:moveTo>
                  <a:pt x="123825" y="0"/>
                </a:moveTo>
                <a:cubicBezTo>
                  <a:pt x="174625" y="48260"/>
                  <a:pt x="369570" y="161925"/>
                  <a:pt x="344805" y="269240"/>
                </a:cubicBezTo>
                <a:cubicBezTo>
                  <a:pt x="320040" y="376555"/>
                  <a:pt x="66675" y="485775"/>
                  <a:pt x="0" y="535940"/>
                </a:cubicBezTo>
              </a:path>
            </a:pathLst>
          </a:custGeom>
          <a:noFill/>
          <a:ln>
            <a:solidFill>
              <a:schemeClr val="tx1"/>
            </a:solidFill>
            <a:tailEnd type="arrow"/>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43" name="直接连接符 42"/>
          <p:cNvCxnSpPr/>
          <p:nvPr/>
        </p:nvCxnSpPr>
        <p:spPr>
          <a:xfrm>
            <a:off x="1977390" y="1796415"/>
            <a:ext cx="6985" cy="580390"/>
          </a:xfrm>
          <a:prstGeom prst="line">
            <a:avLst/>
          </a:prstGeom>
          <a:ln w="12700" cmpd="sng">
            <a:solidFill>
              <a:schemeClr val="tx1"/>
            </a:solidFill>
            <a:prstDash val="lgDashDotDot"/>
          </a:ln>
        </p:spPr>
        <p:style>
          <a:lnRef idx="2">
            <a:schemeClr val="accent1"/>
          </a:lnRef>
          <a:fillRef idx="0">
            <a:srgbClr val="FFFFFF"/>
          </a:fillRef>
          <a:effectRef idx="0">
            <a:srgbClr val="FFFFFF"/>
          </a:effectRef>
          <a:fontRef idx="minor">
            <a:schemeClr val="tx1"/>
          </a:fontRef>
        </p:style>
      </p:cxnSp>
      <p:sp>
        <p:nvSpPr>
          <p:cNvPr id="50" name="任意多边形 49"/>
          <p:cNvSpPr/>
          <p:nvPr/>
        </p:nvSpPr>
        <p:spPr>
          <a:xfrm>
            <a:off x="2419985" y="2099310"/>
            <a:ext cx="19050" cy="83820"/>
          </a:xfrm>
          <a:custGeom>
            <a:avLst/>
            <a:gdLst>
              <a:gd name="connsiteX0" fmla="*/ 30 w 30"/>
              <a:gd name="connsiteY0" fmla="*/ 0 h 132"/>
              <a:gd name="connsiteX1" fmla="*/ 0 w 30"/>
              <a:gd name="connsiteY1" fmla="*/ 132 h 132"/>
            </a:gdLst>
            <a:ahLst/>
            <a:cxnLst>
              <a:cxn ang="0">
                <a:pos x="connsiteX0" y="connsiteY0"/>
              </a:cxn>
              <a:cxn ang="0">
                <a:pos x="connsiteX1" y="connsiteY1"/>
              </a:cxn>
            </a:cxnLst>
            <a:rect l="l" t="t" r="r" b="b"/>
            <a:pathLst>
              <a:path w="30" h="132">
                <a:moveTo>
                  <a:pt x="30" y="0"/>
                </a:moveTo>
                <a:cubicBezTo>
                  <a:pt x="27" y="18"/>
                  <a:pt x="20" y="80"/>
                  <a:pt x="0" y="132"/>
                </a:cubicBezTo>
              </a:path>
            </a:pathLst>
          </a:cu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1" name="任意多边形 50"/>
          <p:cNvSpPr/>
          <p:nvPr/>
        </p:nvSpPr>
        <p:spPr>
          <a:xfrm>
            <a:off x="1541145" y="1615716"/>
            <a:ext cx="304800" cy="183239"/>
          </a:xfrm>
          <a:custGeom>
            <a:avLst/>
            <a:gdLst>
              <a:gd name="connsiteX0" fmla="*/ 0 w 480"/>
              <a:gd name="connsiteY0" fmla="*/ 289 h 288"/>
              <a:gd name="connsiteX1" fmla="*/ 236 w 480"/>
              <a:gd name="connsiteY1" fmla="*/ 87 h 288"/>
              <a:gd name="connsiteX2" fmla="*/ 379 w 480"/>
              <a:gd name="connsiteY2" fmla="*/ 4 h 288"/>
              <a:gd name="connsiteX3" fmla="*/ 450 w 480"/>
              <a:gd name="connsiteY3" fmla="*/ 27 h 288"/>
              <a:gd name="connsiteX4" fmla="*/ 480 w 480"/>
              <a:gd name="connsiteY4" fmla="*/ 72 h 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 h="289">
                <a:moveTo>
                  <a:pt x="0" y="289"/>
                </a:moveTo>
                <a:cubicBezTo>
                  <a:pt x="43" y="252"/>
                  <a:pt x="162" y="142"/>
                  <a:pt x="236" y="87"/>
                </a:cubicBezTo>
                <a:cubicBezTo>
                  <a:pt x="310" y="32"/>
                  <a:pt x="336" y="16"/>
                  <a:pt x="379" y="4"/>
                </a:cubicBezTo>
                <a:cubicBezTo>
                  <a:pt x="422" y="-8"/>
                  <a:pt x="430" y="13"/>
                  <a:pt x="450" y="27"/>
                </a:cubicBezTo>
                <a:cubicBezTo>
                  <a:pt x="470" y="41"/>
                  <a:pt x="475" y="65"/>
                  <a:pt x="480" y="72"/>
                </a:cubicBezTo>
              </a:path>
            </a:pathLst>
          </a:custGeom>
          <a:no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2" name="任意多边形 51"/>
          <p:cNvSpPr/>
          <p:nvPr/>
        </p:nvSpPr>
        <p:spPr>
          <a:xfrm>
            <a:off x="1850123" y="1597025"/>
            <a:ext cx="5982" cy="80645"/>
          </a:xfrm>
          <a:custGeom>
            <a:avLst/>
            <a:gdLst>
              <a:gd name="connsiteX0" fmla="*/ 4 w 9"/>
              <a:gd name="connsiteY0" fmla="*/ 127 h 127"/>
              <a:gd name="connsiteX1" fmla="*/ 9 w 9"/>
              <a:gd name="connsiteY1" fmla="*/ 0 h 127"/>
            </a:gdLst>
            <a:ahLst/>
            <a:cxnLst>
              <a:cxn ang="0">
                <a:pos x="connsiteX0" y="connsiteY0"/>
              </a:cxn>
              <a:cxn ang="0">
                <a:pos x="connsiteX1" y="connsiteY1"/>
              </a:cxn>
            </a:cxnLst>
            <a:rect l="l" t="t" r="r" b="b"/>
            <a:pathLst>
              <a:path w="9" h="127">
                <a:moveTo>
                  <a:pt x="4" y="127"/>
                </a:moveTo>
                <a:cubicBezTo>
                  <a:pt x="3" y="104"/>
                  <a:pt x="-8" y="13"/>
                  <a:pt x="9" y="0"/>
                </a:cubicBezTo>
              </a:path>
            </a:pathLst>
          </a:custGeom>
          <a:no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3" name="任意多边形 52"/>
          <p:cNvSpPr/>
          <p:nvPr/>
        </p:nvSpPr>
        <p:spPr>
          <a:xfrm>
            <a:off x="1787525" y="1630045"/>
            <a:ext cx="61595" cy="38100"/>
          </a:xfrm>
          <a:custGeom>
            <a:avLst/>
            <a:gdLst>
              <a:gd name="connisteX0" fmla="*/ 61595 w 61595"/>
              <a:gd name="connsiteY0" fmla="*/ 38100 h 38100"/>
              <a:gd name="connisteX1" fmla="*/ 0 w 61595"/>
              <a:gd name="connsiteY1" fmla="*/ 0 h 38100"/>
            </a:gdLst>
            <a:ahLst/>
            <a:cxnLst>
              <a:cxn ang="0">
                <a:pos x="connisteX0" y="connsiteY0"/>
              </a:cxn>
              <a:cxn ang="0">
                <a:pos x="connisteX1" y="connsiteY1"/>
              </a:cxn>
            </a:cxnLst>
            <a:rect l="l" t="t" r="r" b="b"/>
            <a:pathLst>
              <a:path w="61595" h="38100">
                <a:moveTo>
                  <a:pt x="61595" y="38100"/>
                </a:moveTo>
                <a:cubicBezTo>
                  <a:pt x="41275" y="25400"/>
                  <a:pt x="20320" y="12700"/>
                  <a:pt x="0" y="0"/>
                </a:cubicBezTo>
              </a:path>
            </a:pathLst>
          </a:custGeom>
          <a:no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4" name="任意多边形 53"/>
          <p:cNvSpPr/>
          <p:nvPr/>
        </p:nvSpPr>
        <p:spPr>
          <a:xfrm>
            <a:off x="2260600" y="2106295"/>
            <a:ext cx="280672" cy="361950"/>
          </a:xfrm>
          <a:custGeom>
            <a:avLst/>
            <a:gdLst>
              <a:gd name="connsiteX0" fmla="*/ 0 w 442"/>
              <a:gd name="connsiteY0" fmla="*/ 570 h 570"/>
              <a:gd name="connsiteX1" fmla="*/ 101 w 442"/>
              <a:gd name="connsiteY1" fmla="*/ 499 h 570"/>
              <a:gd name="connsiteX2" fmla="*/ 251 w 442"/>
              <a:gd name="connsiteY2" fmla="*/ 383 h 570"/>
              <a:gd name="connsiteX3" fmla="*/ 405 w 442"/>
              <a:gd name="connsiteY3" fmla="*/ 244 h 570"/>
              <a:gd name="connsiteX4" fmla="*/ 442 w 442"/>
              <a:gd name="connsiteY4" fmla="*/ 158 h 570"/>
              <a:gd name="connsiteX5" fmla="*/ 405 w 442"/>
              <a:gd name="connsiteY5" fmla="*/ 86 h 570"/>
              <a:gd name="connsiteX6" fmla="*/ 371 w 442"/>
              <a:gd name="connsiteY6" fmla="*/ 60 h 570"/>
              <a:gd name="connsiteX7" fmla="*/ 318 w 442"/>
              <a:gd name="connsiteY7" fmla="*/ 26 h 570"/>
              <a:gd name="connsiteX8" fmla="*/ 285 w 442"/>
              <a:gd name="connsiteY8" fmla="*/ 0 h 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2" h="570">
                <a:moveTo>
                  <a:pt x="0" y="570"/>
                </a:moveTo>
                <a:cubicBezTo>
                  <a:pt x="17" y="558"/>
                  <a:pt x="51" y="536"/>
                  <a:pt x="101" y="499"/>
                </a:cubicBezTo>
                <a:cubicBezTo>
                  <a:pt x="151" y="462"/>
                  <a:pt x="190" y="434"/>
                  <a:pt x="251" y="383"/>
                </a:cubicBezTo>
                <a:cubicBezTo>
                  <a:pt x="312" y="332"/>
                  <a:pt x="367" y="289"/>
                  <a:pt x="405" y="244"/>
                </a:cubicBezTo>
                <a:cubicBezTo>
                  <a:pt x="443" y="199"/>
                  <a:pt x="442" y="190"/>
                  <a:pt x="442" y="158"/>
                </a:cubicBezTo>
                <a:cubicBezTo>
                  <a:pt x="442" y="126"/>
                  <a:pt x="418" y="103"/>
                  <a:pt x="405" y="86"/>
                </a:cubicBezTo>
                <a:cubicBezTo>
                  <a:pt x="392" y="69"/>
                  <a:pt x="388" y="71"/>
                  <a:pt x="371" y="60"/>
                </a:cubicBezTo>
                <a:cubicBezTo>
                  <a:pt x="354" y="49"/>
                  <a:pt x="336" y="40"/>
                  <a:pt x="318" y="26"/>
                </a:cubicBezTo>
                <a:cubicBezTo>
                  <a:pt x="300" y="12"/>
                  <a:pt x="316" y="37"/>
                  <a:pt x="285" y="0"/>
                </a:cubicBezTo>
              </a:path>
            </a:pathLst>
          </a:custGeom>
          <a:no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5" name="任意多边形 54"/>
          <p:cNvSpPr/>
          <p:nvPr/>
        </p:nvSpPr>
        <p:spPr>
          <a:xfrm>
            <a:off x="1324610" y="2315845"/>
            <a:ext cx="333375" cy="171450"/>
          </a:xfrm>
          <a:custGeom>
            <a:avLst/>
            <a:gdLst>
              <a:gd name="connisteX0" fmla="*/ 0 w 333375"/>
              <a:gd name="connsiteY0" fmla="*/ 171450 h 171450"/>
              <a:gd name="connisteX1" fmla="*/ 107315 w 333375"/>
              <a:gd name="connsiteY1" fmla="*/ 19050 h 171450"/>
              <a:gd name="connisteX2" fmla="*/ 333375 w 333375"/>
              <a:gd name="connsiteY2" fmla="*/ 0 h 171450"/>
              <a:gd name="connisteX3" fmla="*/ 316865 w 333375"/>
              <a:gd name="connsiteY3" fmla="*/ -168910 h 171450"/>
            </a:gdLst>
            <a:ahLst/>
            <a:cxnLst>
              <a:cxn ang="0">
                <a:pos x="connisteX0" y="connsiteY0"/>
              </a:cxn>
              <a:cxn ang="0">
                <a:pos x="connisteX1" y="connsiteY1"/>
              </a:cxn>
              <a:cxn ang="0">
                <a:pos x="connisteX2" y="connsiteY2"/>
              </a:cxn>
              <a:cxn ang="0">
                <a:pos x="connisteX3" y="connsiteY3"/>
              </a:cxn>
            </a:cxnLst>
            <a:rect l="l" t="t" r="r" b="b"/>
            <a:pathLst>
              <a:path w="333375" h="171450">
                <a:moveTo>
                  <a:pt x="0" y="171450"/>
                </a:moveTo>
                <a:cubicBezTo>
                  <a:pt x="17145" y="141605"/>
                  <a:pt x="40640" y="53340"/>
                  <a:pt x="107315" y="19050"/>
                </a:cubicBezTo>
                <a:cubicBezTo>
                  <a:pt x="173990" y="-15240"/>
                  <a:pt x="291465" y="37465"/>
                  <a:pt x="333375" y="0"/>
                </a:cubicBezTo>
              </a:path>
            </a:pathLst>
          </a:custGeom>
          <a:noFill/>
          <a:ln w="19050">
            <a:solidFill>
              <a:schemeClr val="tx1"/>
            </a:solid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56" name="直接连接符 55"/>
          <p:cNvCxnSpPr/>
          <p:nvPr/>
        </p:nvCxnSpPr>
        <p:spPr>
          <a:xfrm flipH="1">
            <a:off x="1327785" y="2477770"/>
            <a:ext cx="3810" cy="292100"/>
          </a:xfrm>
          <a:prstGeom prst="line">
            <a:avLst/>
          </a:prstGeom>
          <a:ln w="12700" cmpd="sng">
            <a:solidFill>
              <a:schemeClr val="tx1"/>
            </a:solidFill>
            <a:prstDash val="lgDashDotDot"/>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 name="文本框 74"/>
          <p:cNvSpPr txBox="1"/>
          <p:nvPr/>
        </p:nvSpPr>
        <p:spPr>
          <a:xfrm>
            <a:off x="8214995" y="3375025"/>
            <a:ext cx="4064000" cy="2030095"/>
          </a:xfrm>
          <a:prstGeom prst="rect">
            <a:avLst/>
          </a:prstGeom>
          <a:noFill/>
        </p:spPr>
        <p:txBody>
          <a:bodyPr wrap="square" rtlCol="0">
            <a:spAutoFit/>
          </a:bodyPr>
          <a:p>
            <a:pPr marL="0" indent="0" latinLnBrk="0">
              <a:lnSpc>
                <a:spcPct val="150000"/>
              </a:lnSpc>
              <a:buNone/>
            </a:pPr>
            <a:r>
              <a:rPr lang="zh-CN" altLang="en-US"/>
              <a:t>优点：</a:t>
            </a:r>
            <a:endParaRPr lang="zh-CN" altLang="en-US"/>
          </a:p>
          <a:p>
            <a:pPr marL="342900" indent="-342900" latinLnBrk="0">
              <a:lnSpc>
                <a:spcPct val="150000"/>
              </a:lnSpc>
              <a:buFont typeface="+mj-lt"/>
              <a:buAutoNum type="arabicPeriod"/>
            </a:pPr>
            <a:r>
              <a:rPr lang="zh-CN" altLang="en-US">
                <a:sym typeface="+mn-ea"/>
              </a:rPr>
              <a:t>表达式</a:t>
            </a:r>
            <a:r>
              <a:rPr lang="zh-CN" altLang="en-US">
                <a:solidFill>
                  <a:srgbClr val="FF0000"/>
                </a:solidFill>
                <a:sym typeface="+mn-ea"/>
              </a:rPr>
              <a:t>简单</a:t>
            </a:r>
            <a:r>
              <a:rPr lang="zh-CN" altLang="en-US">
                <a:sym typeface="+mn-ea"/>
              </a:rPr>
              <a:t>，参数少</a:t>
            </a:r>
            <a:endParaRPr lang="zh-CN" altLang="en-US">
              <a:sym typeface="+mn-ea"/>
            </a:endParaRPr>
          </a:p>
          <a:p>
            <a:pPr marL="342900" indent="-342900" latinLnBrk="0">
              <a:lnSpc>
                <a:spcPct val="150000"/>
              </a:lnSpc>
              <a:buFont typeface="+mj-lt"/>
              <a:buAutoNum type="arabicPeriod"/>
            </a:pPr>
            <a:r>
              <a:rPr lang="zh-CN" altLang="en-US">
                <a:sym typeface="+mn-ea"/>
              </a:rPr>
              <a:t>每个分片都是</a:t>
            </a:r>
            <a:r>
              <a:rPr lang="zh-CN" altLang="en-US">
                <a:solidFill>
                  <a:srgbClr val="FF0000"/>
                </a:solidFill>
                <a:sym typeface="+mn-ea"/>
              </a:rPr>
              <a:t>线性函数</a:t>
            </a:r>
            <a:endParaRPr lang="zh-CN" altLang="en-US"/>
          </a:p>
          <a:p>
            <a:pPr marL="342900" indent="-342900" latinLnBrk="0">
              <a:lnSpc>
                <a:spcPct val="150000"/>
              </a:lnSpc>
              <a:buFont typeface="+mj-lt"/>
              <a:buAutoNum type="arabicPeriod"/>
            </a:pPr>
            <a:r>
              <a:rPr lang="zh-CN" altLang="en-US"/>
              <a:t>几何上是一个</a:t>
            </a:r>
            <a:r>
              <a:rPr lang="zh-CN" altLang="en-US" sz="1800">
                <a:solidFill>
                  <a:srgbClr val="FF0000"/>
                </a:solidFill>
              </a:rPr>
              <a:t>凸多面体</a:t>
            </a:r>
            <a:endParaRPr lang="zh-CN" altLang="en-US"/>
          </a:p>
          <a:p>
            <a:endParaRPr lang="zh-CN" altLang="en-US"/>
          </a:p>
        </p:txBody>
      </p:sp>
      <p:sp>
        <p:nvSpPr>
          <p:cNvPr id="2" name="文本占位符 1"/>
          <p:cNvSpPr>
            <a:spLocks noGrp="1"/>
          </p:cNvSpPr>
          <p:nvPr>
            <p:ph type="body" idx="1"/>
          </p:nvPr>
        </p:nvSpPr>
        <p:spPr>
          <a:xfrm>
            <a:off x="824865" y="5869305"/>
            <a:ext cx="10515600" cy="356235"/>
          </a:xfrm>
        </p:spPr>
        <p:txBody>
          <a:bodyPr/>
          <a:p>
            <a:r>
              <a:rPr lang="zh-CN" altLang="en-US"/>
              <a:t>分片仿射网络本质上是凸多面体的隐式表达，具有</a:t>
            </a:r>
            <a:r>
              <a:rPr lang="zh-CN" altLang="en-US">
                <a:sym typeface="+mn-ea"/>
              </a:rPr>
              <a:t>局部线性</a:t>
            </a:r>
            <a:r>
              <a:rPr lang="zh-CN" altLang="en-US"/>
              <a:t>，形式简单，</a:t>
            </a:r>
            <a:r>
              <a:rPr lang="zh-CN" altLang="en-US">
                <a:sym typeface="+mn-ea"/>
              </a:rPr>
              <a:t>几何解释性强</a:t>
            </a:r>
            <a:r>
              <a:rPr lang="zh-CN" altLang="en-US"/>
              <a:t>等优势。</a:t>
            </a:r>
            <a:endParaRPr lang="zh-CN" altLang="en-US"/>
          </a:p>
        </p:txBody>
      </p:sp>
      <p:sp>
        <p:nvSpPr>
          <p:cNvPr id="3" name="文本占位符 2"/>
          <p:cNvSpPr>
            <a:spLocks noGrp="1"/>
          </p:cNvSpPr>
          <p:nvPr>
            <p:ph type="body" idx="13"/>
          </p:nvPr>
        </p:nvSpPr>
        <p:spPr>
          <a:xfrm>
            <a:off x="0" y="670560"/>
            <a:ext cx="7825740" cy="448310"/>
          </a:xfrm>
        </p:spPr>
        <p:txBody>
          <a:bodyPr/>
          <a:p>
            <a:r>
              <a:rPr lang="en-US" altLang="zh-CN"/>
              <a:t>&gt;&gt;&gt;</a:t>
            </a:r>
            <a:r>
              <a:t>分片仿射网络的结构、及其</a:t>
            </a:r>
            <a:r>
              <a:t>优势</a:t>
            </a:r>
          </a:p>
        </p:txBody>
      </p:sp>
      <p:sp>
        <p:nvSpPr>
          <p:cNvPr id="4" name="文本占位符 3"/>
          <p:cNvSpPr>
            <a:spLocks noGrp="1"/>
          </p:cNvSpPr>
          <p:nvPr>
            <p:ph type="body" idx="14"/>
          </p:nvPr>
        </p:nvSpPr>
        <p:spPr>
          <a:xfrm>
            <a:off x="805180" y="111760"/>
            <a:ext cx="7673340" cy="448310"/>
          </a:xfrm>
        </p:spPr>
        <p:txBody>
          <a:bodyPr/>
          <a:p>
            <a:r>
              <a:rPr>
                <a:sym typeface="+mn-ea"/>
              </a:rPr>
              <a:t>基于学习的分片仿射控制障碍网络</a:t>
            </a:r>
            <a:r>
              <a:rPr lang="en-US" altLang="zh-CN">
                <a:sym typeface="+mn-ea"/>
              </a:rPr>
              <a:t>(2.2)</a:t>
            </a:r>
            <a:endParaRPr lang="zh-CN" altLang="en-US"/>
          </a:p>
        </p:txBody>
      </p:sp>
      <p:sp>
        <p:nvSpPr>
          <p:cNvPr id="5" name="灯片编号占位符 4"/>
          <p:cNvSpPr>
            <a:spLocks noGrp="1"/>
          </p:cNvSpPr>
          <p:nvPr>
            <p:ph type="sldNum" sz="quarter" idx="12"/>
          </p:nvPr>
        </p:nvSpPr>
        <p:spPr/>
        <p:txBody>
          <a:bodyPr/>
          <a:p>
            <a:pPr>
              <a:defRPr/>
            </a:pPr>
            <a:fld id="{AC6C5647-07D8-4AFC-B347-73DA68F3AADD}" type="slidenum">
              <a:rPr lang="zh-CN" altLang="en-US"/>
            </a:fld>
            <a:endParaRPr lang="zh-CN" altLang="en-US"/>
          </a:p>
        </p:txBody>
      </p:sp>
      <mc:AlternateContent xmlns:mc="http://schemas.openxmlformats.org/markup-compatibility/2006">
        <mc:Choice xmlns:a14="http://schemas.microsoft.com/office/drawing/2010/main" Requires="a14">
          <p:sp>
            <p:nvSpPr>
              <p:cNvPr id="6" name="文本框 5"/>
              <p:cNvSpPr txBox="1"/>
              <p:nvPr/>
            </p:nvSpPr>
            <p:spPr>
              <a:xfrm>
                <a:off x="308610" y="1216660"/>
                <a:ext cx="11060430" cy="1096010"/>
              </a:xfrm>
              <a:prstGeom prst="rect">
                <a:avLst/>
              </a:prstGeom>
              <a:noFill/>
            </p:spPr>
            <p:txBody>
              <a:bodyPr wrap="square" rtlCol="0">
                <a:spAutoFit/>
              </a:bodyPr>
              <a:p>
                <a:r>
                  <a:rPr lang="zh-CN" altLang="en-US"/>
                  <a:t>网络形式：</a:t>
                </a:r>
                <a14:m>
                  <m:oMath xmlns:m="http://schemas.openxmlformats.org/officeDocument/2006/math">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func>
                      <m:funcPr>
                        <m:ctrlPr>
                          <a:rPr lang="en-US" altLang="zh-CN" i="1">
                            <a:latin typeface="Cambria Math" panose="02040503050406030204" charset="0"/>
                            <a:cs typeface="Cambria Math" panose="02040503050406030204" charset="0"/>
                          </a:rPr>
                        </m:ctrlPr>
                      </m:funcPr>
                      <m:fName>
                        <m:limLow>
                          <m:limLowPr>
                            <m:ctrlPr>
                              <a:rPr lang="en-US" altLang="zh-CN">
                                <a:latin typeface="Cambria Math" panose="02040503050406030204" charset="0"/>
                                <a:cs typeface="Cambria Math" panose="02040503050406030204" charset="0"/>
                              </a:rPr>
                            </m:ctrlPr>
                          </m:limLowPr>
                          <m:e>
                            <m:r>
                              <m:rPr>
                                <m:sty m:val="p"/>
                              </m:rPr>
                              <a:rPr lang="en-US" altLang="zh-CN">
                                <a:latin typeface="Cambria Math" panose="02040503050406030204" charset="0"/>
                                <a:cs typeface="Cambria Math" panose="02040503050406030204" charset="0"/>
                              </a:rPr>
                              <m:t>min</m:t>
                            </m:r>
                          </m:e>
                          <m:lim>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𝑀</m:t>
                            </m:r>
                            <m:r>
                              <a:rPr lang="en-US" altLang="zh-CN" i="1">
                                <a:latin typeface="Cambria Math" panose="02040503050406030204" charset="0"/>
                                <a:cs typeface="Cambria Math" panose="02040503050406030204" charset="0"/>
                              </a:rPr>
                              <m:t>}</m:t>
                            </m:r>
                          </m:lim>
                        </m:limLow>
                      </m:fName>
                      <m:e>
                        <m:r>
                          <a:rPr lang="en-US" altLang="zh-CN" i="1">
                            <a:latin typeface="Cambria Math" panose="02040503050406030204" charset="0"/>
                            <a:cs typeface="Cambria Math" panose="02040503050406030204" charset="0"/>
                          </a:rPr>
                          <m:t>{</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𝜔</m:t>
                            </m:r>
                          </m:e>
                          <m:sub>
                            <m:r>
                              <a:rPr lang="en-US" altLang="zh-CN" i="1">
                                <a:latin typeface="Cambria Math" panose="02040503050406030204" charset="0"/>
                                <a:cs typeface="Cambria Math" panose="02040503050406030204" charset="0"/>
                              </a:rPr>
                              <m:t>𝑖</m:t>
                            </m:r>
                          </m:sub>
                          <m:sup>
                            <m:r>
                              <a:rPr lang="en-US" altLang="zh-CN" i="1">
                                <a:latin typeface="Cambria Math" panose="02040503050406030204" charset="0"/>
                                <a:cs typeface="Cambria Math" panose="02040503050406030204" charset="0"/>
                              </a:rPr>
                              <m:t>𝑇</m:t>
                            </m:r>
                          </m:sup>
                        </m:sSubSup>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𝑏</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e>
                    </m:func>
                  </m:oMath>
                </a14:m>
                <a:r>
                  <a:rPr lang="zh-CN" altLang="en-US">
                    <a:latin typeface="Cambria Math" panose="02040503050406030204" charset="0"/>
                    <a:cs typeface="Cambria Math" panose="02040503050406030204" charset="0"/>
                  </a:rPr>
                  <a:t>（</a:t>
                </a:r>
                <a:r>
                  <a:rPr lang="zh-CN" altLang="en-US"/>
                  <a:t>多线性</a:t>
                </a:r>
                <a:r>
                  <a:rPr lang="en-US" altLang="zh-CN"/>
                  <a:t>+min</a:t>
                </a:r>
                <a:r>
                  <a:rPr lang="zh-CN" altLang="en-US"/>
                  <a:t>聚合）</a:t>
                </a:r>
                <a:endParaRPr lang="zh-CN" altLang="en-US"/>
              </a:p>
              <a:p>
                <a:endParaRPr lang="zh-CN" altLang="en-US"/>
              </a:p>
              <a:p>
                <a:endParaRPr lang="zh-CN" altLang="en-US"/>
              </a:p>
            </p:txBody>
          </p:sp>
        </mc:Choice>
        <mc:Fallback>
          <p:sp>
            <p:nvSpPr>
              <p:cNvPr id="6" name="文本框 5"/>
              <p:cNvSpPr txBox="1">
                <a:spLocks noRot="1" noChangeAspect="1" noMove="1" noResize="1" noEditPoints="1" noAdjustHandles="1" noChangeArrowheads="1" noChangeShapeType="1" noTextEdit="1"/>
              </p:cNvSpPr>
              <p:nvPr/>
            </p:nvSpPr>
            <p:spPr>
              <a:xfrm>
                <a:off x="308610" y="1216660"/>
                <a:ext cx="11060430" cy="1096010"/>
              </a:xfrm>
              <a:prstGeom prst="rect">
                <a:avLst/>
              </a:prstGeom>
              <a:blipFill rotWithShape="1">
                <a:blip r:embed="rId1"/>
                <a:stretch>
                  <a:fillRect/>
                </a:stretch>
              </a:blipFill>
            </p:spPr>
            <p:txBody>
              <a:bodyPr/>
              <a:lstStyle/>
              <a:p>
                <a:r>
                  <a:rPr lang="zh-CN" altLang="en-US">
                    <a:noFill/>
                  </a:rPr>
                  <a:t> </a:t>
                </a:r>
              </a:p>
            </p:txBody>
          </p:sp>
        </mc:Fallback>
      </mc:AlternateContent>
      <p:sp>
        <p:nvSpPr>
          <p:cNvPr id="7" name="圆角矩形 6"/>
          <p:cNvSpPr/>
          <p:nvPr/>
        </p:nvSpPr>
        <p:spPr>
          <a:xfrm>
            <a:off x="1499870" y="2138680"/>
            <a:ext cx="5460365" cy="3135630"/>
          </a:xfrm>
          <a:prstGeom prst="roundRect">
            <a:avLst>
              <a:gd name="adj" fmla="val 16912"/>
            </a:avLst>
          </a:prstGeom>
          <a:solidFill>
            <a:srgbClr val="F7F7F7"/>
          </a:solidFill>
          <a:ln>
            <a:solidFill>
              <a:schemeClr val="tx1"/>
            </a:solidFill>
          </a:ln>
          <a:extLst>
            <a:ext uri="{909E8E84-426E-40DD-AFC4-6F175D3DCCD1}">
              <a14:hiddenFill xmlns:a14="http://schemas.microsoft.com/office/drawing/2010/main">
                <a:solidFill>
                  <a:srgbClr val="7DCFF6"/>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800">
              <a:sym typeface="+mn-ea"/>
            </a:endParaRPr>
          </a:p>
        </p:txBody>
      </p:sp>
      <p:sp>
        <p:nvSpPr>
          <p:cNvPr id="8" name="圆角矩形 7"/>
          <p:cNvSpPr/>
          <p:nvPr/>
        </p:nvSpPr>
        <p:spPr>
          <a:xfrm>
            <a:off x="2096770" y="2661285"/>
            <a:ext cx="658495" cy="2469515"/>
          </a:xfrm>
          <a:prstGeom prst="roundRect">
            <a:avLst/>
          </a:prstGeom>
          <a:solidFill>
            <a:srgbClr val="E9E9E9"/>
          </a:solidFill>
          <a:ln>
            <a:solidFill>
              <a:schemeClr val="tx1"/>
            </a:solidFill>
          </a:ln>
          <a:extLst>
            <a:ext uri="{909E8E84-426E-40DD-AFC4-6F175D3DCCD1}">
              <a14:hiddenFill xmlns:a14="http://schemas.microsoft.com/office/drawing/2010/main">
                <a:solidFill>
                  <a:schemeClr val="bg2">
                    <a:lumMod val="75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椭圆 11"/>
          <p:cNvSpPr/>
          <p:nvPr/>
        </p:nvSpPr>
        <p:spPr>
          <a:xfrm>
            <a:off x="2289810" y="2812415"/>
            <a:ext cx="272415" cy="251460"/>
          </a:xfrm>
          <a:prstGeom prst="ellipse">
            <a:avLst/>
          </a:prstGeom>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椭圆 12"/>
          <p:cNvSpPr/>
          <p:nvPr/>
        </p:nvSpPr>
        <p:spPr>
          <a:xfrm>
            <a:off x="2289810" y="3197225"/>
            <a:ext cx="272415" cy="251460"/>
          </a:xfrm>
          <a:prstGeom prst="ellipse">
            <a:avLst/>
          </a:prstGeom>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椭圆 13"/>
          <p:cNvSpPr/>
          <p:nvPr/>
        </p:nvSpPr>
        <p:spPr>
          <a:xfrm>
            <a:off x="2289810" y="4711700"/>
            <a:ext cx="272415" cy="251460"/>
          </a:xfrm>
          <a:prstGeom prst="ellipse">
            <a:avLst/>
          </a:prstGeom>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文本框 18"/>
          <p:cNvSpPr txBox="1"/>
          <p:nvPr/>
        </p:nvSpPr>
        <p:spPr>
          <a:xfrm>
            <a:off x="1953895" y="2314575"/>
            <a:ext cx="917575" cy="275590"/>
          </a:xfrm>
          <a:prstGeom prst="rect">
            <a:avLst/>
          </a:prstGeom>
          <a:noFill/>
          <a:ln>
            <a:noFill/>
          </a:ln>
        </p:spPr>
        <p:txBody>
          <a:bodyPr wrap="square" rtlCol="0">
            <a:spAutoFit/>
          </a:bodyPr>
          <a:p>
            <a:pPr algn="ctr">
              <a:buClrTx/>
              <a:buSzTx/>
              <a:buFontTx/>
            </a:pPr>
            <a:r>
              <a:rPr lang="zh-CN" altLang="en-US" sz="1200"/>
              <a:t>输入层</a:t>
            </a:r>
            <a:endParaRPr lang="zh-CN" altLang="en-US" sz="1200"/>
          </a:p>
        </p:txBody>
      </p:sp>
      <p:grpSp>
        <p:nvGrpSpPr>
          <p:cNvPr id="18" name="组合 17"/>
          <p:cNvGrpSpPr/>
          <p:nvPr/>
        </p:nvGrpSpPr>
        <p:grpSpPr>
          <a:xfrm rot="0">
            <a:off x="2388870" y="3873500"/>
            <a:ext cx="74930" cy="328930"/>
            <a:chOff x="10333" y="4427"/>
            <a:chExt cx="118" cy="518"/>
          </a:xfrm>
        </p:grpSpPr>
        <p:sp>
          <p:nvSpPr>
            <p:cNvPr id="15" name="椭圆 14"/>
            <p:cNvSpPr/>
            <p:nvPr/>
          </p:nvSpPr>
          <p:spPr>
            <a:xfrm>
              <a:off x="10333" y="4427"/>
              <a:ext cx="119" cy="119"/>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椭圆 15"/>
            <p:cNvSpPr/>
            <p:nvPr/>
          </p:nvSpPr>
          <p:spPr>
            <a:xfrm>
              <a:off x="10333" y="4627"/>
              <a:ext cx="119" cy="119"/>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椭圆 16"/>
            <p:cNvSpPr/>
            <p:nvPr/>
          </p:nvSpPr>
          <p:spPr>
            <a:xfrm>
              <a:off x="10333" y="4827"/>
              <a:ext cx="119" cy="119"/>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21" name="文本框 20"/>
          <p:cNvSpPr txBox="1"/>
          <p:nvPr/>
        </p:nvSpPr>
        <p:spPr>
          <a:xfrm>
            <a:off x="3002915" y="2314575"/>
            <a:ext cx="1155700" cy="275590"/>
          </a:xfrm>
          <a:prstGeom prst="rect">
            <a:avLst/>
          </a:prstGeom>
          <a:noFill/>
        </p:spPr>
        <p:txBody>
          <a:bodyPr wrap="square" rtlCol="0">
            <a:spAutoFit/>
          </a:bodyPr>
          <a:p>
            <a:pPr algn="ctr">
              <a:buClrTx/>
              <a:buSzTx/>
              <a:buFontTx/>
            </a:pPr>
            <a:r>
              <a:rPr lang="zh-CN" altLang="en-US" sz="1200"/>
              <a:t>线性子网络层</a:t>
            </a:r>
            <a:endParaRPr lang="zh-CN" altLang="en-US" sz="1200"/>
          </a:p>
        </p:txBody>
      </p:sp>
      <p:sp>
        <p:nvSpPr>
          <p:cNvPr id="9" name="圆角矩形 8"/>
          <p:cNvSpPr/>
          <p:nvPr/>
        </p:nvSpPr>
        <p:spPr>
          <a:xfrm>
            <a:off x="3255645" y="2661285"/>
            <a:ext cx="659130" cy="2468245"/>
          </a:xfrm>
          <a:prstGeom prst="roundRect">
            <a:avLst/>
          </a:prstGeom>
          <a:solidFill>
            <a:srgbClr val="E9E9E9"/>
          </a:solidFill>
          <a:ln>
            <a:solidFill>
              <a:schemeClr val="tx1"/>
            </a:solidFill>
          </a:ln>
          <a:extLst>
            <a:ext uri="{909E8E84-426E-40DD-AFC4-6F175D3DCCD1}">
              <a14:hiddenFill xmlns:a14="http://schemas.microsoft.com/office/drawing/2010/main">
                <a:solidFill>
                  <a:schemeClr val="bg2">
                    <a:lumMod val="75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800">
              <a:sym typeface="+mn-ea"/>
            </a:endParaRPr>
          </a:p>
        </p:txBody>
      </p:sp>
      <p:sp>
        <p:nvSpPr>
          <p:cNvPr id="22" name="文本框 21"/>
          <p:cNvSpPr txBox="1"/>
          <p:nvPr/>
        </p:nvSpPr>
        <p:spPr>
          <a:xfrm>
            <a:off x="4094480" y="2314575"/>
            <a:ext cx="1379220" cy="275590"/>
          </a:xfrm>
          <a:prstGeom prst="rect">
            <a:avLst/>
          </a:prstGeom>
          <a:noFill/>
        </p:spPr>
        <p:txBody>
          <a:bodyPr wrap="square" rtlCol="0">
            <a:spAutoFit/>
          </a:bodyPr>
          <a:p>
            <a:pPr algn="ctr">
              <a:buClrTx/>
              <a:buSzTx/>
              <a:buFontTx/>
            </a:pPr>
            <a:r>
              <a:rPr lang="zh-CN" altLang="en-US" sz="1200"/>
              <a:t>min聚合层</a:t>
            </a:r>
            <a:endParaRPr lang="zh-CN" altLang="en-US" sz="1200"/>
          </a:p>
        </p:txBody>
      </p:sp>
      <p:sp>
        <p:nvSpPr>
          <p:cNvPr id="10" name="圆角矩形 9"/>
          <p:cNvSpPr/>
          <p:nvPr/>
        </p:nvSpPr>
        <p:spPr>
          <a:xfrm>
            <a:off x="4454525" y="2661285"/>
            <a:ext cx="659130" cy="2468245"/>
          </a:xfrm>
          <a:prstGeom prst="roundRect">
            <a:avLst/>
          </a:prstGeom>
          <a:solidFill>
            <a:srgbClr val="E9E9E9"/>
          </a:solidFill>
          <a:ln>
            <a:solidFill>
              <a:schemeClr val="tx1"/>
            </a:solidFill>
          </a:ln>
          <a:extLst>
            <a:ext uri="{909E8E84-426E-40DD-AFC4-6F175D3DCCD1}">
              <a14:hiddenFill xmlns:a14="http://schemas.microsoft.com/office/drawing/2010/main">
                <a:solidFill>
                  <a:srgbClr val="7DCFF6"/>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800">
              <a:solidFill>
                <a:schemeClr val="tx1"/>
              </a:solidFill>
              <a:sym typeface="+mn-ea"/>
            </a:endParaRPr>
          </a:p>
        </p:txBody>
      </p:sp>
      <p:sp>
        <p:nvSpPr>
          <p:cNvPr id="24" name="文本框 23"/>
          <p:cNvSpPr txBox="1"/>
          <p:nvPr/>
        </p:nvSpPr>
        <p:spPr>
          <a:xfrm>
            <a:off x="5477510" y="2321560"/>
            <a:ext cx="902335" cy="275590"/>
          </a:xfrm>
          <a:prstGeom prst="rect">
            <a:avLst/>
          </a:prstGeom>
          <a:noFill/>
        </p:spPr>
        <p:txBody>
          <a:bodyPr wrap="square" rtlCol="0">
            <a:spAutoFit/>
          </a:bodyPr>
          <a:p>
            <a:pPr algn="ctr"/>
            <a:r>
              <a:rPr lang="zh-CN" altLang="en-US" sz="1200"/>
              <a:t>输出层</a:t>
            </a:r>
            <a:endParaRPr lang="zh-CN" altLang="en-US" sz="1200"/>
          </a:p>
        </p:txBody>
      </p:sp>
      <p:sp>
        <p:nvSpPr>
          <p:cNvPr id="11" name="圆角矩形 10"/>
          <p:cNvSpPr/>
          <p:nvPr/>
        </p:nvSpPr>
        <p:spPr>
          <a:xfrm>
            <a:off x="5647055" y="2661285"/>
            <a:ext cx="659130" cy="2468245"/>
          </a:xfrm>
          <a:prstGeom prst="roundRect">
            <a:avLst/>
          </a:prstGeom>
          <a:solidFill>
            <a:srgbClr val="E9E9E9"/>
          </a:solidFill>
          <a:ln>
            <a:solidFill>
              <a:schemeClr val="tx1"/>
            </a:solidFill>
          </a:ln>
          <a:extLst>
            <a:ext uri="{909E8E84-426E-40DD-AFC4-6F175D3DCCD1}">
              <a14:hiddenFill xmlns:a14="http://schemas.microsoft.com/office/drawing/2010/main">
                <a:solidFill>
                  <a:srgbClr val="7DCFF6"/>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800">
              <a:sym typeface="+mn-ea"/>
            </a:endParaRPr>
          </a:p>
        </p:txBody>
      </p:sp>
      <p:sp>
        <p:nvSpPr>
          <p:cNvPr id="30" name="椭圆 29"/>
          <p:cNvSpPr/>
          <p:nvPr/>
        </p:nvSpPr>
        <p:spPr>
          <a:xfrm>
            <a:off x="3448368" y="3061335"/>
            <a:ext cx="272415" cy="251460"/>
          </a:xfrm>
          <a:prstGeom prst="ellipse">
            <a:avLst/>
          </a:prstGeom>
          <a:solidFill>
            <a:srgbClr val="FF6363"/>
          </a:soli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800">
              <a:solidFill>
                <a:srgbClr val="FF5757"/>
              </a:solidFill>
              <a:sym typeface="+mn-ea"/>
            </a:endParaRPr>
          </a:p>
        </p:txBody>
      </p:sp>
      <p:sp>
        <p:nvSpPr>
          <p:cNvPr id="31" name="椭圆 30"/>
          <p:cNvSpPr/>
          <p:nvPr/>
        </p:nvSpPr>
        <p:spPr>
          <a:xfrm>
            <a:off x="3448368" y="3351530"/>
            <a:ext cx="272415" cy="251460"/>
          </a:xfrm>
          <a:prstGeom prst="ellipse">
            <a:avLst/>
          </a:prstGeom>
          <a:solidFill>
            <a:srgbClr val="FF6363"/>
          </a:soli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800">
              <a:solidFill>
                <a:srgbClr val="FF5757"/>
              </a:solidFill>
              <a:sym typeface="+mn-ea"/>
            </a:endParaRPr>
          </a:p>
        </p:txBody>
      </p:sp>
      <p:sp>
        <p:nvSpPr>
          <p:cNvPr id="32" name="椭圆 31"/>
          <p:cNvSpPr/>
          <p:nvPr/>
        </p:nvSpPr>
        <p:spPr>
          <a:xfrm>
            <a:off x="3448368" y="4294505"/>
            <a:ext cx="272415" cy="251460"/>
          </a:xfrm>
          <a:prstGeom prst="ellipse">
            <a:avLst/>
          </a:prstGeom>
          <a:solidFill>
            <a:srgbClr val="FF6363"/>
          </a:soli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800">
              <a:solidFill>
                <a:srgbClr val="FF5757"/>
              </a:solidFill>
              <a:sym typeface="+mn-ea"/>
            </a:endParaRPr>
          </a:p>
        </p:txBody>
      </p:sp>
      <p:sp>
        <p:nvSpPr>
          <p:cNvPr id="43" name="椭圆 42"/>
          <p:cNvSpPr/>
          <p:nvPr/>
        </p:nvSpPr>
        <p:spPr>
          <a:xfrm>
            <a:off x="3546793" y="3776345"/>
            <a:ext cx="75565" cy="75565"/>
          </a:xfrm>
          <a:prstGeom prst="ellipse">
            <a:avLst/>
          </a:prstGeom>
          <a:solidFill>
            <a:srgbClr val="FF6363"/>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800">
              <a:solidFill>
                <a:srgbClr val="FF5757"/>
              </a:solidFill>
              <a:sym typeface="+mn-ea"/>
            </a:endParaRPr>
          </a:p>
        </p:txBody>
      </p:sp>
      <p:sp>
        <p:nvSpPr>
          <p:cNvPr id="44" name="椭圆 43"/>
          <p:cNvSpPr/>
          <p:nvPr/>
        </p:nvSpPr>
        <p:spPr>
          <a:xfrm>
            <a:off x="3546793" y="3903345"/>
            <a:ext cx="75565" cy="75565"/>
          </a:xfrm>
          <a:prstGeom prst="ellipse">
            <a:avLst/>
          </a:prstGeom>
          <a:solidFill>
            <a:srgbClr val="FF6363"/>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800">
              <a:solidFill>
                <a:srgbClr val="FF5757"/>
              </a:solidFill>
              <a:sym typeface="+mn-ea"/>
            </a:endParaRPr>
          </a:p>
        </p:txBody>
      </p:sp>
      <p:sp>
        <p:nvSpPr>
          <p:cNvPr id="45" name="椭圆 44"/>
          <p:cNvSpPr/>
          <p:nvPr/>
        </p:nvSpPr>
        <p:spPr>
          <a:xfrm>
            <a:off x="3546793" y="4030345"/>
            <a:ext cx="75565" cy="75565"/>
          </a:xfrm>
          <a:prstGeom prst="ellipse">
            <a:avLst/>
          </a:prstGeom>
          <a:solidFill>
            <a:srgbClr val="FF6363"/>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800">
              <a:solidFill>
                <a:srgbClr val="FF5757"/>
              </a:solidFill>
              <a:sym typeface="+mn-ea"/>
            </a:endParaRPr>
          </a:p>
        </p:txBody>
      </p:sp>
      <p:sp>
        <p:nvSpPr>
          <p:cNvPr id="48" name="椭圆 47"/>
          <p:cNvSpPr/>
          <p:nvPr/>
        </p:nvSpPr>
        <p:spPr>
          <a:xfrm>
            <a:off x="5839778" y="3704590"/>
            <a:ext cx="272415" cy="251460"/>
          </a:xfrm>
          <a:prstGeom prst="ellipse">
            <a:avLst/>
          </a:prstGeom>
          <a:solidFill>
            <a:schemeClr val="accent4">
              <a:lumMod val="50000"/>
            </a:schemeClr>
          </a:soli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49" name="直接箭头连接符 48"/>
          <p:cNvCxnSpPr>
            <a:stCxn id="12" idx="6"/>
            <a:endCxn id="30" idx="2"/>
          </p:cNvCxnSpPr>
          <p:nvPr/>
        </p:nvCxnSpPr>
        <p:spPr>
          <a:xfrm>
            <a:off x="2562225" y="2938145"/>
            <a:ext cx="886460" cy="248920"/>
          </a:xfrm>
          <a:prstGeom prst="straightConnector1">
            <a:avLst/>
          </a:prstGeom>
          <a:ln w="15875" cap="rnd">
            <a:solidFill>
              <a:schemeClr val="tx1"/>
            </a:solidFill>
            <a:round/>
            <a:tailEnd type="none" w="med" len="med"/>
          </a:ln>
        </p:spPr>
        <p:style>
          <a:lnRef idx="0">
            <a:srgbClr val="FFFFFF"/>
          </a:lnRef>
          <a:fillRef idx="0">
            <a:srgbClr val="FFFFFF"/>
          </a:fillRef>
          <a:effectRef idx="0">
            <a:srgbClr val="FFFFFF"/>
          </a:effectRef>
          <a:fontRef idx="minor">
            <a:schemeClr val="tx1"/>
          </a:fontRef>
        </p:style>
      </p:cxnSp>
      <p:cxnSp>
        <p:nvCxnSpPr>
          <p:cNvPr id="52" name="直接箭头连接符 51"/>
          <p:cNvCxnSpPr/>
          <p:nvPr/>
        </p:nvCxnSpPr>
        <p:spPr>
          <a:xfrm>
            <a:off x="2562860" y="2926715"/>
            <a:ext cx="870585" cy="1503045"/>
          </a:xfrm>
          <a:prstGeom prst="straightConnector1">
            <a:avLst/>
          </a:prstGeom>
          <a:ln w="15875" cap="rnd">
            <a:solidFill>
              <a:schemeClr val="tx1"/>
            </a:solidFill>
            <a:round/>
            <a:tailEnd type="none" w="sm" len="sm"/>
          </a:ln>
        </p:spPr>
        <p:style>
          <a:lnRef idx="0">
            <a:srgbClr val="FFFFFF"/>
          </a:lnRef>
          <a:fillRef idx="0">
            <a:srgbClr val="FFFFFF"/>
          </a:fillRef>
          <a:effectRef idx="0">
            <a:srgbClr val="FFFFFF"/>
          </a:effectRef>
          <a:fontRef idx="minor">
            <a:schemeClr val="tx1"/>
          </a:fontRef>
        </p:style>
      </p:cxnSp>
      <p:cxnSp>
        <p:nvCxnSpPr>
          <p:cNvPr id="53" name="直接箭头连接符 52"/>
          <p:cNvCxnSpPr>
            <a:endCxn id="30" idx="2"/>
          </p:cNvCxnSpPr>
          <p:nvPr/>
        </p:nvCxnSpPr>
        <p:spPr>
          <a:xfrm flipV="1">
            <a:off x="2555875" y="3187065"/>
            <a:ext cx="892810" cy="1657350"/>
          </a:xfrm>
          <a:prstGeom prst="straightConnector1">
            <a:avLst/>
          </a:prstGeom>
          <a:ln w="15875" cap="rnd">
            <a:solidFill>
              <a:schemeClr val="tx1"/>
            </a:solidFill>
            <a:round/>
            <a:tailEnd type="none" w="med" len="med"/>
          </a:ln>
        </p:spPr>
        <p:style>
          <a:lnRef idx="0">
            <a:srgbClr val="FFFFFF"/>
          </a:lnRef>
          <a:fillRef idx="0">
            <a:srgbClr val="FFFFFF"/>
          </a:fillRef>
          <a:effectRef idx="0">
            <a:srgbClr val="FFFFFF"/>
          </a:effectRef>
          <a:fontRef idx="minor">
            <a:schemeClr val="tx1"/>
          </a:fontRef>
        </p:style>
      </p:cxnSp>
      <p:cxnSp>
        <p:nvCxnSpPr>
          <p:cNvPr id="58" name="直接箭头连接符 57"/>
          <p:cNvCxnSpPr/>
          <p:nvPr/>
        </p:nvCxnSpPr>
        <p:spPr>
          <a:xfrm flipV="1">
            <a:off x="2542540" y="3484245"/>
            <a:ext cx="904875" cy="1367155"/>
          </a:xfrm>
          <a:prstGeom prst="straightConnector1">
            <a:avLst/>
          </a:prstGeom>
          <a:ln w="15875" cap="rnd">
            <a:solidFill>
              <a:schemeClr val="tx1"/>
            </a:solidFill>
            <a:round/>
            <a:tailEnd type="none" w="med" len="med"/>
          </a:ln>
        </p:spPr>
        <p:style>
          <a:lnRef idx="0">
            <a:srgbClr val="FFFFFF"/>
          </a:lnRef>
          <a:fillRef idx="0">
            <a:srgbClr val="FFFFFF"/>
          </a:fillRef>
          <a:effectRef idx="0">
            <a:srgbClr val="FFFFFF"/>
          </a:effectRef>
          <a:fontRef idx="minor">
            <a:schemeClr val="tx1"/>
          </a:fontRef>
        </p:style>
      </p:cxnSp>
      <p:cxnSp>
        <p:nvCxnSpPr>
          <p:cNvPr id="59" name="直接箭头连接符 58"/>
          <p:cNvCxnSpPr>
            <a:stCxn id="14" idx="6"/>
            <a:endCxn id="32" idx="2"/>
          </p:cNvCxnSpPr>
          <p:nvPr/>
        </p:nvCxnSpPr>
        <p:spPr>
          <a:xfrm flipV="1">
            <a:off x="2562225" y="4420235"/>
            <a:ext cx="886460" cy="417195"/>
          </a:xfrm>
          <a:prstGeom prst="straightConnector1">
            <a:avLst/>
          </a:prstGeom>
          <a:ln w="15875" cap="rnd">
            <a:solidFill>
              <a:schemeClr val="tx1"/>
            </a:solidFill>
            <a:round/>
            <a:tailEnd type="none" w="med" len="med"/>
          </a:ln>
        </p:spPr>
        <p:style>
          <a:lnRef idx="0">
            <a:srgbClr val="FFFFFF"/>
          </a:lnRef>
          <a:fillRef idx="0">
            <a:srgbClr val="FFFFFF"/>
          </a:fillRef>
          <a:effectRef idx="0">
            <a:srgbClr val="FFFFFF"/>
          </a:effectRef>
          <a:fontRef idx="minor">
            <a:schemeClr val="tx1"/>
          </a:fontRef>
        </p:style>
      </p:cxnSp>
      <p:cxnSp>
        <p:nvCxnSpPr>
          <p:cNvPr id="60" name="直接箭头连接符 59"/>
          <p:cNvCxnSpPr>
            <a:stCxn id="13" idx="6"/>
          </p:cNvCxnSpPr>
          <p:nvPr/>
        </p:nvCxnSpPr>
        <p:spPr>
          <a:xfrm flipV="1">
            <a:off x="2562225" y="3198495"/>
            <a:ext cx="891540" cy="124460"/>
          </a:xfrm>
          <a:prstGeom prst="straightConnector1">
            <a:avLst/>
          </a:prstGeom>
          <a:ln w="15875" cap="rnd">
            <a:solidFill>
              <a:schemeClr val="tx1"/>
            </a:solidFill>
            <a:round/>
            <a:tailEnd type="none" w="med" len="med"/>
          </a:ln>
        </p:spPr>
        <p:style>
          <a:lnRef idx="0">
            <a:srgbClr val="FFFFFF"/>
          </a:lnRef>
          <a:fillRef idx="0">
            <a:srgbClr val="FFFFFF"/>
          </a:fillRef>
          <a:effectRef idx="0">
            <a:srgbClr val="FFFFFF"/>
          </a:effectRef>
          <a:fontRef idx="minor">
            <a:schemeClr val="tx1"/>
          </a:fontRef>
        </p:style>
      </p:cxnSp>
      <p:cxnSp>
        <p:nvCxnSpPr>
          <p:cNvPr id="61" name="直接箭头连接符 60"/>
          <p:cNvCxnSpPr/>
          <p:nvPr/>
        </p:nvCxnSpPr>
        <p:spPr>
          <a:xfrm>
            <a:off x="2560320" y="3337560"/>
            <a:ext cx="886460" cy="133350"/>
          </a:xfrm>
          <a:prstGeom prst="straightConnector1">
            <a:avLst/>
          </a:prstGeom>
          <a:ln w="15875" cap="rnd">
            <a:solidFill>
              <a:schemeClr val="tx1"/>
            </a:solidFill>
            <a:round/>
            <a:tailEnd type="none" w="med" len="med"/>
          </a:ln>
        </p:spPr>
        <p:style>
          <a:lnRef idx="0">
            <a:srgbClr val="FFFFFF"/>
          </a:lnRef>
          <a:fillRef idx="0">
            <a:srgbClr val="FFFFFF"/>
          </a:fillRef>
          <a:effectRef idx="0">
            <a:srgbClr val="FFFFFF"/>
          </a:effectRef>
          <a:fontRef idx="minor">
            <a:schemeClr val="tx1"/>
          </a:fontRef>
        </p:style>
      </p:cxnSp>
      <p:cxnSp>
        <p:nvCxnSpPr>
          <p:cNvPr id="62" name="直接箭头连接符 61"/>
          <p:cNvCxnSpPr/>
          <p:nvPr/>
        </p:nvCxnSpPr>
        <p:spPr>
          <a:xfrm>
            <a:off x="2569845" y="3335020"/>
            <a:ext cx="856615" cy="1060450"/>
          </a:xfrm>
          <a:prstGeom prst="straightConnector1">
            <a:avLst/>
          </a:prstGeom>
          <a:ln w="15875" cap="rnd">
            <a:solidFill>
              <a:schemeClr val="tx1"/>
            </a:solidFill>
            <a:round/>
            <a:tailEnd type="none" w="med" len="med"/>
          </a:ln>
        </p:spPr>
        <p:style>
          <a:lnRef idx="0">
            <a:srgbClr val="FFFFFF"/>
          </a:lnRef>
          <a:fillRef idx="0">
            <a:srgbClr val="FFFFFF"/>
          </a:fillRef>
          <a:effectRef idx="0">
            <a:srgbClr val="FFFFFF"/>
          </a:effectRef>
          <a:fontRef idx="minor">
            <a:schemeClr val="tx1"/>
          </a:fontRef>
        </p:style>
      </p:cxnSp>
      <p:cxnSp>
        <p:nvCxnSpPr>
          <p:cNvPr id="63" name="直接箭头连接符 62"/>
          <p:cNvCxnSpPr>
            <a:stCxn id="30" idx="6"/>
          </p:cNvCxnSpPr>
          <p:nvPr/>
        </p:nvCxnSpPr>
        <p:spPr>
          <a:xfrm>
            <a:off x="3721100" y="3187065"/>
            <a:ext cx="939165" cy="644525"/>
          </a:xfrm>
          <a:prstGeom prst="straightConnector1">
            <a:avLst/>
          </a:prstGeom>
          <a:ln w="15875" cap="rnd">
            <a:solidFill>
              <a:schemeClr val="tx1"/>
            </a:solidFill>
            <a:round/>
            <a:tailEnd type="none" w="med" len="med"/>
          </a:ln>
        </p:spPr>
        <p:style>
          <a:lnRef idx="0">
            <a:srgbClr val="FFFFFF"/>
          </a:lnRef>
          <a:fillRef idx="0">
            <a:srgbClr val="FFFFFF"/>
          </a:fillRef>
          <a:effectRef idx="0">
            <a:srgbClr val="FFFFFF"/>
          </a:effectRef>
          <a:fontRef idx="minor">
            <a:schemeClr val="tx1"/>
          </a:fontRef>
        </p:style>
      </p:cxnSp>
      <p:cxnSp>
        <p:nvCxnSpPr>
          <p:cNvPr id="65" name="直接箭头连接符 64"/>
          <p:cNvCxnSpPr>
            <a:stCxn id="31" idx="6"/>
          </p:cNvCxnSpPr>
          <p:nvPr/>
        </p:nvCxnSpPr>
        <p:spPr>
          <a:xfrm>
            <a:off x="3721100" y="3477260"/>
            <a:ext cx="917575" cy="349250"/>
          </a:xfrm>
          <a:prstGeom prst="straightConnector1">
            <a:avLst/>
          </a:prstGeom>
          <a:ln w="15875" cap="rnd">
            <a:solidFill>
              <a:schemeClr val="tx1"/>
            </a:solidFill>
            <a:round/>
            <a:tailEnd type="none" w="med" len="med"/>
          </a:ln>
        </p:spPr>
        <p:style>
          <a:lnRef idx="0">
            <a:srgbClr val="FFFFFF"/>
          </a:lnRef>
          <a:fillRef idx="0">
            <a:srgbClr val="FFFFFF"/>
          </a:fillRef>
          <a:effectRef idx="0">
            <a:srgbClr val="FFFFFF"/>
          </a:effectRef>
          <a:fontRef idx="minor">
            <a:schemeClr val="tx1"/>
          </a:fontRef>
        </p:style>
      </p:cxnSp>
      <p:cxnSp>
        <p:nvCxnSpPr>
          <p:cNvPr id="66" name="直接箭头连接符 65"/>
          <p:cNvCxnSpPr>
            <a:stCxn id="32" idx="6"/>
          </p:cNvCxnSpPr>
          <p:nvPr/>
        </p:nvCxnSpPr>
        <p:spPr>
          <a:xfrm flipV="1">
            <a:off x="3721100" y="3822065"/>
            <a:ext cx="929640" cy="598170"/>
          </a:xfrm>
          <a:prstGeom prst="straightConnector1">
            <a:avLst/>
          </a:prstGeom>
          <a:ln w="15875" cap="rnd">
            <a:solidFill>
              <a:schemeClr val="tx1"/>
            </a:solidFill>
            <a:round/>
            <a:tailEnd type="none" w="med" len="med"/>
          </a:ln>
        </p:spPr>
        <p:style>
          <a:lnRef idx="0">
            <a:srgbClr val="FFFFFF"/>
          </a:lnRef>
          <a:fillRef idx="0">
            <a:srgbClr val="FFFFFF"/>
          </a:fillRef>
          <a:effectRef idx="0">
            <a:srgbClr val="FFFFFF"/>
          </a:effectRef>
          <a:fontRef idx="minor">
            <a:schemeClr val="tx1"/>
          </a:fontRef>
        </p:style>
      </p:cxnSp>
      <p:cxnSp>
        <p:nvCxnSpPr>
          <p:cNvPr id="67" name="直接箭头连接符 66"/>
          <p:cNvCxnSpPr>
            <a:stCxn id="47" idx="6"/>
            <a:endCxn id="48" idx="2"/>
          </p:cNvCxnSpPr>
          <p:nvPr/>
        </p:nvCxnSpPr>
        <p:spPr>
          <a:xfrm>
            <a:off x="4920615" y="3823970"/>
            <a:ext cx="919480" cy="6350"/>
          </a:xfrm>
          <a:prstGeom prst="straightConnector1">
            <a:avLst/>
          </a:prstGeom>
          <a:ln w="15875" cap="rnd">
            <a:solidFill>
              <a:schemeClr val="tx1"/>
            </a:solidFill>
            <a:round/>
            <a:tailEnd type="none" w="med" len="med"/>
          </a:ln>
        </p:spPr>
        <p:style>
          <a:lnRef idx="0">
            <a:srgbClr val="FFFFFF"/>
          </a:lnRef>
          <a:fillRef idx="0">
            <a:srgbClr val="FFFFFF"/>
          </a:fillRef>
          <a:effectRef idx="0">
            <a:srgbClr val="FFFFFF"/>
          </a:effectRef>
          <a:fontRef idx="minor">
            <a:schemeClr val="tx1"/>
          </a:fontRef>
        </p:style>
      </p:cxnSp>
      <mc:AlternateContent xmlns:mc="http://schemas.openxmlformats.org/markup-compatibility/2006">
        <mc:Choice xmlns:a14="http://schemas.microsoft.com/office/drawing/2010/main" Requires="a14">
          <p:sp>
            <p:nvSpPr>
              <p:cNvPr id="68" name="文本框 67"/>
              <p:cNvSpPr txBox="1"/>
              <p:nvPr/>
            </p:nvSpPr>
            <p:spPr>
              <a:xfrm>
                <a:off x="163830" y="5252720"/>
                <a:ext cx="2272030" cy="373380"/>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p>
                        <m:sSupPr>
                          <m:ctrlPr>
                            <a:rPr lang="en-US" altLang="zh-CN" i="1">
                              <a:solidFill>
                                <a:srgbClr val="4E67C8"/>
                              </a:solidFill>
                              <a:latin typeface="Cambria Math" panose="02040503050406030204" charset="0"/>
                              <a:cs typeface="Cambria Math" panose="02040503050406030204" charset="0"/>
                            </a:rPr>
                          </m:ctrlPr>
                        </m:sSupPr>
                        <m:e>
                          <m:r>
                            <a:rPr lang="en-US" altLang="zh-CN" i="1">
                              <a:solidFill>
                                <a:srgbClr val="4E67C8"/>
                              </a:solidFill>
                              <a:latin typeface="Cambria Math" panose="02040503050406030204" charset="0"/>
                              <a:cs typeface="Cambria Math" panose="02040503050406030204" charset="0"/>
                            </a:rPr>
                            <m:t>𝑥</m:t>
                          </m:r>
                        </m:e>
                        <m:sup>
                          <m:r>
                            <a:rPr lang="en-US" altLang="zh-CN" i="1">
                              <a:solidFill>
                                <a:srgbClr val="4E67C8"/>
                              </a:solidFill>
                              <a:latin typeface="Cambria Math" panose="02040503050406030204" charset="0"/>
                              <a:cs typeface="Cambria Math" panose="02040503050406030204" charset="0"/>
                            </a:rPr>
                            <m:t>(</m:t>
                          </m:r>
                          <m:r>
                            <a:rPr lang="en-US" altLang="zh-CN" i="1">
                              <a:solidFill>
                                <a:srgbClr val="4E67C8"/>
                              </a:solidFill>
                              <a:latin typeface="Cambria Math" panose="02040503050406030204" charset="0"/>
                              <a:cs typeface="Cambria Math" panose="02040503050406030204" charset="0"/>
                            </a:rPr>
                            <m:t>𝑖</m:t>
                          </m:r>
                          <m:r>
                            <a:rPr lang="en-US" altLang="zh-CN" i="1">
                              <a:solidFill>
                                <a:srgbClr val="4E67C8"/>
                              </a:solidFill>
                              <a:latin typeface="Cambria Math" panose="02040503050406030204" charset="0"/>
                              <a:cs typeface="Cambria Math" panose="02040503050406030204" charset="0"/>
                            </a:rPr>
                            <m:t>)</m:t>
                          </m:r>
                        </m:sup>
                      </m:sSup>
                      <m:r>
                        <a:rPr lang="en-US" altLang="zh-CN" i="1">
                          <a:solidFill>
                            <a:srgbClr val="4E67C8"/>
                          </a:solidFill>
                          <a:latin typeface="Cambria Math" panose="02040503050406030204" charset="0"/>
                          <a:cs typeface="Cambria Math" panose="02040503050406030204" charset="0"/>
                        </a:rPr>
                        <m:t>,</m:t>
                      </m:r>
                      <m:r>
                        <a:rPr lang="en-US" altLang="zh-CN" i="1">
                          <a:solidFill>
                            <a:srgbClr val="4E67C8"/>
                          </a:solidFill>
                          <a:latin typeface="Cambria Math" panose="02040503050406030204" charset="0"/>
                          <a:cs typeface="Cambria Math" panose="02040503050406030204" charset="0"/>
                        </a:rPr>
                        <m:t>𝑖</m:t>
                      </m:r>
                      <m:r>
                        <a:rPr lang="en-US" altLang="zh-CN" i="1">
                          <a:solidFill>
                            <a:srgbClr val="4E67C8"/>
                          </a:solidFill>
                          <a:latin typeface="Cambria Math" panose="02040503050406030204" charset="0"/>
                          <a:cs typeface="Cambria Math" panose="02040503050406030204" charset="0"/>
                        </a:rPr>
                        <m:t>∈{</m:t>
                      </m:r>
                      <m:r>
                        <a:rPr lang="en-US" altLang="zh-CN" i="1">
                          <a:solidFill>
                            <a:srgbClr val="4E67C8"/>
                          </a:solidFill>
                          <a:latin typeface="Cambria Math" panose="02040503050406030204" charset="0"/>
                          <a:cs typeface="Cambria Math" panose="02040503050406030204" charset="0"/>
                        </a:rPr>
                        <m:t>1</m:t>
                      </m:r>
                      <m:r>
                        <a:rPr lang="en-US" altLang="zh-CN" i="1">
                          <a:solidFill>
                            <a:srgbClr val="4E67C8"/>
                          </a:solidFill>
                          <a:latin typeface="Cambria Math" panose="02040503050406030204" charset="0"/>
                          <a:cs typeface="Cambria Math" panose="02040503050406030204" charset="0"/>
                        </a:rPr>
                        <m:t>,</m:t>
                      </m:r>
                      <m:r>
                        <a:rPr lang="en-US" altLang="zh-CN" i="1">
                          <a:solidFill>
                            <a:srgbClr val="4E67C8"/>
                          </a:solidFill>
                          <a:latin typeface="Cambria Math" panose="02040503050406030204" charset="0"/>
                          <a:cs typeface="Cambria Math" panose="02040503050406030204" charset="0"/>
                        </a:rPr>
                        <m:t>2</m:t>
                      </m:r>
                      <m:r>
                        <a:rPr lang="en-US" altLang="zh-CN" i="1">
                          <a:solidFill>
                            <a:srgbClr val="4E67C8"/>
                          </a:solidFill>
                          <a:latin typeface="Cambria Math" panose="02040503050406030204" charset="0"/>
                          <a:cs typeface="Cambria Math" panose="02040503050406030204" charset="0"/>
                        </a:rPr>
                        <m:t>,...,</m:t>
                      </m:r>
                      <m:r>
                        <a:rPr lang="en-US" altLang="zh-CN" i="1">
                          <a:solidFill>
                            <a:srgbClr val="4E67C8"/>
                          </a:solidFill>
                          <a:latin typeface="Cambria Math" panose="02040503050406030204" charset="0"/>
                          <a:cs typeface="Cambria Math" panose="02040503050406030204" charset="0"/>
                        </a:rPr>
                        <m:t>𝑁</m:t>
                      </m:r>
                      <m:r>
                        <a:rPr lang="en-US" altLang="zh-CN" i="1">
                          <a:solidFill>
                            <a:srgbClr val="4E67C8"/>
                          </a:solidFill>
                          <a:latin typeface="Cambria Math" panose="02040503050406030204" charset="0"/>
                          <a:ea typeface="MS Mincho" charset="0"/>
                          <a:cs typeface="Cambria Math" panose="02040503050406030204" charset="0"/>
                        </a:rPr>
                        <m:t>}</m:t>
                      </m:r>
                    </m:oMath>
                  </m:oMathPara>
                </a14:m>
                <a:endParaRPr lang="en-US" altLang="zh-CN" i="1">
                  <a:solidFill>
                    <a:srgbClr val="4E67C8"/>
                  </a:solidFill>
                  <a:latin typeface="Cambria Math" panose="02040503050406030204" charset="0"/>
                  <a:ea typeface="MS Mincho" charset="0"/>
                  <a:cs typeface="Cambria Math" panose="02040503050406030204" charset="0"/>
                </a:endParaRPr>
              </a:p>
            </p:txBody>
          </p:sp>
        </mc:Choice>
        <mc:Fallback>
          <p:sp>
            <p:nvSpPr>
              <p:cNvPr id="68" name="文本框 67"/>
              <p:cNvSpPr txBox="1">
                <a:spLocks noRot="1" noChangeAspect="1" noMove="1" noResize="1" noEditPoints="1" noAdjustHandles="1" noChangeArrowheads="1" noChangeShapeType="1" noTextEdit="1"/>
              </p:cNvSpPr>
              <p:nvPr/>
            </p:nvSpPr>
            <p:spPr>
              <a:xfrm>
                <a:off x="163830" y="5252720"/>
                <a:ext cx="2272030" cy="37338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9" name="文本框 68"/>
              <p:cNvSpPr txBox="1"/>
              <p:nvPr/>
            </p:nvSpPr>
            <p:spPr>
              <a:xfrm>
                <a:off x="2534920" y="5277485"/>
                <a:ext cx="2272030" cy="368300"/>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
                        <m:sSubPr>
                          <m:ctrlPr>
                            <a:rPr lang="en-US" altLang="zh-CN" i="1">
                              <a:solidFill>
                                <a:srgbClr val="FF0000"/>
                              </a:solidFill>
                              <a:latin typeface="Cambria Math" panose="02040503050406030204" charset="0"/>
                              <a:cs typeface="Cambria Math" panose="02040503050406030204" charset="0"/>
                            </a:rPr>
                          </m:ctrlPr>
                        </m:sSubPr>
                        <m:e>
                          <m:r>
                            <a:rPr lang="en-US" altLang="zh-CN" i="1">
                              <a:solidFill>
                                <a:srgbClr val="FF0000"/>
                              </a:solidFill>
                              <a:latin typeface="Cambria Math" panose="02040503050406030204" charset="0"/>
                              <a:cs typeface="Cambria Math" panose="02040503050406030204" charset="0"/>
                            </a:rPr>
                            <m:t>ℎ</m:t>
                          </m:r>
                        </m:e>
                        <m:sub>
                          <m:r>
                            <a:rPr lang="en-US" altLang="zh-CN" i="1">
                              <a:solidFill>
                                <a:srgbClr val="FF0000"/>
                              </a:solidFill>
                              <a:latin typeface="Cambria Math" panose="02040503050406030204" charset="0"/>
                              <a:cs typeface="Cambria Math" panose="02040503050406030204" charset="0"/>
                            </a:rPr>
                            <m:t>𝑚</m:t>
                          </m:r>
                        </m:sub>
                      </m:sSub>
                      <m:r>
                        <a:rPr lang="en-US" altLang="zh-CN" i="1">
                          <a:solidFill>
                            <a:srgbClr val="FF0000"/>
                          </a:solidFill>
                          <a:latin typeface="Cambria Math" panose="02040503050406030204" charset="0"/>
                          <a:cs typeface="Cambria Math" panose="02040503050406030204" charset="0"/>
                        </a:rPr>
                        <m:t>,</m:t>
                      </m:r>
                      <m:r>
                        <a:rPr lang="en-US" altLang="zh-CN" i="1">
                          <a:solidFill>
                            <a:srgbClr val="FF0000"/>
                          </a:solidFill>
                          <a:latin typeface="Cambria Math" panose="02040503050406030204" charset="0"/>
                          <a:cs typeface="Cambria Math" panose="02040503050406030204" charset="0"/>
                        </a:rPr>
                        <m:t>𝑚</m:t>
                      </m:r>
                      <m:r>
                        <a:rPr lang="en-US" altLang="zh-CN" i="1">
                          <a:solidFill>
                            <a:srgbClr val="FF0000"/>
                          </a:solidFill>
                          <a:latin typeface="Cambria Math" panose="02040503050406030204" charset="0"/>
                          <a:cs typeface="Cambria Math" panose="02040503050406030204" charset="0"/>
                        </a:rPr>
                        <m:t>∈{</m:t>
                      </m:r>
                      <m:r>
                        <a:rPr lang="en-US" altLang="zh-CN" i="1">
                          <a:solidFill>
                            <a:srgbClr val="FF0000"/>
                          </a:solidFill>
                          <a:latin typeface="Cambria Math" panose="02040503050406030204" charset="0"/>
                          <a:cs typeface="Cambria Math" panose="02040503050406030204" charset="0"/>
                        </a:rPr>
                        <m:t>1</m:t>
                      </m:r>
                      <m:r>
                        <a:rPr lang="en-US" altLang="zh-CN" i="1">
                          <a:solidFill>
                            <a:srgbClr val="FF0000"/>
                          </a:solidFill>
                          <a:latin typeface="Cambria Math" panose="02040503050406030204" charset="0"/>
                          <a:cs typeface="Cambria Math" panose="02040503050406030204" charset="0"/>
                        </a:rPr>
                        <m:t>,</m:t>
                      </m:r>
                      <m:r>
                        <a:rPr lang="en-US" altLang="zh-CN" i="1">
                          <a:solidFill>
                            <a:srgbClr val="FF0000"/>
                          </a:solidFill>
                          <a:latin typeface="Cambria Math" panose="02040503050406030204" charset="0"/>
                          <a:cs typeface="Cambria Math" panose="02040503050406030204" charset="0"/>
                        </a:rPr>
                        <m:t>2</m:t>
                      </m:r>
                      <m:r>
                        <a:rPr lang="en-US" altLang="zh-CN" i="1">
                          <a:solidFill>
                            <a:srgbClr val="FF0000"/>
                          </a:solidFill>
                          <a:latin typeface="Cambria Math" panose="02040503050406030204" charset="0"/>
                          <a:cs typeface="Cambria Math" panose="02040503050406030204" charset="0"/>
                        </a:rPr>
                        <m:t>,...,</m:t>
                      </m:r>
                      <m:r>
                        <a:rPr lang="en-US" altLang="zh-CN" i="1">
                          <a:solidFill>
                            <a:srgbClr val="FF0000"/>
                          </a:solidFill>
                          <a:latin typeface="Cambria Math" panose="02040503050406030204" charset="0"/>
                          <a:cs typeface="Cambria Math" panose="02040503050406030204" charset="0"/>
                        </a:rPr>
                        <m:t>𝑀</m:t>
                      </m:r>
                      <m:r>
                        <a:rPr lang="en-US" altLang="zh-CN" i="1">
                          <a:solidFill>
                            <a:srgbClr val="FF0000"/>
                          </a:solidFill>
                          <a:latin typeface="Cambria Math" panose="02040503050406030204" charset="0"/>
                          <a:ea typeface="MS Mincho" charset="0"/>
                          <a:cs typeface="Cambria Math" panose="02040503050406030204" charset="0"/>
                        </a:rPr>
                        <m:t>}</m:t>
                      </m:r>
                    </m:oMath>
                  </m:oMathPara>
                </a14:m>
                <a:endParaRPr lang="en-US" altLang="zh-CN" i="1">
                  <a:solidFill>
                    <a:srgbClr val="FF0000"/>
                  </a:solidFill>
                  <a:latin typeface="Cambria Math" panose="02040503050406030204" charset="0"/>
                  <a:ea typeface="MS Mincho" charset="0"/>
                  <a:cs typeface="Cambria Math" panose="02040503050406030204" charset="0"/>
                </a:endParaRPr>
              </a:p>
            </p:txBody>
          </p:sp>
        </mc:Choice>
        <mc:Fallback>
          <p:sp>
            <p:nvSpPr>
              <p:cNvPr id="69" name="文本框 68"/>
              <p:cNvSpPr txBox="1">
                <a:spLocks noRot="1" noChangeAspect="1" noMove="1" noResize="1" noEditPoints="1" noAdjustHandles="1" noChangeArrowheads="1" noChangeShapeType="1" noTextEdit="1"/>
              </p:cNvSpPr>
              <p:nvPr/>
            </p:nvSpPr>
            <p:spPr>
              <a:xfrm>
                <a:off x="2534920" y="5277485"/>
                <a:ext cx="2272030" cy="368300"/>
              </a:xfrm>
              <a:prstGeom prst="rect">
                <a:avLst/>
              </a:prstGeom>
              <a:blipFill rotWithShape="1">
                <a:blip r:embed="rId3"/>
                <a:stretch>
                  <a:fillRect/>
                </a:stretch>
              </a:blipFill>
            </p:spPr>
            <p:txBody>
              <a:bodyPr/>
              <a:lstStyle/>
              <a:p>
                <a:r>
                  <a:rPr lang="zh-CN" altLang="en-US">
                    <a:noFill/>
                  </a:rPr>
                  <a:t> </a:t>
                </a:r>
              </a:p>
            </p:txBody>
          </p:sp>
        </mc:Fallback>
      </mc:AlternateContent>
      <p:cxnSp>
        <p:nvCxnSpPr>
          <p:cNvPr id="70" name="直接箭头连接符 69"/>
          <p:cNvCxnSpPr>
            <a:stCxn id="13" idx="3"/>
            <a:endCxn id="68" idx="0"/>
          </p:cNvCxnSpPr>
          <p:nvPr/>
        </p:nvCxnSpPr>
        <p:spPr>
          <a:xfrm flipH="1">
            <a:off x="1299845" y="3411855"/>
            <a:ext cx="1029970" cy="1840865"/>
          </a:xfrm>
          <a:prstGeom prst="straightConnector1">
            <a:avLst/>
          </a:prstGeom>
          <a:ln w="15875">
            <a:tailEnd type="arrow"/>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mc:Choice xmlns:a14="http://schemas.microsoft.com/office/drawing/2010/main" Requires="a14">
          <p:sp>
            <p:nvSpPr>
              <p:cNvPr id="72" name="文本框 71"/>
              <p:cNvSpPr txBox="1"/>
              <p:nvPr/>
            </p:nvSpPr>
            <p:spPr>
              <a:xfrm>
                <a:off x="5531485" y="5209540"/>
                <a:ext cx="3275965" cy="49657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r>
                        <a:rPr lang="en-US" altLang="zh-CN" i="1">
                          <a:solidFill>
                            <a:srgbClr val="23735D"/>
                          </a:solidFill>
                          <a:latin typeface="Cambria Math" panose="02040503050406030204" charset="0"/>
                          <a:cs typeface="Cambria Math" panose="02040503050406030204" charset="0"/>
                        </a:rPr>
                        <m:t>ℎ</m:t>
                      </m:r>
                      <m:r>
                        <a:rPr lang="en-US" altLang="zh-CN" i="1">
                          <a:solidFill>
                            <a:srgbClr val="23735D"/>
                          </a:solidFill>
                          <a:latin typeface="Cambria Math" panose="02040503050406030204" charset="0"/>
                          <a:cs typeface="Cambria Math" panose="02040503050406030204" charset="0"/>
                        </a:rPr>
                        <m:t>(</m:t>
                      </m:r>
                      <m:r>
                        <a:rPr lang="en-US" altLang="zh-CN" i="1">
                          <a:solidFill>
                            <a:srgbClr val="23735D"/>
                          </a:solidFill>
                          <a:latin typeface="Cambria Math" panose="02040503050406030204" charset="0"/>
                          <a:cs typeface="Cambria Math" panose="02040503050406030204" charset="0"/>
                        </a:rPr>
                        <m:t>𝑥</m:t>
                      </m:r>
                      <m:r>
                        <a:rPr lang="en-US" altLang="zh-CN" i="1">
                          <a:solidFill>
                            <a:srgbClr val="23735D"/>
                          </a:solidFill>
                          <a:latin typeface="Cambria Math" panose="02040503050406030204" charset="0"/>
                          <a:cs typeface="Cambria Math" panose="02040503050406030204" charset="0"/>
                        </a:rPr>
                        <m:t>)=</m:t>
                      </m:r>
                      <m:func>
                        <m:funcPr>
                          <m:ctrlPr>
                            <a:rPr lang="en-US" altLang="zh-CN" i="1">
                              <a:solidFill>
                                <a:srgbClr val="23735D"/>
                              </a:solidFill>
                              <a:latin typeface="Cambria Math" panose="02040503050406030204" charset="0"/>
                              <a:cs typeface="Cambria Math" panose="02040503050406030204" charset="0"/>
                            </a:rPr>
                          </m:ctrlPr>
                        </m:funcPr>
                        <m:fName>
                          <m:limLow>
                            <m:limLowPr>
                              <m:ctrlPr>
                                <a:rPr lang="en-US" altLang="zh-CN">
                                  <a:solidFill>
                                    <a:srgbClr val="23735D"/>
                                  </a:solidFill>
                                  <a:latin typeface="Cambria Math" panose="02040503050406030204" charset="0"/>
                                  <a:cs typeface="Cambria Math" panose="02040503050406030204" charset="0"/>
                                </a:rPr>
                              </m:ctrlPr>
                            </m:limLowPr>
                            <m:e>
                              <m:r>
                                <m:rPr>
                                  <m:sty m:val="p"/>
                                </m:rPr>
                                <a:rPr lang="en-US" altLang="zh-CN">
                                  <a:solidFill>
                                    <a:srgbClr val="23735D"/>
                                  </a:solidFill>
                                  <a:latin typeface="Cambria Math" panose="02040503050406030204" charset="0"/>
                                  <a:cs typeface="Cambria Math" panose="02040503050406030204" charset="0"/>
                                </a:rPr>
                                <m:t>min</m:t>
                              </m:r>
                            </m:e>
                            <m:lim>
                              <m:r>
                                <a:rPr lang="en-US" altLang="zh-CN" i="1">
                                  <a:solidFill>
                                    <a:srgbClr val="23735D"/>
                                  </a:solidFill>
                                  <a:latin typeface="Cambria Math" panose="02040503050406030204" charset="0"/>
                                  <a:cs typeface="Cambria Math" panose="02040503050406030204" charset="0"/>
                                </a:rPr>
                                <m:t>𝑖</m:t>
                              </m:r>
                              <m:r>
                                <a:rPr lang="en-US" altLang="zh-CN" i="1">
                                  <a:solidFill>
                                    <a:srgbClr val="23735D"/>
                                  </a:solidFill>
                                  <a:latin typeface="Cambria Math" panose="02040503050406030204" charset="0"/>
                                  <a:cs typeface="Cambria Math" panose="02040503050406030204" charset="0"/>
                                </a:rPr>
                                <m:t>={</m:t>
                              </m:r>
                              <m:r>
                                <a:rPr lang="en-US" altLang="zh-CN" i="1">
                                  <a:solidFill>
                                    <a:srgbClr val="23735D"/>
                                  </a:solidFill>
                                  <a:latin typeface="Cambria Math" panose="02040503050406030204" charset="0"/>
                                  <a:cs typeface="Cambria Math" panose="02040503050406030204" charset="0"/>
                                </a:rPr>
                                <m:t>1</m:t>
                              </m:r>
                              <m:r>
                                <a:rPr lang="en-US" altLang="zh-CN" i="1">
                                  <a:solidFill>
                                    <a:srgbClr val="23735D"/>
                                  </a:solidFill>
                                  <a:latin typeface="Cambria Math" panose="02040503050406030204" charset="0"/>
                                  <a:cs typeface="Cambria Math" panose="02040503050406030204" charset="0"/>
                                </a:rPr>
                                <m:t>,...,</m:t>
                              </m:r>
                              <m:r>
                                <a:rPr lang="en-US" altLang="zh-CN" i="1">
                                  <a:solidFill>
                                    <a:srgbClr val="23735D"/>
                                  </a:solidFill>
                                  <a:latin typeface="Cambria Math" panose="02040503050406030204" charset="0"/>
                                  <a:cs typeface="Cambria Math" panose="02040503050406030204" charset="0"/>
                                </a:rPr>
                                <m:t>𝑀</m:t>
                              </m:r>
                              <m:r>
                                <a:rPr lang="en-US" altLang="zh-CN" i="1">
                                  <a:solidFill>
                                    <a:srgbClr val="23735D"/>
                                  </a:solidFill>
                                  <a:latin typeface="Cambria Math" panose="02040503050406030204" charset="0"/>
                                  <a:cs typeface="Cambria Math" panose="02040503050406030204" charset="0"/>
                                </a:rPr>
                                <m:t>}</m:t>
                              </m:r>
                            </m:lim>
                          </m:limLow>
                        </m:fName>
                        <m:e>
                          <m:r>
                            <a:rPr lang="en-US" altLang="zh-CN" i="1">
                              <a:solidFill>
                                <a:srgbClr val="23735D"/>
                              </a:solidFill>
                              <a:latin typeface="Cambria Math" panose="02040503050406030204" charset="0"/>
                              <a:cs typeface="Cambria Math" panose="02040503050406030204" charset="0"/>
                            </a:rPr>
                            <m:t>{</m:t>
                          </m:r>
                          <m:sSubSup>
                            <m:sSubSupPr>
                              <m:ctrlPr>
                                <a:rPr lang="en-US" altLang="zh-CN" i="1">
                                  <a:solidFill>
                                    <a:srgbClr val="23735D"/>
                                  </a:solidFill>
                                  <a:latin typeface="Cambria Math" panose="02040503050406030204" charset="0"/>
                                  <a:cs typeface="Cambria Math" panose="02040503050406030204" charset="0"/>
                                </a:rPr>
                              </m:ctrlPr>
                            </m:sSubSupPr>
                            <m:e>
                              <m:r>
                                <a:rPr lang="en-US" altLang="zh-CN" i="1">
                                  <a:solidFill>
                                    <a:srgbClr val="23735D"/>
                                  </a:solidFill>
                                  <a:latin typeface="Cambria Math" panose="02040503050406030204" charset="0"/>
                                  <a:cs typeface="Cambria Math" panose="02040503050406030204" charset="0"/>
                                </a:rPr>
                                <m:t>𝜔</m:t>
                              </m:r>
                            </m:e>
                            <m:sub>
                              <m:r>
                                <a:rPr lang="en-US" altLang="zh-CN" i="1">
                                  <a:solidFill>
                                    <a:srgbClr val="23735D"/>
                                  </a:solidFill>
                                  <a:latin typeface="Cambria Math" panose="02040503050406030204" charset="0"/>
                                  <a:cs typeface="Cambria Math" panose="02040503050406030204" charset="0"/>
                                </a:rPr>
                                <m:t>𝑖</m:t>
                              </m:r>
                            </m:sub>
                            <m:sup>
                              <m:r>
                                <a:rPr lang="en-US" altLang="zh-CN" i="1">
                                  <a:solidFill>
                                    <a:srgbClr val="23735D"/>
                                  </a:solidFill>
                                  <a:latin typeface="Cambria Math" panose="02040503050406030204" charset="0"/>
                                  <a:cs typeface="Cambria Math" panose="02040503050406030204" charset="0"/>
                                </a:rPr>
                                <m:t>𝑇</m:t>
                              </m:r>
                            </m:sup>
                          </m:sSubSup>
                          <m:r>
                            <a:rPr lang="en-US" altLang="zh-CN" i="1">
                              <a:solidFill>
                                <a:srgbClr val="23735D"/>
                              </a:solidFill>
                              <a:latin typeface="Cambria Math" panose="02040503050406030204" charset="0"/>
                              <a:cs typeface="Cambria Math" panose="02040503050406030204" charset="0"/>
                            </a:rPr>
                            <m:t>𝑥</m:t>
                          </m:r>
                          <m:r>
                            <a:rPr lang="en-US" altLang="zh-CN" i="1">
                              <a:solidFill>
                                <a:srgbClr val="23735D"/>
                              </a:solidFill>
                              <a:latin typeface="Cambria Math" panose="02040503050406030204" charset="0"/>
                              <a:cs typeface="Cambria Math" panose="02040503050406030204" charset="0"/>
                            </a:rPr>
                            <m:t>+</m:t>
                          </m:r>
                          <m:sSub>
                            <m:sSubPr>
                              <m:ctrlPr>
                                <a:rPr lang="en-US" altLang="zh-CN" i="1">
                                  <a:solidFill>
                                    <a:srgbClr val="23735D"/>
                                  </a:solidFill>
                                  <a:latin typeface="Cambria Math" panose="02040503050406030204" charset="0"/>
                                  <a:cs typeface="Cambria Math" panose="02040503050406030204" charset="0"/>
                                </a:rPr>
                              </m:ctrlPr>
                            </m:sSubPr>
                            <m:e>
                              <m:r>
                                <a:rPr lang="en-US" altLang="zh-CN" i="1">
                                  <a:solidFill>
                                    <a:srgbClr val="23735D"/>
                                  </a:solidFill>
                                  <a:latin typeface="Cambria Math" panose="02040503050406030204" charset="0"/>
                                  <a:cs typeface="Cambria Math" panose="02040503050406030204" charset="0"/>
                                </a:rPr>
                                <m:t>𝑏</m:t>
                              </m:r>
                            </m:e>
                            <m:sub>
                              <m:r>
                                <a:rPr lang="en-US" altLang="zh-CN" i="1">
                                  <a:solidFill>
                                    <a:srgbClr val="23735D"/>
                                  </a:solidFill>
                                  <a:latin typeface="Cambria Math" panose="02040503050406030204" charset="0"/>
                                  <a:cs typeface="Cambria Math" panose="02040503050406030204" charset="0"/>
                                </a:rPr>
                                <m:t>𝑖</m:t>
                              </m:r>
                            </m:sub>
                          </m:sSub>
                          <m:r>
                            <a:rPr lang="en-US" altLang="zh-CN" i="1">
                              <a:solidFill>
                                <a:srgbClr val="23735D"/>
                              </a:solidFill>
                              <a:latin typeface="Cambria Math" panose="02040503050406030204" charset="0"/>
                              <a:cs typeface="Cambria Math" panose="02040503050406030204" charset="0"/>
                            </a:rPr>
                            <m:t>}</m:t>
                          </m:r>
                        </m:e>
                      </m:func>
                    </m:oMath>
                  </m:oMathPara>
                </a14:m>
                <a:endParaRPr lang="en-US" altLang="zh-CN" i="1">
                  <a:solidFill>
                    <a:srgbClr val="23735D"/>
                  </a:solidFill>
                  <a:latin typeface="Cambria Math" panose="02040503050406030204" charset="0"/>
                  <a:cs typeface="Cambria Math" panose="02040503050406030204" charset="0"/>
                </a:endParaRPr>
              </a:p>
            </p:txBody>
          </p:sp>
        </mc:Choice>
        <mc:Fallback>
          <p:sp>
            <p:nvSpPr>
              <p:cNvPr id="72" name="文本框 71"/>
              <p:cNvSpPr txBox="1">
                <a:spLocks noRot="1" noChangeAspect="1" noMove="1" noResize="1" noEditPoints="1" noAdjustHandles="1" noChangeArrowheads="1" noChangeShapeType="1" noTextEdit="1"/>
              </p:cNvSpPr>
              <p:nvPr/>
            </p:nvSpPr>
            <p:spPr>
              <a:xfrm>
                <a:off x="5531485" y="5209540"/>
                <a:ext cx="3275965" cy="496570"/>
              </a:xfrm>
              <a:prstGeom prst="rect">
                <a:avLst/>
              </a:prstGeom>
              <a:blipFill rotWithShape="1">
                <a:blip r:embed="rId4"/>
                <a:stretch>
                  <a:fillRect/>
                </a:stretch>
              </a:blipFill>
            </p:spPr>
            <p:txBody>
              <a:bodyPr/>
              <a:lstStyle/>
              <a:p>
                <a:r>
                  <a:rPr lang="zh-CN" altLang="en-US">
                    <a:noFill/>
                  </a:rPr>
                  <a:t> </a:t>
                </a:r>
              </a:p>
            </p:txBody>
          </p:sp>
        </mc:Fallback>
      </mc:AlternateContent>
      <p:cxnSp>
        <p:nvCxnSpPr>
          <p:cNvPr id="73" name="直接箭头连接符 72"/>
          <p:cNvCxnSpPr>
            <a:stCxn id="48" idx="5"/>
            <a:endCxn id="72" idx="0"/>
          </p:cNvCxnSpPr>
          <p:nvPr/>
        </p:nvCxnSpPr>
        <p:spPr>
          <a:xfrm>
            <a:off x="6072505" y="3919220"/>
            <a:ext cx="1097280" cy="1290320"/>
          </a:xfrm>
          <a:prstGeom prst="straightConnector1">
            <a:avLst/>
          </a:prstGeom>
          <a:ln w="15875">
            <a:solidFill>
              <a:srgbClr val="23735D"/>
            </a:solidFill>
            <a:tailEnd type="arrow"/>
          </a:ln>
        </p:spPr>
        <p:style>
          <a:lnRef idx="2">
            <a:schemeClr val="accent1"/>
          </a:lnRef>
          <a:fillRef idx="0">
            <a:srgbClr val="FFFFFF"/>
          </a:fillRef>
          <a:effectRef idx="0">
            <a:srgbClr val="FFFFFF"/>
          </a:effectRef>
          <a:fontRef idx="minor">
            <a:schemeClr val="tx1"/>
          </a:fontRef>
        </p:style>
      </p:cxnSp>
      <p:pic>
        <p:nvPicPr>
          <p:cNvPr id="74" name="图片 73" descr="三维凸多面体"/>
          <p:cNvPicPr>
            <a:picLocks noChangeAspect="1"/>
          </p:cNvPicPr>
          <p:nvPr/>
        </p:nvPicPr>
        <p:blipFill>
          <a:blip r:embed="rId5"/>
          <a:srcRect l="20226" t="21105" r="22049" b="19464"/>
          <a:stretch>
            <a:fillRect/>
          </a:stretch>
        </p:blipFill>
        <p:spPr>
          <a:xfrm>
            <a:off x="8308340" y="1917065"/>
            <a:ext cx="1942465" cy="1524000"/>
          </a:xfrm>
          <a:prstGeom prst="rect">
            <a:avLst/>
          </a:prstGeom>
        </p:spPr>
      </p:pic>
      <p:cxnSp>
        <p:nvCxnSpPr>
          <p:cNvPr id="76" name="直接箭头连接符 75"/>
          <p:cNvCxnSpPr>
            <a:stCxn id="32" idx="4"/>
            <a:endCxn id="69" idx="0"/>
          </p:cNvCxnSpPr>
          <p:nvPr/>
        </p:nvCxnSpPr>
        <p:spPr>
          <a:xfrm>
            <a:off x="3584575" y="4545965"/>
            <a:ext cx="86360" cy="731520"/>
          </a:xfrm>
          <a:prstGeom prst="straightConnector1">
            <a:avLst/>
          </a:prstGeom>
          <a:ln w="15875">
            <a:solidFill>
              <a:srgbClr val="FF6363"/>
            </a:solidFill>
            <a:tailEnd type="arrow"/>
          </a:ln>
        </p:spPr>
        <p:style>
          <a:lnRef idx="2">
            <a:schemeClr val="accent1"/>
          </a:lnRef>
          <a:fillRef idx="0">
            <a:srgbClr val="FFFFFF"/>
          </a:fillRef>
          <a:effectRef idx="0">
            <a:srgbClr val="FFFFFF"/>
          </a:effectRef>
          <a:fontRef idx="minor">
            <a:schemeClr val="tx1"/>
          </a:fontRef>
        </p:style>
      </p:cxnSp>
      <p:sp>
        <p:nvSpPr>
          <p:cNvPr id="47" name="椭圆 46"/>
          <p:cNvSpPr/>
          <p:nvPr/>
        </p:nvSpPr>
        <p:spPr>
          <a:xfrm>
            <a:off x="4647883" y="3698240"/>
            <a:ext cx="272415" cy="251460"/>
          </a:xfrm>
          <a:prstGeom prst="ellipse">
            <a:avLst/>
          </a:prstGeom>
          <a:solidFill>
            <a:srgbClr val="FFD247"/>
          </a:soli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rgbClr val="FF5757"/>
              </a:solidFill>
            </a:endParaRPr>
          </a:p>
        </p:txBody>
      </p:sp>
      <mc:AlternateContent xmlns:mc="http://schemas.openxmlformats.org/markup-compatibility/2006">
        <mc:Choice xmlns:a14="http://schemas.microsoft.com/office/drawing/2010/main" Requires="a14">
          <p:sp>
            <p:nvSpPr>
              <p:cNvPr id="20" name="文本框 19"/>
              <p:cNvSpPr txBox="1"/>
              <p:nvPr/>
            </p:nvSpPr>
            <p:spPr>
              <a:xfrm>
                <a:off x="8083550" y="1555115"/>
                <a:ext cx="2392045" cy="368300"/>
              </a:xfrm>
              <a:prstGeom prst="rect">
                <a:avLst/>
              </a:prstGeom>
              <a:noFill/>
            </p:spPr>
            <p:txBody>
              <a:bodyPr wrap="square" rtlCol="0">
                <a:spAutoFit/>
              </a:bodyPr>
              <a:p>
                <a14:m>
                  <m:oMathPara xmlns:m="http://schemas.openxmlformats.org/officeDocument/2006/math">
                    <m:oMathParaPr>
                      <m:jc m:val="center"/>
                    </m:oMathParaPr>
                    <m:oMath xmlns:m="http://schemas.openxmlformats.org/officeDocument/2006/math">
                      <m:r>
                        <a:rPr lang="en-US" altLang="zh-CN" i="1">
                          <a:latin typeface="Cambria Math" panose="02040503050406030204" charset="0"/>
                          <a:cs typeface="Cambria Math" panose="02040503050406030204" charset="0"/>
                        </a:rPr>
                        <m:t>𝐶</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oMath>
                  </m:oMathPara>
                </a14:m>
                <a:endParaRPr lang="zh-CN" altLang="en-US"/>
              </a:p>
            </p:txBody>
          </p:sp>
        </mc:Choice>
        <mc:Fallback>
          <p:sp>
            <p:nvSpPr>
              <p:cNvPr id="20" name="文本框 19"/>
              <p:cNvSpPr txBox="1">
                <a:spLocks noRot="1" noChangeAspect="1" noMove="1" noResize="1" noEditPoints="1" noAdjustHandles="1" noChangeArrowheads="1" noChangeShapeType="1" noTextEdit="1"/>
              </p:cNvSpPr>
              <p:nvPr/>
            </p:nvSpPr>
            <p:spPr>
              <a:xfrm>
                <a:off x="8083550" y="1555115"/>
                <a:ext cx="2392045" cy="368300"/>
              </a:xfrm>
              <a:prstGeom prst="rect">
                <a:avLst/>
              </a:prstGeom>
              <a:blipFill rotWithShape="1">
                <a:blip r:embed="rId6"/>
                <a:stretch>
                  <a:fillRect/>
                </a:stretch>
              </a:blipFill>
            </p:spPr>
            <p:txBody>
              <a:bodyPr/>
              <a:lstStyle/>
              <a:p>
                <a:r>
                  <a:rPr lang="zh-CN" altLang="en-US">
                    <a:noFill/>
                  </a:rPr>
                  <a:t> </a:t>
                </a:r>
              </a:p>
            </p:txBody>
          </p:sp>
        </mc:Fallback>
      </mc:AlternateContent>
      <p:cxnSp>
        <p:nvCxnSpPr>
          <p:cNvPr id="23" name="直接箭头连接符 22"/>
          <p:cNvCxnSpPr/>
          <p:nvPr/>
        </p:nvCxnSpPr>
        <p:spPr>
          <a:xfrm>
            <a:off x="6663690" y="2143125"/>
            <a:ext cx="1639570" cy="6985"/>
          </a:xfrm>
          <a:prstGeom prst="straightConnector1">
            <a:avLst/>
          </a:prstGeom>
          <a:ln w="19050" cmpd="sng">
            <a:solidFill>
              <a:schemeClr val="tx1"/>
            </a:solidFill>
            <a:prstDash val="solid"/>
            <a:tailEnd type="arrow"/>
          </a:ln>
        </p:spPr>
        <p:style>
          <a:lnRef idx="2">
            <a:schemeClr val="accent1"/>
          </a:lnRef>
          <a:fillRef idx="0">
            <a:srgbClr val="FFFFFF"/>
          </a:fillRef>
          <a:effectRef idx="0">
            <a:srgbClr val="FFFFFF"/>
          </a:effectRef>
          <a:fontRef idx="minor">
            <a:schemeClr val="tx1"/>
          </a:fontRef>
        </p:style>
      </p:cxnSp>
      <p:sp>
        <p:nvSpPr>
          <p:cNvPr id="25" name="文本框 24"/>
          <p:cNvSpPr txBox="1"/>
          <p:nvPr/>
        </p:nvSpPr>
        <p:spPr>
          <a:xfrm>
            <a:off x="6511925" y="1673225"/>
            <a:ext cx="1965325" cy="368300"/>
          </a:xfrm>
          <a:prstGeom prst="rect">
            <a:avLst/>
          </a:prstGeom>
          <a:noFill/>
        </p:spPr>
        <p:txBody>
          <a:bodyPr wrap="square" rtlCol="0">
            <a:spAutoFit/>
          </a:bodyPr>
          <a:p>
            <a:r>
              <a:rPr lang="en-US" altLang="zh-CN"/>
              <a:t>0-superlevel set</a:t>
            </a:r>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 name="圆角矩形 39"/>
          <p:cNvSpPr/>
          <p:nvPr/>
        </p:nvSpPr>
        <p:spPr>
          <a:xfrm>
            <a:off x="8423910" y="3754120"/>
            <a:ext cx="1135380" cy="449580"/>
          </a:xfrm>
          <a:prstGeom prst="roundRect">
            <a:avLst/>
          </a:prstGeom>
          <a:solidFill>
            <a:schemeClr val="tx1">
              <a:alpha val="17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圆角矩形 17"/>
          <p:cNvSpPr/>
          <p:nvPr/>
        </p:nvSpPr>
        <p:spPr>
          <a:xfrm>
            <a:off x="413385" y="1426528"/>
            <a:ext cx="5317490" cy="1795145"/>
          </a:xfrm>
          <a:prstGeom prst="roundRect">
            <a:avLst/>
          </a:prstGeom>
          <a:solidFill>
            <a:srgbClr val="4E67C8">
              <a:alpha val="3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800">
              <a:sym typeface="+mn-ea"/>
            </a:endParaRPr>
          </a:p>
        </p:txBody>
      </p:sp>
      <p:sp>
        <p:nvSpPr>
          <p:cNvPr id="2" name="文本占位符 1"/>
          <p:cNvSpPr>
            <a:spLocks noGrp="1"/>
          </p:cNvSpPr>
          <p:nvPr>
            <p:ph type="body" idx="1"/>
          </p:nvPr>
        </p:nvSpPr>
        <p:spPr>
          <a:xfrm>
            <a:off x="824865" y="6325235"/>
            <a:ext cx="10515600" cy="356235"/>
          </a:xfrm>
        </p:spPr>
        <p:txBody>
          <a:bodyPr/>
          <a:p>
            <a:r>
              <a:rPr lang="zh-CN" altLang="en-US"/>
              <a:t>基于</a:t>
            </a:r>
            <a:r>
              <a:rPr lang="en-US" altLang="zh-CN"/>
              <a:t>CBF</a:t>
            </a:r>
            <a:r>
              <a:rPr lang="zh-CN" altLang="en-US"/>
              <a:t>理论与分片仿射网络性质设计有效</a:t>
            </a:r>
            <a:r>
              <a:rPr lang="zh-CN" altLang="en-US"/>
              <a:t>的更易训练的</a:t>
            </a:r>
            <a:r>
              <a:rPr lang="en-US" altLang="zh-CN"/>
              <a:t>Loss</a:t>
            </a:r>
            <a:r>
              <a:rPr lang="zh-CN" altLang="en-US"/>
              <a:t>，</a:t>
            </a:r>
            <a:r>
              <a:rPr lang="zh-CN" altLang="en-US"/>
              <a:t>能够获取更精确的</a:t>
            </a:r>
            <a:r>
              <a:rPr lang="zh-CN" altLang="en-US"/>
              <a:t>安全集。</a:t>
            </a:r>
            <a:endParaRPr lang="zh-CN" altLang="en-US"/>
          </a:p>
        </p:txBody>
      </p:sp>
      <p:sp>
        <p:nvSpPr>
          <p:cNvPr id="3" name="文本占位符 2"/>
          <p:cNvSpPr>
            <a:spLocks noGrp="1"/>
          </p:cNvSpPr>
          <p:nvPr>
            <p:ph type="body" idx="13"/>
          </p:nvPr>
        </p:nvSpPr>
        <p:spPr>
          <a:xfrm>
            <a:off x="0" y="670560"/>
            <a:ext cx="8595995" cy="448310"/>
          </a:xfrm>
        </p:spPr>
        <p:txBody>
          <a:bodyPr/>
          <a:p>
            <a:r>
              <a:rPr lang="en-US" altLang="zh-CN"/>
              <a:t>&gt;&gt;&gt;</a:t>
            </a:r>
            <a:r>
              <a:rPr>
                <a:sym typeface="+mn-ea"/>
              </a:rPr>
              <a:t>控制障碍函数理论</a:t>
            </a:r>
            <a:r>
              <a:rPr lang="en-US" altLang="zh-CN"/>
              <a:t>+</a:t>
            </a:r>
            <a:r>
              <a:rPr>
                <a:sym typeface="+mn-ea"/>
              </a:rPr>
              <a:t>分片仿射网络结构</a:t>
            </a:r>
            <a:r>
              <a:rPr lang="en-US" altLang="zh-CN"/>
              <a:t>=PWANN-CBF</a:t>
            </a:r>
            <a:endParaRPr lang="en-US" altLang="zh-CN"/>
          </a:p>
        </p:txBody>
      </p:sp>
      <p:sp>
        <p:nvSpPr>
          <p:cNvPr id="4" name="文本占位符 3"/>
          <p:cNvSpPr>
            <a:spLocks noGrp="1"/>
          </p:cNvSpPr>
          <p:nvPr>
            <p:ph type="body" idx="14"/>
          </p:nvPr>
        </p:nvSpPr>
        <p:spPr>
          <a:xfrm>
            <a:off x="805180" y="111760"/>
            <a:ext cx="7734935" cy="448310"/>
          </a:xfrm>
        </p:spPr>
        <p:txBody>
          <a:bodyPr/>
          <a:p>
            <a:r>
              <a:rPr>
                <a:sym typeface="+mn-ea"/>
              </a:rPr>
              <a:t>基于学习的分片仿射控制障碍网络</a:t>
            </a:r>
            <a:r>
              <a:rPr lang="en-US" altLang="zh-CN">
                <a:sym typeface="+mn-ea"/>
              </a:rPr>
              <a:t>(2.2)</a:t>
            </a:r>
            <a:endParaRPr lang="zh-CN" altLang="en-US"/>
          </a:p>
        </p:txBody>
      </p:sp>
      <p:sp>
        <p:nvSpPr>
          <p:cNvPr id="5" name="灯片编号占位符 4"/>
          <p:cNvSpPr>
            <a:spLocks noGrp="1"/>
          </p:cNvSpPr>
          <p:nvPr>
            <p:ph type="sldNum" sz="quarter" idx="12"/>
          </p:nvPr>
        </p:nvSpPr>
        <p:spPr/>
        <p:txBody>
          <a:bodyPr/>
          <a:p>
            <a:pPr>
              <a:defRPr/>
            </a:pPr>
            <a:fld id="{AC6C5647-07D8-4AFC-B347-73DA68F3AADD}" type="slidenum">
              <a:rPr lang="zh-CN" altLang="en-US"/>
            </a:fld>
            <a:endParaRPr lang="zh-CN" altLang="en-US"/>
          </a:p>
        </p:txBody>
      </p:sp>
      <mc:AlternateContent xmlns:mc="http://schemas.openxmlformats.org/markup-compatibility/2006">
        <mc:Choice xmlns:a14="http://schemas.microsoft.com/office/drawing/2010/main" Requires="a14">
          <p:sp>
            <p:nvSpPr>
              <p:cNvPr id="7" name="文本框 6"/>
              <p:cNvSpPr txBox="1"/>
              <p:nvPr/>
            </p:nvSpPr>
            <p:spPr>
              <a:xfrm>
                <a:off x="595566" y="1498600"/>
                <a:ext cx="4913630" cy="1651000"/>
              </a:xfrm>
              <a:prstGeom prst="rect">
                <a:avLst/>
              </a:prstGeom>
              <a:noFill/>
            </p:spPr>
            <p:txBody>
              <a:bodyPr wrap="none" rtlCol="0" anchor="t">
                <a:spAutoFit/>
              </a:bodyPr>
              <a:p>
                <a:pPr marL="0" indent="0" algn="l" latinLnBrk="0">
                  <a:lnSpc>
                    <a:spcPct val="150000"/>
                  </a:lnSpc>
                </a:pPr>
                <a14:m>
                  <m:oMathPara xmlns:m="http://schemas.openxmlformats.org/officeDocument/2006/math">
                    <m:oMathParaPr>
                      <m:jc m:val="center"/>
                    </m:oMathParaPr>
                    <m:oMath xmlns:m="http://schemas.openxmlformats.org/officeDocument/2006/math">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𝑥</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sup>
                      </m:s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𝑥</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sup>
                      </m:sSup>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𝑋</m:t>
                          </m:r>
                        </m:e>
                        <m:sub>
                          <m:r>
                            <a:rPr lang="en-US" altLang="zh-CN" i="1">
                              <a:latin typeface="Cambria Math" panose="02040503050406030204" charset="0"/>
                              <a:cs typeface="Cambria Math" panose="02040503050406030204" charset="0"/>
                            </a:rPr>
                            <m:t>𝑠𝑎𝑓𝑒</m:t>
                          </m:r>
                        </m:sub>
                      </m:sSub>
                    </m:oMath>
                  </m:oMathPara>
                </a14:m>
                <a:endParaRPr lang="en-US" altLang="zh-CN" i="1">
                  <a:latin typeface="Cambria Math" panose="02040503050406030204" charset="0"/>
                  <a:cs typeface="Cambria Math" panose="02040503050406030204" charset="0"/>
                </a:endParaRPr>
              </a:p>
              <a:p>
                <a:pPr marL="0" indent="0" algn="l" latinLnBrk="0">
                  <a:lnSpc>
                    <a:spcPct val="150000"/>
                  </a:lnSpc>
                </a:pPr>
                <a14:m>
                  <m:oMathPara xmlns:m="http://schemas.openxmlformats.org/officeDocument/2006/math">
                    <m:oMathParaPr>
                      <m:jc m:val="center"/>
                    </m:oMathParaPr>
                    <m:oMath xmlns:m="http://schemas.openxmlformats.org/officeDocument/2006/math">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𝑥</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sup>
                      </m:sSup>
                      <m:r>
                        <a:rPr lang="en-US" altLang="zh-CN" i="1">
                          <a:latin typeface="Cambria Math" panose="02040503050406030204" charset="0"/>
                          <a:cs typeface="Cambria Math" panose="02040503050406030204" charset="0"/>
                        </a:rPr>
                        <m:t>)&lt;</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𝑥</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sup>
                      </m:sSup>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𝑋</m:t>
                          </m:r>
                        </m:e>
                        <m:sub>
                          <m:r>
                            <a:rPr lang="en-US" altLang="zh-CN" i="1">
                              <a:latin typeface="Cambria Math" panose="02040503050406030204" charset="0"/>
                              <a:cs typeface="Cambria Math" panose="02040503050406030204" charset="0"/>
                            </a:rPr>
                            <m:t>𝑢𝑛</m:t>
                          </m:r>
                          <m:r>
                            <a:rPr lang="en-US" altLang="zh-CN" i="1">
                              <a:latin typeface="Cambria Math" panose="02040503050406030204" charset="0"/>
                              <a:cs typeface="Cambria Math" panose="02040503050406030204" charset="0"/>
                            </a:rPr>
                            <m:t>𝑠𝑎𝑓𝑒</m:t>
                          </m:r>
                        </m:sub>
                      </m:sSub>
                    </m:oMath>
                  </m:oMathPara>
                </a14:m>
                <a:endParaRPr lang="en-US" altLang="zh-CN" i="1">
                  <a:latin typeface="Cambria Math" panose="02040503050406030204" charset="0"/>
                  <a:cs typeface="Cambria Math" panose="02040503050406030204" charset="0"/>
                </a:endParaRPr>
              </a:p>
              <a:p>
                <a:pPr marL="0" indent="0" algn="l" latinLnBrk="0">
                  <a:lnSpc>
                    <a:spcPct val="150000"/>
                  </a:lnSpc>
                </a:pPr>
                <a14:m>
                  <m:oMathPara xmlns:m="http://schemas.openxmlformats.org/officeDocument/2006/math">
                    <m:oMathParaPr>
                      <m:jc m:val="center"/>
                    </m:oMathParaPr>
                    <m:oMath xmlns:m="http://schemas.openxmlformats.org/officeDocument/2006/math">
                      <m:func>
                        <m:funcPr>
                          <m:ctrlPr>
                            <a:rPr lang="en-US" altLang="zh-CN" i="1">
                              <a:latin typeface="Cambria Math" panose="02040503050406030204" charset="0"/>
                              <a:cs typeface="Cambria Math" panose="02040503050406030204" charset="0"/>
                            </a:rPr>
                          </m:ctrlPr>
                        </m:funcPr>
                        <m:fName>
                          <m:limLow>
                            <m:limLowPr>
                              <m:ctrlPr>
                                <a:rPr lang="en-US" altLang="zh-CN">
                                  <a:latin typeface="Cambria Math" panose="02040503050406030204" charset="0"/>
                                  <a:cs typeface="Cambria Math" panose="02040503050406030204" charset="0"/>
                                </a:rPr>
                              </m:ctrlPr>
                            </m:limLowPr>
                            <m:e>
                              <m:r>
                                <m:rPr>
                                  <m:sty m:val="p"/>
                                </m:rPr>
                                <a:rPr lang="en-US" altLang="zh-CN">
                                  <a:latin typeface="Cambria Math" panose="02040503050406030204" charset="0"/>
                                  <a:cs typeface="Cambria Math" panose="02040503050406030204" charset="0"/>
                                </a:rPr>
                                <m:t>sup</m:t>
                              </m:r>
                            </m:e>
                            <m:lim>
                              <m:r>
                                <a:rPr lang="en-US" altLang="zh-CN" i="1">
                                  <a:latin typeface="Cambria Math" panose="02040503050406030204" charset="0"/>
                                  <a:cs typeface="Cambria Math" panose="02040503050406030204" charset="0"/>
                                </a:rPr>
                                <m:t>𝑢</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𝑈</m:t>
                              </m:r>
                            </m:lim>
                          </m:limLow>
                        </m:fName>
                        <m:e>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𝐴𝑥</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sup>
                          </m:s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𝐵𝑢</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𝛾</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𝑥</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sup>
                          </m:sSup>
                          <m:r>
                            <a:rPr lang="en-US" altLang="zh-CN" i="1">
                              <a:latin typeface="Cambria Math" panose="02040503050406030204" charset="0"/>
                              <a:cs typeface="Cambria Math" panose="02040503050406030204" charset="0"/>
                            </a:rPr>
                            <m:t>),</m:t>
                          </m:r>
                        </m:e>
                      </m:func>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𝑥</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sup>
                      </m:sSup>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𝑋</m:t>
                          </m:r>
                        </m:e>
                        <m:sub>
                          <m:r>
                            <a:rPr lang="en-US" altLang="zh-CN" i="1">
                              <a:latin typeface="Cambria Math" panose="02040503050406030204" charset="0"/>
                              <a:cs typeface="Cambria Math" panose="02040503050406030204" charset="0"/>
                            </a:rPr>
                            <m:t>𝑠𝑎𝑓𝑒</m:t>
                          </m:r>
                        </m:sub>
                      </m:sSub>
                    </m:oMath>
                  </m:oMathPara>
                </a14:m>
                <a:endParaRPr lang="zh-CN" altLang="en-US"/>
              </a:p>
            </p:txBody>
          </p:sp>
        </mc:Choice>
        <mc:Fallback>
          <p:sp>
            <p:nvSpPr>
              <p:cNvPr id="7" name="文本框 6"/>
              <p:cNvSpPr txBox="1">
                <a:spLocks noRot="1" noChangeAspect="1" noMove="1" noResize="1" noEditPoints="1" noAdjustHandles="1" noChangeArrowheads="1" noChangeShapeType="1" noTextEdit="1"/>
              </p:cNvSpPr>
              <p:nvPr/>
            </p:nvSpPr>
            <p:spPr>
              <a:xfrm>
                <a:off x="595566" y="1498600"/>
                <a:ext cx="4913630" cy="1651000"/>
              </a:xfrm>
              <a:prstGeom prst="rect">
                <a:avLst/>
              </a:prstGeom>
              <a:blipFill rotWithShape="1">
                <a:blip r:embed="rId1"/>
                <a:stretch>
                  <a:fillRect l="-12" r="12"/>
                </a:stretch>
              </a:blipFill>
            </p:spPr>
            <p:txBody>
              <a:bodyPr/>
              <a:lstStyle/>
              <a:p>
                <a:r>
                  <a:rPr lang="zh-CN" altLang="en-US">
                    <a:noFill/>
                  </a:rPr>
                  <a:t> </a:t>
                </a:r>
              </a:p>
            </p:txBody>
          </p:sp>
        </mc:Fallback>
      </mc:AlternateContent>
      <p:grpSp>
        <p:nvGrpSpPr>
          <p:cNvPr id="13" name="组合 12"/>
          <p:cNvGrpSpPr/>
          <p:nvPr/>
        </p:nvGrpSpPr>
        <p:grpSpPr>
          <a:xfrm>
            <a:off x="6232525" y="1296670"/>
            <a:ext cx="3500120" cy="2247265"/>
            <a:chOff x="11314" y="2106"/>
            <a:chExt cx="5512" cy="3539"/>
          </a:xfrm>
        </p:grpSpPr>
        <p:pic>
          <p:nvPicPr>
            <p:cNvPr id="8" name="图片 7" descr="图片1"/>
            <p:cNvPicPr>
              <a:picLocks noChangeAspect="1"/>
            </p:cNvPicPr>
            <p:nvPr/>
          </p:nvPicPr>
          <p:blipFill>
            <a:blip r:embed="rId2"/>
            <a:srcRect l="7883" t="1831" r="2175" b="6284"/>
            <a:stretch>
              <a:fillRect/>
            </a:stretch>
          </p:blipFill>
          <p:spPr>
            <a:xfrm>
              <a:off x="11314" y="2977"/>
              <a:ext cx="2701" cy="2089"/>
            </a:xfrm>
            <a:prstGeom prst="rect">
              <a:avLst/>
            </a:prstGeom>
            <a:ln>
              <a:solidFill>
                <a:schemeClr val="tx1"/>
              </a:solidFill>
            </a:ln>
          </p:spPr>
        </p:pic>
        <p:pic>
          <p:nvPicPr>
            <p:cNvPr id="9" name="图片 8" descr="图片2"/>
            <p:cNvPicPr>
              <a:picLocks noChangeAspect="1"/>
            </p:cNvPicPr>
            <p:nvPr/>
          </p:nvPicPr>
          <p:blipFill>
            <a:blip r:embed="rId3"/>
            <a:srcRect l="3978" t="-175" r="3023" b="5289"/>
            <a:stretch>
              <a:fillRect/>
            </a:stretch>
          </p:blipFill>
          <p:spPr>
            <a:xfrm>
              <a:off x="13488" y="2106"/>
              <a:ext cx="3338" cy="2211"/>
            </a:xfrm>
            <a:prstGeom prst="rect">
              <a:avLst/>
            </a:prstGeom>
            <a:ln>
              <a:solidFill>
                <a:schemeClr val="tx1"/>
              </a:solidFill>
            </a:ln>
          </p:spPr>
        </p:pic>
        <mc:AlternateContent xmlns:mc="http://schemas.openxmlformats.org/markup-compatibility/2006">
          <mc:Choice xmlns:a14="http://schemas.microsoft.com/office/drawing/2010/main" Requires="a14">
            <p:sp>
              <p:nvSpPr>
                <p:cNvPr id="10" name="文本框 9"/>
                <p:cNvSpPr txBox="1"/>
                <p:nvPr/>
              </p:nvSpPr>
              <p:spPr>
                <a:xfrm>
                  <a:off x="11960" y="5091"/>
                  <a:ext cx="1378" cy="55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𝑋</m:t>
                            </m:r>
                          </m:e>
                          <m:sub>
                            <m:r>
                              <a:rPr lang="en-US" altLang="zh-CN" i="1">
                                <a:latin typeface="Cambria Math" panose="02040503050406030204" charset="0"/>
                                <a:cs typeface="Cambria Math" panose="02040503050406030204" charset="0"/>
                              </a:rPr>
                              <m:t>𝑠𝑎𝑓𝑒</m:t>
                            </m:r>
                          </m:sub>
                        </m:sSub>
                      </m:oMath>
                    </m:oMathPara>
                  </a14:m>
                  <a:endParaRPr lang="zh-CN" altLang="en-US"/>
                </a:p>
              </p:txBody>
            </p:sp>
          </mc:Choice>
          <mc:Fallback>
            <p:sp>
              <p:nvSpPr>
                <p:cNvPr id="10" name="文本框 9"/>
                <p:cNvSpPr txBox="1">
                  <a:spLocks noRot="1" noChangeAspect="1" noMove="1" noResize="1" noEditPoints="1" noAdjustHandles="1" noChangeArrowheads="1" noChangeShapeType="1" noTextEdit="1"/>
                </p:cNvSpPr>
                <p:nvPr/>
              </p:nvSpPr>
              <p:spPr>
                <a:xfrm>
                  <a:off x="11960" y="5091"/>
                  <a:ext cx="1378" cy="555"/>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14290" y="4273"/>
                  <a:ext cx="2021" cy="55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𝑋</m:t>
                            </m:r>
                          </m:e>
                          <m:sub>
                            <m:r>
                              <a:rPr lang="en-US" altLang="zh-CN" i="1">
                                <a:latin typeface="Cambria Math" panose="02040503050406030204" charset="0"/>
                                <a:cs typeface="Cambria Math" panose="02040503050406030204" charset="0"/>
                              </a:rPr>
                              <m:t>𝑢𝑛</m:t>
                            </m:r>
                            <m:r>
                              <a:rPr lang="en-US" altLang="zh-CN" i="1">
                                <a:latin typeface="Cambria Math" panose="02040503050406030204" charset="0"/>
                                <a:cs typeface="Cambria Math" panose="02040503050406030204" charset="0"/>
                              </a:rPr>
                              <m:t>𝑠𝑎𝑓𝑒</m:t>
                            </m:r>
                          </m:sub>
                        </m:sSub>
                      </m:oMath>
                    </m:oMathPara>
                  </a14:m>
                  <a:endParaRPr lang="zh-CN" altLang="en-US"/>
                </a:p>
              </p:txBody>
            </p:sp>
          </mc:Choice>
          <mc:Fallback>
            <p:sp>
              <p:nvSpPr>
                <p:cNvPr id="11" name="文本框 10"/>
                <p:cNvSpPr txBox="1">
                  <a:spLocks noRot="1" noChangeAspect="1" noMove="1" noResize="1" noEditPoints="1" noAdjustHandles="1" noChangeArrowheads="1" noChangeShapeType="1" noTextEdit="1"/>
                </p:cNvSpPr>
                <p:nvPr/>
              </p:nvSpPr>
              <p:spPr>
                <a:xfrm>
                  <a:off x="14290" y="4273"/>
                  <a:ext cx="2021" cy="555"/>
                </a:xfrm>
                <a:prstGeom prst="rect">
                  <a:avLst/>
                </a:prstGeom>
                <a:blipFill rotWithShape="1">
                  <a:blip r:embed="rId5"/>
                </a:blipFill>
              </p:spPr>
              <p:txBody>
                <a:bodyPr/>
                <a:lstStyle/>
                <a:p>
                  <a:r>
                    <a:rPr lang="zh-CN" altLang="en-US">
                      <a:noFill/>
                    </a:rPr>
                    <a:t> </a:t>
                  </a:r>
                </a:p>
              </p:txBody>
            </p:sp>
          </mc:Fallback>
        </mc:AlternateContent>
      </p:grpSp>
      <p:pic>
        <p:nvPicPr>
          <p:cNvPr id="12" name="图片 11" descr="mpc"/>
          <p:cNvPicPr>
            <a:picLocks noChangeAspect="1"/>
          </p:cNvPicPr>
          <p:nvPr/>
        </p:nvPicPr>
        <p:blipFill>
          <a:blip r:embed="rId6"/>
          <a:stretch>
            <a:fillRect/>
          </a:stretch>
        </p:blipFill>
        <p:spPr>
          <a:xfrm>
            <a:off x="10070465" y="941070"/>
            <a:ext cx="1730375" cy="1265555"/>
          </a:xfrm>
          <a:prstGeom prst="rect">
            <a:avLst/>
          </a:prstGeom>
          <a:ln>
            <a:solidFill>
              <a:schemeClr val="tx1"/>
            </a:solidFill>
          </a:ln>
        </p:spPr>
      </p:pic>
      <p:sp>
        <p:nvSpPr>
          <p:cNvPr id="16" name="圆角右箭头 15"/>
          <p:cNvSpPr/>
          <p:nvPr/>
        </p:nvSpPr>
        <p:spPr>
          <a:xfrm rot="10800000">
            <a:off x="9641205" y="2537460"/>
            <a:ext cx="2188845" cy="769620"/>
          </a:xfrm>
          <a:prstGeom prst="bentArrow">
            <a:avLst/>
          </a:prstGeom>
          <a:noFill/>
          <a:ln>
            <a:solidFill>
              <a:schemeClr val="tx1"/>
            </a:solidFill>
          </a:ln>
          <a:extLst>
            <a:ext uri="{909E8E84-426E-40DD-AFC4-6F175D3DCCD1}">
              <a14:hiddenFill xmlns:a14="http://schemas.microsoft.com/office/drawing/2010/main">
                <a:solidFill>
                  <a:schemeClr val="tx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7" name="文本框 16"/>
          <p:cNvSpPr txBox="1"/>
          <p:nvPr/>
        </p:nvSpPr>
        <p:spPr>
          <a:xfrm>
            <a:off x="9453245" y="2667000"/>
            <a:ext cx="2330450" cy="1000760"/>
          </a:xfrm>
          <a:prstGeom prst="rect">
            <a:avLst/>
          </a:prstGeom>
          <a:noFill/>
        </p:spPr>
        <p:txBody>
          <a:bodyPr wrap="square" rtlCol="0">
            <a:noAutofit/>
          </a:bodyPr>
          <a:p>
            <a:pPr algn="ctr"/>
            <a:r>
              <a:rPr lang="en-US" altLang="zh-CN"/>
              <a:t>MPC</a:t>
            </a:r>
            <a:r>
              <a:rPr lang="zh-CN" altLang="en-US"/>
              <a:t>收敛</a:t>
            </a:r>
            <a:r>
              <a:rPr lang="zh-CN" altLang="en-US"/>
              <a:t>性质</a:t>
            </a:r>
            <a:endParaRPr lang="zh-CN" altLang="en-US"/>
          </a:p>
          <a:p>
            <a:pPr algn="ctr"/>
            <a:endParaRPr lang="zh-CN" altLang="en-US"/>
          </a:p>
          <a:p>
            <a:pPr algn="ctr"/>
            <a:r>
              <a:rPr lang="zh-CN" altLang="en-US"/>
              <a:t>采最大</a:t>
            </a:r>
            <a:r>
              <a:rPr lang="en-US" altLang="zh-CN"/>
              <a:t>CIS</a:t>
            </a:r>
            <a:r>
              <a:rPr lang="zh-CN" altLang="en-US"/>
              <a:t>内</a:t>
            </a:r>
            <a:r>
              <a:rPr lang="zh-CN" altLang="en-US"/>
              <a:t>点外</a:t>
            </a:r>
            <a:r>
              <a:rPr lang="zh-CN" altLang="en-US"/>
              <a:t>点</a:t>
            </a:r>
            <a:endParaRPr lang="zh-CN" altLang="en-US"/>
          </a:p>
        </p:txBody>
      </p:sp>
      <p:sp>
        <p:nvSpPr>
          <p:cNvPr id="19" name="圆角矩形 18"/>
          <p:cNvSpPr/>
          <p:nvPr/>
        </p:nvSpPr>
        <p:spPr>
          <a:xfrm>
            <a:off x="406400" y="3600450"/>
            <a:ext cx="10064115" cy="2672080"/>
          </a:xfrm>
          <a:prstGeom prst="roundRect">
            <a:avLst/>
          </a:prstGeom>
          <a:solidFill>
            <a:srgbClr val="4E67C8">
              <a:alpha val="3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800">
              <a:sym typeface="+mn-ea"/>
            </a:endParaRPr>
          </a:p>
        </p:txBody>
      </p:sp>
      <mc:AlternateContent xmlns:mc="http://schemas.openxmlformats.org/markup-compatibility/2006">
        <mc:Choice xmlns:a14="http://schemas.microsoft.com/office/drawing/2010/main" Requires="a14">
          <p:sp>
            <p:nvSpPr>
              <p:cNvPr id="20" name="文本框 19"/>
              <p:cNvSpPr txBox="1"/>
              <p:nvPr/>
            </p:nvSpPr>
            <p:spPr>
              <a:xfrm>
                <a:off x="586740" y="3643249"/>
                <a:ext cx="5452745" cy="88519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𝐿𝑜𝑠𝑠</m:t>
                          </m:r>
                        </m:e>
                        <m:sub>
                          <m:r>
                            <a:rPr lang="en-US" altLang="zh-CN" sz="1600" i="1">
                              <a:latin typeface="Cambria Math" panose="02040503050406030204" charset="0"/>
                              <a:cs typeface="Cambria Math" panose="02040503050406030204" charset="0"/>
                            </a:rPr>
                            <m:t>𝑠𝑎𝑓𝑒</m:t>
                          </m:r>
                        </m:sub>
                      </m:sSub>
                      <m:r>
                        <a:rPr lang="en-US" altLang="zh-CN" sz="1600" i="1">
                          <a:latin typeface="Cambria Math" panose="02040503050406030204" charset="0"/>
                          <a:cs typeface="Cambria Math" panose="02040503050406030204" charset="0"/>
                        </a:rPr>
                        <m:t>=</m:t>
                      </m:r>
                      <m:f>
                        <m:fPr>
                          <m:ctrlPr>
                            <a:rPr lang="en-US" altLang="zh-CN" sz="1600" i="1">
                              <a:latin typeface="Cambria Math" panose="02040503050406030204" charset="0"/>
                              <a:cs typeface="Cambria Math" panose="02040503050406030204" charset="0"/>
                            </a:rPr>
                          </m:ctrlPr>
                        </m:fPr>
                        <m:num>
                          <m:r>
                            <a:rPr lang="en-US" altLang="zh-CN" sz="1600" i="1">
                              <a:latin typeface="Cambria Math" panose="02040503050406030204" charset="0"/>
                              <a:cs typeface="Cambria Math" panose="02040503050406030204" charset="0"/>
                            </a:rPr>
                            <m:t>1</m:t>
                          </m:r>
                        </m:num>
                        <m:den>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𝑁</m:t>
                              </m:r>
                            </m:e>
                            <m:sub>
                              <m:r>
                                <a:rPr lang="en-US" altLang="zh-CN" sz="1600" i="1">
                                  <a:latin typeface="Cambria Math" panose="02040503050406030204" charset="0"/>
                                  <a:cs typeface="Cambria Math" panose="02040503050406030204" charset="0"/>
                                </a:rPr>
                                <m:t>𝑠𝑎𝑓𝑒</m:t>
                              </m:r>
                            </m:sub>
                          </m:sSub>
                        </m:den>
                      </m:f>
                      <m:nary>
                        <m:naryPr>
                          <m:chr m:val="∑"/>
                          <m:limLoc m:val="undOvr"/>
                          <m:ctrlPr>
                            <a:rPr lang="en-US" altLang="zh-CN" sz="1600" i="1">
                              <a:latin typeface="Cambria Math" panose="02040503050406030204" charset="0"/>
                              <a:cs typeface="Cambria Math" panose="02040503050406030204" charset="0"/>
                            </a:rPr>
                          </m:ctrlPr>
                        </m:naryPr>
                        <m:sub>
                          <m:r>
                            <a:rPr lang="en-US" altLang="zh-CN" sz="1600" i="1">
                              <a:latin typeface="Cambria Math" panose="02040503050406030204" charset="0"/>
                              <a:cs typeface="Cambria Math" panose="02040503050406030204" charset="0"/>
                            </a:rPr>
                            <m:t>𝑚</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1</m:t>
                          </m:r>
                        </m:sub>
                        <m:sup>
                          <m:r>
                            <a:rPr lang="en-US" altLang="zh-CN" sz="1600" i="1">
                              <a:latin typeface="Cambria Math" panose="02040503050406030204" charset="0"/>
                              <a:cs typeface="Cambria Math" panose="02040503050406030204" charset="0"/>
                            </a:rPr>
                            <m:t>𝑀</m:t>
                          </m:r>
                        </m:sup>
                        <m:e>
                          <m:nary>
                            <m:naryPr>
                              <m:chr m:val="∑"/>
                              <m:limLoc m:val="undOvr"/>
                              <m:supHide m:val="on"/>
                              <m:ctrlPr>
                                <a:rPr lang="en-US" altLang="zh-CN" sz="1600" i="1">
                                  <a:latin typeface="Cambria Math" panose="02040503050406030204" charset="0"/>
                                  <a:cs typeface="Cambria Math" panose="02040503050406030204" charset="0"/>
                                </a:rPr>
                              </m:ctrlPr>
                            </m:naryPr>
                            <m:sub>
                              <m:sSup>
                                <m:sSupPr>
                                  <m:ctrlPr>
                                    <a:rPr lang="en-US" altLang="zh-CN" sz="1600" i="1">
                                      <a:latin typeface="Cambria Math" panose="02040503050406030204" charset="0"/>
                                      <a:cs typeface="Cambria Math" panose="02040503050406030204" charset="0"/>
                                    </a:rPr>
                                  </m:ctrlPr>
                                </m:sSupPr>
                                <m:e>
                                  <m:r>
                                    <a:rPr lang="en-US" altLang="zh-CN" sz="1600" i="1">
                                      <a:latin typeface="Cambria Math" panose="02040503050406030204" charset="0"/>
                                      <a:cs typeface="Cambria Math" panose="02040503050406030204" charset="0"/>
                                    </a:rPr>
                                    <m:t>𝑥</m:t>
                                  </m:r>
                                </m:e>
                                <m:sup>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𝑖</m:t>
                                  </m:r>
                                  <m:r>
                                    <a:rPr lang="en-US" altLang="zh-CN" sz="1600" i="1">
                                      <a:latin typeface="Cambria Math" panose="02040503050406030204" charset="0"/>
                                      <a:cs typeface="Cambria Math" panose="02040503050406030204" charset="0"/>
                                    </a:rPr>
                                    <m:t>)</m:t>
                                  </m:r>
                                </m:sup>
                              </m:sSup>
                              <m:r>
                                <a:rPr lang="en-US" altLang="zh-CN" sz="1600" i="1">
                                  <a:latin typeface="Cambria Math" panose="02040503050406030204" charset="0"/>
                                  <a:cs typeface="Cambria Math" panose="02040503050406030204" charset="0"/>
                                </a:rPr>
                                <m:t>∈</m:t>
                              </m:r>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𝑋</m:t>
                                  </m:r>
                                </m:e>
                                <m:sub>
                                  <m:r>
                                    <a:rPr lang="en-US" altLang="zh-CN" sz="1600" i="1">
                                      <a:latin typeface="Cambria Math" panose="02040503050406030204" charset="0"/>
                                      <a:cs typeface="Cambria Math" panose="02040503050406030204" charset="0"/>
                                    </a:rPr>
                                    <m:t>𝑠𝑎𝑓𝑒</m:t>
                                  </m:r>
                                </m:sub>
                              </m:sSub>
                            </m:sub>
                            <m:sup/>
                            <m:e>
                              <m:r>
                                <a:rPr lang="en-US" altLang="zh-CN" sz="1600" i="1">
                                  <a:latin typeface="Cambria Math" panose="02040503050406030204" charset="0"/>
                                  <a:cs typeface="Cambria Math" panose="02040503050406030204" charset="0"/>
                                </a:rPr>
                                <m:t>𝑚𝑎𝑥</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0</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m:t>
                              </m:r>
                              <m:sSubSup>
                                <m:sSubSupPr>
                                  <m:ctrlPr>
                                    <a:rPr lang="en-US" altLang="zh-CN" sz="1600" i="1">
                                      <a:latin typeface="Cambria Math" panose="02040503050406030204" charset="0"/>
                                      <a:cs typeface="Cambria Math" panose="02040503050406030204" charset="0"/>
                                    </a:rPr>
                                  </m:ctrlPr>
                                </m:sSubSupPr>
                                <m:e>
                                  <m:r>
                                    <a:rPr lang="en-US" altLang="zh-CN" sz="1600" i="1">
                                      <a:latin typeface="Cambria Math" panose="02040503050406030204" charset="0"/>
                                      <a:cs typeface="Cambria Math" panose="02040503050406030204" charset="0"/>
                                    </a:rPr>
                                    <m:t>𝑤</m:t>
                                  </m:r>
                                </m:e>
                                <m:sub>
                                  <m:r>
                                    <a:rPr lang="en-US" altLang="zh-CN" sz="1600" i="1">
                                      <a:latin typeface="Cambria Math" panose="02040503050406030204" charset="0"/>
                                      <a:cs typeface="Cambria Math" panose="02040503050406030204" charset="0"/>
                                    </a:rPr>
                                    <m:t>𝑚</m:t>
                                  </m:r>
                                </m:sub>
                                <m:sup>
                                  <m:r>
                                    <a:rPr lang="en-US" altLang="zh-CN" sz="1600" i="1">
                                      <a:latin typeface="Cambria Math" panose="02040503050406030204" charset="0"/>
                                      <a:cs typeface="Cambria Math" panose="02040503050406030204" charset="0"/>
                                    </a:rPr>
                                    <m:t>𝑇</m:t>
                                  </m:r>
                                </m:sup>
                              </m:sSubSup>
                              <m:sSup>
                                <m:sSupPr>
                                  <m:ctrlPr>
                                    <a:rPr lang="en-US" altLang="zh-CN" sz="1600" i="1">
                                      <a:latin typeface="Cambria Math" panose="02040503050406030204" charset="0"/>
                                      <a:cs typeface="Cambria Math" panose="02040503050406030204" charset="0"/>
                                    </a:rPr>
                                  </m:ctrlPr>
                                </m:sSupPr>
                                <m:e>
                                  <m:r>
                                    <a:rPr lang="en-US" altLang="zh-CN" sz="1600" i="1">
                                      <a:latin typeface="Cambria Math" panose="02040503050406030204" charset="0"/>
                                      <a:cs typeface="Cambria Math" panose="02040503050406030204" charset="0"/>
                                    </a:rPr>
                                    <m:t>𝑥</m:t>
                                  </m:r>
                                </m:e>
                                <m:sup>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𝑖</m:t>
                                  </m:r>
                                  <m:r>
                                    <a:rPr lang="en-US" altLang="zh-CN" sz="1600" i="1">
                                      <a:latin typeface="Cambria Math" panose="02040503050406030204" charset="0"/>
                                      <a:cs typeface="Cambria Math" panose="02040503050406030204" charset="0"/>
                                    </a:rPr>
                                    <m:t>)</m:t>
                                  </m:r>
                                </m:sup>
                              </m:sSup>
                              <m:r>
                                <a:rPr lang="en-US" altLang="zh-CN" sz="1600" i="1">
                                  <a:latin typeface="Cambria Math" panose="02040503050406030204" charset="0"/>
                                  <a:cs typeface="Cambria Math" panose="02040503050406030204" charset="0"/>
                                </a:rPr>
                                <m:t>+</m:t>
                              </m:r>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𝑏</m:t>
                                  </m:r>
                                </m:e>
                                <m:sub>
                                  <m:r>
                                    <a:rPr lang="en-US" altLang="zh-CN" sz="1600" i="1">
                                      <a:latin typeface="Cambria Math" panose="02040503050406030204" charset="0"/>
                                      <a:cs typeface="Cambria Math" panose="02040503050406030204" charset="0"/>
                                    </a:rPr>
                                    <m:t>𝑚</m:t>
                                  </m:r>
                                </m:sub>
                              </m:sSub>
                              <m:r>
                                <a:rPr lang="en-US" altLang="zh-CN" sz="1600" i="1">
                                  <a:latin typeface="Cambria Math" panose="02040503050406030204" charset="0"/>
                                  <a:cs typeface="Cambria Math" panose="02040503050406030204" charset="0"/>
                                </a:rPr>
                                <m:t>)+</m:t>
                              </m:r>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𝜀</m:t>
                                  </m:r>
                                </m:e>
                                <m:sub>
                                  <m:r>
                                    <a:rPr lang="en-US" altLang="zh-CN" sz="1600" i="1">
                                      <a:latin typeface="Cambria Math" panose="02040503050406030204" charset="0"/>
                                      <a:cs typeface="Cambria Math" panose="02040503050406030204" charset="0"/>
                                    </a:rPr>
                                    <m:t>1</m:t>
                                  </m:r>
                                </m:sub>
                              </m:sSub>
                              <m:r>
                                <a:rPr lang="en-US" altLang="zh-CN" sz="1600" i="1">
                                  <a:latin typeface="Cambria Math" panose="02040503050406030204" charset="0"/>
                                  <a:cs typeface="Cambria Math" panose="02040503050406030204" charset="0"/>
                                </a:rPr>
                                <m:t>}</m:t>
                              </m:r>
                            </m:e>
                          </m:nary>
                        </m:e>
                      </m:nary>
                    </m:oMath>
                  </m:oMathPara>
                </a14:m>
                <a:endParaRPr lang="en-US" altLang="zh-CN" sz="1600" i="1">
                  <a:latin typeface="Cambria Math" panose="02040503050406030204" charset="0"/>
                  <a:cs typeface="Cambria Math" panose="02040503050406030204" charset="0"/>
                </a:endParaRPr>
              </a:p>
            </p:txBody>
          </p:sp>
        </mc:Choice>
        <mc:Fallback>
          <p:sp>
            <p:nvSpPr>
              <p:cNvPr id="20" name="文本框 19"/>
              <p:cNvSpPr txBox="1">
                <a:spLocks noRot="1" noChangeAspect="1" noMove="1" noResize="1" noEditPoints="1" noAdjustHandles="1" noChangeArrowheads="1" noChangeShapeType="1" noTextEdit="1"/>
              </p:cNvSpPr>
              <p:nvPr/>
            </p:nvSpPr>
            <p:spPr>
              <a:xfrm>
                <a:off x="586740" y="3643249"/>
                <a:ext cx="5452745" cy="885190"/>
              </a:xfrm>
              <a:prstGeom prst="rect">
                <a:avLst/>
              </a:prstGeom>
              <a:blipFill rotWithShape="1">
                <a:blip r:embed="rId7"/>
                <a:stretch>
                  <a:fillRect t="-29" b="2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p:cNvSpPr txBox="1"/>
              <p:nvPr/>
            </p:nvSpPr>
            <p:spPr>
              <a:xfrm>
                <a:off x="586740" y="4393565"/>
                <a:ext cx="6096000" cy="885190"/>
              </a:xfrm>
              <a:prstGeom prst="rect">
                <a:avLst/>
              </a:prstGeom>
              <a:noFill/>
            </p:spPr>
            <p:txBody>
              <a:bodyPr wrap="square" rtlCol="0" anchor="t">
                <a:spAutoFit/>
              </a:bodyPr>
              <a:p>
                <a:pPr algn="l"/>
                <a14:m>
                  <m:oMathPara xmlns:m="http://schemas.openxmlformats.org/officeDocument/2006/math">
                    <m:oMathParaPr>
                      <m:jc m:val="left"/>
                    </m:oMathParaPr>
                    <m:oMath xmlns:m="http://schemas.openxmlformats.org/officeDocument/2006/math">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𝐿𝑜𝑠𝑠</m:t>
                          </m:r>
                        </m:e>
                        <m:sub>
                          <m:r>
                            <a:rPr lang="en-US" altLang="zh-CN" sz="1600" i="1">
                              <a:latin typeface="Cambria Math" panose="02040503050406030204" charset="0"/>
                              <a:cs typeface="Cambria Math" panose="02040503050406030204" charset="0"/>
                            </a:rPr>
                            <m:t>𝑠𝑎𝑓𝑒</m:t>
                          </m:r>
                        </m:sub>
                      </m:sSub>
                      <m:r>
                        <a:rPr lang="en-US" altLang="zh-CN" sz="1600" i="1">
                          <a:latin typeface="Cambria Math" panose="02040503050406030204" charset="0"/>
                          <a:cs typeface="Cambria Math" panose="02040503050406030204" charset="0"/>
                        </a:rPr>
                        <m:t>=</m:t>
                      </m:r>
                      <m:f>
                        <m:fPr>
                          <m:ctrlPr>
                            <a:rPr lang="en-US" altLang="zh-CN" sz="1600" i="1">
                              <a:latin typeface="Cambria Math" panose="02040503050406030204" charset="0"/>
                              <a:cs typeface="Cambria Math" panose="02040503050406030204" charset="0"/>
                            </a:rPr>
                          </m:ctrlPr>
                        </m:fPr>
                        <m:num>
                          <m:r>
                            <a:rPr lang="en-US" altLang="zh-CN" sz="1600" i="1">
                              <a:latin typeface="Cambria Math" panose="02040503050406030204" charset="0"/>
                              <a:cs typeface="Cambria Math" panose="02040503050406030204" charset="0"/>
                            </a:rPr>
                            <m:t>1</m:t>
                          </m:r>
                        </m:num>
                        <m:den>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𝑁</m:t>
                              </m:r>
                            </m:e>
                            <m:sub>
                              <m:r>
                                <a:rPr lang="en-US" altLang="zh-CN" sz="1600" i="1">
                                  <a:latin typeface="Cambria Math" panose="02040503050406030204" charset="0"/>
                                  <a:cs typeface="Cambria Math" panose="02040503050406030204" charset="0"/>
                                </a:rPr>
                                <m:t>𝑢𝑛𝑠𝑎𝑓𝑒</m:t>
                              </m:r>
                            </m:sub>
                          </m:sSub>
                        </m:den>
                      </m:f>
                      <m:nary>
                        <m:naryPr>
                          <m:chr m:val="∑"/>
                          <m:limLoc m:val="undOvr"/>
                          <m:ctrlPr>
                            <a:rPr lang="en-US" altLang="zh-CN" sz="1600" i="1">
                              <a:latin typeface="Cambria Math" panose="02040503050406030204" charset="0"/>
                              <a:cs typeface="Cambria Math" panose="02040503050406030204" charset="0"/>
                            </a:rPr>
                          </m:ctrlPr>
                        </m:naryPr>
                        <m:sub>
                          <m:r>
                            <a:rPr lang="en-US" altLang="zh-CN" sz="1600" i="1">
                              <a:latin typeface="Cambria Math" panose="02040503050406030204" charset="0"/>
                              <a:cs typeface="Cambria Math" panose="02040503050406030204" charset="0"/>
                            </a:rPr>
                            <m:t>𝑚</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1</m:t>
                          </m:r>
                        </m:sub>
                        <m:sup>
                          <m:r>
                            <a:rPr lang="en-US" altLang="zh-CN" sz="1600" i="1">
                              <a:latin typeface="Cambria Math" panose="02040503050406030204" charset="0"/>
                              <a:cs typeface="Cambria Math" panose="02040503050406030204" charset="0"/>
                            </a:rPr>
                            <m:t>𝑀</m:t>
                          </m:r>
                        </m:sup>
                        <m:e>
                          <m:nary>
                            <m:naryPr>
                              <m:chr m:val="∑"/>
                              <m:limLoc m:val="undOvr"/>
                              <m:supHide m:val="on"/>
                              <m:ctrlPr>
                                <a:rPr lang="en-US" altLang="zh-CN" sz="1600" i="1">
                                  <a:latin typeface="Cambria Math" panose="02040503050406030204" charset="0"/>
                                  <a:cs typeface="Cambria Math" panose="02040503050406030204" charset="0"/>
                                </a:rPr>
                              </m:ctrlPr>
                            </m:naryPr>
                            <m:sub>
                              <m:sSup>
                                <m:sSupPr>
                                  <m:ctrlPr>
                                    <a:rPr lang="en-US" altLang="zh-CN" sz="1600" i="1">
                                      <a:latin typeface="Cambria Math" panose="02040503050406030204" charset="0"/>
                                      <a:cs typeface="Cambria Math" panose="02040503050406030204" charset="0"/>
                                    </a:rPr>
                                  </m:ctrlPr>
                                </m:sSupPr>
                                <m:e>
                                  <m:r>
                                    <a:rPr lang="en-US" altLang="zh-CN" sz="1600" i="1">
                                      <a:latin typeface="Cambria Math" panose="02040503050406030204" charset="0"/>
                                      <a:cs typeface="Cambria Math" panose="02040503050406030204" charset="0"/>
                                    </a:rPr>
                                    <m:t>𝑥</m:t>
                                  </m:r>
                                </m:e>
                                <m:sup>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𝑖</m:t>
                                  </m:r>
                                  <m:r>
                                    <a:rPr lang="en-US" altLang="zh-CN" sz="1600" i="1">
                                      <a:latin typeface="Cambria Math" panose="02040503050406030204" charset="0"/>
                                      <a:cs typeface="Cambria Math" panose="02040503050406030204" charset="0"/>
                                    </a:rPr>
                                    <m:t>)</m:t>
                                  </m:r>
                                </m:sup>
                              </m:sSup>
                              <m:r>
                                <a:rPr lang="en-US" altLang="zh-CN" sz="1600" i="1">
                                  <a:latin typeface="Cambria Math" panose="02040503050406030204" charset="0"/>
                                  <a:cs typeface="Cambria Math" panose="02040503050406030204" charset="0"/>
                                </a:rPr>
                                <m:t>∈</m:t>
                              </m:r>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𝑋</m:t>
                                  </m:r>
                                </m:e>
                                <m:sub>
                                  <m:r>
                                    <a:rPr lang="en-US" altLang="zh-CN" sz="1600" i="1">
                                      <a:latin typeface="Cambria Math" panose="02040503050406030204" charset="0"/>
                                      <a:cs typeface="Cambria Math" panose="02040503050406030204" charset="0"/>
                                    </a:rPr>
                                    <m:t>𝑢𝑛𝑠𝑎𝑓𝑒</m:t>
                                  </m:r>
                                </m:sub>
                              </m:sSub>
                            </m:sub>
                            <m:sup/>
                            <m:e>
                              <m:r>
                                <a:rPr lang="en-US" altLang="zh-CN" sz="1600" i="1">
                                  <a:latin typeface="Cambria Math" panose="02040503050406030204" charset="0"/>
                                  <a:cs typeface="Cambria Math" panose="02040503050406030204" charset="0"/>
                                </a:rPr>
                                <m:t>𝑚𝑎𝑥</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0</m:t>
                              </m:r>
                              <m:r>
                                <a:rPr lang="en-US" altLang="zh-CN" sz="1600" i="1">
                                  <a:latin typeface="Cambria Math" panose="02040503050406030204" charset="0"/>
                                  <a:cs typeface="Cambria Math" panose="02040503050406030204" charset="0"/>
                                </a:rPr>
                                <m:t>,−(</m:t>
                              </m:r>
                              <m:sSubSup>
                                <m:sSubSupPr>
                                  <m:ctrlPr>
                                    <a:rPr lang="en-US" altLang="zh-CN" sz="1600" i="1">
                                      <a:latin typeface="Cambria Math" panose="02040503050406030204" charset="0"/>
                                      <a:cs typeface="Cambria Math" panose="02040503050406030204" charset="0"/>
                                    </a:rPr>
                                  </m:ctrlPr>
                                </m:sSubSupPr>
                                <m:e>
                                  <m:r>
                                    <a:rPr lang="en-US" altLang="zh-CN" sz="1600" i="1">
                                      <a:latin typeface="Cambria Math" panose="02040503050406030204" charset="0"/>
                                      <a:cs typeface="Cambria Math" panose="02040503050406030204" charset="0"/>
                                    </a:rPr>
                                    <m:t>𝑤</m:t>
                                  </m:r>
                                </m:e>
                                <m:sub>
                                  <m:r>
                                    <a:rPr lang="en-US" altLang="zh-CN" sz="1600" i="1">
                                      <a:latin typeface="Cambria Math" panose="02040503050406030204" charset="0"/>
                                      <a:cs typeface="Cambria Math" panose="02040503050406030204" charset="0"/>
                                    </a:rPr>
                                    <m:t>𝑚</m:t>
                                  </m:r>
                                </m:sub>
                                <m:sup>
                                  <m:r>
                                    <a:rPr lang="en-US" altLang="zh-CN" sz="1600" i="1">
                                      <a:latin typeface="Cambria Math" panose="02040503050406030204" charset="0"/>
                                      <a:cs typeface="Cambria Math" panose="02040503050406030204" charset="0"/>
                                    </a:rPr>
                                    <m:t>𝑇</m:t>
                                  </m:r>
                                </m:sup>
                              </m:sSubSup>
                              <m:sSup>
                                <m:sSupPr>
                                  <m:ctrlPr>
                                    <a:rPr lang="en-US" altLang="zh-CN" sz="1600" i="1">
                                      <a:latin typeface="Cambria Math" panose="02040503050406030204" charset="0"/>
                                      <a:cs typeface="Cambria Math" panose="02040503050406030204" charset="0"/>
                                    </a:rPr>
                                  </m:ctrlPr>
                                </m:sSupPr>
                                <m:e>
                                  <m:r>
                                    <a:rPr lang="en-US" altLang="zh-CN" sz="1600" i="1">
                                      <a:latin typeface="Cambria Math" panose="02040503050406030204" charset="0"/>
                                      <a:cs typeface="Cambria Math" panose="02040503050406030204" charset="0"/>
                                    </a:rPr>
                                    <m:t>𝑥</m:t>
                                  </m:r>
                                </m:e>
                                <m:sup>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𝑖</m:t>
                                  </m:r>
                                  <m:r>
                                    <a:rPr lang="en-US" altLang="zh-CN" sz="1600" i="1">
                                      <a:latin typeface="Cambria Math" panose="02040503050406030204" charset="0"/>
                                      <a:cs typeface="Cambria Math" panose="02040503050406030204" charset="0"/>
                                    </a:rPr>
                                    <m:t>)</m:t>
                                  </m:r>
                                </m:sup>
                              </m:sSup>
                              <m:r>
                                <a:rPr lang="en-US" altLang="zh-CN" sz="1600" i="1">
                                  <a:latin typeface="Cambria Math" panose="02040503050406030204" charset="0"/>
                                  <a:cs typeface="Cambria Math" panose="02040503050406030204" charset="0"/>
                                </a:rPr>
                                <m:t>+</m:t>
                              </m:r>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𝑏</m:t>
                                  </m:r>
                                </m:e>
                                <m:sub>
                                  <m:r>
                                    <a:rPr lang="en-US" altLang="zh-CN" sz="1600" i="1">
                                      <a:latin typeface="Cambria Math" panose="02040503050406030204" charset="0"/>
                                      <a:cs typeface="Cambria Math" panose="02040503050406030204" charset="0"/>
                                    </a:rPr>
                                    <m:t>𝑚</m:t>
                                  </m:r>
                                </m:sub>
                              </m:sSub>
                              <m:r>
                                <a:rPr lang="en-US" altLang="zh-CN" sz="1600" i="1">
                                  <a:latin typeface="Cambria Math" panose="02040503050406030204" charset="0"/>
                                  <a:cs typeface="Cambria Math" panose="02040503050406030204" charset="0"/>
                                </a:rPr>
                                <m:t>)+</m:t>
                              </m:r>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𝜀</m:t>
                                  </m:r>
                                </m:e>
                                <m:sub>
                                  <m:r>
                                    <a:rPr lang="en-US" altLang="zh-CN" sz="1600" i="1">
                                      <a:latin typeface="Cambria Math" panose="02040503050406030204" charset="0"/>
                                      <a:cs typeface="Cambria Math" panose="02040503050406030204" charset="0"/>
                                    </a:rPr>
                                    <m:t>2</m:t>
                                  </m:r>
                                </m:sub>
                              </m:sSub>
                              <m:r>
                                <a:rPr lang="en-US" altLang="zh-CN" sz="1600" i="1">
                                  <a:latin typeface="Cambria Math" panose="02040503050406030204" charset="0"/>
                                  <a:cs typeface="Cambria Math" panose="02040503050406030204" charset="0"/>
                                </a:rPr>
                                <m:t>}</m:t>
                              </m:r>
                            </m:e>
                          </m:nary>
                        </m:e>
                      </m:nary>
                    </m:oMath>
                  </m:oMathPara>
                </a14:m>
                <a:endParaRPr lang="en-US" altLang="zh-CN" sz="1600" i="1">
                  <a:latin typeface="Cambria Math" panose="02040503050406030204" charset="0"/>
                  <a:cs typeface="Cambria Math" panose="02040503050406030204" charset="0"/>
                </a:endParaRPr>
              </a:p>
            </p:txBody>
          </p:sp>
        </mc:Choice>
        <mc:Fallback>
          <p:sp>
            <p:nvSpPr>
              <p:cNvPr id="21" name="文本框 20"/>
              <p:cNvSpPr txBox="1">
                <a:spLocks noRot="1" noChangeAspect="1" noMove="1" noResize="1" noEditPoints="1" noAdjustHandles="1" noChangeArrowheads="1" noChangeShapeType="1" noTextEdit="1"/>
              </p:cNvSpPr>
              <p:nvPr/>
            </p:nvSpPr>
            <p:spPr>
              <a:xfrm>
                <a:off x="586740" y="4393565"/>
                <a:ext cx="6096000" cy="885190"/>
              </a:xfrm>
              <a:prstGeom prst="rect">
                <a:avLst/>
              </a:prstGeom>
              <a:blipFill rotWithShape="1">
                <a:blip r:embed="rId8"/>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文本框 21"/>
              <p:cNvSpPr txBox="1"/>
              <p:nvPr/>
            </p:nvSpPr>
            <p:spPr>
              <a:xfrm>
                <a:off x="586740" y="5196840"/>
                <a:ext cx="9542780" cy="1037590"/>
              </a:xfrm>
              <a:prstGeom prst="rect">
                <a:avLst/>
              </a:prstGeom>
              <a:noFill/>
            </p:spPr>
            <p:txBody>
              <a:bodyPr wrap="square" rtlCol="0" anchor="t">
                <a:spAutoFit/>
              </a:bodyPr>
              <a:p>
                <a:pPr algn="l"/>
                <a14:m>
                  <m:oMathPara xmlns:m="http://schemas.openxmlformats.org/officeDocument/2006/math">
                    <m:oMathParaPr>
                      <m:jc m:val="left"/>
                    </m:oMathParaPr>
                    <m:oMath xmlns:m="http://schemas.openxmlformats.org/officeDocument/2006/math">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𝐿𝑜𝑠𝑠</m:t>
                          </m:r>
                        </m:e>
                        <m:sub>
                          <m:r>
                            <a:rPr lang="en-US" altLang="zh-CN" sz="1600" i="1">
                              <a:latin typeface="Cambria Math" panose="02040503050406030204" charset="0"/>
                              <a:cs typeface="Cambria Math" panose="02040503050406030204" charset="0"/>
                            </a:rPr>
                            <m:t>𝐶𝐵𝐹</m:t>
                          </m:r>
                        </m:sub>
                      </m:sSub>
                      <m:r>
                        <a:rPr lang="en-US" altLang="zh-CN" sz="1600" i="1">
                          <a:latin typeface="Cambria Math" panose="02040503050406030204" charset="0"/>
                          <a:cs typeface="Cambria Math" panose="02040503050406030204" charset="0"/>
                        </a:rPr>
                        <m:t>=</m:t>
                      </m:r>
                      <m:f>
                        <m:fPr>
                          <m:ctrlPr>
                            <a:rPr lang="en-US" altLang="zh-CN" sz="1600" i="1">
                              <a:latin typeface="Cambria Math" panose="02040503050406030204" charset="0"/>
                              <a:cs typeface="Cambria Math" panose="02040503050406030204" charset="0"/>
                            </a:rPr>
                          </m:ctrlPr>
                        </m:fPr>
                        <m:num>
                          <m:r>
                            <a:rPr lang="en-US" altLang="zh-CN" sz="1600" i="1">
                              <a:latin typeface="Cambria Math" panose="02040503050406030204" charset="0"/>
                              <a:cs typeface="Cambria Math" panose="02040503050406030204" charset="0"/>
                            </a:rPr>
                            <m:t>1</m:t>
                          </m:r>
                        </m:num>
                        <m:den>
                          <m:r>
                            <a:rPr lang="en-US" altLang="zh-CN" sz="1600" i="1">
                              <a:latin typeface="Cambria Math" panose="02040503050406030204" charset="0"/>
                              <a:cs typeface="Cambria Math" panose="02040503050406030204" charset="0"/>
                            </a:rPr>
                            <m:t>𝑁</m:t>
                          </m:r>
                        </m:den>
                      </m:f>
                      <m:nary>
                        <m:naryPr>
                          <m:chr m:val="∑"/>
                          <m:limLoc m:val="undOvr"/>
                          <m:ctrlPr>
                            <a:rPr lang="en-US" altLang="zh-CN" sz="1600" i="1">
                              <a:latin typeface="Cambria Math" panose="02040503050406030204" charset="0"/>
                              <a:cs typeface="Cambria Math" panose="02040503050406030204" charset="0"/>
                            </a:rPr>
                          </m:ctrlPr>
                        </m:naryPr>
                        <m:sub>
                          <m:r>
                            <a:rPr lang="en-US" altLang="zh-CN" sz="1600" i="1">
                              <a:latin typeface="Cambria Math" panose="02040503050406030204" charset="0"/>
                              <a:cs typeface="Cambria Math" panose="02040503050406030204" charset="0"/>
                            </a:rPr>
                            <m:t>𝑖</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1</m:t>
                          </m:r>
                        </m:sub>
                        <m:sup>
                          <m:r>
                            <a:rPr lang="en-US" altLang="zh-CN" sz="1600" i="1">
                              <a:latin typeface="Cambria Math" panose="02040503050406030204" charset="0"/>
                              <a:cs typeface="Cambria Math" panose="02040503050406030204" charset="0"/>
                            </a:rPr>
                            <m:t>𝑁</m:t>
                          </m:r>
                        </m:sup>
                        <m:e>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1</m:t>
                              </m:r>
                            </m:e>
                            <m:sub>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𝑟</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1</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𝑁</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𝑚</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1</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𝑀</m:t>
                              </m:r>
                              <m:r>
                                <a:rPr lang="en-US" altLang="zh-CN" sz="1600" i="1">
                                  <a:latin typeface="Cambria Math" panose="02040503050406030204" charset="0"/>
                                  <a:cs typeface="Cambria Math" panose="02040503050406030204" charset="0"/>
                                </a:rPr>
                                <m:t>},</m:t>
                              </m:r>
                              <m:sSubSup>
                                <m:sSubSupPr>
                                  <m:ctrlPr>
                                    <a:rPr lang="en-US" altLang="zh-CN" sz="1600" i="1">
                                      <a:latin typeface="Cambria Math" panose="02040503050406030204" charset="0"/>
                                      <a:cs typeface="Cambria Math" panose="02040503050406030204" charset="0"/>
                                    </a:rPr>
                                  </m:ctrlPr>
                                </m:sSubSupPr>
                                <m:e>
                                  <m:r>
                                    <a:rPr lang="en-US" altLang="zh-CN" sz="1600" i="1">
                                      <a:latin typeface="Cambria Math" panose="02040503050406030204" charset="0"/>
                                      <a:cs typeface="Cambria Math" panose="02040503050406030204" charset="0"/>
                                    </a:rPr>
                                    <m:t>𝑐</m:t>
                                  </m:r>
                                </m:e>
                                <m:sub>
                                  <m:r>
                                    <a:rPr lang="en-US" altLang="zh-CN" sz="1600" i="1">
                                      <a:latin typeface="Cambria Math" panose="02040503050406030204" charset="0"/>
                                      <a:cs typeface="Cambria Math" panose="02040503050406030204" charset="0"/>
                                    </a:rPr>
                                    <m:t>𝑚</m:t>
                                  </m:r>
                                </m:sub>
                                <m:sup>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𝑖</m:t>
                                  </m:r>
                                  <m:r>
                                    <a:rPr lang="en-US" altLang="zh-CN" sz="1600" i="1">
                                      <a:latin typeface="Cambria Math" panose="02040503050406030204" charset="0"/>
                                      <a:cs typeface="Cambria Math" panose="02040503050406030204" charset="0"/>
                                    </a:rPr>
                                    <m:t>)</m:t>
                                  </m:r>
                                </m:sup>
                              </m:sSubSup>
                              <m:r>
                                <a:rPr lang="en-US" altLang="zh-CN" sz="1600" i="1">
                                  <a:latin typeface="Cambria Math" panose="02040503050406030204" charset="0"/>
                                  <a:cs typeface="Cambria Math" panose="02040503050406030204" charset="0"/>
                                </a:rPr>
                                <m:t>−</m:t>
                              </m:r>
                              <m:sSubSup>
                                <m:sSubSupPr>
                                  <m:ctrlPr>
                                    <a:rPr lang="en-US" altLang="zh-CN" sz="1600" i="1">
                                      <a:latin typeface="Cambria Math" panose="02040503050406030204" charset="0"/>
                                      <a:cs typeface="Cambria Math" panose="02040503050406030204" charset="0"/>
                                    </a:rPr>
                                  </m:ctrlPr>
                                </m:sSubSupPr>
                                <m:e>
                                  <m:r>
                                    <a:rPr lang="en-US" altLang="zh-CN" sz="1600" i="1">
                                      <a:latin typeface="Cambria Math" panose="02040503050406030204" charset="0"/>
                                      <a:cs typeface="Cambria Math" panose="02040503050406030204" charset="0"/>
                                    </a:rPr>
                                    <m:t>𝐽</m:t>
                                  </m:r>
                                </m:e>
                                <m:sub>
                                  <m:r>
                                    <a:rPr lang="en-US" altLang="zh-CN" sz="1600" i="1">
                                      <a:latin typeface="Cambria Math" panose="02040503050406030204" charset="0"/>
                                      <a:cs typeface="Cambria Math" panose="02040503050406030204" charset="0"/>
                                    </a:rPr>
                                    <m:t>𝑚</m:t>
                                  </m:r>
                                </m:sub>
                                <m:sup>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𝑟</m:t>
                                  </m:r>
                                  <m:r>
                                    <a:rPr lang="en-US" altLang="zh-CN" sz="1600" i="1">
                                      <a:latin typeface="Cambria Math" panose="02040503050406030204" charset="0"/>
                                      <a:cs typeface="Cambria Math" panose="02040503050406030204" charset="0"/>
                                    </a:rPr>
                                    <m:t>)</m:t>
                                  </m:r>
                                </m:sup>
                              </m:sSubSup>
                              <m:r>
                                <a:rPr lang="en-US" altLang="zh-CN" sz="1600" i="1">
                                  <a:latin typeface="Cambria Math" panose="02040503050406030204" charset="0"/>
                                  <a:cs typeface="Cambria Math" panose="02040503050406030204" charset="0"/>
                                </a:rPr>
                                <m:t>&gt;</m:t>
                              </m:r>
                              <m:r>
                                <a:rPr lang="en-US" altLang="zh-CN" sz="1600" i="1">
                                  <a:latin typeface="Cambria Math" panose="02040503050406030204" charset="0"/>
                                  <a:cs typeface="Cambria Math" panose="02040503050406030204" charset="0"/>
                                </a:rPr>
                                <m:t>0</m:t>
                              </m:r>
                              <m:r>
                                <a:rPr lang="en-US" altLang="zh-CN" sz="1600" i="1">
                                  <a:latin typeface="Cambria Math" panose="02040503050406030204" charset="0"/>
                                  <a:cs typeface="Cambria Math" panose="02040503050406030204" charset="0"/>
                                </a:rPr>
                                <m:t>}</m:t>
                              </m:r>
                            </m:sub>
                          </m:sSub>
                          <m:r>
                            <a:rPr lang="en-US" altLang="zh-CN" sz="1600" i="1">
                              <a:latin typeface="Cambria Math" panose="02040503050406030204" charset="0"/>
                              <a:cs typeface="Cambria Math" panose="02040503050406030204" charset="0"/>
                            </a:rPr>
                            <m:t>(</m:t>
                          </m:r>
                          <m:f>
                            <m:fPr>
                              <m:ctrlPr>
                                <a:rPr lang="en-US" altLang="zh-CN" sz="1600" i="1">
                                  <a:latin typeface="Cambria Math" panose="02040503050406030204" charset="0"/>
                                  <a:cs typeface="Cambria Math" panose="02040503050406030204" charset="0"/>
                                </a:rPr>
                              </m:ctrlPr>
                            </m:fPr>
                            <m:num>
                              <m:r>
                                <a:rPr lang="en-US" altLang="zh-CN" sz="1600" i="1">
                                  <a:latin typeface="Cambria Math" panose="02040503050406030204" charset="0"/>
                                  <a:cs typeface="Cambria Math" panose="02040503050406030204" charset="0"/>
                                </a:rPr>
                                <m:t>1</m:t>
                              </m:r>
                            </m:num>
                            <m:den>
                              <m:r>
                                <a:rPr lang="en-US" altLang="zh-CN" sz="1600" i="1">
                                  <a:latin typeface="Cambria Math" panose="02040503050406030204" charset="0"/>
                                  <a:cs typeface="Cambria Math" panose="02040503050406030204" charset="0"/>
                                </a:rPr>
                                <m:t>𝑀𝑁</m:t>
                              </m:r>
                              <m:r>
                                <a:rPr lang="en-US" altLang="zh-CN" sz="1600" i="1">
                                  <a:latin typeface="Cambria Math" panose="02040503050406030204" charset="0"/>
                                  <a:cs typeface="Cambria Math" panose="02040503050406030204" charset="0"/>
                                </a:rPr>
                                <m:t>’</m:t>
                              </m:r>
                            </m:den>
                          </m:f>
                          <m:nary>
                            <m:naryPr>
                              <m:chr m:val="∑"/>
                              <m:limLoc m:val="undOvr"/>
                              <m:ctrlPr>
                                <a:rPr lang="en-US" altLang="zh-CN" sz="1600" i="1">
                                  <a:latin typeface="Cambria Math" panose="02040503050406030204" charset="0"/>
                                  <a:cs typeface="Cambria Math" panose="02040503050406030204" charset="0"/>
                                </a:rPr>
                              </m:ctrlPr>
                            </m:naryPr>
                            <m:sub>
                              <m:r>
                                <a:rPr lang="en-US" altLang="zh-CN" sz="1600" i="1">
                                  <a:latin typeface="Cambria Math" panose="02040503050406030204" charset="0"/>
                                  <a:cs typeface="Cambria Math" panose="02040503050406030204" charset="0"/>
                                </a:rPr>
                                <m:t>𝑚</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1</m:t>
                              </m:r>
                            </m:sub>
                            <m:sup>
                              <m:r>
                                <a:rPr lang="en-US" altLang="zh-CN" sz="1600" i="1">
                                  <a:latin typeface="Cambria Math" panose="02040503050406030204" charset="0"/>
                                  <a:cs typeface="Cambria Math" panose="02040503050406030204" charset="0"/>
                                </a:rPr>
                                <m:t>𝑀</m:t>
                              </m:r>
                            </m:sup>
                            <m:e>
                              <m:nary>
                                <m:naryPr>
                                  <m:chr m:val="∑"/>
                                  <m:limLoc m:val="undOvr"/>
                                  <m:ctrlPr>
                                    <a:rPr lang="en-US" altLang="zh-CN" sz="1600" i="1">
                                      <a:latin typeface="Cambria Math" panose="02040503050406030204" charset="0"/>
                                      <a:cs typeface="Cambria Math" panose="02040503050406030204" charset="0"/>
                                    </a:rPr>
                                  </m:ctrlPr>
                                </m:naryPr>
                                <m:sub>
                                  <m:r>
                                    <a:rPr lang="en-US" altLang="zh-CN" sz="1600" i="1">
                                      <a:latin typeface="Cambria Math" panose="02040503050406030204" charset="0"/>
                                      <a:cs typeface="Cambria Math" panose="02040503050406030204" charset="0"/>
                                    </a:rPr>
                                    <m:t>𝑟</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1</m:t>
                                  </m:r>
                                </m:sub>
                                <m:sup>
                                  <m:r>
                                    <a:rPr lang="en-US" altLang="zh-CN" sz="1600" i="1">
                                      <a:latin typeface="Cambria Math" panose="02040503050406030204" charset="0"/>
                                      <a:cs typeface="Cambria Math" panose="02040503050406030204" charset="0"/>
                                    </a:rPr>
                                    <m:t>𝑁</m:t>
                                  </m:r>
                                  <m:r>
                                    <a:rPr lang="en-US" altLang="zh-CN" sz="1600" i="1">
                                      <a:latin typeface="Cambria Math" panose="02040503050406030204" charset="0"/>
                                      <a:cs typeface="Cambria Math" panose="02040503050406030204" charset="0"/>
                                    </a:rPr>
                                    <m:t>’</m:t>
                                  </m:r>
                                </m:sup>
                                <m:e>
                                  <m:r>
                                    <a:rPr lang="en-US" altLang="zh-CN" sz="1600" i="1">
                                      <a:latin typeface="Cambria Math" panose="02040503050406030204" charset="0"/>
                                      <a:cs typeface="Cambria Math" panose="02040503050406030204" charset="0"/>
                                    </a:rPr>
                                    <m:t>𝑠𝑜𝑓𝑡𝑝𝑙𝑢𝑠</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𝑐𝑙𝑎𝑚𝑝</m:t>
                                  </m:r>
                                  <m:r>
                                    <a:rPr lang="en-US" altLang="zh-CN" sz="1600" i="1">
                                      <a:latin typeface="Cambria Math" panose="02040503050406030204" charset="0"/>
                                      <a:cs typeface="Cambria Math" panose="02040503050406030204" charset="0"/>
                                    </a:rPr>
                                    <m:t>(</m:t>
                                  </m:r>
                                  <m:sSubSup>
                                    <m:sSubSupPr>
                                      <m:ctrlPr>
                                        <a:rPr lang="en-US" altLang="zh-CN" sz="1600" i="1">
                                          <a:latin typeface="Cambria Math" panose="02040503050406030204" charset="0"/>
                                          <a:cs typeface="Cambria Math" panose="02040503050406030204" charset="0"/>
                                        </a:rPr>
                                      </m:ctrlPr>
                                    </m:sSubSupPr>
                                    <m:e>
                                      <m:r>
                                        <a:rPr lang="en-US" altLang="zh-CN" sz="1600" i="1">
                                          <a:latin typeface="Cambria Math" panose="02040503050406030204" charset="0"/>
                                          <a:cs typeface="Cambria Math" panose="02040503050406030204" charset="0"/>
                                        </a:rPr>
                                        <m:t>𝑐</m:t>
                                      </m:r>
                                    </m:e>
                                    <m:sub>
                                      <m:r>
                                        <a:rPr lang="en-US" altLang="zh-CN" sz="1600" i="1">
                                          <a:latin typeface="Cambria Math" panose="02040503050406030204" charset="0"/>
                                          <a:cs typeface="Cambria Math" panose="02040503050406030204" charset="0"/>
                                        </a:rPr>
                                        <m:t>𝑚</m:t>
                                      </m:r>
                                    </m:sub>
                                    <m:sup>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𝑖</m:t>
                                      </m:r>
                                      <m:r>
                                        <a:rPr lang="en-US" altLang="zh-CN" sz="1600" i="1">
                                          <a:latin typeface="Cambria Math" panose="02040503050406030204" charset="0"/>
                                          <a:cs typeface="Cambria Math" panose="02040503050406030204" charset="0"/>
                                        </a:rPr>
                                        <m:t>)</m:t>
                                      </m:r>
                                    </m:sup>
                                  </m:sSubSup>
                                  <m:r>
                                    <a:rPr lang="en-US" altLang="zh-CN" sz="1600" i="1">
                                      <a:latin typeface="Cambria Math" panose="02040503050406030204" charset="0"/>
                                      <a:cs typeface="Cambria Math" panose="02040503050406030204" charset="0"/>
                                    </a:rPr>
                                    <m:t>)−</m:t>
                                  </m:r>
                                  <m:sSubSup>
                                    <m:sSubSupPr>
                                      <m:ctrlPr>
                                        <a:rPr lang="en-US" altLang="zh-CN" sz="1600" i="1">
                                          <a:latin typeface="Cambria Math" panose="02040503050406030204" charset="0"/>
                                          <a:cs typeface="Cambria Math" panose="02040503050406030204" charset="0"/>
                                        </a:rPr>
                                      </m:ctrlPr>
                                    </m:sSubSupPr>
                                    <m:e>
                                      <m:r>
                                        <a:rPr lang="en-US" altLang="zh-CN" sz="1600" i="1">
                                          <a:latin typeface="Cambria Math" panose="02040503050406030204" charset="0"/>
                                          <a:cs typeface="Cambria Math" panose="02040503050406030204" charset="0"/>
                                        </a:rPr>
                                        <m:t>𝐽</m:t>
                                      </m:r>
                                    </m:e>
                                    <m:sub>
                                      <m:r>
                                        <a:rPr lang="en-US" altLang="zh-CN" sz="1600" i="1">
                                          <a:latin typeface="Cambria Math" panose="02040503050406030204" charset="0"/>
                                          <a:cs typeface="Cambria Math" panose="02040503050406030204" charset="0"/>
                                        </a:rPr>
                                        <m:t>𝑚</m:t>
                                      </m:r>
                                    </m:sub>
                                    <m:sup>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𝑟</m:t>
                                      </m:r>
                                      <m:r>
                                        <a:rPr lang="en-US" altLang="zh-CN" sz="1600" i="1">
                                          <a:latin typeface="Cambria Math" panose="02040503050406030204" charset="0"/>
                                          <a:cs typeface="Cambria Math" panose="02040503050406030204" charset="0"/>
                                        </a:rPr>
                                        <m:t>)</m:t>
                                      </m:r>
                                    </m:sup>
                                  </m:sSubSup>
                                  <m:r>
                                    <a:rPr lang="en-US" altLang="zh-CN" sz="1600" i="1">
                                      <a:latin typeface="Cambria Math" panose="02040503050406030204" charset="0"/>
                                      <a:cs typeface="Cambria Math" panose="02040503050406030204" charset="0"/>
                                    </a:rPr>
                                    <m:t>,</m:t>
                                  </m:r>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𝐿</m:t>
                                      </m:r>
                                    </m:e>
                                    <m:sub>
                                      <m:r>
                                        <a:rPr lang="en-US" altLang="zh-CN" sz="1600" i="1">
                                          <a:latin typeface="Cambria Math" panose="02040503050406030204" charset="0"/>
                                          <a:cs typeface="Cambria Math" panose="02040503050406030204" charset="0"/>
                                        </a:rPr>
                                        <m:t>𝑚𝑖𝑛</m:t>
                                      </m:r>
                                    </m:sub>
                                  </m:sSub>
                                  <m:r>
                                    <a:rPr lang="en-US" altLang="zh-CN" sz="1600" i="1">
                                      <a:latin typeface="Cambria Math" panose="02040503050406030204" charset="0"/>
                                      <a:cs typeface="Cambria Math" panose="02040503050406030204" charset="0"/>
                                    </a:rPr>
                                    <m:t>,</m:t>
                                  </m:r>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𝐿</m:t>
                                      </m:r>
                                    </m:e>
                                    <m:sub>
                                      <m:r>
                                        <a:rPr lang="en-US" altLang="zh-CN" sz="1600" i="1">
                                          <a:latin typeface="Cambria Math" panose="02040503050406030204" charset="0"/>
                                          <a:cs typeface="Cambria Math" panose="02040503050406030204" charset="0"/>
                                        </a:rPr>
                                        <m:t>𝑚𝑎𝑥</m:t>
                                      </m:r>
                                    </m:sub>
                                  </m:sSub>
                                  <m:r>
                                    <a:rPr lang="en-US" altLang="zh-CN" sz="1600" i="1">
                                      <a:latin typeface="Cambria Math" panose="02040503050406030204" charset="0"/>
                                      <a:cs typeface="Cambria Math" panose="02040503050406030204" charset="0"/>
                                    </a:rPr>
                                    <m:t>+</m:t>
                                  </m:r>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𝜀</m:t>
                                      </m:r>
                                    </m:e>
                                    <m:sub>
                                      <m:r>
                                        <a:rPr lang="en-US" altLang="zh-CN" sz="1600" i="1">
                                          <a:latin typeface="Cambria Math" panose="02040503050406030204" charset="0"/>
                                          <a:cs typeface="Cambria Math" panose="02040503050406030204" charset="0"/>
                                        </a:rPr>
                                        <m:t>3</m:t>
                                      </m:r>
                                    </m:sub>
                                  </m:sSub>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𝛽</m:t>
                                  </m:r>
                                  <m:r>
                                    <a:rPr lang="en-US" altLang="zh-CN" sz="1600" i="1">
                                      <a:latin typeface="Cambria Math" panose="02040503050406030204" charset="0"/>
                                      <a:cs typeface="Cambria Math" panose="02040503050406030204" charset="0"/>
                                    </a:rPr>
                                    <m:t>))</m:t>
                                  </m:r>
                                </m:e>
                              </m:nary>
                            </m:e>
                          </m:nary>
                        </m:e>
                      </m:nary>
                    </m:oMath>
                  </m:oMathPara>
                </a14:m>
                <a:endParaRPr lang="en-US" altLang="zh-CN" sz="1600" i="1">
                  <a:latin typeface="Cambria Math" panose="02040503050406030204" charset="0"/>
                  <a:cs typeface="Cambria Math" panose="02040503050406030204" charset="0"/>
                </a:endParaRPr>
              </a:p>
            </p:txBody>
          </p:sp>
        </mc:Choice>
        <mc:Fallback>
          <p:sp>
            <p:nvSpPr>
              <p:cNvPr id="22" name="文本框 21"/>
              <p:cNvSpPr txBox="1">
                <a:spLocks noRot="1" noChangeAspect="1" noMove="1" noResize="1" noEditPoints="1" noAdjustHandles="1" noChangeArrowheads="1" noChangeShapeType="1" noTextEdit="1"/>
              </p:cNvSpPr>
              <p:nvPr/>
            </p:nvSpPr>
            <p:spPr>
              <a:xfrm>
                <a:off x="586740" y="5196840"/>
                <a:ext cx="9542780" cy="1037590"/>
              </a:xfrm>
              <a:prstGeom prst="rect">
                <a:avLst/>
              </a:prstGeom>
              <a:blipFill rotWithShape="1">
                <a:blip r:embed="rId9"/>
                <a:stretch>
                  <a:fillRect/>
                </a:stretch>
              </a:blipFill>
            </p:spPr>
            <p:txBody>
              <a:bodyPr/>
              <a:lstStyle/>
              <a:p>
                <a:r>
                  <a:rPr lang="zh-CN" altLang="en-US">
                    <a:noFill/>
                  </a:rPr>
                  <a:t> </a:t>
                </a:r>
              </a:p>
            </p:txBody>
          </p:sp>
        </mc:Fallback>
      </mc:AlternateContent>
      <p:sp>
        <p:nvSpPr>
          <p:cNvPr id="24" name="左箭头 23"/>
          <p:cNvSpPr/>
          <p:nvPr/>
        </p:nvSpPr>
        <p:spPr>
          <a:xfrm>
            <a:off x="5046980" y="2144395"/>
            <a:ext cx="1115060" cy="523875"/>
          </a:xfrm>
          <a:prstGeom prst="leftArrow">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文本框 24"/>
          <p:cNvSpPr txBox="1"/>
          <p:nvPr/>
        </p:nvSpPr>
        <p:spPr>
          <a:xfrm>
            <a:off x="5139055" y="1831975"/>
            <a:ext cx="1153160" cy="368300"/>
          </a:xfrm>
          <a:prstGeom prst="rect">
            <a:avLst/>
          </a:prstGeom>
          <a:noFill/>
        </p:spPr>
        <p:txBody>
          <a:bodyPr wrap="square" rtlCol="0">
            <a:spAutoFit/>
          </a:bodyPr>
          <a:p>
            <a:r>
              <a:rPr lang="zh-CN" altLang="en-US"/>
              <a:t>条件</a:t>
            </a:r>
            <a:r>
              <a:rPr lang="zh-CN" altLang="en-US"/>
              <a:t>重写</a:t>
            </a:r>
            <a:endParaRPr lang="zh-CN" altLang="en-US"/>
          </a:p>
        </p:txBody>
      </p:sp>
      <p:grpSp>
        <p:nvGrpSpPr>
          <p:cNvPr id="28" name="组合 27"/>
          <p:cNvGrpSpPr/>
          <p:nvPr/>
        </p:nvGrpSpPr>
        <p:grpSpPr>
          <a:xfrm>
            <a:off x="6121400" y="3621405"/>
            <a:ext cx="1938655" cy="394335"/>
            <a:chOff x="2658" y="5166"/>
            <a:chExt cx="2774" cy="621"/>
          </a:xfrm>
        </p:grpSpPr>
        <p:sp>
          <p:nvSpPr>
            <p:cNvPr id="27" name="圆角矩形 26"/>
            <p:cNvSpPr/>
            <p:nvPr/>
          </p:nvSpPr>
          <p:spPr>
            <a:xfrm>
              <a:off x="2658" y="5166"/>
              <a:ext cx="2774" cy="621"/>
            </a:xfrm>
            <a:prstGeom prst="roundRect">
              <a:avLst/>
            </a:prstGeom>
            <a:noFill/>
            <a:ln>
              <a:solidFill>
                <a:srgbClr val="FF0000"/>
              </a:solidFill>
            </a:ln>
            <a:extLst>
              <a:ext uri="{909E8E84-426E-40DD-AFC4-6F175D3DCCD1}">
                <a14:hiddenFill xmlns:a14="http://schemas.microsoft.com/office/drawing/2010/main">
                  <a:solidFill>
                    <a:srgbClr val="FF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26" name="文本框 25"/>
                <p:cNvSpPr txBox="1"/>
                <p:nvPr/>
              </p:nvSpPr>
              <p:spPr>
                <a:xfrm>
                  <a:off x="2698" y="5209"/>
                  <a:ext cx="2578" cy="576"/>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
                          <m:sSubPr>
                            <m:ctrlPr>
                              <a:rPr lang="en-US" altLang="zh-CN" i="1">
                                <a:solidFill>
                                  <a:srgbClr val="FF0000"/>
                                </a:solidFill>
                                <a:latin typeface="Cambria Math" panose="02040503050406030204" charset="0"/>
                                <a:cs typeface="Cambria Math" panose="02040503050406030204" charset="0"/>
                              </a:rPr>
                            </m:ctrlPr>
                          </m:sSubPr>
                          <m:e>
                            <m:r>
                              <a:rPr lang="en-US" altLang="zh-CN" i="1">
                                <a:solidFill>
                                  <a:srgbClr val="FF0000"/>
                                </a:solidFill>
                                <a:latin typeface="Cambria Math" panose="02040503050406030204" charset="0"/>
                                <a:cs typeface="Cambria Math" panose="02040503050406030204" charset="0"/>
                              </a:rPr>
                              <m:t>𝑃𝑊𝐴𝑁𝑁</m:t>
                            </m:r>
                            <m:r>
                              <a:rPr lang="en-US" altLang="zh-CN" i="1">
                                <a:solidFill>
                                  <a:srgbClr val="FF0000"/>
                                </a:solidFill>
                                <a:latin typeface="Cambria Math" panose="02040503050406030204" charset="0"/>
                                <a:cs typeface="Cambria Math" panose="02040503050406030204" charset="0"/>
                              </a:rPr>
                              <m:t>:</m:t>
                            </m:r>
                            <m:r>
                              <a:rPr lang="en-US" altLang="zh-CN" i="1">
                                <a:solidFill>
                                  <a:srgbClr val="FF0000"/>
                                </a:solidFill>
                                <a:latin typeface="Cambria Math" panose="02040503050406030204" charset="0"/>
                                <a:cs typeface="Cambria Math" panose="02040503050406030204" charset="0"/>
                              </a:rPr>
                              <m:t>ℎ</m:t>
                            </m:r>
                          </m:e>
                          <m:sub>
                            <m:sSub>
                              <m:sSubPr>
                                <m:ctrlPr>
                                  <a:rPr lang="en-US" altLang="zh-CN" i="1">
                                    <a:solidFill>
                                      <a:srgbClr val="FF0000"/>
                                    </a:solidFill>
                                    <a:latin typeface="Cambria Math" panose="02040503050406030204" charset="0"/>
                                    <a:cs typeface="Cambria Math" panose="02040503050406030204" charset="0"/>
                                  </a:rPr>
                                </m:ctrlPr>
                              </m:sSubPr>
                              <m:e>
                                <m:r>
                                  <a:rPr lang="en-US" altLang="zh-CN" i="1">
                                    <a:solidFill>
                                      <a:srgbClr val="FF0000"/>
                                    </a:solidFill>
                                    <a:latin typeface="Cambria Math" panose="02040503050406030204" charset="0"/>
                                    <a:cs typeface="Cambria Math" panose="02040503050406030204" charset="0"/>
                                  </a:rPr>
                                  <m:t>𝑤</m:t>
                                </m:r>
                              </m:e>
                              <m:sub>
                                <m:r>
                                  <a:rPr lang="en-US" altLang="zh-CN" i="1">
                                    <a:solidFill>
                                      <a:srgbClr val="FF0000"/>
                                    </a:solidFill>
                                    <a:latin typeface="Cambria Math" panose="02040503050406030204" charset="0"/>
                                    <a:cs typeface="Cambria Math" panose="02040503050406030204" charset="0"/>
                                  </a:rPr>
                                  <m:t>𝑖</m:t>
                                </m:r>
                              </m:sub>
                            </m:sSub>
                            <m:r>
                              <a:rPr lang="en-US" altLang="zh-CN" i="1">
                                <a:solidFill>
                                  <a:srgbClr val="FF0000"/>
                                </a:solidFill>
                                <a:latin typeface="Cambria Math" panose="02040503050406030204" charset="0"/>
                                <a:cs typeface="Cambria Math" panose="02040503050406030204" charset="0"/>
                              </a:rPr>
                              <m:t>,</m:t>
                            </m:r>
                            <m:sSub>
                              <m:sSubPr>
                                <m:ctrlPr>
                                  <a:rPr lang="en-US" altLang="zh-CN" i="1">
                                    <a:solidFill>
                                      <a:srgbClr val="FF0000"/>
                                    </a:solidFill>
                                    <a:latin typeface="Cambria Math" panose="02040503050406030204" charset="0"/>
                                    <a:cs typeface="Cambria Math" panose="02040503050406030204" charset="0"/>
                                  </a:rPr>
                                </m:ctrlPr>
                              </m:sSubPr>
                              <m:e>
                                <m:r>
                                  <a:rPr lang="en-US" altLang="zh-CN" i="1">
                                    <a:solidFill>
                                      <a:srgbClr val="FF0000"/>
                                    </a:solidFill>
                                    <a:latin typeface="Cambria Math" panose="02040503050406030204" charset="0"/>
                                    <a:cs typeface="Cambria Math" panose="02040503050406030204" charset="0"/>
                                  </a:rPr>
                                  <m:t>𝑏</m:t>
                                </m:r>
                              </m:e>
                              <m:sub>
                                <m:r>
                                  <a:rPr lang="en-US" altLang="zh-CN" i="1">
                                    <a:solidFill>
                                      <a:srgbClr val="FF0000"/>
                                    </a:solidFill>
                                    <a:latin typeface="Cambria Math" panose="02040503050406030204" charset="0"/>
                                    <a:cs typeface="Cambria Math" panose="02040503050406030204" charset="0"/>
                                  </a:rPr>
                                  <m:t>𝑖</m:t>
                                </m:r>
                              </m:sub>
                            </m:sSub>
                          </m:sub>
                        </m:sSub>
                        <m:r>
                          <a:rPr lang="en-US" altLang="zh-CN" i="1">
                            <a:solidFill>
                              <a:srgbClr val="FF0000"/>
                            </a:solidFill>
                            <a:latin typeface="Cambria Math" panose="02040503050406030204" charset="0"/>
                            <a:cs typeface="Cambria Math" panose="02040503050406030204" charset="0"/>
                          </a:rPr>
                          <m:t>(</m:t>
                        </m:r>
                        <m:r>
                          <a:rPr lang="en-US" altLang="zh-CN" i="1">
                            <a:solidFill>
                              <a:srgbClr val="FF0000"/>
                            </a:solidFill>
                            <a:latin typeface="Cambria Math" panose="02040503050406030204" charset="0"/>
                            <a:cs typeface="Cambria Math" panose="02040503050406030204" charset="0"/>
                          </a:rPr>
                          <m:t>𝑥</m:t>
                        </m:r>
                        <m:r>
                          <a:rPr lang="en-US" altLang="zh-CN" i="1">
                            <a:solidFill>
                              <a:srgbClr val="FF0000"/>
                            </a:solidFill>
                            <a:latin typeface="Cambria Math" panose="02040503050406030204" charset="0"/>
                            <a:ea typeface="MS Mincho" charset="0"/>
                            <a:cs typeface="Cambria Math" panose="02040503050406030204" charset="0"/>
                          </a:rPr>
                          <m:t>)</m:t>
                        </m:r>
                      </m:oMath>
                    </m:oMathPara>
                  </a14:m>
                  <a:endParaRPr lang="en-US" altLang="zh-CN" i="1">
                    <a:solidFill>
                      <a:srgbClr val="FF0000"/>
                    </a:solidFill>
                    <a:latin typeface="Cambria Math" panose="02040503050406030204" charset="0"/>
                    <a:ea typeface="MS Mincho" charset="0"/>
                    <a:cs typeface="Cambria Math" panose="02040503050406030204" charset="0"/>
                  </a:endParaRPr>
                </a:p>
              </p:txBody>
            </p:sp>
          </mc:Choice>
          <mc:Fallback>
            <p:sp>
              <p:nvSpPr>
                <p:cNvPr id="26" name="文本框 25"/>
                <p:cNvSpPr txBox="1">
                  <a:spLocks noRot="1" noChangeAspect="1" noMove="1" noResize="1" noEditPoints="1" noAdjustHandles="1" noChangeArrowheads="1" noChangeShapeType="1" noTextEdit="1"/>
                </p:cNvSpPr>
                <p:nvPr/>
              </p:nvSpPr>
              <p:spPr>
                <a:xfrm>
                  <a:off x="2698" y="5209"/>
                  <a:ext cx="2578" cy="576"/>
                </a:xfrm>
                <a:prstGeom prst="rect">
                  <a:avLst/>
                </a:prstGeom>
                <a:blipFill rotWithShape="1">
                  <a:blip r:embed="rId10"/>
                </a:blipFill>
              </p:spPr>
              <p:txBody>
                <a:bodyPr/>
                <a:lstStyle/>
                <a:p>
                  <a:r>
                    <a:rPr lang="zh-CN" altLang="en-US">
                      <a:noFill/>
                    </a:rPr>
                    <a:t> </a:t>
                  </a:r>
                </a:p>
              </p:txBody>
            </p:sp>
          </mc:Fallback>
        </mc:AlternateContent>
      </p:grpSp>
      <p:sp>
        <p:nvSpPr>
          <p:cNvPr id="34" name="左箭头标注 33"/>
          <p:cNvSpPr/>
          <p:nvPr/>
        </p:nvSpPr>
        <p:spPr>
          <a:xfrm>
            <a:off x="9730740" y="3586480"/>
            <a:ext cx="2225040" cy="708660"/>
          </a:xfrm>
          <a:prstGeom prst="leftArrowCallou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r>
              <a:rPr lang="zh-CN" altLang="en-US"/>
              <a:t>罚函数</a:t>
            </a:r>
            <a:r>
              <a:rPr lang="zh-CN" altLang="en-US"/>
              <a:t>法</a:t>
            </a:r>
            <a:endParaRPr lang="zh-CN" altLang="en-US"/>
          </a:p>
        </p:txBody>
      </p:sp>
      <p:sp>
        <p:nvSpPr>
          <p:cNvPr id="35" name="左箭头标注 34"/>
          <p:cNvSpPr/>
          <p:nvPr/>
        </p:nvSpPr>
        <p:spPr>
          <a:xfrm>
            <a:off x="9730740" y="4505960"/>
            <a:ext cx="2225040" cy="708660"/>
          </a:xfrm>
          <a:prstGeom prst="leftArrowCallout">
            <a:avLst/>
          </a:prstGeom>
          <a:ln>
            <a:solidFill>
              <a:schemeClr val="tx1"/>
            </a:soli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800">
                <a:sym typeface="+mn-ea"/>
              </a:rPr>
              <a:t>局部</a:t>
            </a:r>
            <a:r>
              <a:rPr lang="zh-CN" altLang="en-US" sz="1800">
                <a:sym typeface="+mn-ea"/>
              </a:rPr>
              <a:t>线性</a:t>
            </a:r>
            <a:endParaRPr lang="zh-CN" altLang="en-US" sz="1800">
              <a:sym typeface="+mn-ea"/>
            </a:endParaRPr>
          </a:p>
        </p:txBody>
      </p:sp>
      <p:sp>
        <p:nvSpPr>
          <p:cNvPr id="36" name="左箭头标注 35"/>
          <p:cNvSpPr/>
          <p:nvPr/>
        </p:nvSpPr>
        <p:spPr>
          <a:xfrm>
            <a:off x="9730740" y="5516880"/>
            <a:ext cx="2225040" cy="708660"/>
          </a:xfrm>
          <a:prstGeom prst="leftArrowCallout">
            <a:avLst/>
          </a:prstGeom>
          <a:ln>
            <a:solidFill>
              <a:schemeClr val="tx1"/>
            </a:soli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800">
                <a:sym typeface="+mn-ea"/>
              </a:rPr>
              <a:t>去冗余</a:t>
            </a:r>
            <a:r>
              <a:rPr lang="zh-CN" altLang="en-US" sz="1800">
                <a:sym typeface="+mn-ea"/>
              </a:rPr>
              <a:t>点</a:t>
            </a:r>
            <a:endParaRPr lang="zh-CN" altLang="en-US" sz="1800">
              <a:sym typeface="+mn-ea"/>
            </a:endParaRPr>
          </a:p>
        </p:txBody>
      </p:sp>
      <p:sp>
        <p:nvSpPr>
          <p:cNvPr id="37" name="文本框 36"/>
          <p:cNvSpPr txBox="1"/>
          <p:nvPr/>
        </p:nvSpPr>
        <p:spPr>
          <a:xfrm>
            <a:off x="8411845" y="3776980"/>
            <a:ext cx="1287145" cy="368300"/>
          </a:xfrm>
          <a:prstGeom prst="rect">
            <a:avLst/>
          </a:prstGeom>
          <a:ln>
            <a:noFill/>
            <a:prstDash val="solid"/>
          </a:ln>
        </p:spPr>
        <p:style>
          <a:lnRef idx="3">
            <a:schemeClr val="accent1"/>
          </a:lnRef>
          <a:fillRef idx="0">
            <a:srgbClr val="FFFFFF"/>
          </a:fillRef>
          <a:effectRef idx="0">
            <a:srgbClr val="FFFFFF"/>
          </a:effectRef>
          <a:fontRef idx="minor">
            <a:schemeClr val="tx1"/>
          </a:fontRef>
        </p:style>
        <p:txBody>
          <a:bodyPr wrap="square" rtlCol="0">
            <a:spAutoFit/>
          </a:bodyPr>
          <a:p>
            <a:pPr algn="l">
              <a:buClrTx/>
              <a:buSzTx/>
              <a:buFontTx/>
            </a:pPr>
            <a:r>
              <a:rPr lang="zh-CN" altLang="en-US" sz="1800"/>
              <a:t>Loss主体</a:t>
            </a:r>
            <a:endParaRPr lang="zh-CN" altLang="en-US" sz="1800"/>
          </a:p>
        </p:txBody>
      </p:sp>
      <p:sp>
        <p:nvSpPr>
          <p:cNvPr id="39" name="左大括号 38"/>
          <p:cNvSpPr/>
          <p:nvPr/>
        </p:nvSpPr>
        <p:spPr>
          <a:xfrm>
            <a:off x="9429750" y="4859020"/>
            <a:ext cx="228600" cy="1021080"/>
          </a:xfrm>
          <a:prstGeom prst="leftBrace">
            <a:avLst/>
          </a:prstGeom>
          <a:ln w="19050" cap="rnd">
            <a:solidFill>
              <a:schemeClr val="tx1"/>
            </a:solidFill>
            <a:round/>
          </a:ln>
        </p:spPr>
        <p:style>
          <a:lnRef idx="0">
            <a:srgbClr val="FFFFFF"/>
          </a:lnRef>
          <a:fillRef idx="0">
            <a:srgbClr val="FFFFFF"/>
          </a:fillRef>
          <a:effectRef idx="0">
            <a:srgbClr val="FFFFFF"/>
          </a:effectRef>
          <a:fontRef idx="minor">
            <a:schemeClr val="tx1"/>
          </a:fontRef>
        </p:style>
        <p:txBody>
          <a:bodyPr rtlCol="0" anchor="ctr"/>
          <a:p>
            <a:pPr algn="ctr"/>
            <a:endParaRPr lang="zh-CN" altLang="en-US"/>
          </a:p>
        </p:txBody>
      </p:sp>
      <p:grpSp>
        <p:nvGrpSpPr>
          <p:cNvPr id="42" name="组合 41"/>
          <p:cNvGrpSpPr/>
          <p:nvPr/>
        </p:nvGrpSpPr>
        <p:grpSpPr>
          <a:xfrm>
            <a:off x="7657465" y="5144770"/>
            <a:ext cx="1964690" cy="449580"/>
            <a:chOff x="12059" y="8164"/>
            <a:chExt cx="3094" cy="708"/>
          </a:xfrm>
        </p:grpSpPr>
        <p:sp>
          <p:nvSpPr>
            <p:cNvPr id="38" name="文本框 37"/>
            <p:cNvSpPr txBox="1"/>
            <p:nvPr/>
          </p:nvSpPr>
          <p:spPr>
            <a:xfrm>
              <a:off x="12059" y="8228"/>
              <a:ext cx="3095" cy="580"/>
            </a:xfrm>
            <a:prstGeom prst="rect">
              <a:avLst/>
            </a:prstGeom>
            <a:noFill/>
          </p:spPr>
          <p:txBody>
            <a:bodyPr wrap="square" rtlCol="0">
              <a:spAutoFit/>
            </a:bodyPr>
            <a:p>
              <a:r>
                <a:rPr lang="zh-CN" altLang="en-US"/>
                <a:t>上确界条件</a:t>
              </a:r>
              <a:r>
                <a:rPr lang="zh-CN" altLang="en-US"/>
                <a:t>简化</a:t>
              </a:r>
              <a:endParaRPr lang="zh-CN" altLang="en-US"/>
            </a:p>
          </p:txBody>
        </p:sp>
        <p:sp>
          <p:nvSpPr>
            <p:cNvPr id="41" name="圆角矩形 40"/>
            <p:cNvSpPr/>
            <p:nvPr/>
          </p:nvSpPr>
          <p:spPr>
            <a:xfrm>
              <a:off x="12101" y="8164"/>
              <a:ext cx="2698" cy="708"/>
            </a:xfrm>
            <a:prstGeom prst="roundRect">
              <a:avLst/>
            </a:prstGeom>
            <a:solidFill>
              <a:schemeClr val="tx1">
                <a:alpha val="17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6" name="左箭头 5"/>
          <p:cNvSpPr/>
          <p:nvPr/>
        </p:nvSpPr>
        <p:spPr>
          <a:xfrm rot="16200000">
            <a:off x="2303780" y="3195955"/>
            <a:ext cx="796925" cy="440055"/>
          </a:xfrm>
          <a:prstGeom prst="leftArrow">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左大括号 13"/>
          <p:cNvSpPr/>
          <p:nvPr/>
        </p:nvSpPr>
        <p:spPr>
          <a:xfrm>
            <a:off x="419735" y="3914140"/>
            <a:ext cx="307975" cy="2134235"/>
          </a:xfrm>
          <a:prstGeom prst="leftBrace">
            <a:avLst/>
          </a:prstGeom>
          <a:ln w="19050">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15" name="文本框 14"/>
              <p:cNvSpPr txBox="1"/>
              <p:nvPr/>
            </p:nvSpPr>
            <p:spPr>
              <a:xfrm>
                <a:off x="96520" y="3570605"/>
                <a:ext cx="831215" cy="368300"/>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𝐿𝑜𝑠𝑠</m:t>
                          </m:r>
                        </m:e>
                        <m:sub>
                          <m:r>
                            <a:rPr lang="en-US" altLang="zh-CN" i="1">
                              <a:latin typeface="Cambria Math" panose="02040503050406030204" charset="0"/>
                              <a:cs typeface="Cambria Math" panose="02040503050406030204" charset="0"/>
                            </a:rPr>
                            <m:t>𝑎𝑙𝑙</m:t>
                          </m:r>
                        </m:sub>
                      </m:sSub>
                    </m:oMath>
                  </m:oMathPara>
                </a14:m>
                <a:endParaRPr lang="en-US" altLang="zh-CN"/>
              </a:p>
            </p:txBody>
          </p:sp>
        </mc:Choice>
        <mc:Fallback>
          <p:sp>
            <p:nvSpPr>
              <p:cNvPr id="15" name="文本框 14"/>
              <p:cNvSpPr txBox="1">
                <a:spLocks noRot="1" noChangeAspect="1" noMove="1" noResize="1" noEditPoints="1" noAdjustHandles="1" noChangeArrowheads="1" noChangeShapeType="1" noTextEdit="1"/>
              </p:cNvSpPr>
              <p:nvPr/>
            </p:nvSpPr>
            <p:spPr>
              <a:xfrm>
                <a:off x="96520" y="3570605"/>
                <a:ext cx="831215" cy="368300"/>
              </a:xfrm>
              <a:prstGeom prst="rect">
                <a:avLst/>
              </a:prstGeom>
              <a:blipFill rotWithShape="1">
                <a:blip r:embed="rId11"/>
                <a:stretch>
                  <a:fillRect/>
                </a:stretch>
              </a:blipFill>
            </p:spPr>
            <p:txBody>
              <a:bodyPr/>
              <a:lstStyle/>
              <a:p>
                <a:r>
                  <a:rPr lang="zh-CN" altLang="en-US">
                    <a:noFill/>
                  </a:rPr>
                  <a:t> </a:t>
                </a:r>
              </a:p>
            </p:txBody>
          </p:sp>
        </mc:Fallback>
      </mc:AlternateContent>
      <p:cxnSp>
        <p:nvCxnSpPr>
          <p:cNvPr id="23" name="曲线连接符 22"/>
          <p:cNvCxnSpPr/>
          <p:nvPr/>
        </p:nvCxnSpPr>
        <p:spPr>
          <a:xfrm rot="5400000" flipV="1">
            <a:off x="-221615" y="4375150"/>
            <a:ext cx="998220" cy="130175"/>
          </a:xfrm>
          <a:prstGeom prst="curvedConnector2">
            <a:avLst/>
          </a:prstGeom>
          <a:ln w="19050">
            <a:solidFill>
              <a:schemeClr val="tx1"/>
            </a:solidFill>
            <a:tailEnd type="triangle"/>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a:xfrm>
            <a:off x="831850" y="5901055"/>
            <a:ext cx="10515600" cy="356235"/>
          </a:xfrm>
        </p:spPr>
        <p:txBody>
          <a:bodyPr/>
          <a:p>
            <a:r>
              <a:rPr lang="zh-CN" altLang="en-US"/>
              <a:t>充分条件</a:t>
            </a:r>
            <a:r>
              <a:rPr lang="en-US" altLang="zh-CN"/>
              <a:t>2</a:t>
            </a:r>
            <a:r>
              <a:rPr lang="zh-CN" altLang="en-US"/>
              <a:t>通过去冗余程度调整训练时间，且理论上可以</a:t>
            </a:r>
            <a:r>
              <a:rPr lang="zh-CN" altLang="en-US"/>
              <a:t>通过降低去冗余</a:t>
            </a:r>
            <a:r>
              <a:rPr lang="zh-CN" altLang="en-US"/>
              <a:t>程度逼近充要条件。</a:t>
            </a:r>
            <a:endParaRPr lang="en-US" altLang="zh-CN"/>
          </a:p>
        </p:txBody>
      </p:sp>
      <p:sp>
        <p:nvSpPr>
          <p:cNvPr id="3" name="文本占位符 2"/>
          <p:cNvSpPr>
            <a:spLocks noGrp="1"/>
          </p:cNvSpPr>
          <p:nvPr>
            <p:ph type="body" idx="13"/>
          </p:nvPr>
        </p:nvSpPr>
        <p:spPr>
          <a:xfrm>
            <a:off x="0" y="670560"/>
            <a:ext cx="8309610" cy="448310"/>
          </a:xfrm>
        </p:spPr>
        <p:txBody>
          <a:bodyPr/>
          <a:p>
            <a:r>
              <a:rPr lang="en-US" altLang="zh-CN">
                <a:sym typeface="+mn-ea"/>
              </a:rPr>
              <a:t>&gt;&gt;&gt;</a:t>
            </a:r>
            <a:r>
              <a:rPr lang="en-US" altLang="zh-CN">
                <a:sym typeface="+mn-ea"/>
              </a:rPr>
              <a:t>CBF</a:t>
            </a:r>
            <a:r>
              <a:rPr>
                <a:sym typeface="+mn-ea"/>
              </a:rPr>
              <a:t>上确界条件的三种损失函数构造对比</a:t>
            </a:r>
            <a:endParaRPr>
              <a:sym typeface="+mn-ea"/>
            </a:endParaRPr>
          </a:p>
          <a:p>
            <a:endParaRPr lang="zh-CN" altLang="en-US"/>
          </a:p>
        </p:txBody>
      </p:sp>
      <p:sp>
        <p:nvSpPr>
          <p:cNvPr id="4" name="文本占位符 3"/>
          <p:cNvSpPr>
            <a:spLocks noGrp="1"/>
          </p:cNvSpPr>
          <p:nvPr>
            <p:ph type="body" idx="14"/>
          </p:nvPr>
        </p:nvSpPr>
        <p:spPr>
          <a:xfrm>
            <a:off x="805180" y="111760"/>
            <a:ext cx="8698865" cy="448310"/>
          </a:xfrm>
        </p:spPr>
        <p:txBody>
          <a:bodyPr/>
          <a:p>
            <a:r>
              <a:rPr>
                <a:sym typeface="+mn-ea"/>
              </a:rPr>
              <a:t>基于学习的分片仿射控制障碍网络</a:t>
            </a:r>
            <a:r>
              <a:rPr lang="en-US" altLang="zh-CN">
                <a:sym typeface="+mn-ea"/>
              </a:rPr>
              <a:t>(2.2)</a:t>
            </a:r>
            <a:endParaRPr lang="zh-CN" altLang="en-US"/>
          </a:p>
          <a:p>
            <a:endParaRPr lang="zh-CN" altLang="en-US"/>
          </a:p>
        </p:txBody>
      </p:sp>
      <mc:AlternateContent xmlns:mc="http://schemas.openxmlformats.org/markup-compatibility/2006">
        <mc:Choice xmlns:a14="http://schemas.microsoft.com/office/drawing/2010/main" Requires="a14">
          <p:sp>
            <p:nvSpPr>
              <p:cNvPr id="5" name="文本框 4"/>
              <p:cNvSpPr txBox="1"/>
              <p:nvPr/>
            </p:nvSpPr>
            <p:spPr>
              <a:xfrm>
                <a:off x="2494915" y="1283335"/>
                <a:ext cx="6096000" cy="511175"/>
              </a:xfrm>
              <a:prstGeom prst="rect">
                <a:avLst/>
              </a:prstGeom>
              <a:noFill/>
            </p:spPr>
            <p:txBody>
              <a:bodyPr wrap="square" rtlCol="0" anchor="t">
                <a:spAutoFit/>
              </a:bodyPr>
              <a:p>
                <a14:m>
                  <m:oMathPara xmlns:m="http://schemas.openxmlformats.org/officeDocument/2006/math">
                    <m:oMathParaPr>
                      <m:jc m:val="center"/>
                    </m:oMathParaPr>
                    <m:oMath xmlns:m="http://schemas.openxmlformats.org/officeDocument/2006/math">
                      <m:func>
                        <m:funcPr>
                          <m:ctrlPr>
                            <a:rPr lang="en-US" altLang="zh-CN" i="1">
                              <a:latin typeface="Cambria Math" panose="02040503050406030204" charset="0"/>
                              <a:cs typeface="Cambria Math" panose="02040503050406030204" charset="0"/>
                            </a:rPr>
                          </m:ctrlPr>
                        </m:funcPr>
                        <m:fName>
                          <m:limLow>
                            <m:limLowPr>
                              <m:ctrlPr>
                                <a:rPr lang="en-US" altLang="zh-CN">
                                  <a:latin typeface="Cambria Math" panose="02040503050406030204" charset="0"/>
                                  <a:cs typeface="Cambria Math" panose="02040503050406030204" charset="0"/>
                                </a:rPr>
                              </m:ctrlPr>
                            </m:limLowPr>
                            <m:e>
                              <m:r>
                                <m:rPr>
                                  <m:sty m:val="p"/>
                                </m:rPr>
                                <a:rPr lang="en-US" altLang="zh-CN">
                                  <a:latin typeface="Cambria Math" panose="02040503050406030204" charset="0"/>
                                  <a:cs typeface="Cambria Math" panose="02040503050406030204" charset="0"/>
                                </a:rPr>
                                <m:t>sup</m:t>
                              </m:r>
                            </m:e>
                            <m:lim>
                              <m:r>
                                <a:rPr lang="en-US" altLang="zh-CN" i="1">
                                  <a:latin typeface="Cambria Math" panose="02040503050406030204" charset="0"/>
                                  <a:cs typeface="Cambria Math" panose="02040503050406030204" charset="0"/>
                                </a:rPr>
                                <m:t>𝑢</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𝑈</m:t>
                              </m:r>
                            </m:lim>
                          </m:limLow>
                        </m:fName>
                        <m:e>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𝐴𝑥</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sup>
                          </m:s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𝐵𝑢</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𝛾</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𝑥</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sup>
                          </m:sSup>
                          <m:r>
                            <a:rPr lang="en-US" altLang="zh-CN" i="1">
                              <a:latin typeface="Cambria Math" panose="02040503050406030204" charset="0"/>
                              <a:cs typeface="Cambria Math" panose="02040503050406030204" charset="0"/>
                            </a:rPr>
                            <m:t>),</m:t>
                          </m:r>
                        </m:e>
                      </m:func>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𝑥</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sup>
                      </m:sSup>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𝑋</m:t>
                          </m:r>
                        </m:e>
                        <m:sub>
                          <m:r>
                            <a:rPr lang="en-US" altLang="zh-CN" i="1">
                              <a:latin typeface="Cambria Math" panose="02040503050406030204" charset="0"/>
                              <a:cs typeface="Cambria Math" panose="02040503050406030204" charset="0"/>
                            </a:rPr>
                            <m:t>𝑠𝑎𝑓𝑒</m:t>
                          </m:r>
                        </m:sub>
                      </m:sSub>
                    </m:oMath>
                  </m:oMathPara>
                </a14:m>
                <a:endParaRPr lang="en-US" altLang="zh-CN" i="1">
                  <a:latin typeface="Cambria Math" panose="02040503050406030204" charset="0"/>
                  <a:cs typeface="Cambria Math" panose="02040503050406030204"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2494915" y="1283335"/>
                <a:ext cx="6096000" cy="511175"/>
              </a:xfrm>
              <a:prstGeom prst="rect">
                <a:avLst/>
              </a:prstGeom>
              <a:blipFill rotWithShape="1">
                <a:blip r:embed="rId1"/>
                <a:stretch>
                  <a:fillRect/>
                </a:stretch>
              </a:blipFill>
            </p:spPr>
            <p:txBody>
              <a:bodyPr/>
              <a:lstStyle/>
              <a:p>
                <a:r>
                  <a:rPr lang="zh-CN" altLang="en-US">
                    <a:noFill/>
                  </a:rPr>
                  <a:t> </a:t>
                </a:r>
              </a:p>
            </p:txBody>
          </p:sp>
        </mc:Fallback>
      </mc:AlternateContent>
      <p:sp>
        <p:nvSpPr>
          <p:cNvPr id="6" name="文本框 5"/>
          <p:cNvSpPr txBox="1"/>
          <p:nvPr/>
        </p:nvSpPr>
        <p:spPr>
          <a:xfrm>
            <a:off x="1650365" y="1282065"/>
            <a:ext cx="4064000" cy="368300"/>
          </a:xfrm>
          <a:prstGeom prst="rect">
            <a:avLst/>
          </a:prstGeom>
          <a:noFill/>
        </p:spPr>
        <p:txBody>
          <a:bodyPr wrap="square" rtlCol="0">
            <a:spAutoFit/>
          </a:bodyPr>
          <a:p>
            <a:r>
              <a:rPr lang="zh-CN" altLang="en-US"/>
              <a:t>上确界</a:t>
            </a:r>
            <a:r>
              <a:rPr lang="zh-CN" altLang="en-US"/>
              <a:t>条件：</a:t>
            </a:r>
            <a:endParaRPr lang="zh-CN" altLang="en-US"/>
          </a:p>
        </p:txBody>
      </p:sp>
      <mc:AlternateContent xmlns:mc="http://schemas.openxmlformats.org/markup-compatibility/2006" xmlns:a14="http://schemas.microsoft.com/office/drawing/2010/main">
        <mc:Choice Requires="a14">
          <p:graphicFrame>
            <p:nvGraphicFramePr>
              <p:cNvPr id="7" name="表格 6"/>
              <p:cNvGraphicFramePr/>
              <p:nvPr/>
            </p:nvGraphicFramePr>
            <p:xfrm>
              <a:off x="680720" y="2452370"/>
              <a:ext cx="11293675" cy="3108960"/>
            </p:xfrm>
            <a:graphic>
              <a:graphicData uri="http://schemas.openxmlformats.org/drawingml/2006/table">
                <a:tbl>
                  <a:tblPr firstRow="1" bandRow="1">
                    <a:tableStyleId>{5C22544A-7EE6-4342-B048-85BDC9FD1C3A}</a:tableStyleId>
                  </a:tblPr>
                  <a:tblGrid>
                    <a:gridCol w="1303020"/>
                    <a:gridCol w="2743835"/>
                    <a:gridCol w="4414085"/>
                    <a:gridCol w="2832735"/>
                  </a:tblGrid>
                  <a:tr h="338455">
                    <a:tc>
                      <a:txBody>
                        <a:bodyPr/>
                        <a:p>
                          <a:pPr algn="ctr">
                            <a:buNone/>
                          </a:pPr>
                          <a:r>
                            <a:rPr lang="zh-CN" altLang="en-US"/>
                            <a:t>方法</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75000"/>
                          </a:schemeClr>
                        </a:solidFill>
                      </a:tcPr>
                    </a:tc>
                    <a:tc>
                      <a:txBody>
                        <a:bodyPr/>
                        <a:p>
                          <a:pPr algn="ctr">
                            <a:buNone/>
                          </a:pPr>
                          <a:r>
                            <a:rPr lang="zh-CN" altLang="en-US"/>
                            <a:t>思路</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chemeClr val="bg1">
                            <a:lumMod val="75000"/>
                          </a:schemeClr>
                        </a:solidFill>
                      </a:tcPr>
                    </a:tc>
                    <a:tc>
                      <a:txBody>
                        <a:bodyPr/>
                        <a:p>
                          <a:pPr algn="ctr">
                            <a:buNone/>
                          </a:pPr>
                          <a:r>
                            <a:rPr lang="zh-CN" altLang="en-US"/>
                            <a:t>损失函数</a:t>
                          </a:r>
                          <a:r>
                            <a:rPr lang="zh-CN" altLang="en-US"/>
                            <a:t>表达式</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chemeClr val="bg1">
                            <a:lumMod val="75000"/>
                          </a:schemeClr>
                        </a:solidFill>
                      </a:tcPr>
                    </a:tc>
                    <a:tc>
                      <a:txBody>
                        <a:bodyPr/>
                        <a:p>
                          <a:pPr algn="ctr">
                            <a:buNone/>
                          </a:pPr>
                          <a:r>
                            <a:rPr lang="zh-CN" altLang="en-US"/>
                            <a:t>效果</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chemeClr val="bg1">
                            <a:lumMod val="75000"/>
                          </a:schemeClr>
                        </a:solidFill>
                      </a:tcPr>
                    </a:tc>
                  </a:tr>
                  <a:tr h="381000">
                    <a:tc>
                      <a:txBody>
                        <a:bodyPr/>
                        <a:p>
                          <a:pPr algn="ctr">
                            <a:buNone/>
                          </a:pPr>
                          <a:r>
                            <a:rPr lang="zh-CN" altLang="en-US"/>
                            <a:t>必要条件</a:t>
                          </a:r>
                          <a:endParaRPr lang="zh-CN" altLang="en-US"/>
                        </a:p>
                      </a:txBody>
                      <a:tcPr anchor="ctr" anchorCtr="0">
                        <a:lnL w="12700" cmpd="sng">
                          <a:solidFill>
                            <a:schemeClr val="tx1"/>
                          </a:solidFill>
                          <a:prstDash val="solid"/>
                        </a:lnL>
                        <a:lnR w="12700">
                          <a:solidFill>
                            <a:schemeClr val="tx1"/>
                          </a:solidFill>
                          <a:prstDash val="solid"/>
                        </a:lnR>
                        <a:lnB w="12700" cmpd="sng">
                          <a:solidFill>
                            <a:schemeClr val="tx1"/>
                          </a:solidFill>
                          <a:prstDash val="solid"/>
                        </a:lnB>
                        <a:solidFill>
                          <a:schemeClr val="bg1"/>
                        </a:solidFill>
                      </a:tcPr>
                    </a:tc>
                    <a:tc>
                      <a:txBody>
                        <a:bodyPr/>
                        <a:p>
                          <a:pPr algn="ctr">
                            <a:buNone/>
                          </a:pPr>
                          <a:endParaRPr lang="zh-CN" altLang="en-US"/>
                        </a:p>
                      </a:txBody>
                      <a:tcPr>
                        <a:lnL w="12700">
                          <a:solidFill>
                            <a:schemeClr val="tx1"/>
                          </a:solidFill>
                          <a:prstDash val="solid"/>
                        </a:lnL>
                        <a:lnR w="12700" cmpd="sng">
                          <a:solidFill>
                            <a:schemeClr val="tx1"/>
                          </a:solidFill>
                          <a:prstDash val="solid"/>
                        </a:lnR>
                        <a:lnB w="12700" cmpd="sng">
                          <a:solidFill>
                            <a:schemeClr val="tx1"/>
                          </a:solidFill>
                          <a:prstDash val="solid"/>
                        </a:lnB>
                        <a:solidFill>
                          <a:schemeClr val="bg1"/>
                        </a:solidFill>
                      </a:tcPr>
                    </a:tc>
                    <a:tc>
                      <a:txBody>
                        <a:bodyPr/>
                        <a:p>
                          <a:pPr algn="ctr">
                            <a:buNone/>
                          </a:pPr>
                          <a:endParaRPr lang="en-US" altLang="zh-CN"/>
                        </a:p>
                      </a:txBody>
                      <a:tcPr>
                        <a:lnL w="12700" cmpd="sng">
                          <a:solidFill>
                            <a:schemeClr val="tx1"/>
                          </a:solidFill>
                          <a:prstDash val="solid"/>
                        </a:lnL>
                        <a:lnR w="12700" cmpd="sng">
                          <a:solidFill>
                            <a:schemeClr val="tx1"/>
                          </a:solidFill>
                          <a:prstDash val="solid"/>
                        </a:lnR>
                        <a:lnB w="12700" cmpd="sng">
                          <a:solidFill>
                            <a:schemeClr val="tx1"/>
                          </a:solidFill>
                          <a:prstDash val="solid"/>
                        </a:lnB>
                        <a:solidFill>
                          <a:schemeClr val="bg1"/>
                        </a:solidFill>
                      </a:tcPr>
                    </a:tc>
                    <a:tc>
                      <a:txBody>
                        <a:bodyPr/>
                        <a:p>
                          <a:pPr algn="ctr">
                            <a:buNone/>
                          </a:pPr>
                          <a:r>
                            <a:rPr lang="zh-CN" altLang="en-US"/>
                            <a:t>单次训练快，</a:t>
                          </a:r>
                          <a:r>
                            <a:rPr lang="en-US" altLang="zh-CN"/>
                            <a:t>Loss</a:t>
                          </a:r>
                          <a:r>
                            <a:rPr lang="zh-CN" altLang="en-US"/>
                            <a:t>下降</a:t>
                          </a:r>
                          <a:r>
                            <a:rPr lang="zh-CN" altLang="en-US" sz="1800">
                              <a:sym typeface="+mn-ea"/>
                            </a:rPr>
                            <a:t>收敛，满足原条件比例稳定但过小。</a:t>
                          </a:r>
                          <a:r>
                            <a:rPr lang="zh-CN" altLang="en-US" sz="1800">
                              <a:solidFill>
                                <a:srgbClr val="FF0000"/>
                              </a:solidFill>
                              <a:sym typeface="+mn-ea"/>
                            </a:rPr>
                            <a:t>条件过于放松</a:t>
                          </a:r>
                          <a:endParaRPr lang="zh-CN" altLang="en-US" sz="1800">
                            <a:solidFill>
                              <a:srgbClr val="FF0000"/>
                            </a:solidFill>
                            <a:sym typeface="+mn-ea"/>
                          </a:endParaRPr>
                        </a:p>
                      </a:txBody>
                      <a:tcPr anchor="ctr" anchorCtr="0">
                        <a:lnL w="12700" cmpd="sng">
                          <a:solidFill>
                            <a:schemeClr val="tx1"/>
                          </a:solidFill>
                          <a:prstDash val="solid"/>
                        </a:lnL>
                        <a:lnR w="12700">
                          <a:solidFill>
                            <a:schemeClr val="tx1"/>
                          </a:solidFill>
                          <a:prstDash val="solid"/>
                        </a:lnR>
                        <a:lnB w="12700" cmpd="sng">
                          <a:solidFill>
                            <a:schemeClr val="tx1"/>
                          </a:solidFill>
                          <a:prstDash val="solid"/>
                        </a:lnB>
                        <a:solidFill>
                          <a:schemeClr val="bg1"/>
                        </a:solidFill>
                      </a:tcPr>
                    </a:tc>
                  </a:tr>
                  <a:tr h="381000">
                    <a:tc>
                      <a:txBody>
                        <a:bodyPr/>
                        <a:p>
                          <a:pPr algn="ctr">
                            <a:buNone/>
                          </a:pPr>
                          <a:r>
                            <a:rPr lang="zh-CN" altLang="en-US"/>
                            <a:t>充分条件</a:t>
                          </a:r>
                          <a:r>
                            <a:rPr lang="en-US" altLang="zh-CN"/>
                            <a:t>1</a:t>
                          </a:r>
                          <a:endParaRPr lang="en-US" altLang="zh-CN"/>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14:m>
                            <m:oMathPara xmlns:m="http://schemas.openxmlformats.org/officeDocument/2006/math">
                              <m:oMathParaPr>
                                <m:jc m:val="centerGroup"/>
                              </m:oMathParaPr>
                              <m:oMath xmlns:m="http://schemas.openxmlformats.org/officeDocument/2006/math">
                                <m:d>
                                  <m:dPr>
                                    <m:begChr m:val="["/>
                                    <m:endChr m:val="]"/>
                                    <m:ctrlPr>
                                      <a:rPr lang="en-US" altLang="zh-CN" sz="1800" i="1">
                                        <a:latin typeface="Cambria Math" panose="02040503050406030204" charset="0"/>
                                        <a:cs typeface="Cambria Math" panose="02040503050406030204" charset="0"/>
                                      </a:rPr>
                                    </m:ctrlPr>
                                  </m:dPr>
                                  <m:e>
                                    <m:m>
                                      <m:mPr>
                                        <m:mcs>
                                          <m:mc>
                                            <m:mcPr>
                                              <m:count m:val="1"/>
                                              <m:mcJc m:val="center"/>
                                            </m:mcPr>
                                          </m:mc>
                                        </m:mcs>
                                        <m:ctrlPr>
                                          <a:rPr lang="en-US" altLang="zh-CN" sz="1800" i="1">
                                            <a:latin typeface="Cambria Math" panose="02040503050406030204" charset="0"/>
                                            <a:cs typeface="Cambria Math" panose="02040503050406030204" charset="0"/>
                                          </a:rPr>
                                        </m:ctrlPr>
                                      </m:mPr>
                                      <m:mr>
                                        <m:e>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𝑃</m:t>
                                              </m:r>
                                            </m:e>
                                            <m:sub>
                                              <m:r>
                                                <a:rPr lang="en-US" altLang="zh-CN" sz="1800" i="1">
                                                  <a:latin typeface="Cambria Math" panose="02040503050406030204" charset="0"/>
                                                  <a:cs typeface="Cambria Math" panose="02040503050406030204" charset="0"/>
                                                </a:rPr>
                                                <m:t>1</m:t>
                                              </m:r>
                                            </m:sub>
                                          </m:sSub>
                                        </m:e>
                                      </m:mr>
                                      <m:mr>
                                        <m:e>
                                          <m:r>
                                            <a:rPr lang="en-US" altLang="zh-CN" sz="1800" i="1">
                                              <a:latin typeface="Cambria Math" panose="02040503050406030204" charset="0"/>
                                              <a:cs typeface="Cambria Math" panose="02040503050406030204" charset="0"/>
                                            </a:rPr>
                                            <m:t>⋮</m:t>
                                          </m:r>
                                        </m:e>
                                      </m:mr>
                                      <m:mr>
                                        <m:e>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𝑃</m:t>
                                              </m:r>
                                            </m:e>
                                            <m:sub>
                                              <m:r>
                                                <a:rPr lang="en-US" altLang="zh-CN" sz="1800" i="1">
                                                  <a:latin typeface="Cambria Math" panose="02040503050406030204" charset="0"/>
                                                  <a:cs typeface="Cambria Math" panose="02040503050406030204" charset="0"/>
                                                </a:rPr>
                                                <m:t>𝑀</m:t>
                                              </m:r>
                                            </m:sub>
                                          </m:sSub>
                                        </m:e>
                                      </m:mr>
                                    </m:m>
                                  </m:e>
                                </m:d>
                                <m:r>
                                  <a:rPr lang="en-US" altLang="zh-CN" sz="1800" i="1">
                                    <a:latin typeface="Cambria Math" panose="02040503050406030204" charset="0"/>
                                    <a:cs typeface="Cambria Math" panose="02040503050406030204" charset="0"/>
                                  </a:rPr>
                                  <m:t>𝑢</m:t>
                                </m:r>
                                <m:r>
                                  <a:rPr lang="en-US" altLang="zh-CN" sz="1800" i="1">
                                    <a:latin typeface="Cambria Math" panose="02040503050406030204" charset="0"/>
                                    <a:cs typeface="Cambria Math" panose="02040503050406030204" charset="0"/>
                                  </a:rPr>
                                  <m:t>≥</m:t>
                                </m:r>
                                <m:d>
                                  <m:dPr>
                                    <m:begChr m:val="["/>
                                    <m:endChr m:val="]"/>
                                    <m:ctrlPr>
                                      <a:rPr lang="en-US" altLang="zh-CN" sz="1800" i="1">
                                        <a:latin typeface="Cambria Math" panose="02040503050406030204" charset="0"/>
                                        <a:cs typeface="Cambria Math" panose="02040503050406030204" charset="0"/>
                                      </a:rPr>
                                    </m:ctrlPr>
                                  </m:dPr>
                                  <m:e>
                                    <m:m>
                                      <m:mPr>
                                        <m:mcs>
                                          <m:mc>
                                            <m:mcPr>
                                              <m:count m:val="1"/>
                                              <m:mcJc m:val="center"/>
                                            </m:mcPr>
                                          </m:mc>
                                        </m:mcs>
                                        <m:ctrlPr>
                                          <a:rPr lang="en-US" altLang="zh-CN" sz="1800" i="1">
                                            <a:latin typeface="Cambria Math" panose="02040503050406030204" charset="0"/>
                                            <a:cs typeface="Cambria Math" panose="02040503050406030204" charset="0"/>
                                          </a:rPr>
                                        </m:ctrlPr>
                                      </m:mPr>
                                      <m:mr>
                                        <m:e>
                                          <m:sSubSup>
                                            <m:sSubSupPr>
                                              <m:ctrlPr>
                                                <a:rPr lang="en-US" altLang="zh-CN" sz="1800" i="1">
                                                  <a:latin typeface="Cambria Math" panose="02040503050406030204" charset="0"/>
                                                  <a:cs typeface="Cambria Math" panose="02040503050406030204" charset="0"/>
                                                </a:rPr>
                                              </m:ctrlPr>
                                            </m:sSubSupPr>
                                            <m:e>
                                              <m:r>
                                                <a:rPr lang="en-US" altLang="zh-CN" sz="1800" i="1">
                                                  <a:latin typeface="Cambria Math" panose="02040503050406030204" charset="0"/>
                                                  <a:cs typeface="Cambria Math" panose="02040503050406030204" charset="0"/>
                                                </a:rPr>
                                                <m:t>𝑐</m:t>
                                              </m:r>
                                            </m:e>
                                            <m:sub>
                                              <m:r>
                                                <a:rPr lang="en-US" altLang="zh-CN" sz="1800" i="1">
                                                  <a:latin typeface="Cambria Math" panose="02040503050406030204" charset="0"/>
                                                  <a:cs typeface="Cambria Math" panose="02040503050406030204" charset="0"/>
                                                </a:rPr>
                                                <m:t>1</m:t>
                                              </m:r>
                                            </m:sub>
                                            <m:sup>
                                              <m:r>
                                                <a:rPr lang="en-US" altLang="zh-CN" sz="1800" i="1">
                                                  <a:latin typeface="Cambria Math" panose="02040503050406030204" charset="0"/>
                                                  <a:cs typeface="Cambria Math" panose="02040503050406030204" charset="0"/>
                                                </a:rPr>
                                                <m:t>𝑚𝑎𝑥</m:t>
                                              </m:r>
                                            </m:sup>
                                          </m:sSubSup>
                                        </m:e>
                                      </m:mr>
                                      <m:mr>
                                        <m:e>
                                          <m:r>
                                            <a:rPr lang="en-US" altLang="zh-CN" sz="1800" i="1">
                                              <a:latin typeface="Cambria Math" panose="02040503050406030204" charset="0"/>
                                              <a:cs typeface="Cambria Math" panose="02040503050406030204" charset="0"/>
                                            </a:rPr>
                                            <m:t>⋮</m:t>
                                          </m:r>
                                        </m:e>
                                      </m:mr>
                                      <m:mr>
                                        <m:e>
                                          <m:sSubSup>
                                            <m:sSubSupPr>
                                              <m:ctrlPr>
                                                <a:rPr lang="en-US" altLang="zh-CN" sz="1800" i="1">
                                                  <a:latin typeface="Cambria Math" panose="02040503050406030204" charset="0"/>
                                                  <a:cs typeface="Cambria Math" panose="02040503050406030204" charset="0"/>
                                                </a:rPr>
                                              </m:ctrlPr>
                                            </m:sSubSupPr>
                                            <m:e>
                                              <m:r>
                                                <a:rPr lang="en-US" altLang="zh-CN" sz="1800" i="1">
                                                  <a:latin typeface="Cambria Math" panose="02040503050406030204" charset="0"/>
                                                  <a:cs typeface="Cambria Math" panose="02040503050406030204" charset="0"/>
                                                </a:rPr>
                                                <m:t>𝑐</m:t>
                                              </m:r>
                                            </m:e>
                                            <m:sub>
                                              <m:r>
                                                <a:rPr lang="en-US" altLang="zh-CN" sz="1800" i="1">
                                                  <a:latin typeface="Cambria Math" panose="02040503050406030204" charset="0"/>
                                                  <a:cs typeface="Cambria Math" panose="02040503050406030204" charset="0"/>
                                                </a:rPr>
                                                <m:t>𝑀</m:t>
                                              </m:r>
                                            </m:sub>
                                            <m:sup>
                                              <m:r>
                                                <a:rPr lang="en-US" altLang="zh-CN" sz="1800" i="1">
                                                  <a:latin typeface="Cambria Math" panose="02040503050406030204" charset="0"/>
                                                  <a:cs typeface="Cambria Math" panose="02040503050406030204" charset="0"/>
                                                </a:rPr>
                                                <m:t>𝑚𝑎𝑥</m:t>
                                              </m:r>
                                            </m:sup>
                                          </m:sSubSup>
                                        </m:e>
                                      </m:mr>
                                    </m:m>
                                  </m:e>
                                </m:d>
                              </m:oMath>
                            </m:oMathPara>
                          </a14:m>
                          <a:endParaRPr lang="en-US" altLang="zh-CN"/>
                        </a:p>
                      </a:txBody>
                      <a:tcPr>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endParaRPr lang="en-US" alt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zh-CN" altLang="en-US"/>
                            <a:t>单次训练快，</a:t>
                          </a:r>
                          <a:r>
                            <a:rPr lang="en-US" altLang="zh-CN"/>
                            <a:t>Loss</a:t>
                          </a:r>
                          <a:r>
                            <a:rPr lang="zh-CN" altLang="en-US"/>
                            <a:t>不收敛，</a:t>
                          </a:r>
                          <a:r>
                            <a:rPr lang="zh-CN" altLang="en-US">
                              <a:solidFill>
                                <a:srgbClr val="FF0000"/>
                              </a:solidFill>
                            </a:rPr>
                            <a:t>条件过于严格</a:t>
                          </a:r>
                          <a:endParaRPr lang="zh-CN" altLang="en-US">
                            <a:solidFill>
                              <a:srgbClr val="FF0000"/>
                            </a:solidFill>
                          </a:endParaRPr>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a:solidFill>
                            <a:schemeClr val="tx1"/>
                          </a:solidFill>
                          <a:prstDash val="solid"/>
                        </a:lnB>
                        <a:solidFill>
                          <a:schemeClr val="bg1"/>
                        </a:solidFill>
                      </a:tcPr>
                    </a:tc>
                  </a:tr>
                  <a:tr h="1139825">
                    <a:tc>
                      <a:txBody>
                        <a:bodyPr/>
                        <a:p>
                          <a:pPr algn="ctr">
                            <a:buNone/>
                          </a:pPr>
                          <a:r>
                            <a:rPr lang="zh-CN" altLang="en-US">
                              <a:solidFill>
                                <a:srgbClr val="FF0000"/>
                              </a:solidFill>
                            </a:rPr>
                            <a:t>充分条件</a:t>
                          </a:r>
                          <a:r>
                            <a:rPr lang="en-US" altLang="zh-CN">
                              <a:solidFill>
                                <a:srgbClr val="FF0000"/>
                              </a:solidFill>
                            </a:rPr>
                            <a:t>2</a:t>
                          </a:r>
                          <a:endParaRPr lang="en-US" altLang="zh-CN">
                            <a:solidFill>
                              <a:srgbClr val="FF0000"/>
                            </a:solidFill>
                          </a:endParaRPr>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14:m>
                            <m:oMathPara xmlns:m="http://schemas.openxmlformats.org/officeDocument/2006/math">
                              <m:oMathParaPr>
                                <m:jc m:val="centerGroup"/>
                              </m:oMathParaPr>
                              <m:oMath xmlns:m="http://schemas.openxmlformats.org/officeDocument/2006/math">
                                <m:d>
                                  <m:dPr>
                                    <m:begChr m:val="["/>
                                    <m:endChr m:val="]"/>
                                    <m:ctrlPr>
                                      <a:rPr lang="en-US" altLang="zh-CN" sz="1800" i="1">
                                        <a:latin typeface="Cambria Math" panose="02040503050406030204" charset="0"/>
                                        <a:cs typeface="Cambria Math" panose="02040503050406030204" charset="0"/>
                                      </a:rPr>
                                    </m:ctrlPr>
                                  </m:dPr>
                                  <m:e>
                                    <m:m>
                                      <m:mPr>
                                        <m:mcs>
                                          <m:mc>
                                            <m:mcPr>
                                              <m:count m:val="1"/>
                                              <m:mcJc m:val="center"/>
                                            </m:mcPr>
                                          </m:mc>
                                        </m:mcs>
                                        <m:ctrlPr>
                                          <a:rPr lang="en-US" altLang="zh-CN" sz="1800" i="1">
                                            <a:latin typeface="Cambria Math" panose="02040503050406030204" charset="0"/>
                                            <a:cs typeface="Cambria Math" panose="02040503050406030204" charset="0"/>
                                          </a:rPr>
                                        </m:ctrlPr>
                                      </m:mPr>
                                      <m:mr>
                                        <m:e>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𝑃</m:t>
                                              </m:r>
                                            </m:e>
                                            <m:sub>
                                              <m:r>
                                                <a:rPr lang="en-US" altLang="zh-CN" sz="1800" i="1">
                                                  <a:latin typeface="Cambria Math" panose="02040503050406030204" charset="0"/>
                                                  <a:cs typeface="Cambria Math" panose="02040503050406030204" charset="0"/>
                                                </a:rPr>
                                                <m:t>1</m:t>
                                              </m:r>
                                            </m:sub>
                                          </m:sSub>
                                        </m:e>
                                      </m:mr>
                                      <m:mr>
                                        <m:e>
                                          <m:r>
                                            <a:rPr lang="en-US" altLang="zh-CN" sz="1800" i="1">
                                              <a:latin typeface="Cambria Math" panose="02040503050406030204" charset="0"/>
                                              <a:cs typeface="Cambria Math" panose="02040503050406030204" charset="0"/>
                                            </a:rPr>
                                            <m:t>⋮</m:t>
                                          </m:r>
                                        </m:e>
                                      </m:mr>
                                      <m:mr>
                                        <m:e>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𝑃</m:t>
                                              </m:r>
                                            </m:e>
                                            <m:sub>
                                              <m:r>
                                                <a:rPr lang="en-US" altLang="zh-CN" sz="1800" i="1">
                                                  <a:latin typeface="Cambria Math" panose="02040503050406030204" charset="0"/>
                                                  <a:cs typeface="Cambria Math" panose="02040503050406030204" charset="0"/>
                                                </a:rPr>
                                                <m:t>𝑀</m:t>
                                              </m:r>
                                            </m:sub>
                                          </m:sSub>
                                        </m:e>
                                      </m:mr>
                                    </m:m>
                                  </m:e>
                                </m:d>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𝑢</m:t>
                                    </m:r>
                                  </m:e>
                                  <m:sup>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𝑗</m:t>
                                    </m:r>
                                    <m:r>
                                      <a:rPr lang="en-US" altLang="zh-CN" sz="1800" i="1">
                                        <a:latin typeface="Cambria Math" panose="02040503050406030204" charset="0"/>
                                        <a:cs typeface="Cambria Math" panose="02040503050406030204" charset="0"/>
                                      </a:rPr>
                                      <m:t>)</m:t>
                                    </m:r>
                                  </m:sup>
                                </m:sSup>
                                <m:r>
                                  <a:rPr lang="en-US" altLang="zh-CN" sz="1800" i="1">
                                    <a:latin typeface="Cambria Math" panose="02040503050406030204" charset="0"/>
                                    <a:cs typeface="Cambria Math" panose="02040503050406030204" charset="0"/>
                                  </a:rPr>
                                  <m:t>≥</m:t>
                                </m:r>
                                <m:d>
                                  <m:dPr>
                                    <m:begChr m:val="["/>
                                    <m:endChr m:val="]"/>
                                    <m:ctrlPr>
                                      <a:rPr lang="en-US" altLang="zh-CN" sz="1800" i="1">
                                        <a:latin typeface="Cambria Math" panose="02040503050406030204" charset="0"/>
                                        <a:cs typeface="Cambria Math" panose="02040503050406030204" charset="0"/>
                                      </a:rPr>
                                    </m:ctrlPr>
                                  </m:dPr>
                                  <m:e>
                                    <m:m>
                                      <m:mPr>
                                        <m:mcs>
                                          <m:mc>
                                            <m:mcPr>
                                              <m:count m:val="1"/>
                                              <m:mcJc m:val="center"/>
                                            </m:mcPr>
                                          </m:mc>
                                        </m:mcs>
                                        <m:ctrlPr>
                                          <a:rPr lang="en-US" altLang="zh-CN" sz="1800" i="1">
                                            <a:latin typeface="Cambria Math" panose="02040503050406030204" charset="0"/>
                                            <a:cs typeface="Cambria Math" panose="02040503050406030204" charset="0"/>
                                          </a:rPr>
                                        </m:ctrlPr>
                                      </m:mPr>
                                      <m:mr>
                                        <m:e>
                                          <m:sSubSup>
                                            <m:sSubSupPr>
                                              <m:ctrlPr>
                                                <a:rPr lang="en-US" altLang="zh-CN" sz="1800" i="1">
                                                  <a:latin typeface="Cambria Math" panose="02040503050406030204" charset="0"/>
                                                  <a:cs typeface="Cambria Math" panose="02040503050406030204" charset="0"/>
                                                </a:rPr>
                                              </m:ctrlPr>
                                            </m:sSubSupPr>
                                            <m:e>
                                              <m:r>
                                                <a:rPr lang="en-US" altLang="zh-CN" sz="1800" i="1">
                                                  <a:latin typeface="Cambria Math" panose="02040503050406030204" charset="0"/>
                                                  <a:cs typeface="Cambria Math" panose="02040503050406030204" charset="0"/>
                                                </a:rPr>
                                                <m:t>𝑐</m:t>
                                              </m:r>
                                            </m:e>
                                            <m:sub>
                                              <m:r>
                                                <a:rPr lang="en-US" altLang="zh-CN" sz="1800" i="1">
                                                  <a:latin typeface="Cambria Math" panose="02040503050406030204" charset="0"/>
                                                  <a:cs typeface="Cambria Math" panose="02040503050406030204" charset="0"/>
                                                </a:rPr>
                                                <m:t>𝑀</m:t>
                                              </m:r>
                                            </m:sub>
                                            <m:sup>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𝑗</m:t>
                                              </m:r>
                                              <m:r>
                                                <a:rPr lang="en-US" altLang="zh-CN" sz="1800" i="1">
                                                  <a:latin typeface="Cambria Math" panose="02040503050406030204" charset="0"/>
                                                  <a:cs typeface="Cambria Math" panose="02040503050406030204" charset="0"/>
                                                </a:rPr>
                                                <m:t>)</m:t>
                                              </m:r>
                                            </m:sup>
                                          </m:sSubSup>
                                        </m:e>
                                      </m:mr>
                                      <m:mr>
                                        <m:e>
                                          <m:r>
                                            <a:rPr lang="en-US" altLang="zh-CN" sz="1800" i="1">
                                              <a:latin typeface="Cambria Math" panose="02040503050406030204" charset="0"/>
                                              <a:cs typeface="Cambria Math" panose="02040503050406030204" charset="0"/>
                                            </a:rPr>
                                            <m:t>⋮</m:t>
                                          </m:r>
                                        </m:e>
                                      </m:mr>
                                      <m:mr>
                                        <m:e>
                                          <m:sSubSup>
                                            <m:sSubSupPr>
                                              <m:ctrlPr>
                                                <a:rPr lang="en-US" altLang="zh-CN" sz="1800" i="1">
                                                  <a:latin typeface="Cambria Math" panose="02040503050406030204" charset="0"/>
                                                  <a:cs typeface="Cambria Math" panose="02040503050406030204" charset="0"/>
                                                </a:rPr>
                                              </m:ctrlPr>
                                            </m:sSubSupPr>
                                            <m:e>
                                              <m:r>
                                                <a:rPr lang="en-US" altLang="zh-CN" sz="1800" i="1">
                                                  <a:latin typeface="Cambria Math" panose="02040503050406030204" charset="0"/>
                                                  <a:cs typeface="Cambria Math" panose="02040503050406030204" charset="0"/>
                                                </a:rPr>
                                                <m:t>𝑐</m:t>
                                              </m:r>
                                            </m:e>
                                            <m:sub>
                                              <m:r>
                                                <a:rPr lang="en-US" altLang="zh-CN" sz="1800" i="1">
                                                  <a:latin typeface="Cambria Math" panose="02040503050406030204" charset="0"/>
                                                  <a:cs typeface="Cambria Math" panose="02040503050406030204" charset="0"/>
                                                </a:rPr>
                                                <m:t>𝑀</m:t>
                                              </m:r>
                                            </m:sub>
                                            <m:sup>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𝑗</m:t>
                                              </m:r>
                                              <m:r>
                                                <a:rPr lang="en-US" altLang="zh-CN" sz="1800" i="1">
                                                  <a:latin typeface="Cambria Math" panose="02040503050406030204" charset="0"/>
                                                  <a:cs typeface="Cambria Math" panose="02040503050406030204" charset="0"/>
                                                </a:rPr>
                                                <m:t>)</m:t>
                                              </m:r>
                                            </m:sup>
                                          </m:sSubSup>
                                        </m:e>
                                      </m:mr>
                                    </m:m>
                                  </m:e>
                                </m:d>
                              </m:oMath>
                            </m:oMathPara>
                          </a14:m>
                          <a:endParaRPr lang="en-US" altLang="zh-CN">
                            <a:solidFill>
                              <a:schemeClr val="tx1"/>
                            </a:solidFill>
                          </a:endParaRPr>
                        </a:p>
                      </a:txBody>
                      <a:tcPr>
                        <a:lnL w="12700">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chemeClr val="bg1"/>
                        </a:solidFill>
                      </a:tcPr>
                    </a:tc>
                    <a:tc>
                      <a:txBody>
                        <a:bodyPr/>
                        <a:p>
                          <a:pPr algn="ctr">
                            <a:buNone/>
                          </a:pPr>
                          <a:endParaRPr lang="en-US" altLang="zh-CN">
                            <a:solidFill>
                              <a:srgbClr val="FF0000"/>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chemeClr val="bg1"/>
                        </a:solidFill>
                      </a:tcPr>
                    </a:tc>
                    <a:tc>
                      <a:txBody>
                        <a:bodyPr/>
                        <a:p>
                          <a:pPr algn="ctr">
                            <a:buNone/>
                          </a:pPr>
                          <a:r>
                            <a:rPr lang="en-US" altLang="zh-CN"/>
                            <a:t> Loss</a:t>
                          </a:r>
                          <a:r>
                            <a:rPr lang="zh-CN" altLang="en-US"/>
                            <a:t>下降收敛，满足原条件点比例最终稳定于</a:t>
                          </a:r>
                          <a:r>
                            <a:rPr lang="en-US" altLang="zh-CN"/>
                            <a:t>100%</a:t>
                          </a:r>
                          <a:r>
                            <a:rPr lang="zh-CN" altLang="en-US"/>
                            <a:t>附近。</a:t>
                          </a:r>
                          <a:r>
                            <a:rPr lang="zh-CN" altLang="en-US">
                              <a:solidFill>
                                <a:srgbClr val="FF0000"/>
                              </a:solidFill>
                            </a:rPr>
                            <a:t>条件严格程度和训练时间可调</a:t>
                          </a:r>
                          <a:endParaRPr lang="zh-CN" altLang="en-US">
                            <a:solidFill>
                              <a:srgbClr val="FF0000"/>
                            </a:solidFill>
                          </a:endParaRPr>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a:solidFill>
                            <a:schemeClr val="tx1"/>
                          </a:solidFill>
                          <a:prstDash val="solid"/>
                        </a:lnB>
                        <a:solidFill>
                          <a:schemeClr val="bg1"/>
                        </a:solidFill>
                      </a:tcPr>
                    </a:tc>
                  </a:tr>
                </a:tbl>
              </a:graphicData>
            </a:graphic>
          </p:graphicFrame>
        </mc:Choice>
        <mc:Fallback xmlns="">
          <p:graphicFrame>
            <p:nvGraphicFramePr>
              <p:cNvPr id="7" name="表格 6"/>
              <p:cNvGraphicFramePr/>
              <p:nvPr/>
            </p:nvGraphicFramePr>
            <p:xfrm>
              <a:off x="680720" y="2452370"/>
              <a:ext cx="11293675" cy="3108960"/>
            </p:xfrm>
            <a:graphic>
              <a:graphicData uri="http://schemas.openxmlformats.org/drawingml/2006/table">
                <a:tbl>
                  <a:tblPr firstRow="1" bandRow="1">
                    <a:tableStyleId>{5C22544A-7EE6-4342-B048-85BDC9FD1C3A}</a:tableStyleId>
                  </a:tblPr>
                  <a:tblGrid>
                    <a:gridCol w="1303020"/>
                    <a:gridCol w="2743835"/>
                    <a:gridCol w="4414085"/>
                    <a:gridCol w="2832735"/>
                  </a:tblGrid>
                  <a:tr h="338455">
                    <a:tc>
                      <a:txBody>
                        <a:bodyPr/>
                        <a:p>
                          <a:pPr algn="ctr">
                            <a:buNone/>
                          </a:pPr>
                          <a:r>
                            <a:rPr lang="zh-CN" altLang="en-US"/>
                            <a:t>方法</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75000"/>
                          </a:schemeClr>
                        </a:solidFill>
                      </a:tcPr>
                    </a:tc>
                    <a:tc>
                      <a:txBody>
                        <a:bodyPr/>
                        <a:p>
                          <a:pPr algn="ctr">
                            <a:buNone/>
                          </a:pPr>
                          <a:r>
                            <a:rPr lang="zh-CN" altLang="en-US"/>
                            <a:t>思路</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chemeClr val="bg1">
                            <a:lumMod val="75000"/>
                          </a:schemeClr>
                        </a:solidFill>
                      </a:tcPr>
                    </a:tc>
                    <a:tc>
                      <a:txBody>
                        <a:bodyPr/>
                        <a:p>
                          <a:pPr algn="ctr">
                            <a:buNone/>
                          </a:pPr>
                          <a:r>
                            <a:rPr lang="zh-CN" altLang="en-US"/>
                            <a:t>损失函数</a:t>
                          </a:r>
                          <a:r>
                            <a:rPr lang="zh-CN" altLang="en-US"/>
                            <a:t>表达式</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chemeClr val="bg1">
                            <a:lumMod val="75000"/>
                          </a:schemeClr>
                        </a:solidFill>
                      </a:tcPr>
                    </a:tc>
                    <a:tc>
                      <a:txBody>
                        <a:bodyPr/>
                        <a:p>
                          <a:pPr algn="ctr">
                            <a:buNone/>
                          </a:pPr>
                          <a:r>
                            <a:rPr lang="zh-CN" altLang="en-US"/>
                            <a:t>效果</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chemeClr val="bg1">
                            <a:lumMod val="75000"/>
                          </a:schemeClr>
                        </a:solidFill>
                      </a:tcPr>
                    </a:tc>
                  </a:tr>
                  <a:tr h="381000">
                    <a:tc>
                      <a:txBody>
                        <a:bodyPr/>
                        <a:p>
                          <a:pPr algn="ctr">
                            <a:buNone/>
                          </a:pPr>
                          <a:r>
                            <a:rPr lang="zh-CN" altLang="en-US"/>
                            <a:t>必要条件</a:t>
                          </a:r>
                          <a:endParaRPr lang="zh-CN" altLang="en-US"/>
                        </a:p>
                      </a:txBody>
                      <a:tcPr anchor="ctr" anchorCtr="0">
                        <a:lnL w="12700" cmpd="sng">
                          <a:solidFill>
                            <a:schemeClr val="tx1"/>
                          </a:solidFill>
                          <a:prstDash val="solid"/>
                        </a:lnL>
                        <a:lnR w="12700">
                          <a:solidFill>
                            <a:schemeClr val="tx1"/>
                          </a:solidFill>
                          <a:prstDash val="solid"/>
                        </a:lnR>
                        <a:lnB w="12700" cmpd="sng">
                          <a:solidFill>
                            <a:schemeClr val="tx1"/>
                          </a:solidFill>
                          <a:prstDash val="solid"/>
                        </a:lnB>
                        <a:solidFill>
                          <a:schemeClr val="bg1"/>
                        </a:solidFill>
                      </a:tcPr>
                    </a:tc>
                    <a:tc>
                      <a:txBody>
                        <a:bodyPr/>
                        <a:p>
                          <a:pPr algn="ctr">
                            <a:buNone/>
                          </a:pPr>
                          <a:endParaRPr lang="zh-CN" altLang="en-US"/>
                        </a:p>
                      </a:txBody>
                      <a:tcPr>
                        <a:lnL w="12700">
                          <a:solidFill>
                            <a:schemeClr val="tx1"/>
                          </a:solidFill>
                          <a:prstDash val="solid"/>
                        </a:lnL>
                        <a:lnR w="12700" cmpd="sng">
                          <a:solidFill>
                            <a:schemeClr val="tx1"/>
                          </a:solidFill>
                          <a:prstDash val="solid"/>
                        </a:lnR>
                        <a:lnB w="12700" cmpd="sng">
                          <a:solidFill>
                            <a:schemeClr val="tx1"/>
                          </a:solidFill>
                          <a:prstDash val="solid"/>
                        </a:lnB>
                        <a:solidFill>
                          <a:schemeClr val="bg1"/>
                        </a:solidFill>
                      </a:tcPr>
                    </a:tc>
                    <a:tc>
                      <a:txBody>
                        <a:bodyPr/>
                        <a:p>
                          <a:pPr algn="ctr">
                            <a:buNone/>
                          </a:pPr>
                          <a:endParaRPr lang="en-US" altLang="zh-CN"/>
                        </a:p>
                      </a:txBody>
                      <a:tcPr>
                        <a:lnL w="12700" cmpd="sng">
                          <a:solidFill>
                            <a:schemeClr val="tx1"/>
                          </a:solidFill>
                          <a:prstDash val="solid"/>
                        </a:lnL>
                        <a:lnR w="12700" cmpd="sng">
                          <a:solidFill>
                            <a:schemeClr val="tx1"/>
                          </a:solidFill>
                          <a:prstDash val="solid"/>
                        </a:lnR>
                        <a:lnB w="12700" cmpd="sng">
                          <a:solidFill>
                            <a:schemeClr val="tx1"/>
                          </a:solidFill>
                          <a:prstDash val="solid"/>
                        </a:lnB>
                        <a:solidFill>
                          <a:schemeClr val="bg1"/>
                        </a:solidFill>
                      </a:tcPr>
                    </a:tc>
                    <a:tc>
                      <a:txBody>
                        <a:bodyPr/>
                        <a:p>
                          <a:pPr algn="ctr">
                            <a:buNone/>
                          </a:pPr>
                          <a:r>
                            <a:rPr lang="zh-CN" altLang="en-US"/>
                            <a:t>单次训练快，</a:t>
                          </a:r>
                          <a:r>
                            <a:rPr lang="en-US" altLang="zh-CN"/>
                            <a:t>Loss</a:t>
                          </a:r>
                          <a:r>
                            <a:rPr lang="zh-CN" altLang="en-US"/>
                            <a:t>下降</a:t>
                          </a:r>
                          <a:r>
                            <a:rPr lang="zh-CN" altLang="en-US" sz="1800">
                              <a:sym typeface="+mn-ea"/>
                            </a:rPr>
                            <a:t>收敛，满足原条件比例稳定但过小。</a:t>
                          </a:r>
                          <a:r>
                            <a:rPr lang="zh-CN" altLang="en-US" sz="1800">
                              <a:solidFill>
                                <a:srgbClr val="FF0000"/>
                              </a:solidFill>
                              <a:sym typeface="+mn-ea"/>
                            </a:rPr>
                            <a:t>条件过于放松</a:t>
                          </a:r>
                          <a:endParaRPr lang="zh-CN" altLang="en-US" sz="1800">
                            <a:solidFill>
                              <a:srgbClr val="FF0000"/>
                            </a:solidFill>
                            <a:sym typeface="+mn-ea"/>
                          </a:endParaRPr>
                        </a:p>
                      </a:txBody>
                      <a:tcPr anchor="ctr" anchorCtr="0">
                        <a:lnL w="12700" cmpd="sng">
                          <a:solidFill>
                            <a:schemeClr val="tx1"/>
                          </a:solidFill>
                          <a:prstDash val="solid"/>
                        </a:lnL>
                        <a:lnR w="12700">
                          <a:solidFill>
                            <a:schemeClr val="tx1"/>
                          </a:solidFill>
                          <a:prstDash val="solid"/>
                        </a:lnR>
                        <a:lnB w="12700" cmpd="sng">
                          <a:solidFill>
                            <a:schemeClr val="tx1"/>
                          </a:solidFill>
                          <a:prstDash val="solid"/>
                        </a:lnB>
                        <a:solidFill>
                          <a:schemeClr val="bg1"/>
                        </a:solidFill>
                      </a:tcPr>
                    </a:tc>
                  </a:tr>
                  <a:tr h="878840">
                    <a:tc>
                      <a:txBody>
                        <a:bodyPr/>
                        <a:p>
                          <a:pPr algn="ctr">
                            <a:buNone/>
                          </a:pPr>
                          <a:r>
                            <a:rPr lang="zh-CN" altLang="en-US"/>
                            <a:t>充分条件</a:t>
                          </a:r>
                          <a:r>
                            <a:rPr lang="en-US" altLang="zh-CN"/>
                            <a:t>1</a:t>
                          </a:r>
                          <a:endParaRPr lang="en-US" altLang="zh-CN"/>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lstStyle/>
                        <a:p>
                          <a:endParaRPr lang="zh-CN"/>
                        </a:p>
                      </a:txBody>
                      <a:tcPr>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2"/>
                        </a:blipFill>
                      </a:tcPr>
                    </a:tc>
                    <a:tc>
                      <a:txBody>
                        <a:bodyPr/>
                        <a:p>
                          <a:pPr algn="ctr">
                            <a:buNone/>
                          </a:pPr>
                          <a:endParaRPr lang="en-US" alt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zh-CN" altLang="en-US"/>
                            <a:t>单次训练快，</a:t>
                          </a:r>
                          <a:r>
                            <a:rPr lang="en-US" altLang="zh-CN"/>
                            <a:t>Loss</a:t>
                          </a:r>
                          <a:r>
                            <a:rPr lang="zh-CN" altLang="en-US"/>
                            <a:t>不收敛，</a:t>
                          </a:r>
                          <a:r>
                            <a:rPr lang="zh-CN" altLang="en-US">
                              <a:solidFill>
                                <a:srgbClr val="FF0000"/>
                              </a:solidFill>
                            </a:rPr>
                            <a:t>条件过于严格</a:t>
                          </a:r>
                          <a:endParaRPr lang="zh-CN" altLang="en-US">
                            <a:solidFill>
                              <a:srgbClr val="FF0000"/>
                            </a:solidFill>
                          </a:endParaRPr>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a:solidFill>
                            <a:schemeClr val="tx1"/>
                          </a:solidFill>
                          <a:prstDash val="solid"/>
                        </a:lnB>
                        <a:solidFill>
                          <a:schemeClr val="bg1"/>
                        </a:solidFill>
                      </a:tcPr>
                    </a:tc>
                  </a:tr>
                  <a:tr h="1188720">
                    <a:tc>
                      <a:txBody>
                        <a:bodyPr/>
                        <a:p>
                          <a:pPr algn="ctr">
                            <a:buNone/>
                          </a:pPr>
                          <a:r>
                            <a:rPr lang="zh-CN" altLang="en-US">
                              <a:solidFill>
                                <a:srgbClr val="FF0000"/>
                              </a:solidFill>
                            </a:rPr>
                            <a:t>充分条件</a:t>
                          </a:r>
                          <a:r>
                            <a:rPr lang="en-US" altLang="zh-CN">
                              <a:solidFill>
                                <a:srgbClr val="FF0000"/>
                              </a:solidFill>
                            </a:rPr>
                            <a:t>2</a:t>
                          </a:r>
                          <a:endParaRPr lang="en-US" altLang="zh-CN">
                            <a:solidFill>
                              <a:srgbClr val="FF0000"/>
                            </a:solidFill>
                          </a:endParaRPr>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lstStyle/>
                        <a:p>
                          <a:endParaRPr lang="zh-CN"/>
                        </a:p>
                      </a:txBody>
                      <a:tcPr>
                        <a:lnL w="12700">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blipFill>
                          <a:blip r:embed="rId2"/>
                        </a:blipFill>
                      </a:tcPr>
                    </a:tc>
                    <a:tc>
                      <a:txBody>
                        <a:bodyPr/>
                        <a:p>
                          <a:pPr algn="ctr">
                            <a:buNone/>
                          </a:pPr>
                          <a:endParaRPr lang="en-US" altLang="zh-CN">
                            <a:solidFill>
                              <a:srgbClr val="FF0000"/>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chemeClr val="bg1"/>
                        </a:solidFill>
                      </a:tcPr>
                    </a:tc>
                    <a:tc>
                      <a:txBody>
                        <a:bodyPr/>
                        <a:p>
                          <a:pPr algn="ctr">
                            <a:buNone/>
                          </a:pPr>
                          <a:r>
                            <a:rPr lang="en-US" altLang="zh-CN"/>
                            <a:t> Loss</a:t>
                          </a:r>
                          <a:r>
                            <a:rPr lang="zh-CN" altLang="en-US"/>
                            <a:t>下降收敛，满足原条件点比例最终稳定于</a:t>
                          </a:r>
                          <a:r>
                            <a:rPr lang="en-US" altLang="zh-CN"/>
                            <a:t>100%</a:t>
                          </a:r>
                          <a:r>
                            <a:rPr lang="zh-CN" altLang="en-US"/>
                            <a:t>附近。</a:t>
                          </a:r>
                          <a:r>
                            <a:rPr lang="zh-CN" altLang="en-US">
                              <a:solidFill>
                                <a:srgbClr val="FF0000"/>
                              </a:solidFill>
                            </a:rPr>
                            <a:t>条件严格程度和训练时间可调</a:t>
                          </a:r>
                          <a:endParaRPr lang="zh-CN" altLang="en-US">
                            <a:solidFill>
                              <a:srgbClr val="FF0000"/>
                            </a:solidFill>
                          </a:endParaRPr>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a:solidFill>
                            <a:schemeClr val="tx1"/>
                          </a:solidFill>
                          <a:prstDash val="solid"/>
                        </a:lnB>
                        <a:solidFill>
                          <a:schemeClr val="bg1"/>
                        </a:solidFill>
                      </a:tcPr>
                    </a:tc>
                  </a:tr>
                </a:tbl>
              </a:graphicData>
            </a:graphic>
          </p:graphicFrame>
        </mc:Fallback>
      </mc:AlternateContent>
      <p:sp>
        <p:nvSpPr>
          <p:cNvPr id="9" name="文本框 8"/>
          <p:cNvSpPr txBox="1"/>
          <p:nvPr/>
        </p:nvSpPr>
        <p:spPr>
          <a:xfrm>
            <a:off x="1670685" y="2058670"/>
            <a:ext cx="4064000" cy="368300"/>
          </a:xfrm>
          <a:prstGeom prst="rect">
            <a:avLst/>
          </a:prstGeom>
          <a:noFill/>
        </p:spPr>
        <p:txBody>
          <a:bodyPr wrap="square" rtlCol="0">
            <a:spAutoFit/>
          </a:bodyPr>
          <a:p>
            <a:r>
              <a:rPr lang="zh-CN" altLang="en-US"/>
              <a:t>矩阵形式：</a:t>
            </a:r>
            <a:endParaRPr lang="zh-CN" altLang="en-US"/>
          </a:p>
        </p:txBody>
      </p:sp>
      <p:pic>
        <p:nvPicPr>
          <p:cNvPr id="10" name="图片 9"/>
          <p:cNvPicPr>
            <a:picLocks noChangeAspect="1"/>
          </p:cNvPicPr>
          <p:nvPr/>
        </p:nvPicPr>
        <p:blipFill>
          <a:blip r:embed="rId3"/>
          <a:stretch>
            <a:fillRect/>
          </a:stretch>
        </p:blipFill>
        <p:spPr>
          <a:xfrm>
            <a:off x="4834890" y="3058795"/>
            <a:ext cx="4273550" cy="424815"/>
          </a:xfrm>
          <a:prstGeom prst="rect">
            <a:avLst/>
          </a:prstGeom>
        </p:spPr>
      </p:pic>
      <p:pic>
        <p:nvPicPr>
          <p:cNvPr id="11" name="图片 10"/>
          <p:cNvPicPr>
            <a:picLocks noChangeAspect="1"/>
          </p:cNvPicPr>
          <p:nvPr/>
        </p:nvPicPr>
        <p:blipFill>
          <a:blip r:embed="rId4"/>
          <a:stretch>
            <a:fillRect/>
          </a:stretch>
        </p:blipFill>
        <p:spPr>
          <a:xfrm>
            <a:off x="4853940" y="3869055"/>
            <a:ext cx="3728720" cy="390525"/>
          </a:xfrm>
          <a:prstGeom prst="rect">
            <a:avLst/>
          </a:prstGeom>
        </p:spPr>
      </p:pic>
      <p:pic>
        <p:nvPicPr>
          <p:cNvPr id="12" name="图片 11"/>
          <p:cNvPicPr>
            <a:picLocks noChangeAspect="1"/>
          </p:cNvPicPr>
          <p:nvPr/>
        </p:nvPicPr>
        <p:blipFill>
          <a:blip r:embed="rId5"/>
          <a:stretch>
            <a:fillRect/>
          </a:stretch>
        </p:blipFill>
        <p:spPr>
          <a:xfrm>
            <a:off x="5059045" y="4725035"/>
            <a:ext cx="3801745" cy="996950"/>
          </a:xfrm>
          <a:prstGeom prst="rect">
            <a:avLst/>
          </a:prstGeom>
        </p:spPr>
      </p:pic>
      <p:sp>
        <p:nvSpPr>
          <p:cNvPr id="13" name="灯片编号占位符 12"/>
          <p:cNvSpPr>
            <a:spLocks noGrp="1"/>
          </p:cNvSpPr>
          <p:nvPr>
            <p:ph type="sldNum" sz="quarter" idx="12"/>
          </p:nvPr>
        </p:nvSpPr>
        <p:spPr/>
        <p:txBody>
          <a:bodyPr/>
          <a:p>
            <a:pPr>
              <a:defRPr/>
            </a:pPr>
            <a:fld id="{AC6C5647-07D8-4AFC-B347-73DA68F3AADD}" type="slidenum">
              <a:rPr lang="zh-CN" altLang="en-US"/>
            </a:fld>
            <a:endParaRPr lang="en-US" altLang="zh-CN"/>
          </a:p>
        </p:txBody>
      </p:sp>
      <mc:AlternateContent xmlns:mc="http://schemas.openxmlformats.org/markup-compatibility/2006">
        <mc:Choice xmlns:a14="http://schemas.microsoft.com/office/drawing/2010/main" Requires="a14">
          <p:sp>
            <p:nvSpPr>
              <p:cNvPr id="14" name="文本框 13"/>
              <p:cNvSpPr txBox="1"/>
              <p:nvPr/>
            </p:nvSpPr>
            <p:spPr>
              <a:xfrm>
                <a:off x="8421941" y="1430274"/>
                <a:ext cx="3019425" cy="103441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m>
                            <m:mPr>
                              <m:mcs>
                                <m:mc>
                                  <m:mcPr>
                                    <m:count m:val="1"/>
                                    <m:mcJc m:val="center"/>
                                  </m:mcPr>
                                </m:mc>
                              </m:mcs>
                              <m:ctrlPr>
                                <a:rPr lang="en-US" altLang="zh-CN" i="1">
                                  <a:latin typeface="Cambria Math" panose="02040503050406030204" charset="0"/>
                                  <a:cs typeface="Cambria Math" panose="02040503050406030204" charset="0"/>
                                </a:rPr>
                              </m:ctrlPr>
                            </m:mPr>
                            <m:m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𝑃</m:t>
                                    </m:r>
                                  </m:e>
                                  <m:sub>
                                    <m:r>
                                      <a:rPr lang="en-US" altLang="zh-CN" i="1">
                                        <a:latin typeface="Cambria Math" panose="02040503050406030204" charset="0"/>
                                        <a:cs typeface="Cambria Math" panose="02040503050406030204" charset="0"/>
                                      </a:rPr>
                                      <m:t>1</m:t>
                                    </m:r>
                                  </m:sub>
                                </m:sSub>
                              </m:e>
                            </m:mr>
                            <m:mr>
                              <m:e>
                                <m:r>
                                  <a:rPr lang="en-US" altLang="zh-CN" i="1">
                                    <a:latin typeface="Cambria Math" panose="02040503050406030204" charset="0"/>
                                    <a:cs typeface="Cambria Math" panose="02040503050406030204" charset="0"/>
                                  </a:rPr>
                                  <m:t>⋮</m:t>
                                </m:r>
                              </m:e>
                            </m:mr>
                            <m:m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𝑃</m:t>
                                    </m:r>
                                  </m:e>
                                  <m:sub>
                                    <m:r>
                                      <a:rPr lang="en-US" altLang="zh-CN" i="1">
                                        <a:latin typeface="Cambria Math" panose="02040503050406030204" charset="0"/>
                                        <a:cs typeface="Cambria Math" panose="02040503050406030204" charset="0"/>
                                      </a:rPr>
                                      <m:t>𝑀</m:t>
                                    </m:r>
                                  </m:sub>
                                </m:sSub>
                              </m:e>
                            </m:mr>
                          </m:m>
                        </m:e>
                      </m:d>
                      <m:r>
                        <a:rPr lang="en-US" altLang="zh-CN" i="1">
                          <a:latin typeface="Cambria Math" panose="02040503050406030204" charset="0"/>
                          <a:cs typeface="Cambria Math" panose="02040503050406030204" charset="0"/>
                        </a:rPr>
                        <m:t>𝑢</m:t>
                      </m:r>
                      <m:r>
                        <a:rPr lang="en-US" altLang="zh-CN" i="1">
                          <a:latin typeface="Cambria Math" panose="02040503050406030204" charset="0"/>
                          <a:cs typeface="Cambria Math" panose="02040503050406030204" charset="0"/>
                        </a:rPr>
                        <m:t>≥</m:t>
                      </m:r>
                      <m:d>
                        <m:dPr>
                          <m:begChr m:val="["/>
                          <m:endChr m:val="]"/>
                          <m:ctrlPr>
                            <a:rPr lang="en-US" altLang="zh-CN" i="1">
                              <a:latin typeface="Cambria Math" panose="02040503050406030204" charset="0"/>
                              <a:cs typeface="Cambria Math" panose="02040503050406030204" charset="0"/>
                            </a:rPr>
                          </m:ctrlPr>
                        </m:dPr>
                        <m:e>
                          <m:m>
                            <m:mPr>
                              <m:mcs>
                                <m:mc>
                                  <m:mcPr>
                                    <m:count m:val="1"/>
                                    <m:mcJc m:val="center"/>
                                  </m:mcPr>
                                </m:mc>
                              </m:mcs>
                              <m:ctrlPr>
                                <a:rPr lang="en-US" altLang="zh-CN" i="1">
                                  <a:latin typeface="Cambria Math" panose="02040503050406030204" charset="0"/>
                                  <a:cs typeface="Cambria Math" panose="02040503050406030204" charset="0"/>
                                </a:rPr>
                              </m:ctrlPr>
                            </m:mPr>
                            <m:mr>
                              <m:e>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𝑐</m:t>
                                    </m:r>
                                  </m:e>
                                  <m:sub>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sup>
                                </m:sSubSup>
                              </m:e>
                            </m:mr>
                            <m:mr>
                              <m:e>
                                <m:r>
                                  <a:rPr lang="en-US" altLang="zh-CN" i="1">
                                    <a:latin typeface="Cambria Math" panose="02040503050406030204" charset="0"/>
                                    <a:cs typeface="Cambria Math" panose="02040503050406030204" charset="0"/>
                                  </a:rPr>
                                  <m:t>⋮</m:t>
                                </m:r>
                              </m:e>
                            </m:mr>
                            <m:mr>
                              <m:e>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𝑐</m:t>
                                    </m:r>
                                  </m:e>
                                  <m:sub>
                                    <m:r>
                                      <a:rPr lang="en-US" altLang="zh-CN" i="1">
                                        <a:latin typeface="Cambria Math" panose="02040503050406030204" charset="0"/>
                                        <a:cs typeface="Cambria Math" panose="02040503050406030204" charset="0"/>
                                      </a:rPr>
                                      <m:t>𝑀</m:t>
                                    </m:r>
                                  </m:sub>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sup>
                                </m:sSubSup>
                              </m:e>
                            </m:mr>
                          </m:m>
                        </m:e>
                      </m:d>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𝑥</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sup>
                      </m:sSup>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𝑋</m:t>
                          </m:r>
                        </m:e>
                        <m:sub>
                          <m:r>
                            <a:rPr lang="en-US" altLang="zh-CN" i="1">
                              <a:latin typeface="Cambria Math" panose="02040503050406030204" charset="0"/>
                              <a:cs typeface="Cambria Math" panose="02040503050406030204" charset="0"/>
                            </a:rPr>
                            <m:t>𝑠𝑎𝑓𝑒</m:t>
                          </m:r>
                        </m:sub>
                      </m:sSub>
                    </m:oMath>
                  </m:oMathPara>
                </a14:m>
                <a:endParaRPr lang="en-US" altLang="zh-CN"/>
              </a:p>
            </p:txBody>
          </p:sp>
        </mc:Choice>
        <mc:Fallback>
          <p:sp>
            <p:nvSpPr>
              <p:cNvPr id="14" name="文本框 13"/>
              <p:cNvSpPr txBox="1">
                <a:spLocks noRot="1" noChangeAspect="1" noMove="1" noResize="1" noEditPoints="1" noAdjustHandles="1" noChangeArrowheads="1" noChangeShapeType="1" noTextEdit="1"/>
              </p:cNvSpPr>
              <p:nvPr/>
            </p:nvSpPr>
            <p:spPr>
              <a:xfrm>
                <a:off x="8421941" y="1430274"/>
                <a:ext cx="3019425" cy="1034415"/>
              </a:xfrm>
              <a:prstGeom prst="rect">
                <a:avLst/>
              </a:prstGeom>
              <a:blipFill rotWithShape="1">
                <a:blip r:embed="rId6"/>
                <a:stretch>
                  <a:fillRect l="-19" t="-25" r="19" b="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3769360" y="2044700"/>
                <a:ext cx="4064000" cy="373380"/>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𝑢</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𝑈</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𝑠</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𝑡</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𝑃𝑢</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𝑐</m:t>
                          </m:r>
                        </m:e>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sup>
                      </m:sSup>
                    </m:oMath>
                  </m:oMathPara>
                </a14:m>
                <a:endParaRPr lang="en-US" altLang="zh-CN"/>
              </a:p>
            </p:txBody>
          </p:sp>
        </mc:Choice>
        <mc:Fallback>
          <p:sp>
            <p:nvSpPr>
              <p:cNvPr id="15" name="文本框 14"/>
              <p:cNvSpPr txBox="1">
                <a:spLocks noRot="1" noChangeAspect="1" noMove="1" noResize="1" noEditPoints="1" noAdjustHandles="1" noChangeArrowheads="1" noChangeShapeType="1" noTextEdit="1"/>
              </p:cNvSpPr>
              <p:nvPr/>
            </p:nvSpPr>
            <p:spPr>
              <a:xfrm>
                <a:off x="3769360" y="2044700"/>
                <a:ext cx="4064000" cy="373380"/>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nvSpPr>
            <p:spPr>
              <a:xfrm>
                <a:off x="2368486" y="2739009"/>
                <a:ext cx="1960880" cy="1034415"/>
              </a:xfrm>
              <a:prstGeom prst="rect">
                <a:avLst/>
              </a:prstGeom>
              <a:noFill/>
            </p:spPr>
            <p:txBody>
              <a:bodyPr wrap="none" rtlCol="0" anchor="t">
                <a:spAutoFit/>
              </a:bodyPr>
              <a:p>
                <a:pPr algn="l"/>
                <a14:m>
                  <m:oMathPara xmlns:m="http://schemas.openxmlformats.org/officeDocument/2006/math">
                    <m:oMathParaPr>
                      <m:jc m:val="center"/>
                    </m:oMathParaPr>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m>
                            <m:mPr>
                              <m:mcs>
                                <m:mc>
                                  <m:mcPr>
                                    <m:count m:val="1"/>
                                    <m:mcJc m:val="center"/>
                                  </m:mcPr>
                                </m:mc>
                              </m:mcs>
                              <m:ctrlPr>
                                <a:rPr lang="en-US" altLang="zh-CN" i="1">
                                  <a:latin typeface="Cambria Math" panose="02040503050406030204" charset="0"/>
                                  <a:cs typeface="Cambria Math" panose="02040503050406030204" charset="0"/>
                                </a:rPr>
                              </m:ctrlPr>
                            </m:mPr>
                            <m:m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𝑃</m:t>
                                    </m:r>
                                  </m:e>
                                  <m:sub>
                                    <m:r>
                                      <a:rPr lang="en-US" altLang="zh-CN" i="1">
                                        <a:latin typeface="Cambria Math" panose="02040503050406030204" charset="0"/>
                                        <a:cs typeface="Cambria Math" panose="02040503050406030204" charset="0"/>
                                      </a:rPr>
                                      <m:t>1</m:t>
                                    </m:r>
                                  </m:sub>
                                </m:sSub>
                              </m:e>
                            </m:mr>
                            <m:mr>
                              <m:e>
                                <m:r>
                                  <a:rPr lang="en-US" altLang="zh-CN" i="1">
                                    <a:latin typeface="Cambria Math" panose="02040503050406030204" charset="0"/>
                                    <a:cs typeface="Cambria Math" panose="02040503050406030204" charset="0"/>
                                  </a:rPr>
                                  <m:t>⋮</m:t>
                                </m:r>
                              </m:e>
                            </m:mr>
                            <m:m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𝑃</m:t>
                                    </m:r>
                                  </m:e>
                                  <m:sub>
                                    <m:r>
                                      <a:rPr lang="en-US" altLang="zh-CN" i="1">
                                        <a:latin typeface="Cambria Math" panose="02040503050406030204" charset="0"/>
                                        <a:cs typeface="Cambria Math" panose="02040503050406030204" charset="0"/>
                                      </a:rPr>
                                      <m:t>𝑀</m:t>
                                    </m:r>
                                  </m:sub>
                                </m:sSub>
                              </m:e>
                            </m:mr>
                          </m:m>
                        </m:e>
                      </m:d>
                      <m:d>
                        <m:dPr>
                          <m:begChr m:val="["/>
                          <m:endChr m:val="]"/>
                          <m:ctrlPr>
                            <a:rPr lang="en-US" altLang="zh-CN" i="1">
                              <a:latin typeface="Cambria Math" panose="02040503050406030204" charset="0"/>
                              <a:cs typeface="Cambria Math" panose="02040503050406030204" charset="0"/>
                            </a:rPr>
                          </m:ctrlPr>
                        </m:dPr>
                        <m:e>
                          <m:m>
                            <m:mPr>
                              <m:mcs>
                                <m:mc>
                                  <m:mcPr>
                                    <m:count m:val="1"/>
                                    <m:mcJc m:val="center"/>
                                  </m:mcPr>
                                </m:mc>
                              </m:mcs>
                              <m:ctrlPr>
                                <a:rPr lang="en-US" altLang="zh-CN" i="1">
                                  <a:latin typeface="Cambria Math" panose="02040503050406030204" charset="0"/>
                                  <a:cs typeface="Cambria Math" panose="02040503050406030204" charset="0"/>
                                </a:rPr>
                              </m:ctrlPr>
                            </m:mPr>
                            <m:m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𝑢</m:t>
                                    </m:r>
                                  </m:e>
                                  <m:sub>
                                    <m:r>
                                      <a:rPr lang="en-US" altLang="zh-CN" i="1">
                                        <a:latin typeface="Cambria Math" panose="02040503050406030204" charset="0"/>
                                        <a:cs typeface="Cambria Math" panose="02040503050406030204" charset="0"/>
                                      </a:rPr>
                                      <m:t>1</m:t>
                                    </m:r>
                                  </m:sub>
                                </m:sSub>
                              </m:e>
                            </m:mr>
                            <m:mr>
                              <m:e>
                                <m:r>
                                  <a:rPr lang="en-US" altLang="zh-CN" i="1">
                                    <a:latin typeface="Cambria Math" panose="02040503050406030204" charset="0"/>
                                    <a:cs typeface="Cambria Math" panose="02040503050406030204" charset="0"/>
                                  </a:rPr>
                                  <m:t>⋮</m:t>
                                </m:r>
                              </m:e>
                            </m:mr>
                            <m:m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𝑢</m:t>
                                    </m:r>
                                  </m:e>
                                  <m:sub>
                                    <m:r>
                                      <a:rPr lang="en-US" altLang="zh-CN" i="1">
                                        <a:latin typeface="Cambria Math" panose="02040503050406030204" charset="0"/>
                                        <a:cs typeface="Cambria Math" panose="02040503050406030204" charset="0"/>
                                      </a:rPr>
                                      <m:t>𝑀</m:t>
                                    </m:r>
                                  </m:sub>
                                </m:sSub>
                              </m:e>
                            </m:mr>
                          </m:m>
                        </m:e>
                      </m:d>
                      <m:r>
                        <a:rPr lang="en-US" altLang="zh-CN" i="1">
                          <a:latin typeface="Cambria Math" panose="02040503050406030204" charset="0"/>
                          <a:cs typeface="Cambria Math" panose="02040503050406030204" charset="0"/>
                        </a:rPr>
                        <m:t>≥</m:t>
                      </m:r>
                      <m:d>
                        <m:dPr>
                          <m:begChr m:val="["/>
                          <m:endChr m:val="]"/>
                          <m:ctrlPr>
                            <a:rPr lang="en-US" altLang="zh-CN" i="1">
                              <a:latin typeface="Cambria Math" panose="02040503050406030204" charset="0"/>
                              <a:cs typeface="Cambria Math" panose="02040503050406030204" charset="0"/>
                            </a:rPr>
                          </m:ctrlPr>
                        </m:dPr>
                        <m:e>
                          <m:m>
                            <m:mPr>
                              <m:mcs>
                                <m:mc>
                                  <m:mcPr>
                                    <m:count m:val="1"/>
                                    <m:mcJc m:val="center"/>
                                  </m:mcPr>
                                </m:mc>
                              </m:mcs>
                              <m:ctrlPr>
                                <a:rPr lang="en-US" altLang="zh-CN" i="1">
                                  <a:latin typeface="Cambria Math" panose="02040503050406030204" charset="0"/>
                                  <a:cs typeface="Cambria Math" panose="02040503050406030204" charset="0"/>
                                </a:rPr>
                              </m:ctrlPr>
                            </m:mPr>
                            <m:mr>
                              <m:e>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𝑐</m:t>
                                    </m:r>
                                  </m:e>
                                  <m:sub>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sup>
                                </m:sSubSup>
                              </m:e>
                            </m:mr>
                            <m:mr>
                              <m:e>
                                <m:r>
                                  <a:rPr lang="en-US" altLang="zh-CN" i="1">
                                    <a:latin typeface="Cambria Math" panose="02040503050406030204" charset="0"/>
                                    <a:cs typeface="Cambria Math" panose="02040503050406030204" charset="0"/>
                                  </a:rPr>
                                  <m:t>⋮</m:t>
                                </m:r>
                              </m:e>
                            </m:mr>
                            <m:mr>
                              <m:e>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𝑐</m:t>
                                    </m:r>
                                  </m:e>
                                  <m:sub>
                                    <m:r>
                                      <a:rPr lang="en-US" altLang="zh-CN" i="1">
                                        <a:latin typeface="Cambria Math" panose="02040503050406030204" charset="0"/>
                                        <a:cs typeface="Cambria Math" panose="02040503050406030204" charset="0"/>
                                      </a:rPr>
                                      <m:t>𝑀</m:t>
                                    </m:r>
                                  </m:sub>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sup>
                                </m:sSubSup>
                              </m:e>
                            </m:mr>
                          </m:m>
                        </m:e>
                      </m:d>
                    </m:oMath>
                  </m:oMathPara>
                </a14:m>
                <a:endParaRPr lang="en-US" altLang="zh-CN"/>
              </a:p>
            </p:txBody>
          </p:sp>
        </mc:Choice>
        <mc:Fallback>
          <p:sp>
            <p:nvSpPr>
              <p:cNvPr id="16" name="文本框 15"/>
              <p:cNvSpPr txBox="1">
                <a:spLocks noRot="1" noChangeAspect="1" noMove="1" noResize="1" noEditPoints="1" noAdjustHandles="1" noChangeArrowheads="1" noChangeShapeType="1" noTextEdit="1"/>
              </p:cNvSpPr>
              <p:nvPr/>
            </p:nvSpPr>
            <p:spPr>
              <a:xfrm>
                <a:off x="2368486" y="2739009"/>
                <a:ext cx="1960880" cy="1034415"/>
              </a:xfrm>
              <a:prstGeom prst="rect">
                <a:avLst/>
              </a:prstGeom>
              <a:blipFill rotWithShape="1">
                <a:blip r:embed="rId8"/>
                <a:stretch>
                  <a:fillRect l="-29" t="-25" r="29" b="25"/>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descr="figure_1"/>
          <p:cNvPicPr>
            <a:picLocks noChangeAspect="1"/>
          </p:cNvPicPr>
          <p:nvPr/>
        </p:nvPicPr>
        <p:blipFill>
          <a:blip r:embed="rId1"/>
          <a:stretch>
            <a:fillRect/>
          </a:stretch>
        </p:blipFill>
        <p:spPr>
          <a:xfrm>
            <a:off x="3455670" y="1107440"/>
            <a:ext cx="3199831" cy="2534400"/>
          </a:xfrm>
          <a:prstGeom prst="rect">
            <a:avLst/>
          </a:prstGeom>
        </p:spPr>
      </p:pic>
      <p:pic>
        <p:nvPicPr>
          <p:cNvPr id="8" name="图片 7" descr="figure_3"/>
          <p:cNvPicPr>
            <a:picLocks noChangeAspect="1"/>
          </p:cNvPicPr>
          <p:nvPr/>
        </p:nvPicPr>
        <p:blipFill>
          <a:blip r:embed="rId2"/>
          <a:stretch>
            <a:fillRect/>
          </a:stretch>
        </p:blipFill>
        <p:spPr>
          <a:xfrm>
            <a:off x="3455670" y="3602355"/>
            <a:ext cx="3199831" cy="2534400"/>
          </a:xfrm>
          <a:prstGeom prst="rect">
            <a:avLst/>
          </a:prstGeom>
        </p:spPr>
      </p:pic>
      <p:sp>
        <p:nvSpPr>
          <p:cNvPr id="2" name="文本占位符 1"/>
          <p:cNvSpPr>
            <a:spLocks noGrp="1"/>
          </p:cNvSpPr>
          <p:nvPr>
            <p:ph type="body" idx="1"/>
          </p:nvPr>
        </p:nvSpPr>
        <p:spPr>
          <a:xfrm>
            <a:off x="801370" y="6167755"/>
            <a:ext cx="10515600" cy="356235"/>
          </a:xfrm>
        </p:spPr>
        <p:txBody>
          <a:bodyPr/>
          <a:p>
            <a:r>
              <a:rPr lang="zh-CN" altLang="en-US"/>
              <a:t>训练收敛，二维系统下可逼近</a:t>
            </a:r>
            <a:r>
              <a:rPr lang="en-US" altLang="zh-CN"/>
              <a:t>CIS,</a:t>
            </a:r>
            <a:r>
              <a:rPr lang="zh-CN" altLang="en-US"/>
              <a:t>由于是充分</a:t>
            </a:r>
            <a:r>
              <a:rPr lang="zh-CN" altLang="en-US"/>
              <a:t>条件，比最大</a:t>
            </a:r>
            <a:r>
              <a:rPr lang="en-US" altLang="zh-CN"/>
              <a:t>CIS</a:t>
            </a:r>
            <a:r>
              <a:rPr lang="zh-CN" altLang="en-US"/>
              <a:t>小</a:t>
            </a:r>
            <a:endParaRPr lang="zh-CN" altLang="en-US"/>
          </a:p>
        </p:txBody>
      </p:sp>
      <p:sp>
        <p:nvSpPr>
          <p:cNvPr id="3" name="文本占位符 2"/>
          <p:cNvSpPr>
            <a:spLocks noGrp="1"/>
          </p:cNvSpPr>
          <p:nvPr>
            <p:ph type="body" idx="13"/>
          </p:nvPr>
        </p:nvSpPr>
        <p:spPr/>
        <p:txBody>
          <a:bodyPr/>
          <a:p>
            <a:r>
              <a:rPr lang="en-US" altLang="zh-CN"/>
              <a:t>&gt;&gt;&gt;</a:t>
            </a:r>
            <a:r>
              <a:t>二维实验</a:t>
            </a:r>
            <a:r>
              <a:t>结果</a:t>
            </a:r>
          </a:p>
        </p:txBody>
      </p:sp>
      <p:sp>
        <p:nvSpPr>
          <p:cNvPr id="4" name="文本占位符 3"/>
          <p:cNvSpPr>
            <a:spLocks noGrp="1"/>
          </p:cNvSpPr>
          <p:nvPr>
            <p:ph type="body" idx="14"/>
          </p:nvPr>
        </p:nvSpPr>
        <p:spPr>
          <a:xfrm>
            <a:off x="805180" y="111760"/>
            <a:ext cx="7627620" cy="448310"/>
          </a:xfrm>
        </p:spPr>
        <p:txBody>
          <a:bodyPr/>
          <a:p>
            <a:r>
              <a:rPr>
                <a:sym typeface="+mn-ea"/>
              </a:rPr>
              <a:t>基于学习的分片仿射控制障碍网络</a:t>
            </a:r>
            <a:r>
              <a:rPr lang="en-US" altLang="zh-CN">
                <a:sym typeface="+mn-ea"/>
              </a:rPr>
              <a:t>(2.3)</a:t>
            </a:r>
            <a:endParaRPr lang="zh-CN" altLang="en-US"/>
          </a:p>
          <a:p>
            <a:endParaRPr lang="zh-CN" altLang="en-US"/>
          </a:p>
        </p:txBody>
      </p:sp>
      <p:sp>
        <p:nvSpPr>
          <p:cNvPr id="5" name="灯片编号占位符 4"/>
          <p:cNvSpPr>
            <a:spLocks noGrp="1"/>
          </p:cNvSpPr>
          <p:nvPr>
            <p:ph type="sldNum" sz="quarter" idx="12"/>
          </p:nvPr>
        </p:nvSpPr>
        <p:spPr/>
        <p:txBody>
          <a:bodyPr/>
          <a:p>
            <a:pPr>
              <a:defRPr/>
            </a:pPr>
            <a:fld id="{AC6C5647-07D8-4AFC-B347-73DA68F3AADD}" type="slidenum">
              <a:rPr lang="zh-CN" altLang="en-US"/>
            </a:fld>
            <a:endParaRPr lang="zh-CN" altLang="en-US"/>
          </a:p>
        </p:txBody>
      </p:sp>
      <p:pic>
        <p:nvPicPr>
          <p:cNvPr id="6" name="图片 5" descr="figure_4"/>
          <p:cNvPicPr>
            <a:picLocks noChangeAspect="1"/>
          </p:cNvPicPr>
          <p:nvPr/>
        </p:nvPicPr>
        <p:blipFill>
          <a:blip r:embed="rId3"/>
          <a:stretch>
            <a:fillRect/>
          </a:stretch>
        </p:blipFill>
        <p:spPr>
          <a:xfrm>
            <a:off x="362852" y="1107440"/>
            <a:ext cx="3158490" cy="2533015"/>
          </a:xfrm>
          <a:prstGeom prst="rect">
            <a:avLst/>
          </a:prstGeom>
        </p:spPr>
      </p:pic>
      <p:pic>
        <p:nvPicPr>
          <p:cNvPr id="7" name="图片 6" descr="figure_2"/>
          <p:cNvPicPr>
            <a:picLocks noChangeAspect="1"/>
          </p:cNvPicPr>
          <p:nvPr/>
        </p:nvPicPr>
        <p:blipFill>
          <a:blip r:embed="rId4"/>
          <a:stretch>
            <a:fillRect/>
          </a:stretch>
        </p:blipFill>
        <p:spPr>
          <a:xfrm>
            <a:off x="282575" y="3602355"/>
            <a:ext cx="3238767" cy="2534400"/>
          </a:xfrm>
          <a:prstGeom prst="rect">
            <a:avLst/>
          </a:prstGeom>
        </p:spPr>
      </p:pic>
      <p:pic>
        <p:nvPicPr>
          <p:cNvPr id="10" name="图片 9" descr="figure_9"/>
          <p:cNvPicPr>
            <a:picLocks noChangeAspect="1"/>
          </p:cNvPicPr>
          <p:nvPr/>
        </p:nvPicPr>
        <p:blipFill>
          <a:blip r:embed="rId5"/>
          <a:stretch>
            <a:fillRect/>
          </a:stretch>
        </p:blipFill>
        <p:spPr>
          <a:xfrm>
            <a:off x="7122795" y="3692525"/>
            <a:ext cx="2497925" cy="2534400"/>
          </a:xfrm>
          <a:prstGeom prst="rect">
            <a:avLst/>
          </a:prstGeom>
        </p:spPr>
      </p:pic>
      <p:pic>
        <p:nvPicPr>
          <p:cNvPr id="11" name="图片 10" descr="figure_8"/>
          <p:cNvPicPr>
            <a:picLocks noChangeAspect="1"/>
          </p:cNvPicPr>
          <p:nvPr/>
        </p:nvPicPr>
        <p:blipFill>
          <a:blip r:embed="rId6"/>
          <a:stretch>
            <a:fillRect/>
          </a:stretch>
        </p:blipFill>
        <p:spPr>
          <a:xfrm>
            <a:off x="6960870" y="965200"/>
            <a:ext cx="3718059" cy="2534400"/>
          </a:xfrm>
          <a:prstGeom prst="rect">
            <a:avLst/>
          </a:prstGeom>
        </p:spPr>
      </p:pic>
      <p:cxnSp>
        <p:nvCxnSpPr>
          <p:cNvPr id="12" name="直接箭头连接符 11"/>
          <p:cNvCxnSpPr/>
          <p:nvPr/>
        </p:nvCxnSpPr>
        <p:spPr>
          <a:xfrm flipH="1">
            <a:off x="9695180" y="1512570"/>
            <a:ext cx="530225" cy="231140"/>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10192385" y="1329055"/>
            <a:ext cx="1901825" cy="368300"/>
          </a:xfrm>
          <a:prstGeom prst="rect">
            <a:avLst/>
          </a:prstGeom>
          <a:noFill/>
        </p:spPr>
        <p:txBody>
          <a:bodyPr wrap="square" rtlCol="0">
            <a:spAutoFit/>
          </a:bodyPr>
          <a:p>
            <a:r>
              <a:rPr lang="zh-CN" altLang="en-US"/>
              <a:t>理论最大</a:t>
            </a:r>
            <a:r>
              <a:rPr lang="zh-CN" altLang="en-US"/>
              <a:t>安全集</a:t>
            </a:r>
            <a:endParaRPr lang="zh-CN" altLang="en-US"/>
          </a:p>
        </p:txBody>
      </p:sp>
      <p:cxnSp>
        <p:nvCxnSpPr>
          <p:cNvPr id="14" name="直接箭头连接符 13"/>
          <p:cNvCxnSpPr/>
          <p:nvPr/>
        </p:nvCxnSpPr>
        <p:spPr>
          <a:xfrm flipH="1" flipV="1">
            <a:off x="9538970" y="2409825"/>
            <a:ext cx="863600" cy="224790"/>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10287635" y="2423795"/>
            <a:ext cx="1597025" cy="368300"/>
          </a:xfrm>
          <a:prstGeom prst="rect">
            <a:avLst/>
          </a:prstGeom>
          <a:noFill/>
        </p:spPr>
        <p:txBody>
          <a:bodyPr wrap="square" rtlCol="0">
            <a:spAutoFit/>
          </a:bodyPr>
          <a:p>
            <a:r>
              <a:rPr lang="zh-CN" altLang="en-US"/>
              <a:t>网络逼近</a:t>
            </a:r>
            <a:r>
              <a:rPr lang="zh-CN" altLang="en-US"/>
              <a:t>集合</a:t>
            </a:r>
            <a:endParaRPr lang="zh-CN" altLang="en-US"/>
          </a:p>
        </p:txBody>
      </p:sp>
      <p:sp>
        <p:nvSpPr>
          <p:cNvPr id="16" name="椭圆 15"/>
          <p:cNvSpPr/>
          <p:nvPr/>
        </p:nvSpPr>
        <p:spPr>
          <a:xfrm>
            <a:off x="2691765" y="3021965"/>
            <a:ext cx="761365" cy="33972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椭圆 16"/>
          <p:cNvSpPr/>
          <p:nvPr/>
        </p:nvSpPr>
        <p:spPr>
          <a:xfrm>
            <a:off x="2689860" y="5528310"/>
            <a:ext cx="761365" cy="33972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椭圆 17"/>
          <p:cNvSpPr/>
          <p:nvPr/>
        </p:nvSpPr>
        <p:spPr>
          <a:xfrm>
            <a:off x="5803900" y="3033395"/>
            <a:ext cx="761365" cy="33972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椭圆 18"/>
          <p:cNvSpPr/>
          <p:nvPr/>
        </p:nvSpPr>
        <p:spPr>
          <a:xfrm>
            <a:off x="4797425" y="5365115"/>
            <a:ext cx="1774825" cy="33972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0" name="直接箭头连接符 19"/>
          <p:cNvCxnSpPr>
            <a:stCxn id="16" idx="5"/>
            <a:endCxn id="24" idx="0"/>
          </p:cNvCxnSpPr>
          <p:nvPr/>
        </p:nvCxnSpPr>
        <p:spPr>
          <a:xfrm>
            <a:off x="3341370" y="3312160"/>
            <a:ext cx="488315" cy="14541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21" name="直接箭头连接符 20"/>
          <p:cNvCxnSpPr>
            <a:stCxn id="17" idx="0"/>
            <a:endCxn id="24" idx="1"/>
          </p:cNvCxnSpPr>
          <p:nvPr/>
        </p:nvCxnSpPr>
        <p:spPr>
          <a:xfrm flipV="1">
            <a:off x="3070860" y="3671570"/>
            <a:ext cx="146685" cy="185674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22" name="直接箭头连接符 21"/>
          <p:cNvCxnSpPr>
            <a:stCxn id="18" idx="3"/>
            <a:endCxn id="24" idx="3"/>
          </p:cNvCxnSpPr>
          <p:nvPr/>
        </p:nvCxnSpPr>
        <p:spPr>
          <a:xfrm flipH="1">
            <a:off x="4441190" y="3323590"/>
            <a:ext cx="1474470" cy="34798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23" name="直接箭头连接符 22"/>
          <p:cNvCxnSpPr>
            <a:stCxn id="19" idx="0"/>
            <a:endCxn id="24" idx="2"/>
          </p:cNvCxnSpPr>
          <p:nvPr/>
        </p:nvCxnSpPr>
        <p:spPr>
          <a:xfrm flipH="1" flipV="1">
            <a:off x="3829685" y="3885565"/>
            <a:ext cx="1855470" cy="147955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24" name="圆角矩形 23"/>
          <p:cNvSpPr/>
          <p:nvPr/>
        </p:nvSpPr>
        <p:spPr>
          <a:xfrm>
            <a:off x="3217545" y="3457575"/>
            <a:ext cx="1223645" cy="427990"/>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稳定收敛</a:t>
            </a:r>
            <a:endParaRPr lang="zh-CN" altLang="en-US">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descr="4Dcbf"/>
          <p:cNvPicPr>
            <a:picLocks noChangeAspect="1"/>
          </p:cNvPicPr>
          <p:nvPr/>
        </p:nvPicPr>
        <p:blipFill>
          <a:blip r:embed="rId1"/>
          <a:stretch>
            <a:fillRect/>
          </a:stretch>
        </p:blipFill>
        <p:spPr>
          <a:xfrm>
            <a:off x="3455670" y="3602355"/>
            <a:ext cx="3199831" cy="2534400"/>
          </a:xfrm>
          <a:prstGeom prst="rect">
            <a:avLst/>
          </a:prstGeom>
        </p:spPr>
      </p:pic>
      <p:pic>
        <p:nvPicPr>
          <p:cNvPr id="5" name="图片 4" descr="4Dsafe"/>
          <p:cNvPicPr>
            <a:picLocks noChangeAspect="1"/>
          </p:cNvPicPr>
          <p:nvPr/>
        </p:nvPicPr>
        <p:blipFill>
          <a:blip r:embed="rId2"/>
          <a:stretch>
            <a:fillRect/>
          </a:stretch>
        </p:blipFill>
        <p:spPr>
          <a:xfrm>
            <a:off x="3455670" y="1107440"/>
            <a:ext cx="3199831" cy="2534400"/>
          </a:xfrm>
          <a:prstGeom prst="rect">
            <a:avLst/>
          </a:prstGeom>
        </p:spPr>
      </p:pic>
      <p:pic>
        <p:nvPicPr>
          <p:cNvPr id="6" name="图片 5" descr="4Dunsafe"/>
          <p:cNvPicPr>
            <a:picLocks noChangeAspect="1"/>
          </p:cNvPicPr>
          <p:nvPr/>
        </p:nvPicPr>
        <p:blipFill>
          <a:blip r:embed="rId3"/>
          <a:stretch>
            <a:fillRect/>
          </a:stretch>
        </p:blipFill>
        <p:spPr>
          <a:xfrm>
            <a:off x="362852" y="3602355"/>
            <a:ext cx="3199831" cy="2534400"/>
          </a:xfrm>
          <a:prstGeom prst="rect">
            <a:avLst/>
          </a:prstGeom>
        </p:spPr>
      </p:pic>
      <p:pic>
        <p:nvPicPr>
          <p:cNvPr id="7" name="图片 6" descr="4Dall"/>
          <p:cNvPicPr>
            <a:picLocks noChangeAspect="1"/>
          </p:cNvPicPr>
          <p:nvPr/>
        </p:nvPicPr>
        <p:blipFill>
          <a:blip r:embed="rId4"/>
          <a:stretch>
            <a:fillRect/>
          </a:stretch>
        </p:blipFill>
        <p:spPr>
          <a:xfrm>
            <a:off x="362852" y="1107440"/>
            <a:ext cx="3199831" cy="2534400"/>
          </a:xfrm>
          <a:prstGeom prst="rect">
            <a:avLst/>
          </a:prstGeom>
        </p:spPr>
      </p:pic>
      <p:sp>
        <p:nvSpPr>
          <p:cNvPr id="2" name="文本占位符 1"/>
          <p:cNvSpPr>
            <a:spLocks noGrp="1"/>
          </p:cNvSpPr>
          <p:nvPr>
            <p:ph type="body" idx="1"/>
          </p:nvPr>
        </p:nvSpPr>
        <p:spPr>
          <a:xfrm>
            <a:off x="859155" y="6141720"/>
            <a:ext cx="10515600" cy="356235"/>
          </a:xfrm>
        </p:spPr>
        <p:txBody>
          <a:bodyPr/>
          <a:p>
            <a:r>
              <a:rPr lang="zh-CN" altLang="en-US"/>
              <a:t>四维同样可以有效</a:t>
            </a:r>
            <a:r>
              <a:rPr lang="zh-CN" altLang="en-US"/>
              <a:t>收敛，逼近</a:t>
            </a:r>
            <a:r>
              <a:rPr lang="en-US" altLang="zh-CN"/>
              <a:t>CIS</a:t>
            </a:r>
            <a:endParaRPr lang="en-US" altLang="zh-CN"/>
          </a:p>
        </p:txBody>
      </p:sp>
      <p:sp>
        <p:nvSpPr>
          <p:cNvPr id="3" name="文本占位符 2"/>
          <p:cNvSpPr>
            <a:spLocks noGrp="1"/>
          </p:cNvSpPr>
          <p:nvPr>
            <p:ph type="body" idx="13"/>
          </p:nvPr>
        </p:nvSpPr>
        <p:spPr/>
        <p:txBody>
          <a:bodyPr/>
          <a:p>
            <a:r>
              <a:rPr lang="en-US" altLang="zh-CN"/>
              <a:t>&gt;&gt;&gt;</a:t>
            </a:r>
            <a:r>
              <a:t>四维实验</a:t>
            </a:r>
            <a:r>
              <a:t>结果</a:t>
            </a:r>
          </a:p>
        </p:txBody>
      </p:sp>
      <p:sp>
        <p:nvSpPr>
          <p:cNvPr id="4" name="文本占位符 3"/>
          <p:cNvSpPr>
            <a:spLocks noGrp="1"/>
          </p:cNvSpPr>
          <p:nvPr>
            <p:ph type="body" idx="14"/>
          </p:nvPr>
        </p:nvSpPr>
        <p:spPr>
          <a:xfrm>
            <a:off x="805180" y="111760"/>
            <a:ext cx="7673975" cy="448310"/>
          </a:xfrm>
        </p:spPr>
        <p:txBody>
          <a:bodyPr/>
          <a:p>
            <a:r>
              <a:rPr lang="zh-CN" altLang="en-US"/>
              <a:t>基于学习的分片仿射控制障碍网络（</a:t>
            </a:r>
            <a:r>
              <a:rPr lang="en-US" altLang="zh-CN"/>
              <a:t>2.3</a:t>
            </a:r>
            <a:r>
              <a:rPr lang="zh-CN" altLang="en-US"/>
              <a:t>）</a:t>
            </a:r>
            <a:endParaRPr lang="zh-CN" altLang="en-US"/>
          </a:p>
        </p:txBody>
      </p:sp>
      <p:pic>
        <p:nvPicPr>
          <p:cNvPr id="13" name="图片 12" descr="4D-2D"/>
          <p:cNvPicPr>
            <a:picLocks noChangeAspect="1"/>
          </p:cNvPicPr>
          <p:nvPr/>
        </p:nvPicPr>
        <p:blipFill>
          <a:blip r:embed="rId5"/>
          <a:stretch>
            <a:fillRect/>
          </a:stretch>
        </p:blipFill>
        <p:spPr>
          <a:xfrm>
            <a:off x="7152640" y="992505"/>
            <a:ext cx="4358604" cy="2988000"/>
          </a:xfrm>
          <a:prstGeom prst="rect">
            <a:avLst/>
          </a:prstGeom>
        </p:spPr>
      </p:pic>
      <p:sp>
        <p:nvSpPr>
          <p:cNvPr id="20" name="椭圆 19"/>
          <p:cNvSpPr/>
          <p:nvPr/>
        </p:nvSpPr>
        <p:spPr>
          <a:xfrm>
            <a:off x="2691765" y="3021965"/>
            <a:ext cx="761365" cy="33972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椭圆 24"/>
          <p:cNvSpPr/>
          <p:nvPr/>
        </p:nvSpPr>
        <p:spPr>
          <a:xfrm>
            <a:off x="2588260" y="5528310"/>
            <a:ext cx="761365" cy="33972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椭圆 25"/>
          <p:cNvSpPr/>
          <p:nvPr/>
        </p:nvSpPr>
        <p:spPr>
          <a:xfrm>
            <a:off x="5803900" y="3033395"/>
            <a:ext cx="761365" cy="33972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椭圆 26"/>
          <p:cNvSpPr/>
          <p:nvPr/>
        </p:nvSpPr>
        <p:spPr>
          <a:xfrm>
            <a:off x="4865370" y="4603115"/>
            <a:ext cx="1774825" cy="339725"/>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8" name="直接箭头连接符 27"/>
          <p:cNvCxnSpPr>
            <a:endCxn id="32" idx="0"/>
          </p:cNvCxnSpPr>
          <p:nvPr/>
        </p:nvCxnSpPr>
        <p:spPr>
          <a:xfrm>
            <a:off x="3341370" y="3312160"/>
            <a:ext cx="488315" cy="14541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29" name="直接箭头连接符 28"/>
          <p:cNvCxnSpPr>
            <a:stCxn id="25" idx="0"/>
            <a:endCxn id="32" idx="1"/>
          </p:cNvCxnSpPr>
          <p:nvPr/>
        </p:nvCxnSpPr>
        <p:spPr>
          <a:xfrm flipV="1">
            <a:off x="2969260" y="3671570"/>
            <a:ext cx="248285" cy="185674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30" name="直接箭头连接符 29"/>
          <p:cNvCxnSpPr>
            <a:stCxn id="26" idx="3"/>
            <a:endCxn id="32" idx="3"/>
          </p:cNvCxnSpPr>
          <p:nvPr/>
        </p:nvCxnSpPr>
        <p:spPr>
          <a:xfrm flipH="1">
            <a:off x="4441190" y="3323590"/>
            <a:ext cx="1474470" cy="34798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31" name="直接箭头连接符 30"/>
          <p:cNvCxnSpPr>
            <a:stCxn id="27" idx="0"/>
            <a:endCxn id="32" idx="2"/>
          </p:cNvCxnSpPr>
          <p:nvPr/>
        </p:nvCxnSpPr>
        <p:spPr>
          <a:xfrm flipH="1" flipV="1">
            <a:off x="3829685" y="3885565"/>
            <a:ext cx="1923415" cy="71755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32" name="圆角矩形 31"/>
          <p:cNvSpPr/>
          <p:nvPr/>
        </p:nvSpPr>
        <p:spPr>
          <a:xfrm>
            <a:off x="3217545" y="3457575"/>
            <a:ext cx="1223645" cy="427990"/>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稳定收敛</a:t>
            </a:r>
            <a:endParaRPr lang="zh-CN" altLang="en-US">
              <a:solidFill>
                <a:schemeClr val="tx1"/>
              </a:solidFill>
            </a:endParaRPr>
          </a:p>
        </p:txBody>
      </p:sp>
      <p:cxnSp>
        <p:nvCxnSpPr>
          <p:cNvPr id="33" name="直接箭头连接符 32"/>
          <p:cNvCxnSpPr>
            <a:stCxn id="34" idx="1"/>
          </p:cNvCxnSpPr>
          <p:nvPr/>
        </p:nvCxnSpPr>
        <p:spPr>
          <a:xfrm flipH="1">
            <a:off x="8193405" y="819150"/>
            <a:ext cx="1020445" cy="570865"/>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34" name="文本框 33"/>
          <p:cNvSpPr txBox="1"/>
          <p:nvPr/>
        </p:nvSpPr>
        <p:spPr>
          <a:xfrm>
            <a:off x="9213850" y="655955"/>
            <a:ext cx="2962275" cy="325755"/>
          </a:xfrm>
          <a:prstGeom prst="rect">
            <a:avLst/>
          </a:prstGeom>
          <a:noFill/>
        </p:spPr>
        <p:txBody>
          <a:bodyPr wrap="square" rtlCol="0">
            <a:noAutofit/>
          </a:bodyPr>
          <a:p>
            <a:r>
              <a:rPr lang="zh-CN" altLang="en-US"/>
              <a:t>理论最大安全集</a:t>
            </a:r>
            <a:r>
              <a:rPr lang="en-US" altLang="zh-CN"/>
              <a:t>(</a:t>
            </a:r>
            <a:r>
              <a:rPr lang="zh-CN" altLang="en-US"/>
              <a:t>投影</a:t>
            </a:r>
            <a:r>
              <a:rPr lang="en-US" altLang="zh-CN"/>
              <a:t>)</a:t>
            </a:r>
            <a:endParaRPr lang="en-US" altLang="zh-CN"/>
          </a:p>
        </p:txBody>
      </p:sp>
      <p:cxnSp>
        <p:nvCxnSpPr>
          <p:cNvPr id="35" name="直接箭头连接符 34"/>
          <p:cNvCxnSpPr>
            <a:stCxn id="36" idx="0"/>
          </p:cNvCxnSpPr>
          <p:nvPr/>
        </p:nvCxnSpPr>
        <p:spPr>
          <a:xfrm flipH="1" flipV="1">
            <a:off x="8118475" y="1764030"/>
            <a:ext cx="262255" cy="680085"/>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36" name="文本框 35"/>
          <p:cNvSpPr txBox="1"/>
          <p:nvPr/>
        </p:nvSpPr>
        <p:spPr>
          <a:xfrm>
            <a:off x="6929120" y="2444115"/>
            <a:ext cx="2902585" cy="368300"/>
          </a:xfrm>
          <a:prstGeom prst="rect">
            <a:avLst/>
          </a:prstGeom>
          <a:noFill/>
        </p:spPr>
        <p:txBody>
          <a:bodyPr wrap="square" rtlCol="0">
            <a:spAutoFit/>
          </a:bodyPr>
          <a:p>
            <a:r>
              <a:rPr lang="zh-CN" altLang="en-US"/>
              <a:t>网络逼近集合（</a:t>
            </a:r>
            <a:r>
              <a:rPr lang="zh-CN" altLang="en-US"/>
              <a:t>投影）</a:t>
            </a:r>
            <a:endParaRPr lang="zh-CN" altLang="en-US"/>
          </a:p>
        </p:txBody>
      </p:sp>
      <p:sp>
        <p:nvSpPr>
          <p:cNvPr id="37" name="文本框 36"/>
          <p:cNvSpPr txBox="1"/>
          <p:nvPr/>
        </p:nvSpPr>
        <p:spPr>
          <a:xfrm>
            <a:off x="7269480" y="4537710"/>
            <a:ext cx="4064000" cy="645160"/>
          </a:xfrm>
          <a:prstGeom prst="rect">
            <a:avLst/>
          </a:prstGeom>
          <a:noFill/>
        </p:spPr>
        <p:txBody>
          <a:bodyPr wrap="square" rtlCol="0">
            <a:spAutoFit/>
          </a:bodyPr>
          <a:p>
            <a:r>
              <a:rPr lang="zh-CN" altLang="en-US"/>
              <a:t>九维实验结果图太多，</a:t>
            </a:r>
            <a:r>
              <a:rPr lang="zh-CN" altLang="en-US"/>
              <a:t>不便展示。</a:t>
            </a:r>
            <a:endParaRPr lang="zh-CN" altLang="en-US"/>
          </a:p>
          <a:p>
            <a:r>
              <a:rPr lang="zh-CN" altLang="en-US"/>
              <a:t>训练结果见论文</a:t>
            </a:r>
            <a:r>
              <a:rPr lang="zh-CN" altLang="en-US"/>
              <a:t>附录</a:t>
            </a:r>
            <a:endParaRPr lang="zh-CN" altLang="en-US"/>
          </a:p>
        </p:txBody>
      </p:sp>
      <p:sp>
        <p:nvSpPr>
          <p:cNvPr id="38" name="灯片编号占位符 37"/>
          <p:cNvSpPr>
            <a:spLocks noGrp="1"/>
          </p:cNvSpPr>
          <p:nvPr>
            <p:ph type="sldNum" sz="quarter" idx="12"/>
          </p:nvPr>
        </p:nvSpPr>
        <p:spPr/>
        <p:txBody>
          <a:bodyPr/>
          <a:p>
            <a:pPr>
              <a:defRPr/>
            </a:pPr>
            <a:fld id="{AC6C5647-07D8-4AFC-B347-73DA68F3AADD}" type="slidenum">
              <a:rPr lang="zh-CN" altLang="en-US"/>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a:p>
            <a:r>
              <a:rPr lang="zh-CN" altLang="en-US"/>
              <a:t>训练方法的时间复杂度比传统迭代求解方法低，在高维场景下</a:t>
            </a:r>
            <a:r>
              <a:rPr lang="zh-CN" altLang="en-US"/>
              <a:t>能更快得到</a:t>
            </a:r>
            <a:r>
              <a:rPr lang="zh-CN" altLang="en-US"/>
              <a:t>结果</a:t>
            </a:r>
            <a:endParaRPr lang="zh-CN" altLang="en-US"/>
          </a:p>
        </p:txBody>
      </p:sp>
      <p:sp>
        <p:nvSpPr>
          <p:cNvPr id="3" name="文本占位符 2"/>
          <p:cNvSpPr>
            <a:spLocks noGrp="1"/>
          </p:cNvSpPr>
          <p:nvPr>
            <p:ph type="body" idx="13"/>
          </p:nvPr>
        </p:nvSpPr>
        <p:spPr>
          <a:xfrm>
            <a:off x="0" y="670560"/>
            <a:ext cx="9248140" cy="448310"/>
          </a:xfrm>
        </p:spPr>
        <p:txBody>
          <a:bodyPr/>
          <a:p>
            <a:r>
              <a:rPr lang="en-US" altLang="zh-CN"/>
              <a:t>&gt;&gt;&gt;</a:t>
            </a:r>
            <a:r>
              <a:t>与传统方法对比，在高维下需要更短的时间获取安全</a:t>
            </a:r>
            <a:r>
              <a:t>集。</a:t>
            </a:r>
          </a:p>
        </p:txBody>
      </p:sp>
      <p:sp>
        <p:nvSpPr>
          <p:cNvPr id="4" name="文本占位符 3"/>
          <p:cNvSpPr>
            <a:spLocks noGrp="1"/>
          </p:cNvSpPr>
          <p:nvPr>
            <p:ph type="body" idx="14"/>
          </p:nvPr>
        </p:nvSpPr>
        <p:spPr>
          <a:xfrm>
            <a:off x="805180" y="111760"/>
            <a:ext cx="7469505" cy="448310"/>
          </a:xfrm>
        </p:spPr>
        <p:txBody>
          <a:bodyPr/>
          <a:p>
            <a:r>
              <a:rPr>
                <a:sym typeface="+mn-ea"/>
              </a:rPr>
              <a:t>基于学习的分片仿射控制障碍网络（</a:t>
            </a:r>
            <a:r>
              <a:rPr lang="en-US" altLang="zh-CN">
                <a:sym typeface="+mn-ea"/>
              </a:rPr>
              <a:t>2.3</a:t>
            </a:r>
            <a:r>
              <a:rPr>
                <a:sym typeface="+mn-ea"/>
              </a:rPr>
              <a:t>）</a:t>
            </a:r>
            <a:endParaRPr lang="zh-CN" altLang="en-US"/>
          </a:p>
        </p:txBody>
      </p:sp>
      <p:graphicFrame>
        <p:nvGraphicFramePr>
          <p:cNvPr id="5" name="表格 4"/>
          <p:cNvGraphicFramePr/>
          <p:nvPr/>
        </p:nvGraphicFramePr>
        <p:xfrm>
          <a:off x="264160" y="1654810"/>
          <a:ext cx="7404100" cy="2687320"/>
        </p:xfrm>
        <a:graphic>
          <a:graphicData uri="http://schemas.openxmlformats.org/drawingml/2006/table">
            <a:tbl>
              <a:tblPr firstRow="1" bandRow="1">
                <a:tableStyleId>{5C22544A-7EE6-4342-B048-85BDC9FD1C3A}</a:tableStyleId>
              </a:tblPr>
              <a:tblGrid>
                <a:gridCol w="1612265"/>
                <a:gridCol w="1157605"/>
                <a:gridCol w="1708150"/>
                <a:gridCol w="2926080"/>
              </a:tblGrid>
              <a:tr h="401320">
                <a:tc>
                  <a:txBody>
                    <a:bodyPr/>
                    <a:p>
                      <a:pPr algn="ctr">
                        <a:buNone/>
                      </a:pPr>
                      <a:r>
                        <a:rPr lang="zh-CN" altLang="en-US"/>
                        <a:t>方法</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75000"/>
                      </a:schemeClr>
                    </a:solidFill>
                  </a:tcPr>
                </a:tc>
                <a:tc>
                  <a:txBody>
                    <a:bodyPr/>
                    <a:p>
                      <a:pPr algn="ctr">
                        <a:buNone/>
                      </a:pPr>
                      <a:r>
                        <a:rPr lang="zh-CN" altLang="en-US"/>
                        <a:t>系统</a:t>
                      </a:r>
                      <a:r>
                        <a:rPr lang="zh-CN" altLang="en-US"/>
                        <a:t>维度</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chemeClr val="bg1">
                        <a:lumMod val="75000"/>
                      </a:schemeClr>
                    </a:solidFill>
                  </a:tcPr>
                </a:tc>
                <a:tc>
                  <a:txBody>
                    <a:bodyPr/>
                    <a:p>
                      <a:pPr algn="ctr">
                        <a:buNone/>
                      </a:pPr>
                      <a:r>
                        <a:rPr lang="zh-CN" altLang="en-US"/>
                        <a:t>求解时间</a:t>
                      </a:r>
                      <a:r>
                        <a:rPr lang="en-US" altLang="zh-CN"/>
                        <a:t>/s</a:t>
                      </a:r>
                      <a:endParaRPr lang="en-US" alt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chemeClr val="bg1">
                        <a:lumMod val="75000"/>
                      </a:schemeClr>
                    </a:solidFill>
                  </a:tcPr>
                </a:tc>
                <a:tc>
                  <a:txBody>
                    <a:bodyPr/>
                    <a:p>
                      <a:pPr algn="ctr">
                        <a:buNone/>
                      </a:pPr>
                      <a:r>
                        <a:rPr lang="zh-CN" altLang="en-US"/>
                        <a:t>维度扩展计算时间增长趋势</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chemeClr val="bg1">
                        <a:lumMod val="75000"/>
                      </a:schemeClr>
                    </a:solidFill>
                  </a:tcPr>
                </a:tc>
              </a:tr>
              <a:tr h="381000">
                <a:tc rowSpan="3">
                  <a:txBody>
                    <a:bodyPr/>
                    <a:p>
                      <a:pPr algn="ctr">
                        <a:buNone/>
                      </a:pPr>
                      <a:r>
                        <a:rPr lang="zh-CN" altLang="en-US"/>
                        <a:t>传统迭代</a:t>
                      </a:r>
                      <a:r>
                        <a:rPr lang="zh-CN" altLang="en-US"/>
                        <a:t>求解</a:t>
                      </a:r>
                      <a:endParaRPr lang="zh-CN" altLang="en-US"/>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zh-CN" altLang="en-US"/>
                        <a:t>二</a:t>
                      </a:r>
                      <a:r>
                        <a:rPr lang="zh-CN" altLang="en-US"/>
                        <a:t>维</a:t>
                      </a:r>
                      <a:endParaRPr lang="zh-CN" altLang="en-US"/>
                    </a:p>
                  </a:txBody>
                  <a:tcPr>
                    <a:lnL w="12700">
                      <a:solidFill>
                        <a:schemeClr val="tx1"/>
                      </a:solidFill>
                      <a:prstDash val="solid"/>
                    </a:lnL>
                    <a:lnR w="12700" cmpd="sng">
                      <a:solidFill>
                        <a:schemeClr val="tx1"/>
                      </a:solidFill>
                      <a:prstDash val="solid"/>
                    </a:lnR>
                    <a:lnT w="12700">
                      <a:solidFill>
                        <a:schemeClr val="tx1"/>
                      </a:solidFill>
                      <a:prstDash val="solid"/>
                    </a:lnT>
                    <a:solidFill>
                      <a:schemeClr val="bg1"/>
                    </a:solidFill>
                  </a:tcPr>
                </a:tc>
                <a:tc>
                  <a:txBody>
                    <a:bodyPr/>
                    <a:p>
                      <a:pPr algn="ctr">
                        <a:buNone/>
                      </a:pPr>
                      <a:r>
                        <a:rPr lang="en-US" altLang="zh-CN"/>
                        <a:t>0.0455</a:t>
                      </a:r>
                      <a:endParaRPr lang="en-US" altLang="zh-CN"/>
                    </a:p>
                  </a:txBody>
                  <a:tcPr>
                    <a:lnL w="12700" cmpd="sng">
                      <a:solidFill>
                        <a:schemeClr val="tx1"/>
                      </a:solidFill>
                      <a:prstDash val="solid"/>
                    </a:lnL>
                    <a:lnR w="12700" cmpd="sng">
                      <a:solidFill>
                        <a:schemeClr val="tx1"/>
                      </a:solidFill>
                      <a:prstDash val="solid"/>
                    </a:lnR>
                    <a:lnT w="12700">
                      <a:solidFill>
                        <a:schemeClr val="tx1"/>
                      </a:solidFill>
                      <a:prstDash val="solid"/>
                    </a:lnT>
                    <a:solidFill>
                      <a:schemeClr val="bg1"/>
                    </a:solidFill>
                  </a:tcPr>
                </a:tc>
                <a:tc rowSpan="3">
                  <a:txBody>
                    <a:bodyPr/>
                    <a:p>
                      <a:pPr algn="ctr">
                        <a:buNone/>
                      </a:pPr>
                      <a:r>
                        <a:rPr lang="zh-CN" altLang="en-US">
                          <a:solidFill>
                            <a:srgbClr val="FF0000"/>
                          </a:solidFill>
                        </a:rPr>
                        <a:t>指数级增长</a:t>
                      </a:r>
                      <a:endParaRPr lang="zh-CN" altLang="en-US">
                        <a:solidFill>
                          <a:srgbClr val="FF0000"/>
                        </a:solidFill>
                      </a:endParaRPr>
                    </a:p>
                  </a:txBody>
                  <a:tcPr anchor="ctr" anchorCtr="0">
                    <a:lnL w="12700" cmpd="sng">
                      <a:solidFill>
                        <a:schemeClr val="tx1"/>
                      </a:solidFill>
                      <a:prstDash val="solid"/>
                    </a:lnL>
                    <a:lnR w="12700">
                      <a:solidFill>
                        <a:schemeClr val="tx1"/>
                      </a:solidFill>
                      <a:prstDash val="solid"/>
                    </a:lnR>
                    <a:lnT w="12700">
                      <a:solidFill>
                        <a:schemeClr val="tx1"/>
                      </a:solidFill>
                      <a:prstDash val="solid"/>
                    </a:lnT>
                    <a:lnB w="12700" cmpd="sng">
                      <a:solidFill>
                        <a:schemeClr val="tx1"/>
                      </a:solidFill>
                      <a:prstDash val="solid"/>
                    </a:lnB>
                    <a:solidFill>
                      <a:schemeClr val="bg1"/>
                    </a:solidFill>
                  </a:tcPr>
                </a:tc>
              </a:tr>
              <a:tr h="381000">
                <a:tc vMerge="1">
                  <a:tcPr>
                    <a:lnL w="12700" cmpd="sng">
                      <a:solidFill>
                        <a:schemeClr val="tx1"/>
                      </a:solidFill>
                      <a:prstDash val="solid"/>
                    </a:lnL>
                    <a:lnR w="12700">
                      <a:solidFill>
                        <a:schemeClr val="tx1"/>
                      </a:solidFill>
                      <a:prstDash val="solid"/>
                    </a:lnR>
                  </a:tcPr>
                </a:tc>
                <a:tc>
                  <a:txBody>
                    <a:bodyPr/>
                    <a:p>
                      <a:pPr algn="ctr">
                        <a:buNone/>
                      </a:pPr>
                      <a:r>
                        <a:rPr lang="zh-CN" altLang="en-US"/>
                        <a:t>四维</a:t>
                      </a:r>
                      <a:endParaRPr lang="zh-CN" altLang="en-US"/>
                    </a:p>
                  </a:txBody>
                  <a:tcPr>
                    <a:lnL w="12700">
                      <a:solidFill>
                        <a:schemeClr val="tx1"/>
                      </a:solidFill>
                      <a:prstDash val="solid"/>
                    </a:lnL>
                    <a:lnR w="12700" cmpd="sng">
                      <a:solidFill>
                        <a:schemeClr val="tx1"/>
                      </a:solidFill>
                      <a:prstDash val="solid"/>
                    </a:lnR>
                    <a:solidFill>
                      <a:schemeClr val="bg1"/>
                    </a:solidFill>
                  </a:tcPr>
                </a:tc>
                <a:tc>
                  <a:txBody>
                    <a:bodyPr/>
                    <a:p>
                      <a:pPr algn="ctr">
                        <a:buNone/>
                      </a:pPr>
                      <a:r>
                        <a:rPr lang="en-US" altLang="zh-CN"/>
                        <a:t>569.85</a:t>
                      </a:r>
                      <a:endParaRPr lang="en-US" altLang="zh-CN"/>
                    </a:p>
                  </a:txBody>
                  <a:tcPr>
                    <a:lnL w="12700" cmpd="sng">
                      <a:solidFill>
                        <a:schemeClr val="tx1"/>
                      </a:solidFill>
                      <a:prstDash val="solid"/>
                    </a:lnL>
                    <a:lnR w="12700" cmpd="sng">
                      <a:solidFill>
                        <a:schemeClr val="tx1"/>
                      </a:solidFill>
                      <a:prstDash val="solid"/>
                    </a:lnR>
                    <a:solidFill>
                      <a:schemeClr val="bg1"/>
                    </a:solidFill>
                  </a:tcPr>
                </a:tc>
                <a:tc vMerge="1">
                  <a:tcPr>
                    <a:lnL w="12700" cmpd="sng">
                      <a:solidFill>
                        <a:schemeClr val="tx1"/>
                      </a:solidFill>
                      <a:prstDash val="solid"/>
                    </a:lnL>
                    <a:lnR w="12700">
                      <a:solidFill>
                        <a:schemeClr val="tx1"/>
                      </a:solidFill>
                      <a:prstDash val="solid"/>
                    </a:lnR>
                  </a:tcPr>
                </a:tc>
              </a:tr>
              <a:tr h="381000">
                <a:tc vMerge="1">
                  <a:tcPr>
                    <a:lnL w="12700" cmpd="sng">
                      <a:solidFill>
                        <a:schemeClr val="tx1"/>
                      </a:solidFill>
                      <a:prstDash val="solid"/>
                    </a:lnL>
                    <a:lnR w="12700">
                      <a:solidFill>
                        <a:schemeClr val="tx1"/>
                      </a:solidFill>
                      <a:prstDash val="solid"/>
                    </a:lnR>
                    <a:lnB w="12700" cmpd="sng">
                      <a:solidFill>
                        <a:schemeClr val="tx1"/>
                      </a:solidFill>
                      <a:prstDash val="solid"/>
                    </a:lnB>
                  </a:tcPr>
                </a:tc>
                <a:tc>
                  <a:txBody>
                    <a:bodyPr/>
                    <a:p>
                      <a:pPr algn="ctr">
                        <a:buNone/>
                      </a:pPr>
                      <a:r>
                        <a:rPr lang="zh-CN" altLang="en-US"/>
                        <a:t>九维</a:t>
                      </a:r>
                      <a:endParaRPr lang="zh-CN" altLang="en-US"/>
                    </a:p>
                  </a:txBody>
                  <a:tcPr>
                    <a:lnL w="12700">
                      <a:solidFill>
                        <a:schemeClr val="tx1"/>
                      </a:solidFill>
                      <a:prstDash val="solid"/>
                    </a:lnL>
                    <a:lnR w="12700" cmpd="sng">
                      <a:solidFill>
                        <a:schemeClr val="tx1"/>
                      </a:solidFill>
                      <a:prstDash val="solid"/>
                    </a:lnR>
                    <a:lnB w="12700" cmpd="sng">
                      <a:solidFill>
                        <a:schemeClr val="tx1"/>
                      </a:solidFill>
                      <a:prstDash val="solid"/>
                    </a:lnB>
                    <a:solidFill>
                      <a:schemeClr val="bg1"/>
                    </a:solidFill>
                  </a:tcPr>
                </a:tc>
                <a:tc>
                  <a:txBody>
                    <a:bodyPr/>
                    <a:p>
                      <a:pPr algn="ctr">
                        <a:buNone/>
                      </a:pPr>
                      <a:r>
                        <a:rPr lang="en-US" altLang="zh-CN"/>
                        <a:t>&gt;86400</a:t>
                      </a:r>
                      <a:endParaRPr lang="en-US" altLang="zh-CN"/>
                    </a:p>
                  </a:txBody>
                  <a:tcPr>
                    <a:lnL w="12700" cmpd="sng">
                      <a:solidFill>
                        <a:schemeClr val="tx1"/>
                      </a:solidFill>
                      <a:prstDash val="solid"/>
                    </a:lnL>
                    <a:lnR w="12700" cmpd="sng">
                      <a:solidFill>
                        <a:schemeClr val="tx1"/>
                      </a:solidFill>
                      <a:prstDash val="solid"/>
                    </a:lnR>
                    <a:lnB w="12700" cmpd="sng">
                      <a:solidFill>
                        <a:schemeClr val="tx1"/>
                      </a:solidFill>
                      <a:prstDash val="solid"/>
                    </a:lnB>
                    <a:solidFill>
                      <a:schemeClr val="bg1"/>
                    </a:solidFill>
                  </a:tcPr>
                </a:tc>
                <a:tc vMerge="1">
                  <a:tcPr>
                    <a:lnL w="12700" cmpd="sng">
                      <a:solidFill>
                        <a:schemeClr val="tx1"/>
                      </a:solidFill>
                      <a:prstDash val="solid"/>
                    </a:lnL>
                    <a:lnR w="12700">
                      <a:solidFill>
                        <a:schemeClr val="tx1"/>
                      </a:solidFill>
                      <a:prstDash val="solid"/>
                    </a:lnR>
                    <a:lnB w="12700" cmpd="sng">
                      <a:solidFill>
                        <a:schemeClr val="tx1"/>
                      </a:solidFill>
                      <a:prstDash val="solid"/>
                    </a:lnB>
                  </a:tcPr>
                </a:tc>
              </a:tr>
              <a:tr h="381000">
                <a:tc rowSpan="3">
                  <a:txBody>
                    <a:bodyPr/>
                    <a:p>
                      <a:pPr algn="ctr">
                        <a:buNone/>
                      </a:pPr>
                      <a:r>
                        <a:rPr lang="en-US" altLang="zh-CN"/>
                        <a:t>PWANN-CBF</a:t>
                      </a:r>
                      <a:endParaRPr lang="en-US" altLang="zh-CN"/>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ctr">
                        <a:buNone/>
                      </a:pPr>
                      <a:r>
                        <a:rPr lang="zh-CN" altLang="en-US"/>
                        <a:t>二维</a:t>
                      </a:r>
                      <a:endParaRPr lang="zh-CN" altLang="en-US"/>
                    </a:p>
                  </a:txBody>
                  <a:tcPr>
                    <a:lnL w="12700">
                      <a:solidFill>
                        <a:schemeClr val="tx1"/>
                      </a:solidFill>
                      <a:prstDash val="solid"/>
                    </a:lnL>
                    <a:lnR w="12700" cmpd="sng">
                      <a:solidFill>
                        <a:schemeClr val="tx1"/>
                      </a:solidFill>
                      <a:prstDash val="solid"/>
                    </a:lnR>
                    <a:lnT w="12700" cmpd="sng">
                      <a:solidFill>
                        <a:schemeClr val="tx1"/>
                      </a:solidFill>
                      <a:prstDash val="solid"/>
                    </a:lnT>
                    <a:solidFill>
                      <a:schemeClr val="bg1"/>
                    </a:solidFill>
                  </a:tcPr>
                </a:tc>
                <a:tc>
                  <a:txBody>
                    <a:bodyPr/>
                    <a:p>
                      <a:pPr algn="ctr">
                        <a:buNone/>
                      </a:pPr>
                      <a:r>
                        <a:rPr lang="en-US" altLang="zh-CN"/>
                        <a:t>1208</a:t>
                      </a:r>
                      <a:endParaRPr lang="en-US" altLang="zh-CN"/>
                    </a:p>
                  </a:txBody>
                  <a:tcPr>
                    <a:lnL w="12700" cmpd="sng">
                      <a:solidFill>
                        <a:schemeClr val="tx1"/>
                      </a:solidFill>
                      <a:prstDash val="solid"/>
                    </a:lnL>
                    <a:lnR w="12700" cmpd="sng">
                      <a:solidFill>
                        <a:schemeClr val="tx1"/>
                      </a:solidFill>
                      <a:prstDash val="solid"/>
                    </a:lnR>
                    <a:lnT w="12700" cmpd="sng">
                      <a:solidFill>
                        <a:schemeClr val="tx1"/>
                      </a:solidFill>
                      <a:prstDash val="solid"/>
                    </a:lnT>
                    <a:solidFill>
                      <a:schemeClr val="bg1"/>
                    </a:solidFill>
                  </a:tcPr>
                </a:tc>
                <a:tc rowSpan="3">
                  <a:txBody>
                    <a:bodyPr/>
                    <a:p>
                      <a:pPr algn="ctr">
                        <a:buNone/>
                      </a:pPr>
                      <a:r>
                        <a:rPr lang="zh-CN" altLang="en-US">
                          <a:solidFill>
                            <a:srgbClr val="FF0000"/>
                          </a:solidFill>
                        </a:rPr>
                        <a:t>近似线性增长</a:t>
                      </a:r>
                      <a:endParaRPr lang="zh-CN" altLang="en-US">
                        <a:solidFill>
                          <a:srgbClr val="FF0000"/>
                        </a:solidFill>
                      </a:endParaRPr>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a:solidFill>
                        <a:schemeClr val="tx1"/>
                      </a:solidFill>
                      <a:prstDash val="solid"/>
                    </a:lnB>
                    <a:solidFill>
                      <a:schemeClr val="bg1"/>
                    </a:solidFill>
                  </a:tcPr>
                </a:tc>
              </a:tr>
              <a:tr h="381000">
                <a:tc vMerge="1">
                  <a:tcPr>
                    <a:lnL w="12700" cmpd="sng">
                      <a:solidFill>
                        <a:schemeClr val="tx1"/>
                      </a:solidFill>
                      <a:prstDash val="solid"/>
                    </a:lnL>
                    <a:lnR w="12700">
                      <a:solidFill>
                        <a:schemeClr val="tx1"/>
                      </a:solidFill>
                      <a:prstDash val="solid"/>
                    </a:lnR>
                  </a:tcPr>
                </a:tc>
                <a:tc>
                  <a:txBody>
                    <a:bodyPr/>
                    <a:p>
                      <a:pPr algn="ctr">
                        <a:buNone/>
                      </a:pPr>
                      <a:r>
                        <a:rPr lang="zh-CN" altLang="en-US"/>
                        <a:t>四维</a:t>
                      </a:r>
                      <a:endParaRPr lang="zh-CN" altLang="en-US"/>
                    </a:p>
                  </a:txBody>
                  <a:tcPr>
                    <a:lnL w="12700">
                      <a:solidFill>
                        <a:schemeClr val="tx1"/>
                      </a:solidFill>
                      <a:prstDash val="solid"/>
                    </a:lnL>
                    <a:lnR w="12700" cmpd="sng">
                      <a:solidFill>
                        <a:schemeClr val="tx1"/>
                      </a:solidFill>
                      <a:prstDash val="solid"/>
                    </a:lnR>
                    <a:solidFill>
                      <a:schemeClr val="bg1"/>
                    </a:solidFill>
                  </a:tcPr>
                </a:tc>
                <a:tc>
                  <a:txBody>
                    <a:bodyPr/>
                    <a:p>
                      <a:pPr algn="ctr">
                        <a:buNone/>
                      </a:pPr>
                      <a:r>
                        <a:rPr lang="en-US" altLang="zh-CN"/>
                        <a:t>3949</a:t>
                      </a:r>
                      <a:endParaRPr lang="en-US" altLang="zh-CN"/>
                    </a:p>
                  </a:txBody>
                  <a:tcPr>
                    <a:lnL w="12700" cmpd="sng">
                      <a:solidFill>
                        <a:schemeClr val="tx1"/>
                      </a:solidFill>
                      <a:prstDash val="solid"/>
                    </a:lnL>
                    <a:lnR w="12700" cmpd="sng">
                      <a:solidFill>
                        <a:schemeClr val="tx1"/>
                      </a:solidFill>
                      <a:prstDash val="solid"/>
                    </a:lnR>
                    <a:solidFill>
                      <a:schemeClr val="bg1"/>
                    </a:solidFill>
                  </a:tcPr>
                </a:tc>
                <a:tc vMerge="1">
                  <a:tcPr>
                    <a:lnL w="12700" cmpd="sng">
                      <a:solidFill>
                        <a:schemeClr val="tx1"/>
                      </a:solidFill>
                      <a:prstDash val="solid"/>
                    </a:lnL>
                    <a:lnR w="12700">
                      <a:solidFill>
                        <a:schemeClr val="tx1"/>
                      </a:solidFill>
                      <a:prstDash val="solid"/>
                    </a:lnR>
                  </a:tcPr>
                </a:tc>
              </a:tr>
              <a:tr h="381000">
                <a:tc vMerge="1">
                  <a:tcPr>
                    <a:lnL w="12700" cmpd="sng">
                      <a:solidFill>
                        <a:schemeClr val="tx1"/>
                      </a:solidFill>
                      <a:prstDash val="solid"/>
                    </a:lnL>
                    <a:lnR w="12700">
                      <a:solidFill>
                        <a:schemeClr val="tx1"/>
                      </a:solidFill>
                      <a:prstDash val="solid"/>
                    </a:lnR>
                    <a:lnB w="12700" cmpd="sng">
                      <a:solidFill>
                        <a:schemeClr val="tx1"/>
                      </a:solidFill>
                      <a:prstDash val="solid"/>
                    </a:lnB>
                  </a:tcPr>
                </a:tc>
                <a:tc>
                  <a:txBody>
                    <a:bodyPr/>
                    <a:p>
                      <a:pPr algn="ctr">
                        <a:buNone/>
                      </a:pPr>
                      <a:r>
                        <a:rPr lang="zh-CN" altLang="en-US">
                          <a:solidFill>
                            <a:srgbClr val="FF0000"/>
                          </a:solidFill>
                        </a:rPr>
                        <a:t>九维</a:t>
                      </a:r>
                      <a:endParaRPr lang="zh-CN" altLang="en-US">
                        <a:solidFill>
                          <a:srgbClr val="FF0000"/>
                        </a:solidFill>
                      </a:endParaRPr>
                    </a:p>
                  </a:txBody>
                  <a:tcPr>
                    <a:lnL w="12700">
                      <a:solidFill>
                        <a:schemeClr val="tx1"/>
                      </a:solidFill>
                      <a:prstDash val="solid"/>
                    </a:lnL>
                    <a:lnR w="12700" cmpd="sng">
                      <a:solidFill>
                        <a:schemeClr val="tx1"/>
                      </a:solidFill>
                      <a:prstDash val="solid"/>
                    </a:lnR>
                    <a:lnB w="12700">
                      <a:solidFill>
                        <a:schemeClr val="tx1"/>
                      </a:solidFill>
                      <a:prstDash val="solid"/>
                    </a:lnB>
                    <a:solidFill>
                      <a:schemeClr val="bg1"/>
                    </a:solidFill>
                  </a:tcPr>
                </a:tc>
                <a:tc>
                  <a:txBody>
                    <a:bodyPr/>
                    <a:p>
                      <a:pPr algn="ctr">
                        <a:buNone/>
                      </a:pPr>
                      <a:r>
                        <a:rPr lang="en-US" altLang="zh-CN">
                          <a:solidFill>
                            <a:srgbClr val="FF0000"/>
                          </a:solidFill>
                        </a:rPr>
                        <a:t>7831</a:t>
                      </a:r>
                      <a:endParaRPr lang="en-US" altLang="zh-CN">
                        <a:solidFill>
                          <a:srgbClr val="FF0000"/>
                        </a:solidFill>
                      </a:endParaRPr>
                    </a:p>
                  </a:txBody>
                  <a:tcPr>
                    <a:lnL w="12700" cmpd="sng">
                      <a:solidFill>
                        <a:schemeClr val="tx1"/>
                      </a:solidFill>
                      <a:prstDash val="solid"/>
                    </a:lnL>
                    <a:lnR w="12700" cmpd="sng">
                      <a:solidFill>
                        <a:schemeClr val="tx1"/>
                      </a:solidFill>
                      <a:prstDash val="solid"/>
                    </a:lnR>
                    <a:lnB w="12700">
                      <a:solidFill>
                        <a:schemeClr val="tx1"/>
                      </a:solidFill>
                      <a:prstDash val="solid"/>
                    </a:lnB>
                    <a:solidFill>
                      <a:schemeClr val="bg1"/>
                    </a:solidFill>
                  </a:tcPr>
                </a:tc>
                <a:tc vMerge="1">
                  <a:tcPr>
                    <a:lnL w="12700" cmpd="sng">
                      <a:solidFill>
                        <a:schemeClr val="tx1"/>
                      </a:solidFill>
                      <a:prstDash val="solid"/>
                    </a:lnL>
                    <a:lnR w="12700">
                      <a:solidFill>
                        <a:schemeClr val="tx1"/>
                      </a:solidFill>
                      <a:prstDash val="solid"/>
                    </a:lnR>
                    <a:lnB w="12700">
                      <a:solidFill>
                        <a:schemeClr val="tx1"/>
                      </a:solidFill>
                      <a:prstDash val="solid"/>
                    </a:lnB>
                  </a:tcPr>
                </a:tc>
              </a:tr>
            </a:tbl>
          </a:graphicData>
        </a:graphic>
      </p:graphicFrame>
      <p:sp>
        <p:nvSpPr>
          <p:cNvPr id="6" name="灯片编号占位符 5"/>
          <p:cNvSpPr>
            <a:spLocks noGrp="1"/>
          </p:cNvSpPr>
          <p:nvPr>
            <p:ph type="sldNum" sz="quarter" idx="12"/>
          </p:nvPr>
        </p:nvSpPr>
        <p:spPr/>
        <p:txBody>
          <a:bodyPr/>
          <a:p>
            <a:pPr>
              <a:defRPr/>
            </a:pPr>
            <a:fld id="{AC6C5647-07D8-4AFC-B347-73DA68F3AADD}" type="slidenum">
              <a:rPr lang="zh-CN" altLang="en-US"/>
            </a:fld>
            <a:endParaRPr lang="zh-CN" altLang="en-US"/>
          </a:p>
        </p:txBody>
      </p:sp>
      <p:pic>
        <p:nvPicPr>
          <p:cNvPr id="8" name="图片 7" descr="2，4，9维传统法逼近法时间对比"/>
          <p:cNvPicPr>
            <a:picLocks noChangeAspect="1"/>
          </p:cNvPicPr>
          <p:nvPr/>
        </p:nvPicPr>
        <p:blipFill>
          <a:blip r:embed="rId1"/>
          <a:stretch>
            <a:fillRect/>
          </a:stretch>
        </p:blipFill>
        <p:spPr>
          <a:xfrm>
            <a:off x="6979285" y="2567305"/>
            <a:ext cx="4374515" cy="26250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1915795" y="3128645"/>
            <a:ext cx="7466965" cy="63246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buClrTx/>
              <a:buSzTx/>
              <a:buFontTx/>
            </a:pPr>
            <a:r>
              <a:rPr lang="zh-CN" altLang="en-US" sz="2800" b="1" u="sng">
                <a:solidFill>
                  <a:schemeClr val="accent1"/>
                </a:solidFill>
              </a:rPr>
              <a:t>强化学习解机会约束优化问题</a:t>
            </a:r>
            <a:endParaRPr lang="zh-CN" altLang="en-US" sz="2800" b="1" u="sng">
              <a:solidFill>
                <a:schemeClr val="accent1"/>
              </a:solidFill>
            </a:endParaRPr>
          </a:p>
        </p:txBody>
      </p:sp>
      <p:sp>
        <p:nvSpPr>
          <p:cNvPr id="27" name="矩形 26"/>
          <p:cNvSpPr/>
          <p:nvPr/>
        </p:nvSpPr>
        <p:spPr>
          <a:xfrm>
            <a:off x="1915160" y="3956685"/>
            <a:ext cx="7466965" cy="63246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buClrTx/>
              <a:buSzTx/>
              <a:buFontTx/>
            </a:pPr>
            <a:r>
              <a:rPr lang="zh-CN" altLang="en-US" sz="2800" b="1">
                <a:solidFill>
                  <a:schemeClr val="accent1"/>
                </a:solidFill>
                <a:sym typeface="+mn-ea"/>
              </a:rPr>
              <a:t>实验结果</a:t>
            </a:r>
            <a:endParaRPr lang="zh-CN" altLang="en-US" sz="2800" b="1">
              <a:solidFill>
                <a:srgbClr val="FF0000"/>
              </a:solidFill>
              <a:sym typeface="+mn-ea"/>
            </a:endParaRPr>
          </a:p>
        </p:txBody>
      </p:sp>
      <p:sp>
        <p:nvSpPr>
          <p:cNvPr id="2" name="矩形 1"/>
          <p:cNvSpPr/>
          <p:nvPr/>
        </p:nvSpPr>
        <p:spPr>
          <a:xfrm>
            <a:off x="8876665" y="1905"/>
            <a:ext cx="3327400" cy="1172845"/>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sz="1800" noProof="1"/>
          </a:p>
        </p:txBody>
      </p:sp>
      <p:sp>
        <p:nvSpPr>
          <p:cNvPr id="3" name="文本框 2"/>
          <p:cNvSpPr txBox="1"/>
          <p:nvPr/>
        </p:nvSpPr>
        <p:spPr>
          <a:xfrm>
            <a:off x="8850630" y="227965"/>
            <a:ext cx="3405505" cy="678815"/>
          </a:xfrm>
          <a:prstGeom prst="rect">
            <a:avLst/>
          </a:prstGeom>
          <a:noFill/>
        </p:spPr>
        <p:txBody>
          <a:bodyPr wrap="square" rtlCol="0">
            <a:noAutofit/>
          </a:bodyPr>
          <a:p>
            <a:pPr algn="ctr"/>
            <a:r>
              <a:rPr lang="zh-CN" altLang="en-US" sz="4000" b="1">
                <a:solidFill>
                  <a:schemeClr val="bg1"/>
                </a:solidFill>
              </a:rPr>
              <a:t>第</a:t>
            </a:r>
            <a:r>
              <a:rPr lang="zh-CN" altLang="en-US" sz="4000" b="1">
                <a:solidFill>
                  <a:schemeClr val="bg1"/>
                </a:solidFill>
              </a:rPr>
              <a:t>三章</a:t>
            </a:r>
            <a:endParaRPr lang="zh-CN" altLang="en-US" sz="4000" b="1">
              <a:solidFill>
                <a:schemeClr val="bg1"/>
              </a:solidFill>
            </a:endParaRPr>
          </a:p>
        </p:txBody>
      </p:sp>
      <p:sp>
        <p:nvSpPr>
          <p:cNvPr id="5" name="文本框 4"/>
          <p:cNvSpPr txBox="1"/>
          <p:nvPr/>
        </p:nvSpPr>
        <p:spPr>
          <a:xfrm>
            <a:off x="1566545" y="1203325"/>
            <a:ext cx="8094345" cy="645160"/>
          </a:xfrm>
          <a:prstGeom prst="rect">
            <a:avLst/>
          </a:prstGeom>
          <a:noFill/>
        </p:spPr>
        <p:txBody>
          <a:bodyPr wrap="square" rtlCol="0" anchor="t">
            <a:spAutoFit/>
          </a:bodyPr>
          <a:p>
            <a:pPr algn="ctr">
              <a:buClrTx/>
              <a:buSzTx/>
              <a:buFontTx/>
            </a:pPr>
            <a:r>
              <a:rPr lang="zh-CN" altLang="en-US" sz="3600" b="1">
                <a:solidFill>
                  <a:schemeClr val="tx1"/>
                </a:solidFill>
                <a:latin typeface="+mn-lt"/>
                <a:ea typeface="+mn-ea"/>
                <a:sym typeface="+mn-ea"/>
              </a:rPr>
              <a:t>强化学习解机会约束优化</a:t>
            </a:r>
            <a:r>
              <a:rPr lang="zh-CN" altLang="en-US" sz="3600" b="1">
                <a:solidFill>
                  <a:schemeClr val="tx1"/>
                </a:solidFill>
                <a:latin typeface="+mn-lt"/>
                <a:ea typeface="+mn-ea"/>
                <a:sym typeface="+mn-ea"/>
              </a:rPr>
              <a:t>问题</a:t>
            </a:r>
            <a:endParaRPr lang="zh-CN" altLang="en-US" sz="3600" b="1">
              <a:solidFill>
                <a:schemeClr val="tx1"/>
              </a:solidFill>
              <a:latin typeface="+mn-lt"/>
              <a:ea typeface="+mn-ea"/>
              <a:sym typeface="+mn-ea"/>
            </a:endParaRPr>
          </a:p>
        </p:txBody>
      </p:sp>
      <p:sp>
        <p:nvSpPr>
          <p:cNvPr id="25" name="矩形 24"/>
          <p:cNvSpPr/>
          <p:nvPr/>
        </p:nvSpPr>
        <p:spPr>
          <a:xfrm>
            <a:off x="1914525" y="2300605"/>
            <a:ext cx="7466965" cy="63246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b="1">
                <a:solidFill>
                  <a:schemeClr val="accent1"/>
                </a:solidFill>
                <a:sym typeface="+mn-ea"/>
              </a:rPr>
              <a:t>机会约束优化</a:t>
            </a:r>
            <a:r>
              <a:rPr lang="zh-CN" altLang="en-US" sz="2800" b="1">
                <a:solidFill>
                  <a:schemeClr val="accent1"/>
                </a:solidFill>
                <a:sym typeface="+mn-ea"/>
              </a:rPr>
              <a:t>问题</a:t>
            </a:r>
            <a:endParaRPr lang="zh-CN" altLang="en-US" sz="2800" b="1">
              <a:solidFill>
                <a:schemeClr val="accent1"/>
              </a:solidFill>
              <a:sym typeface="+mn-ea"/>
            </a:endParaRPr>
          </a:p>
        </p:txBody>
      </p:sp>
      <p:sp>
        <p:nvSpPr>
          <p:cNvPr id="4" name="右箭头 3"/>
          <p:cNvSpPr/>
          <p:nvPr/>
        </p:nvSpPr>
        <p:spPr>
          <a:xfrm>
            <a:off x="433070" y="3185795"/>
            <a:ext cx="1595755" cy="5181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主要工作</a:t>
            </a:r>
            <a:endParaRPr lang="zh-CN" alt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圆角矩形 20"/>
          <p:cNvSpPr/>
          <p:nvPr/>
        </p:nvSpPr>
        <p:spPr>
          <a:xfrm>
            <a:off x="8776335" y="2653030"/>
            <a:ext cx="2936240" cy="1525905"/>
          </a:xfrm>
          <a:prstGeom prst="roundRect">
            <a:avLst/>
          </a:prstGeom>
          <a:solidFill>
            <a:schemeClr val="bg1">
              <a:lumMod val="65000"/>
              <a:alpha val="5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圆角矩形 19"/>
          <p:cNvSpPr/>
          <p:nvPr/>
        </p:nvSpPr>
        <p:spPr>
          <a:xfrm>
            <a:off x="6212205" y="2653030"/>
            <a:ext cx="2377440" cy="1525905"/>
          </a:xfrm>
          <a:prstGeom prst="roundRect">
            <a:avLst/>
          </a:prstGeom>
          <a:solidFill>
            <a:schemeClr val="bg1">
              <a:lumMod val="65000"/>
              <a:alpha val="5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圆角矩形 17"/>
          <p:cNvSpPr/>
          <p:nvPr/>
        </p:nvSpPr>
        <p:spPr>
          <a:xfrm>
            <a:off x="4071938" y="2694940"/>
            <a:ext cx="1446530" cy="1525905"/>
          </a:xfrm>
          <a:prstGeom prst="roundRect">
            <a:avLst/>
          </a:prstGeom>
          <a:solidFill>
            <a:schemeClr val="bg1">
              <a:lumMod val="65000"/>
              <a:alpha val="5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圆角矩形 16"/>
          <p:cNvSpPr/>
          <p:nvPr/>
        </p:nvSpPr>
        <p:spPr>
          <a:xfrm>
            <a:off x="379730" y="2727325"/>
            <a:ext cx="3663315" cy="1525905"/>
          </a:xfrm>
          <a:prstGeom prst="roundRect">
            <a:avLst/>
          </a:prstGeom>
          <a:solidFill>
            <a:schemeClr val="bg1">
              <a:lumMod val="65000"/>
              <a:alpha val="5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占位符 1"/>
          <p:cNvSpPr>
            <a:spLocks noGrp="1"/>
          </p:cNvSpPr>
          <p:nvPr>
            <p:ph type="body" idx="1"/>
          </p:nvPr>
        </p:nvSpPr>
        <p:spPr/>
        <p:txBody>
          <a:bodyPr/>
          <a:p>
            <a:r>
              <a:rPr lang="en-US" altLang="zh-CN"/>
              <a:t>CCOP</a:t>
            </a:r>
            <a:r>
              <a:rPr lang="zh-CN" altLang="en-US"/>
              <a:t>：即考虑不确定性对决策变量进行优化，同时要求某些约束条件以不低于给定概率</a:t>
            </a:r>
            <a:r>
              <a:rPr lang="zh-CN" altLang="en-US"/>
              <a:t>被满足</a:t>
            </a:r>
            <a:endParaRPr lang="zh-CN" altLang="en-US"/>
          </a:p>
        </p:txBody>
      </p:sp>
      <p:sp>
        <p:nvSpPr>
          <p:cNvPr id="3" name="文本占位符 2"/>
          <p:cNvSpPr>
            <a:spLocks noGrp="1"/>
          </p:cNvSpPr>
          <p:nvPr>
            <p:ph type="body" idx="13"/>
          </p:nvPr>
        </p:nvSpPr>
        <p:spPr>
          <a:xfrm>
            <a:off x="0" y="670560"/>
            <a:ext cx="12027535" cy="448310"/>
          </a:xfrm>
        </p:spPr>
        <p:txBody>
          <a:bodyPr/>
          <a:p>
            <a:r>
              <a:rPr lang="en-US" altLang="zh-CN"/>
              <a:t>&gt;&gt;&gt;</a:t>
            </a:r>
            <a:r>
              <a:t>什么是机会约束优化问题（</a:t>
            </a:r>
            <a:r>
              <a:rPr lang="en-US" altLang="zh-CN"/>
              <a:t>Chance Constarint Optimal Problem, CCOP</a:t>
            </a:r>
            <a:r>
              <a:t>）</a:t>
            </a:r>
          </a:p>
        </p:txBody>
      </p:sp>
      <p:sp>
        <p:nvSpPr>
          <p:cNvPr id="4" name="文本占位符 3"/>
          <p:cNvSpPr>
            <a:spLocks noGrp="1"/>
          </p:cNvSpPr>
          <p:nvPr>
            <p:ph type="body" idx="14"/>
          </p:nvPr>
        </p:nvSpPr>
        <p:spPr>
          <a:xfrm>
            <a:off x="805180" y="111760"/>
            <a:ext cx="6782435" cy="448310"/>
          </a:xfrm>
        </p:spPr>
        <p:txBody>
          <a:bodyPr/>
          <a:p>
            <a:r>
              <a:rPr lang="zh-CN" altLang="en-US"/>
              <a:t>强化学习解机会约束优化问题（</a:t>
            </a:r>
            <a:r>
              <a:rPr lang="en-US" altLang="zh-CN"/>
              <a:t>3.1</a:t>
            </a:r>
            <a:r>
              <a:rPr lang="zh-CN" altLang="en-US"/>
              <a:t>）</a:t>
            </a:r>
            <a:endParaRPr lang="zh-CN" altLang="en-US"/>
          </a:p>
        </p:txBody>
      </p:sp>
      <p:sp>
        <p:nvSpPr>
          <p:cNvPr id="5" name="灯片编号占位符 4"/>
          <p:cNvSpPr>
            <a:spLocks noGrp="1"/>
          </p:cNvSpPr>
          <p:nvPr>
            <p:ph type="sldNum" sz="quarter" idx="12"/>
          </p:nvPr>
        </p:nvSpPr>
        <p:spPr/>
        <p:txBody>
          <a:bodyPr/>
          <a:p>
            <a:pPr>
              <a:defRPr/>
            </a:pPr>
            <a:fld id="{AC6C5647-07D8-4AFC-B347-73DA68F3AADD}" type="slidenum">
              <a:rPr lang="zh-CN" altLang="en-US"/>
            </a:fld>
            <a:endParaRPr lang="zh-CN" altLang="en-US"/>
          </a:p>
        </p:txBody>
      </p:sp>
      <p:sp>
        <p:nvSpPr>
          <p:cNvPr id="6" name="圆角矩形 5"/>
          <p:cNvSpPr/>
          <p:nvPr/>
        </p:nvSpPr>
        <p:spPr>
          <a:xfrm>
            <a:off x="1202690" y="1530350"/>
            <a:ext cx="1980565" cy="92392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受扰动系统</a:t>
            </a:r>
            <a:r>
              <a:rPr lang="zh-CN" altLang="en-US"/>
              <a:t>模型</a:t>
            </a:r>
            <a:endParaRPr lang="zh-CN" altLang="en-US"/>
          </a:p>
        </p:txBody>
      </p:sp>
      <p:sp>
        <p:nvSpPr>
          <p:cNvPr id="7" name="圆角矩形 6"/>
          <p:cNvSpPr/>
          <p:nvPr/>
        </p:nvSpPr>
        <p:spPr>
          <a:xfrm>
            <a:off x="3804920" y="1530350"/>
            <a:ext cx="1980565" cy="92392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扰动</a:t>
            </a:r>
            <a:r>
              <a:rPr lang="zh-CN" altLang="en-US"/>
              <a:t>建模</a:t>
            </a:r>
            <a:endParaRPr lang="zh-CN" altLang="en-US"/>
          </a:p>
        </p:txBody>
      </p:sp>
      <p:sp>
        <p:nvSpPr>
          <p:cNvPr id="8" name="圆角矩形 7"/>
          <p:cNvSpPr/>
          <p:nvPr/>
        </p:nvSpPr>
        <p:spPr>
          <a:xfrm>
            <a:off x="6407150" y="1530350"/>
            <a:ext cx="1980565" cy="92392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随机性</a:t>
            </a:r>
            <a:r>
              <a:rPr lang="zh-CN" altLang="en-US"/>
              <a:t>状态</a:t>
            </a:r>
            <a:endParaRPr lang="zh-CN" altLang="en-US"/>
          </a:p>
        </p:txBody>
      </p:sp>
      <p:sp>
        <p:nvSpPr>
          <p:cNvPr id="9" name="圆角矩形 8"/>
          <p:cNvSpPr/>
          <p:nvPr/>
        </p:nvSpPr>
        <p:spPr>
          <a:xfrm>
            <a:off x="9009380" y="1530350"/>
            <a:ext cx="2064385" cy="92392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引入随机变量</a:t>
            </a:r>
            <a:r>
              <a:rPr lang="zh-CN" altLang="en-US"/>
              <a:t>的优化问题</a:t>
            </a:r>
            <a:r>
              <a:rPr lang="en-US" altLang="zh-CN"/>
              <a:t>(CCOP)</a:t>
            </a:r>
            <a:endParaRPr lang="en-US" altLang="zh-CN"/>
          </a:p>
        </p:txBody>
      </p:sp>
      <mc:AlternateContent xmlns:mc="http://schemas.openxmlformats.org/markup-compatibility/2006">
        <mc:Choice xmlns:a14="http://schemas.microsoft.com/office/drawing/2010/main" Requires="a14">
          <p:sp>
            <p:nvSpPr>
              <p:cNvPr id="12" name="文本框 11"/>
              <p:cNvSpPr txBox="1"/>
              <p:nvPr/>
            </p:nvSpPr>
            <p:spPr>
              <a:xfrm>
                <a:off x="355918" y="2745994"/>
                <a:ext cx="3674110" cy="1339850"/>
              </a:xfrm>
              <a:prstGeom prst="rect">
                <a:avLst/>
              </a:prstGeom>
              <a:noFill/>
            </p:spPr>
            <p:txBody>
              <a:bodyPr wrap="none" rtlCol="0" anchor="t">
                <a:spAutoFit/>
              </a:bodyPr>
              <a:p>
                <a:pPr marL="0" indent="0" algn="l" latinLnBrk="0">
                  <a:lnSpc>
                    <a:spcPct val="150000"/>
                  </a:lnSpc>
                </a:pPr>
                <a14:m>
                  <m:oMathPara xmlns:m="http://schemas.openxmlformats.org/officeDocument/2006/math">
                    <m:oMathParaPr>
                      <m:jc m:val="left"/>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𝐴</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𝐵</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𝑢</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𝑘</m:t>
                          </m:r>
                        </m:sub>
                      </m:sSub>
                    </m:oMath>
                  </m:oMathPara>
                </a14:m>
                <a:endParaRPr lang="en-US" altLang="zh-CN" i="1">
                  <a:latin typeface="Cambria Math" panose="02040503050406030204" charset="0"/>
                  <a:cs typeface="Cambria Math" panose="02040503050406030204" charset="0"/>
                </a:endParaRPr>
              </a:p>
              <a:p>
                <a:pPr marL="0" indent="0" algn="l" latinLnBrk="0">
                  <a:lnSpc>
                    <a:spcPct val="150000"/>
                  </a:lnSpc>
                </a:pPr>
                <a14:m>
                  <m:oMathPara xmlns:m="http://schemas.openxmlformats.org/officeDocument/2006/math">
                    <m:oMathParaPr>
                      <m:jc m:val="left"/>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𝐴</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𝐴</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𝐵</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𝐵</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𝑢</m:t>
                          </m:r>
                        </m:e>
                        <m:sub>
                          <m:r>
                            <a:rPr lang="en-US" altLang="zh-CN" i="1">
                              <a:latin typeface="Cambria Math" panose="02040503050406030204" charset="0"/>
                              <a:cs typeface="Cambria Math" panose="02040503050406030204" charset="0"/>
                            </a:rPr>
                            <m:t>𝑘</m:t>
                          </m:r>
                        </m:sub>
                      </m:sSub>
                    </m:oMath>
                  </m:oMathPara>
                </a14:m>
                <a:endParaRPr lang="en-US" altLang="zh-CN" i="1">
                  <a:latin typeface="Cambria Math" panose="02040503050406030204" charset="0"/>
                  <a:cs typeface="Cambria Math" panose="02040503050406030204" charset="0"/>
                </a:endParaRPr>
              </a:p>
              <a:p>
                <a:pPr marL="0" indent="0" algn="l" latinLnBrk="0">
                  <a:lnSpc>
                    <a:spcPct val="150000"/>
                  </a:lnSpc>
                </a:pP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𝐴</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𝐵</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𝑢</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𝑑</m:t>
                        </m:r>
                      </m:e>
                      <m:sub>
                        <m:r>
                          <a:rPr lang="en-US" altLang="zh-CN" i="1">
                            <a:latin typeface="Cambria Math" panose="02040503050406030204" charset="0"/>
                            <a:cs typeface="Cambria Math" panose="02040503050406030204" charset="0"/>
                          </a:rPr>
                          <m:t>𝑢</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𝑘</m:t>
                        </m:r>
                      </m:sub>
                    </m:sSub>
                  </m:oMath>
                </a14:m>
                <a:r>
                  <a:rPr lang="en-US" altLang="zh-CN"/>
                  <a:t>)</a:t>
                </a:r>
                <a:endParaRPr lang="en-US" altLang="zh-CN"/>
              </a:p>
            </p:txBody>
          </p:sp>
        </mc:Choice>
        <mc:Fallback>
          <p:sp>
            <p:nvSpPr>
              <p:cNvPr id="12" name="文本框 11"/>
              <p:cNvSpPr txBox="1">
                <a:spLocks noRot="1" noChangeAspect="1" noMove="1" noResize="1" noEditPoints="1" noAdjustHandles="1" noChangeArrowheads="1" noChangeShapeType="1" noTextEdit="1"/>
              </p:cNvSpPr>
              <p:nvPr/>
            </p:nvSpPr>
            <p:spPr>
              <a:xfrm>
                <a:off x="355918" y="2745994"/>
                <a:ext cx="3674110" cy="1339850"/>
              </a:xfrm>
              <a:prstGeom prst="rect">
                <a:avLst/>
              </a:prstGeom>
              <a:blipFill rotWithShape="1">
                <a:blip r:embed="rId1"/>
                <a:stretch>
                  <a:fillRect l="-9" t="-19" r="9" b="1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4057650" y="2752661"/>
                <a:ext cx="1430655" cy="1326515"/>
              </a:xfrm>
              <a:prstGeom prst="rect">
                <a:avLst/>
              </a:prstGeom>
              <a:noFill/>
            </p:spPr>
            <p:txBody>
              <a:bodyPr wrap="none" rtlCol="0" anchor="t">
                <a:spAutoFit/>
              </a:bodyPr>
              <a:p>
                <a:pPr marL="0" indent="0" algn="l" latinLnBrk="0">
                  <a:lnSpc>
                    <a:spcPct val="15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𝑊</m:t>
                      </m:r>
                    </m:oMath>
                  </m:oMathPara>
                </a14:m>
                <a:endParaRPr lang="en-US" altLang="zh-CN" i="1">
                  <a:latin typeface="Cambria Math" panose="02040503050406030204" charset="0"/>
                  <a:cs typeface="Cambria Math" panose="02040503050406030204" charset="0"/>
                </a:endParaRPr>
              </a:p>
              <a:p>
                <a:pPr marL="0" indent="0" algn="l" latinLnBrk="0">
                  <a:lnSpc>
                    <a:spcPct val="15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𝑁</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𝜇</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𝜎</m:t>
                          </m:r>
                        </m:e>
                        <m:sup>
                          <m:r>
                            <a:rPr lang="en-US" altLang="zh-CN" i="1">
                              <a:latin typeface="Cambria Math" panose="02040503050406030204" charset="0"/>
                              <a:cs typeface="Cambria Math" panose="02040503050406030204" charset="0"/>
                            </a:rPr>
                            <m:t>2</m:t>
                          </m:r>
                        </m:sup>
                      </m:sSup>
                      <m:r>
                        <a:rPr lang="en-US" altLang="zh-CN" i="1">
                          <a:latin typeface="Cambria Math" panose="02040503050406030204" charset="0"/>
                          <a:cs typeface="Cambria Math" panose="02040503050406030204" charset="0"/>
                        </a:rPr>
                        <m:t>)</m:t>
                      </m:r>
                    </m:oMath>
                  </m:oMathPara>
                </a14:m>
                <a:endParaRPr lang="en-US" altLang="zh-CN" i="1">
                  <a:latin typeface="Cambria Math" panose="02040503050406030204" charset="0"/>
                  <a:cs typeface="Cambria Math" panose="02040503050406030204" charset="0"/>
                </a:endParaRPr>
              </a:p>
              <a:p>
                <a:pPr marL="0" indent="0" algn="l" latinLnBrk="0">
                  <a:lnSpc>
                    <a:spcPct val="15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𝑓</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oMath>
                  </m:oMathPara>
                </a14:m>
                <a:endParaRPr lang="zh-CN" altLang="en-US"/>
              </a:p>
            </p:txBody>
          </p:sp>
        </mc:Choice>
        <mc:Fallback>
          <p:sp>
            <p:nvSpPr>
              <p:cNvPr id="13" name="文本框 12"/>
              <p:cNvSpPr txBox="1">
                <a:spLocks noRot="1" noChangeAspect="1" noMove="1" noResize="1" noEditPoints="1" noAdjustHandles="1" noChangeArrowheads="1" noChangeShapeType="1" noTextEdit="1"/>
              </p:cNvSpPr>
              <p:nvPr/>
            </p:nvSpPr>
            <p:spPr>
              <a:xfrm>
                <a:off x="4057650" y="2752661"/>
                <a:ext cx="1430655" cy="1326515"/>
              </a:xfrm>
              <a:prstGeom prst="rect">
                <a:avLst/>
              </a:prstGeom>
              <a:blipFill rotWithShape="1">
                <a:blip r:embed="rId2"/>
                <a:stretch>
                  <a:fillRect t="-43" b="43"/>
                </a:stretch>
              </a:blipFill>
            </p:spPr>
            <p:txBody>
              <a:bodyPr/>
              <a:lstStyle/>
              <a:p>
                <a:r>
                  <a:rPr lang="zh-CN" altLang="en-US">
                    <a:noFill/>
                  </a:rPr>
                  <a:t> </a:t>
                </a:r>
              </a:p>
            </p:txBody>
          </p:sp>
        </mc:Fallback>
      </mc:AlternateContent>
      <p:pic>
        <p:nvPicPr>
          <p:cNvPr id="14" name="图片 13" descr="TUBE MPC-1"/>
          <p:cNvPicPr>
            <a:picLocks noChangeAspect="1"/>
          </p:cNvPicPr>
          <p:nvPr/>
        </p:nvPicPr>
        <p:blipFill>
          <a:blip r:embed="rId3"/>
          <a:stretch>
            <a:fillRect/>
          </a:stretch>
        </p:blipFill>
        <p:spPr>
          <a:xfrm>
            <a:off x="6378258" y="2848610"/>
            <a:ext cx="2038350" cy="1218565"/>
          </a:xfrm>
          <a:prstGeom prst="rect">
            <a:avLst/>
          </a:prstGeom>
        </p:spPr>
      </p:pic>
      <mc:AlternateContent xmlns:mc="http://schemas.openxmlformats.org/markup-compatibility/2006">
        <mc:Choice xmlns:a14="http://schemas.microsoft.com/office/drawing/2010/main" Requires="a14">
          <p:sp>
            <p:nvSpPr>
              <p:cNvPr id="22" name="文本框 21"/>
              <p:cNvSpPr txBox="1"/>
              <p:nvPr/>
            </p:nvSpPr>
            <p:spPr>
              <a:xfrm>
                <a:off x="8663876" y="2956814"/>
                <a:ext cx="3153410" cy="72326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func>
                        <m:funcPr>
                          <m:ctrlPr>
                            <a:rPr lang="en-US" altLang="zh-CN" i="1">
                              <a:latin typeface="Cambria Math" panose="02040503050406030204" charset="0"/>
                              <a:cs typeface="Cambria Math" panose="02040503050406030204" charset="0"/>
                            </a:rPr>
                          </m:ctrlPr>
                        </m:funcPr>
                        <m:fName>
                          <m:limLow>
                            <m:limLowPr>
                              <m:ctrlPr>
                                <a:rPr lang="en-US" altLang="zh-CN">
                                  <a:latin typeface="Cambria Math" panose="02040503050406030204" charset="0"/>
                                  <a:cs typeface="Cambria Math" panose="02040503050406030204" charset="0"/>
                                </a:rPr>
                              </m:ctrlPr>
                            </m:limLowPr>
                            <m:e>
                              <m:r>
                                <m:rPr>
                                  <m:sty m:val="p"/>
                                </m:rPr>
                                <a:rPr lang="en-US" altLang="zh-CN">
                                  <a:latin typeface="Cambria Math" panose="02040503050406030204" charset="0"/>
                                  <a:cs typeface="Cambria Math" panose="02040503050406030204" charset="0"/>
                                </a:rPr>
                                <m:t>min</m:t>
                              </m:r>
                            </m:e>
                            <m:lim>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𝑢</m:t>
                              </m:r>
                            </m:lim>
                          </m:limLow>
                        </m:fName>
                        <m:e>
                          <m:r>
                            <a:rPr lang="en-US" altLang="zh-CN" i="1">
                              <a:latin typeface="Cambria Math" panose="02040503050406030204" charset="0"/>
                              <a:cs typeface="Cambria Math" panose="02040503050406030204" charset="0"/>
                            </a:rPr>
                            <m:t>𝐸</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𝑓</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𝑢</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𝑤</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e>
                      </m:func>
                    </m:oMath>
                  </m:oMathPara>
                </a14:m>
                <a:endParaRPr lang="en-US" altLang="zh-CN" i="1">
                  <a:latin typeface="Cambria Math" panose="02040503050406030204" charset="0"/>
                  <a:cs typeface="Cambria Math" panose="02040503050406030204" charset="0"/>
                </a:endParaRPr>
              </a:p>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𝑠</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𝑡</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𝑃𝑟</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𝑔</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𝑢</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𝑤</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𝜖</m:t>
                      </m:r>
                    </m:oMath>
                  </m:oMathPara>
                </a14:m>
                <a:endParaRPr lang="en-US" altLang="zh-CN"/>
              </a:p>
            </p:txBody>
          </p:sp>
        </mc:Choice>
        <mc:Fallback>
          <p:sp>
            <p:nvSpPr>
              <p:cNvPr id="22" name="文本框 21"/>
              <p:cNvSpPr txBox="1">
                <a:spLocks noRot="1" noChangeAspect="1" noMove="1" noResize="1" noEditPoints="1" noAdjustHandles="1" noChangeArrowheads="1" noChangeShapeType="1" noTextEdit="1"/>
              </p:cNvSpPr>
              <p:nvPr/>
            </p:nvSpPr>
            <p:spPr>
              <a:xfrm>
                <a:off x="8663876" y="2956814"/>
                <a:ext cx="3153410" cy="723265"/>
              </a:xfrm>
              <a:prstGeom prst="rect">
                <a:avLst/>
              </a:prstGeom>
              <a:blipFill rotWithShape="1">
                <a:blip r:embed="rId4"/>
                <a:stretch>
                  <a:fillRect l="-18" t="-35" r="18" b="35"/>
                </a:stretch>
              </a:blipFill>
            </p:spPr>
            <p:txBody>
              <a:bodyPr/>
              <a:lstStyle/>
              <a:p>
                <a:r>
                  <a:rPr lang="zh-CN" altLang="en-US">
                    <a:noFill/>
                  </a:rPr>
                  <a:t> </a:t>
                </a:r>
              </a:p>
            </p:txBody>
          </p:sp>
        </mc:Fallback>
      </mc:AlternateContent>
      <p:sp>
        <p:nvSpPr>
          <p:cNvPr id="16" name="矩形 15"/>
          <p:cNvSpPr/>
          <p:nvPr/>
        </p:nvSpPr>
        <p:spPr>
          <a:xfrm>
            <a:off x="8747760" y="3301365"/>
            <a:ext cx="3024505" cy="405130"/>
          </a:xfrm>
          <a:prstGeom prst="rect">
            <a:avLst/>
          </a:prstGeom>
          <a:noFill/>
          <a:ln w="19050">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文本框 23"/>
          <p:cNvSpPr txBox="1"/>
          <p:nvPr/>
        </p:nvSpPr>
        <p:spPr>
          <a:xfrm>
            <a:off x="8112125" y="3816350"/>
            <a:ext cx="4247515" cy="401320"/>
          </a:xfrm>
          <a:prstGeom prst="rect">
            <a:avLst/>
          </a:prstGeom>
          <a:noFill/>
        </p:spPr>
        <p:txBody>
          <a:bodyPr wrap="square" rtlCol="0">
            <a:noAutofit/>
          </a:bodyPr>
          <a:p>
            <a:pPr algn="ctr"/>
            <a:r>
              <a:rPr lang="zh-CN" altLang="en-US"/>
              <a:t>机会约束</a:t>
            </a:r>
            <a:endParaRPr lang="zh-CN" altLang="en-US"/>
          </a:p>
          <a:p>
            <a:pPr algn="ctr"/>
            <a:r>
              <a:rPr lang="zh-CN" altLang="en-US"/>
              <a:t>（</a:t>
            </a:r>
            <a:r>
              <a:rPr lang="en-US" altLang="zh-CN"/>
              <a:t>Chance Constarint</a:t>
            </a:r>
            <a:r>
              <a:rPr lang="zh-CN" altLang="en-US"/>
              <a:t>）</a:t>
            </a:r>
            <a:endParaRPr lang="zh-CN" altLang="en-US"/>
          </a:p>
        </p:txBody>
      </p:sp>
      <p:sp>
        <p:nvSpPr>
          <p:cNvPr id="25" name="文本框 24"/>
          <p:cNvSpPr txBox="1"/>
          <p:nvPr/>
        </p:nvSpPr>
        <p:spPr>
          <a:xfrm>
            <a:off x="2618740" y="4911090"/>
            <a:ext cx="6689090" cy="368300"/>
          </a:xfrm>
          <a:prstGeom prst="rect">
            <a:avLst/>
          </a:prstGeom>
          <a:noFill/>
        </p:spPr>
        <p:txBody>
          <a:bodyPr wrap="square" rtlCol="0">
            <a:spAutoFit/>
          </a:bodyPr>
          <a:p>
            <a:r>
              <a:rPr lang="zh-CN" altLang="en-US"/>
              <a:t>本研究考虑</a:t>
            </a:r>
            <a:r>
              <a:rPr lang="zh-CN" altLang="en-US">
                <a:solidFill>
                  <a:srgbClr val="FF0000"/>
                </a:solidFill>
              </a:rPr>
              <a:t>离散线性时不变</a:t>
            </a:r>
            <a:r>
              <a:rPr lang="zh-CN" altLang="en-US"/>
              <a:t>系统在</a:t>
            </a:r>
            <a:r>
              <a:rPr lang="zh-CN" altLang="en-US">
                <a:solidFill>
                  <a:srgbClr val="FF0000"/>
                </a:solidFill>
              </a:rPr>
              <a:t>加性扰动</a:t>
            </a:r>
            <a:r>
              <a:rPr lang="zh-CN" altLang="en-US"/>
              <a:t>下的</a:t>
            </a:r>
            <a:r>
              <a:rPr lang="en-US" altLang="zh-CN"/>
              <a:t>CCOP</a:t>
            </a:r>
            <a:r>
              <a:rPr lang="zh-CN" altLang="en-US"/>
              <a:t>问题</a:t>
            </a:r>
            <a:r>
              <a:rPr lang="zh-CN" altLang="en-US"/>
              <a:t>求解</a:t>
            </a:r>
            <a:endParaRPr lang="zh-CN" altLang="en-US"/>
          </a:p>
        </p:txBody>
      </p:sp>
      <p:sp>
        <p:nvSpPr>
          <p:cNvPr id="27" name="文本框 26"/>
          <p:cNvSpPr txBox="1"/>
          <p:nvPr/>
        </p:nvSpPr>
        <p:spPr>
          <a:xfrm>
            <a:off x="3310255" y="1754505"/>
            <a:ext cx="446405" cy="460375"/>
          </a:xfrm>
          <a:prstGeom prst="rect">
            <a:avLst/>
          </a:prstGeom>
          <a:noFill/>
        </p:spPr>
        <p:txBody>
          <a:bodyPr wrap="square" rtlCol="0">
            <a:spAutoFit/>
          </a:bodyPr>
          <a:p>
            <a:r>
              <a:rPr lang="en-US" altLang="zh-CN" sz="2400"/>
              <a:t>+</a:t>
            </a:r>
            <a:endParaRPr lang="en-US" altLang="zh-CN" sz="2400"/>
          </a:p>
        </p:txBody>
      </p:sp>
      <p:sp>
        <p:nvSpPr>
          <p:cNvPr id="28" name="文本框 27"/>
          <p:cNvSpPr txBox="1"/>
          <p:nvPr/>
        </p:nvSpPr>
        <p:spPr>
          <a:xfrm>
            <a:off x="5916295" y="1740535"/>
            <a:ext cx="319405" cy="460375"/>
          </a:xfrm>
          <a:prstGeom prst="rect">
            <a:avLst/>
          </a:prstGeom>
          <a:noFill/>
        </p:spPr>
        <p:txBody>
          <a:bodyPr wrap="square" rtlCol="0">
            <a:spAutoFit/>
          </a:bodyPr>
          <a:p>
            <a:r>
              <a:rPr lang="en-US" altLang="zh-CN" sz="2400"/>
              <a:t>=</a:t>
            </a:r>
            <a:endParaRPr lang="en-US" altLang="zh-CN" sz="2400"/>
          </a:p>
        </p:txBody>
      </p:sp>
      <p:cxnSp>
        <p:nvCxnSpPr>
          <p:cNvPr id="29" name="直接箭头连接符 28"/>
          <p:cNvCxnSpPr/>
          <p:nvPr/>
        </p:nvCxnSpPr>
        <p:spPr>
          <a:xfrm flipV="1">
            <a:off x="8427085" y="1992630"/>
            <a:ext cx="575310" cy="6985"/>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grpSp>
        <p:nvGrpSpPr>
          <p:cNvPr id="33" name="组合 32"/>
          <p:cNvGrpSpPr/>
          <p:nvPr/>
        </p:nvGrpSpPr>
        <p:grpSpPr>
          <a:xfrm>
            <a:off x="9123045" y="4451350"/>
            <a:ext cx="2545080" cy="1188720"/>
            <a:chOff x="7596" y="7058"/>
            <a:chExt cx="4008" cy="1872"/>
          </a:xfrm>
        </p:grpSpPr>
        <p:sp>
          <p:nvSpPr>
            <p:cNvPr id="30" name="圆角矩形 29"/>
            <p:cNvSpPr/>
            <p:nvPr/>
          </p:nvSpPr>
          <p:spPr>
            <a:xfrm>
              <a:off x="7596" y="7058"/>
              <a:ext cx="4008" cy="1872"/>
            </a:xfrm>
            <a:prstGeom prst="roundRect">
              <a:avLst/>
            </a:prstGeom>
            <a:solidFill>
              <a:schemeClr val="accent1">
                <a:alpha val="11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31" name="文本框 30"/>
                <p:cNvSpPr txBox="1"/>
                <p:nvPr/>
              </p:nvSpPr>
              <p:spPr>
                <a:xfrm>
                  <a:off x="8102" y="7628"/>
                  <a:ext cx="2996" cy="110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func>
                          <m:funcPr>
                            <m:ctrlPr>
                              <a:rPr lang="en-US" altLang="zh-CN" i="1">
                                <a:latin typeface="Cambria Math" panose="02040503050406030204" charset="0"/>
                                <a:cs typeface="Cambria Math" panose="02040503050406030204" charset="0"/>
                              </a:rPr>
                            </m:ctrlPr>
                          </m:funcPr>
                          <m:fName>
                            <m:limLow>
                              <m:limLowPr>
                                <m:ctrlPr>
                                  <a:rPr lang="en-US" altLang="zh-CN">
                                    <a:latin typeface="Cambria Math" panose="02040503050406030204" charset="0"/>
                                    <a:cs typeface="Cambria Math" panose="02040503050406030204" charset="0"/>
                                  </a:rPr>
                                </m:ctrlPr>
                              </m:limLowPr>
                              <m:e>
                                <m:r>
                                  <m:rPr>
                                    <m:sty m:val="p"/>
                                  </m:rPr>
                                  <a:rPr lang="en-US" altLang="zh-CN">
                                    <a:latin typeface="Cambria Math" panose="02040503050406030204" charset="0"/>
                                    <a:cs typeface="Cambria Math" panose="02040503050406030204" charset="0"/>
                                  </a:rPr>
                                  <m:t>min</m:t>
                                </m:r>
                              </m:e>
                              <m:lim>
                                <m:r>
                                  <a:rPr lang="en-US" altLang="zh-CN" i="1">
                                    <a:latin typeface="Cambria Math" panose="02040503050406030204" charset="0"/>
                                    <a:cs typeface="Cambria Math" panose="02040503050406030204" charset="0"/>
                                  </a:rPr>
                                  <m:t>𝑥</m:t>
                                </m:r>
                              </m:lim>
                            </m:limLow>
                          </m:fName>
                          <m:e>
                            <m:r>
                              <a:rPr lang="en-US" altLang="zh-CN" i="1">
                                <a:latin typeface="Cambria Math" panose="02040503050406030204" charset="0"/>
                                <a:cs typeface="Cambria Math" panose="02040503050406030204" charset="0"/>
                              </a:rPr>
                              <m:t>𝑓</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e>
                        </m:func>
                      </m:oMath>
                    </m:oMathPara>
                  </a14:m>
                  <a:endParaRPr lang="en-US" altLang="zh-CN" i="1">
                    <a:latin typeface="Cambria Math" panose="02040503050406030204" charset="0"/>
                    <a:cs typeface="Cambria Math" panose="02040503050406030204" charset="0"/>
                  </a:endParaRPr>
                </a:p>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𝑠</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𝑡</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𝑔</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𝑥</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𝑢</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oMath>
                    </m:oMathPara>
                  </a14:m>
                  <a:endParaRPr lang="en-US" altLang="zh-CN"/>
                </a:p>
              </p:txBody>
            </p:sp>
          </mc:Choice>
          <mc:Fallback>
            <p:sp>
              <p:nvSpPr>
                <p:cNvPr id="31" name="文本框 30"/>
                <p:cNvSpPr txBox="1">
                  <a:spLocks noRot="1" noChangeAspect="1" noMove="1" noResize="1" noEditPoints="1" noAdjustHandles="1" noChangeArrowheads="1" noChangeShapeType="1" noTextEdit="1"/>
                </p:cNvSpPr>
                <p:nvPr/>
              </p:nvSpPr>
              <p:spPr>
                <a:xfrm>
                  <a:off x="8102" y="7628"/>
                  <a:ext cx="2996" cy="1105"/>
                </a:xfrm>
                <a:prstGeom prst="rect">
                  <a:avLst/>
                </a:prstGeom>
                <a:blipFill rotWithShape="1">
                  <a:blip r:embed="rId5"/>
                </a:blipFill>
              </p:spPr>
              <p:txBody>
                <a:bodyPr/>
                <a:lstStyle/>
                <a:p>
                  <a:r>
                    <a:rPr lang="zh-CN" altLang="en-US">
                      <a:noFill/>
                    </a:rPr>
                    <a:t> </a:t>
                  </a:r>
                </a:p>
              </p:txBody>
            </p:sp>
          </mc:Fallback>
        </mc:AlternateContent>
      </p:grpSp>
      <p:cxnSp>
        <p:nvCxnSpPr>
          <p:cNvPr id="32" name="直接箭头连接符 31"/>
          <p:cNvCxnSpPr>
            <a:stCxn id="24" idx="0"/>
          </p:cNvCxnSpPr>
          <p:nvPr/>
        </p:nvCxnSpPr>
        <p:spPr>
          <a:xfrm flipV="1">
            <a:off x="10236200" y="3712210"/>
            <a:ext cx="915670" cy="104140"/>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35" name="文本框 34"/>
          <p:cNvSpPr txBox="1"/>
          <p:nvPr/>
        </p:nvSpPr>
        <p:spPr>
          <a:xfrm>
            <a:off x="9214803" y="4458970"/>
            <a:ext cx="2361565" cy="368300"/>
          </a:xfrm>
          <a:prstGeom prst="rect">
            <a:avLst/>
          </a:prstGeom>
          <a:noFill/>
        </p:spPr>
        <p:txBody>
          <a:bodyPr wrap="square" rtlCol="0">
            <a:spAutoFit/>
          </a:bodyPr>
          <a:p>
            <a:pPr algn="ctr"/>
            <a:r>
              <a:rPr lang="zh-CN" altLang="en-US"/>
              <a:t>一般形式优化</a:t>
            </a:r>
            <a:r>
              <a:rPr lang="zh-CN" altLang="en-US"/>
              <a:t>问题</a:t>
            </a:r>
            <a:endParaRPr lang="zh-CN" altLang="en-US"/>
          </a:p>
        </p:txBody>
      </p:sp>
      <p:sp>
        <p:nvSpPr>
          <p:cNvPr id="10" name="矩形 9"/>
          <p:cNvSpPr/>
          <p:nvPr/>
        </p:nvSpPr>
        <p:spPr>
          <a:xfrm>
            <a:off x="342265" y="2823845"/>
            <a:ext cx="2648585" cy="394970"/>
          </a:xfrm>
          <a:prstGeom prst="rect">
            <a:avLst/>
          </a:prstGeom>
          <a:noFill/>
          <a:ln w="19050">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2895600" y="2848610"/>
            <a:ext cx="1148080" cy="368300"/>
          </a:xfrm>
          <a:prstGeom prst="rect">
            <a:avLst/>
          </a:prstGeom>
          <a:noFill/>
        </p:spPr>
        <p:txBody>
          <a:bodyPr wrap="square" rtlCol="0">
            <a:spAutoFit/>
          </a:bodyPr>
          <a:p>
            <a:r>
              <a:rPr lang="zh-CN" altLang="en-US"/>
              <a:t>加性扰动</a:t>
            </a: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tretch>
            <a:fillRect/>
          </a:stretch>
        </p:blipFill>
        <p:spPr>
          <a:xfrm>
            <a:off x="6976110" y="939800"/>
            <a:ext cx="4441190" cy="657860"/>
          </a:xfrm>
          <a:prstGeom prst="rect">
            <a:avLst/>
          </a:prstGeom>
        </p:spPr>
      </p:pic>
      <p:pic>
        <p:nvPicPr>
          <p:cNvPr id="8" name="图片 7"/>
          <p:cNvPicPr>
            <a:picLocks noChangeAspect="1"/>
          </p:cNvPicPr>
          <p:nvPr/>
        </p:nvPicPr>
        <p:blipFill>
          <a:blip r:embed="rId2"/>
          <a:stretch>
            <a:fillRect/>
          </a:stretch>
        </p:blipFill>
        <p:spPr>
          <a:xfrm>
            <a:off x="6768465" y="1659255"/>
            <a:ext cx="5125085" cy="774065"/>
          </a:xfrm>
          <a:prstGeom prst="rect">
            <a:avLst/>
          </a:prstGeom>
        </p:spPr>
      </p:pic>
      <p:pic>
        <p:nvPicPr>
          <p:cNvPr id="15" name="图片 14"/>
          <p:cNvPicPr>
            <a:picLocks noChangeAspect="1"/>
          </p:cNvPicPr>
          <p:nvPr/>
        </p:nvPicPr>
        <p:blipFill>
          <a:blip r:embed="rId3"/>
          <a:stretch>
            <a:fillRect/>
          </a:stretch>
        </p:blipFill>
        <p:spPr>
          <a:xfrm>
            <a:off x="7272655" y="2457450"/>
            <a:ext cx="4616450" cy="1000125"/>
          </a:xfrm>
          <a:prstGeom prst="rect">
            <a:avLst/>
          </a:prstGeom>
        </p:spPr>
      </p:pic>
      <p:sp>
        <p:nvSpPr>
          <p:cNvPr id="41" name="文本框 40"/>
          <p:cNvSpPr txBox="1"/>
          <p:nvPr/>
        </p:nvSpPr>
        <p:spPr>
          <a:xfrm>
            <a:off x="9979660" y="5603558"/>
            <a:ext cx="4064000" cy="368300"/>
          </a:xfrm>
          <a:prstGeom prst="rect">
            <a:avLst/>
          </a:prstGeom>
          <a:noFill/>
        </p:spPr>
        <p:txBody>
          <a:bodyPr wrap="square" rtlCol="0">
            <a:spAutoFit/>
          </a:bodyPr>
          <a:p>
            <a:r>
              <a:rPr lang="zh-CN" altLang="en-US"/>
              <a:t>直接法</a:t>
            </a:r>
            <a:r>
              <a:rPr lang="zh-CN" altLang="en-US"/>
              <a:t>求梯度</a:t>
            </a:r>
            <a:endParaRPr lang="zh-CN" altLang="en-US"/>
          </a:p>
        </p:txBody>
      </p:sp>
      <p:sp>
        <p:nvSpPr>
          <p:cNvPr id="40" name="文本框 39"/>
          <p:cNvSpPr txBox="1"/>
          <p:nvPr/>
        </p:nvSpPr>
        <p:spPr>
          <a:xfrm>
            <a:off x="9979660" y="4262438"/>
            <a:ext cx="1713230" cy="368300"/>
          </a:xfrm>
          <a:prstGeom prst="rect">
            <a:avLst/>
          </a:prstGeom>
          <a:noFill/>
        </p:spPr>
        <p:txBody>
          <a:bodyPr wrap="square" rtlCol="0">
            <a:spAutoFit/>
          </a:bodyPr>
          <a:p>
            <a:r>
              <a:rPr lang="zh-CN" altLang="en-US"/>
              <a:t>间接法</a:t>
            </a:r>
            <a:r>
              <a:rPr lang="zh-CN" altLang="en-US"/>
              <a:t>求梯度</a:t>
            </a:r>
            <a:endParaRPr lang="zh-CN" altLang="en-US"/>
          </a:p>
        </p:txBody>
      </p:sp>
      <p:pic>
        <p:nvPicPr>
          <p:cNvPr id="39" name="图片 38"/>
          <p:cNvPicPr>
            <a:picLocks noChangeAspect="1"/>
          </p:cNvPicPr>
          <p:nvPr/>
        </p:nvPicPr>
        <p:blipFill>
          <a:blip r:embed="rId4"/>
          <a:stretch>
            <a:fillRect/>
          </a:stretch>
        </p:blipFill>
        <p:spPr>
          <a:xfrm>
            <a:off x="7225030" y="5438775"/>
            <a:ext cx="2579370" cy="697865"/>
          </a:xfrm>
          <a:prstGeom prst="rect">
            <a:avLst/>
          </a:prstGeom>
        </p:spPr>
      </p:pic>
      <p:grpSp>
        <p:nvGrpSpPr>
          <p:cNvPr id="38" name="组合 37"/>
          <p:cNvGrpSpPr/>
          <p:nvPr/>
        </p:nvGrpSpPr>
        <p:grpSpPr>
          <a:xfrm>
            <a:off x="7127875" y="3569335"/>
            <a:ext cx="2865120" cy="1754505"/>
            <a:chOff x="11599" y="5621"/>
            <a:chExt cx="4512" cy="2763"/>
          </a:xfrm>
        </p:grpSpPr>
        <p:pic>
          <p:nvPicPr>
            <p:cNvPr id="32" name="图片 31"/>
            <p:cNvPicPr>
              <a:picLocks noChangeAspect="1"/>
            </p:cNvPicPr>
            <p:nvPr/>
          </p:nvPicPr>
          <p:blipFill>
            <a:blip r:embed="rId5"/>
            <a:srcRect t="1836" r="10136" b="51783"/>
            <a:stretch>
              <a:fillRect/>
            </a:stretch>
          </p:blipFill>
          <p:spPr>
            <a:xfrm>
              <a:off x="11635" y="6212"/>
              <a:ext cx="4477" cy="2172"/>
            </a:xfrm>
            <a:prstGeom prst="rect">
              <a:avLst/>
            </a:prstGeom>
          </p:spPr>
        </p:pic>
        <mc:AlternateContent xmlns:mc="http://schemas.openxmlformats.org/markup-compatibility/2006">
          <mc:Choice xmlns:a14="http://schemas.microsoft.com/office/drawing/2010/main" Requires="a14">
            <p:sp>
              <p:nvSpPr>
                <p:cNvPr id="34" name="文本框 33"/>
                <p:cNvSpPr txBox="1"/>
                <p:nvPr/>
              </p:nvSpPr>
              <p:spPr>
                <a:xfrm>
                  <a:off x="11599" y="5621"/>
                  <a:ext cx="3095" cy="580"/>
                </a:xfrm>
                <a:prstGeom prst="rect">
                  <a:avLst/>
                </a:prstGeom>
                <a:noFill/>
              </p:spPr>
              <p:txBody>
                <a:bodyPr wrap="squar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m:t>
                            </m:r>
                          </m:e>
                          <m:sub>
                            <m:r>
                              <a:rPr lang="en-US" altLang="zh-CN" i="1">
                                <a:latin typeface="Cambria Math" panose="02040503050406030204" charset="0"/>
                                <a:cs typeface="Cambria Math" panose="02040503050406030204" charset="0"/>
                              </a:rPr>
                              <m:t>𝜃</m:t>
                            </m:r>
                          </m:sub>
                        </m:sSub>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𝑝</m:t>
                            </m:r>
                          </m:e>
                          <m:sub>
                            <m:r>
                              <a:rPr lang="en-US" altLang="zh-CN" i="1">
                                <a:latin typeface="Cambria Math" panose="02040503050406030204" charset="0"/>
                                <a:cs typeface="Cambria Math" panose="02040503050406030204" charset="0"/>
                              </a:rPr>
                              <m:t>𝑠</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m:t>
                            </m:r>
                          </m:e>
                          <m:sub>
                            <m:r>
                              <a:rPr lang="en-US" altLang="zh-CN" i="1">
                                <a:latin typeface="Cambria Math" panose="02040503050406030204" charset="0"/>
                                <a:cs typeface="Cambria Math" panose="02040503050406030204" charset="0"/>
                              </a:rPr>
                              <m:t>𝜃</m:t>
                            </m:r>
                          </m:sub>
                        </m:sSub>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𝐽</m:t>
                            </m:r>
                          </m:e>
                          <m:sub>
                            <m:r>
                              <a:rPr lang="en-US" altLang="zh-CN" i="1">
                                <a:latin typeface="Cambria Math" panose="02040503050406030204" charset="0"/>
                                <a:cs typeface="Cambria Math" panose="02040503050406030204" charset="0"/>
                              </a:rPr>
                              <m:t>𝑐</m:t>
                            </m:r>
                          </m:sub>
                        </m:sSub>
                      </m:oMath>
                    </m:oMathPara>
                  </a14:m>
                  <a:endParaRPr lang="zh-CN" altLang="en-US"/>
                </a:p>
              </p:txBody>
            </p:sp>
          </mc:Choice>
          <mc:Fallback>
            <p:sp>
              <p:nvSpPr>
                <p:cNvPr id="34" name="文本框 33"/>
                <p:cNvSpPr txBox="1">
                  <a:spLocks noRot="1" noChangeAspect="1" noMove="1" noResize="1" noEditPoints="1" noAdjustHandles="1" noChangeArrowheads="1" noChangeShapeType="1" noTextEdit="1"/>
                </p:cNvSpPr>
                <p:nvPr/>
              </p:nvSpPr>
              <p:spPr>
                <a:xfrm>
                  <a:off x="11599" y="5621"/>
                  <a:ext cx="3095" cy="580"/>
                </a:xfrm>
                <a:prstGeom prst="rect">
                  <a:avLst/>
                </a:prstGeom>
                <a:blipFill rotWithShape="1">
                  <a:blip r:embed="rId6"/>
                </a:blipFill>
              </p:spPr>
              <p:txBody>
                <a:bodyPr/>
                <a:lstStyle/>
                <a:p>
                  <a:r>
                    <a:rPr lang="zh-CN" altLang="en-US">
                      <a:noFill/>
                    </a:rPr>
                    <a:t> </a:t>
                  </a:r>
                </a:p>
              </p:txBody>
            </p:sp>
          </mc:Fallback>
        </mc:AlternateContent>
      </p:grpSp>
      <p:sp>
        <p:nvSpPr>
          <p:cNvPr id="42" name="圆角矩形 41"/>
          <p:cNvSpPr/>
          <p:nvPr/>
        </p:nvSpPr>
        <p:spPr>
          <a:xfrm>
            <a:off x="7141210" y="3482975"/>
            <a:ext cx="4542790" cy="1854835"/>
          </a:xfrm>
          <a:prstGeom prst="roundRect">
            <a:avLst/>
          </a:prstGeom>
          <a:solidFill>
            <a:schemeClr val="accent1">
              <a:alpha val="19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33" name="圆角矩形 32"/>
              <p:cNvSpPr/>
              <p:nvPr/>
            </p:nvSpPr>
            <p:spPr>
              <a:xfrm>
                <a:off x="5899150" y="627380"/>
                <a:ext cx="6047105" cy="5815965"/>
              </a:xfrm>
              <a:prstGeom prst="roundRect">
                <a:avLst/>
              </a:prstGeom>
              <a:solidFill>
                <a:srgbClr val="4E67C8">
                  <a:alpha val="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charset="0"/>
                              <a:cs typeface="Cambria Math" panose="02040503050406030204" charset="0"/>
                            </a:rPr>
                          </m:ctrlPr>
                        </m:sSubPr>
                        <m:e/>
                        <m:sub/>
                      </m:sSub>
                    </m:oMath>
                  </m:oMathPara>
                </a14:m>
                <a:endParaRPr lang="zh-CN" altLang="en-US"/>
              </a:p>
            </p:txBody>
          </p:sp>
        </mc:Choice>
        <mc:Fallback>
          <p:sp>
            <p:nvSpPr>
              <p:cNvPr id="33" name="圆角矩形 32"/>
              <p:cNvSpPr>
                <a:spLocks noRot="1" noChangeAspect="1" noMove="1" noResize="1" noEditPoints="1" noAdjustHandles="1" noChangeArrowheads="1" noChangeShapeType="1" noTextEdit="1"/>
              </p:cNvSpPr>
              <p:nvPr/>
            </p:nvSpPr>
            <p:spPr>
              <a:xfrm>
                <a:off x="5899150" y="627380"/>
                <a:ext cx="6047105" cy="5815965"/>
              </a:xfrm>
              <a:prstGeom prst="roundRect">
                <a:avLst/>
              </a:prstGeom>
              <a:blipFill rotWithShape="1">
                <a:blip r:embed="rId7"/>
                <a:stretch>
                  <a:fillRect/>
                </a:stretch>
              </a:blipFill>
              <a:ln>
                <a:noFill/>
              </a:ln>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p:sp>
        <p:nvSpPr>
          <p:cNvPr id="43" name="圆角矩形 42"/>
          <p:cNvSpPr/>
          <p:nvPr/>
        </p:nvSpPr>
        <p:spPr>
          <a:xfrm>
            <a:off x="7169785" y="5415280"/>
            <a:ext cx="4493260" cy="680085"/>
          </a:xfrm>
          <a:prstGeom prst="roundRect">
            <a:avLst/>
          </a:prstGeom>
          <a:solidFill>
            <a:schemeClr val="accent1">
              <a:alpha val="19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1" name="图片 20"/>
          <p:cNvPicPr>
            <a:picLocks noChangeAspect="1"/>
          </p:cNvPicPr>
          <p:nvPr/>
        </p:nvPicPr>
        <p:blipFill>
          <a:blip r:embed="rId8"/>
          <a:stretch>
            <a:fillRect/>
          </a:stretch>
        </p:blipFill>
        <p:spPr>
          <a:xfrm>
            <a:off x="161925" y="4095115"/>
            <a:ext cx="4988560" cy="619760"/>
          </a:xfrm>
          <a:prstGeom prst="rect">
            <a:avLst/>
          </a:prstGeom>
        </p:spPr>
      </p:pic>
      <p:sp>
        <p:nvSpPr>
          <p:cNvPr id="20" name="圆角矩形 19"/>
          <p:cNvSpPr/>
          <p:nvPr/>
        </p:nvSpPr>
        <p:spPr>
          <a:xfrm>
            <a:off x="75565" y="3994150"/>
            <a:ext cx="5183505" cy="914400"/>
          </a:xfrm>
          <a:prstGeom prst="roundRect">
            <a:avLst/>
          </a:prstGeom>
          <a:solidFill>
            <a:schemeClr val="accent1">
              <a:alpha val="7000"/>
            </a:schemeClr>
          </a:solidFill>
          <a:ln>
            <a:solidFill>
              <a:schemeClr val="accent1">
                <a:lumMod val="75000"/>
                <a:alpha val="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占位符 1"/>
          <p:cNvSpPr>
            <a:spLocks noGrp="1"/>
          </p:cNvSpPr>
          <p:nvPr>
            <p:ph type="body" idx="1"/>
          </p:nvPr>
        </p:nvSpPr>
        <p:spPr>
          <a:xfrm>
            <a:off x="247650" y="5848350"/>
            <a:ext cx="10515600" cy="356235"/>
          </a:xfrm>
        </p:spPr>
        <p:txBody>
          <a:bodyPr/>
          <a:p>
            <a:pPr algn="l"/>
            <a:r>
              <a:rPr lang="zh-CN" altLang="en-US"/>
              <a:t>从机会约束合理构造罚函数，通过训练保证约束</a:t>
            </a:r>
            <a:r>
              <a:rPr lang="zh-CN" altLang="en-US"/>
              <a:t>满足</a:t>
            </a:r>
            <a:endParaRPr lang="zh-CN" altLang="en-US"/>
          </a:p>
        </p:txBody>
      </p:sp>
      <p:sp>
        <p:nvSpPr>
          <p:cNvPr id="3" name="文本占位符 2"/>
          <p:cNvSpPr>
            <a:spLocks noGrp="1"/>
          </p:cNvSpPr>
          <p:nvPr>
            <p:ph type="body" idx="13"/>
          </p:nvPr>
        </p:nvSpPr>
        <p:spPr>
          <a:xfrm>
            <a:off x="0" y="670560"/>
            <a:ext cx="6552565" cy="448310"/>
          </a:xfrm>
        </p:spPr>
        <p:txBody>
          <a:bodyPr/>
          <a:p>
            <a:r>
              <a:rPr lang="en-US" altLang="zh-CN"/>
              <a:t>&gt;&gt;&gt;</a:t>
            </a:r>
            <a:r>
              <a:t>从</a:t>
            </a:r>
            <a:r>
              <a:rPr lang="en-US" altLang="zh-CN"/>
              <a:t>CCOP</a:t>
            </a:r>
            <a:r>
              <a:t>构造强化学习问题、及其</a:t>
            </a:r>
            <a:r>
              <a:t>求解</a:t>
            </a:r>
          </a:p>
        </p:txBody>
      </p:sp>
      <p:sp>
        <p:nvSpPr>
          <p:cNvPr id="4" name="文本占位符 3"/>
          <p:cNvSpPr>
            <a:spLocks noGrp="1"/>
          </p:cNvSpPr>
          <p:nvPr>
            <p:ph type="body" idx="14"/>
          </p:nvPr>
        </p:nvSpPr>
        <p:spPr>
          <a:xfrm>
            <a:off x="805180" y="111760"/>
            <a:ext cx="7696835" cy="448310"/>
          </a:xfrm>
        </p:spPr>
        <p:txBody>
          <a:bodyPr/>
          <a:p>
            <a:r>
              <a:rPr lang="zh-CN" altLang="en-US"/>
              <a:t>强化学习解机会约束优化问题（</a:t>
            </a:r>
            <a:r>
              <a:rPr lang="en-US" altLang="zh-CN"/>
              <a:t>3.3</a:t>
            </a:r>
            <a:r>
              <a:rPr lang="zh-CN" altLang="en-US"/>
              <a:t>）</a:t>
            </a:r>
            <a:endParaRPr lang="zh-CN" altLang="en-US"/>
          </a:p>
        </p:txBody>
      </p:sp>
      <p:sp>
        <p:nvSpPr>
          <p:cNvPr id="5" name="灯片编号占位符 4"/>
          <p:cNvSpPr>
            <a:spLocks noGrp="1"/>
          </p:cNvSpPr>
          <p:nvPr>
            <p:ph type="sldNum" sz="quarter" idx="12"/>
          </p:nvPr>
        </p:nvSpPr>
        <p:spPr/>
        <p:txBody>
          <a:bodyPr/>
          <a:p>
            <a:pPr>
              <a:defRPr/>
            </a:pPr>
            <a:fld id="{AC6C5647-07D8-4AFC-B347-73DA68F3AADD}" type="slidenum">
              <a:rPr lang="zh-CN" altLang="en-US"/>
            </a:fld>
            <a:endParaRPr lang="zh-CN" altLang="en-US"/>
          </a:p>
        </p:txBody>
      </p:sp>
      <p:grpSp>
        <p:nvGrpSpPr>
          <p:cNvPr id="23" name="组合 22"/>
          <p:cNvGrpSpPr/>
          <p:nvPr/>
        </p:nvGrpSpPr>
        <p:grpSpPr>
          <a:xfrm rot="0">
            <a:off x="718820" y="1166495"/>
            <a:ext cx="3618230" cy="1889760"/>
            <a:chOff x="230" y="1837"/>
            <a:chExt cx="5698" cy="2976"/>
          </a:xfrm>
        </p:grpSpPr>
        <p:pic>
          <p:nvPicPr>
            <p:cNvPr id="6" name="图片 5"/>
            <p:cNvPicPr>
              <a:picLocks noChangeAspect="1"/>
            </p:cNvPicPr>
            <p:nvPr/>
          </p:nvPicPr>
          <p:blipFill>
            <a:blip r:embed="rId9"/>
            <a:stretch>
              <a:fillRect/>
            </a:stretch>
          </p:blipFill>
          <p:spPr>
            <a:xfrm>
              <a:off x="256" y="2102"/>
              <a:ext cx="5330" cy="2333"/>
            </a:xfrm>
            <a:prstGeom prst="rect">
              <a:avLst/>
            </a:prstGeom>
          </p:spPr>
        </p:pic>
        <p:sp>
          <p:nvSpPr>
            <p:cNvPr id="16" name="圆角矩形 15"/>
            <p:cNvSpPr/>
            <p:nvPr/>
          </p:nvSpPr>
          <p:spPr>
            <a:xfrm>
              <a:off x="230" y="1837"/>
              <a:ext cx="5699" cy="2976"/>
            </a:xfrm>
            <a:prstGeom prst="roundRect">
              <a:avLst/>
            </a:prstGeom>
            <a:solidFill>
              <a:schemeClr val="accent1">
                <a:alpha val="7000"/>
              </a:schemeClr>
            </a:solidFill>
            <a:ln>
              <a:solidFill>
                <a:schemeClr val="accent1">
                  <a:lumMod val="75000"/>
                  <a:alpha val="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7" name="文本框 16"/>
          <p:cNvSpPr txBox="1"/>
          <p:nvPr/>
        </p:nvSpPr>
        <p:spPr>
          <a:xfrm>
            <a:off x="573405" y="1080770"/>
            <a:ext cx="1343660" cy="368300"/>
          </a:xfrm>
          <a:prstGeom prst="rect">
            <a:avLst/>
          </a:prstGeom>
          <a:noFill/>
        </p:spPr>
        <p:txBody>
          <a:bodyPr wrap="square" rtlCol="0">
            <a:spAutoFit/>
          </a:bodyPr>
          <a:p>
            <a:r>
              <a:rPr lang="zh-CN" altLang="en-US"/>
              <a:t>初始</a:t>
            </a:r>
            <a:r>
              <a:rPr lang="en-US" altLang="zh-CN"/>
              <a:t>CCOP</a:t>
            </a:r>
            <a:endParaRPr lang="en-US" altLang="zh-CN"/>
          </a:p>
        </p:txBody>
      </p:sp>
      <p:sp>
        <p:nvSpPr>
          <p:cNvPr id="18" name="下箭头 17"/>
          <p:cNvSpPr/>
          <p:nvPr/>
        </p:nvSpPr>
        <p:spPr>
          <a:xfrm>
            <a:off x="2435860" y="3164205"/>
            <a:ext cx="462280" cy="587375"/>
          </a:xfrm>
          <a:prstGeom prst="downArrow">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文本框 18"/>
          <p:cNvSpPr txBox="1"/>
          <p:nvPr/>
        </p:nvSpPr>
        <p:spPr>
          <a:xfrm>
            <a:off x="2083435" y="3749675"/>
            <a:ext cx="1191260" cy="368300"/>
          </a:xfrm>
          <a:prstGeom prst="rect">
            <a:avLst/>
          </a:prstGeom>
          <a:noFill/>
        </p:spPr>
        <p:txBody>
          <a:bodyPr wrap="square" rtlCol="0">
            <a:spAutoFit/>
          </a:bodyPr>
          <a:p>
            <a:pPr algn="ctr"/>
            <a:r>
              <a:rPr lang="zh-CN" altLang="en-US"/>
              <a:t>罚函数</a:t>
            </a:r>
            <a:endParaRPr lang="zh-CN" altLang="en-US"/>
          </a:p>
        </p:txBody>
      </p:sp>
      <p:sp>
        <p:nvSpPr>
          <p:cNvPr id="29" name="直角三角形 28"/>
          <p:cNvSpPr/>
          <p:nvPr/>
        </p:nvSpPr>
        <p:spPr>
          <a:xfrm rot="13500000">
            <a:off x="5048250" y="4240530"/>
            <a:ext cx="421640" cy="421640"/>
          </a:xfrm>
          <a:prstGeom prst="rtTriangle">
            <a:avLst/>
          </a:prstGeom>
          <a:solidFill>
            <a:srgbClr val="F3F4F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文本框 26"/>
          <p:cNvSpPr txBox="1"/>
          <p:nvPr/>
        </p:nvSpPr>
        <p:spPr>
          <a:xfrm>
            <a:off x="4730115" y="4246245"/>
            <a:ext cx="1657350" cy="368300"/>
          </a:xfrm>
          <a:prstGeom prst="rect">
            <a:avLst/>
          </a:prstGeom>
          <a:noFill/>
        </p:spPr>
        <p:txBody>
          <a:bodyPr wrap="square" rtlCol="0">
            <a:spAutoFit/>
          </a:bodyPr>
          <a:p>
            <a:pPr algn="ctr"/>
            <a:r>
              <a:rPr lang="en-US" altLang="zh-CN">
                <a:solidFill>
                  <a:srgbClr val="FF0000"/>
                </a:solidFill>
              </a:rPr>
              <a:t>Actor-Critic</a:t>
            </a:r>
            <a:endParaRPr lang="en-US" altLang="zh-CN">
              <a:solidFill>
                <a:srgbClr val="FF0000"/>
              </a:solidFill>
            </a:endParaRPr>
          </a:p>
        </p:txBody>
      </p:sp>
      <p:sp>
        <p:nvSpPr>
          <p:cNvPr id="30" name="文本框 29"/>
          <p:cNvSpPr txBox="1"/>
          <p:nvPr/>
        </p:nvSpPr>
        <p:spPr>
          <a:xfrm>
            <a:off x="6165850" y="1089660"/>
            <a:ext cx="955675" cy="368300"/>
          </a:xfrm>
          <a:prstGeom prst="rect">
            <a:avLst/>
          </a:prstGeom>
          <a:noFill/>
        </p:spPr>
        <p:txBody>
          <a:bodyPr wrap="square" rtlCol="0">
            <a:spAutoFit/>
          </a:bodyPr>
          <a:p>
            <a:r>
              <a:rPr lang="en-US" altLang="zh-CN"/>
              <a:t>Critic</a:t>
            </a:r>
            <a:r>
              <a:rPr lang="zh-CN" altLang="en-US"/>
              <a:t>：</a:t>
            </a:r>
            <a:endParaRPr lang="zh-CN" altLang="en-US"/>
          </a:p>
        </p:txBody>
      </p:sp>
      <p:sp>
        <p:nvSpPr>
          <p:cNvPr id="31" name="文本框 30"/>
          <p:cNvSpPr txBox="1"/>
          <p:nvPr/>
        </p:nvSpPr>
        <p:spPr>
          <a:xfrm>
            <a:off x="6186805" y="1852930"/>
            <a:ext cx="989965" cy="368300"/>
          </a:xfrm>
          <a:prstGeom prst="rect">
            <a:avLst/>
          </a:prstGeom>
          <a:noFill/>
        </p:spPr>
        <p:txBody>
          <a:bodyPr wrap="square" rtlCol="0">
            <a:spAutoFit/>
          </a:bodyPr>
          <a:p>
            <a:r>
              <a:rPr lang="en-US" altLang="zh-CN"/>
              <a:t>Actor</a:t>
            </a:r>
            <a:r>
              <a:rPr lang="zh-CN" altLang="en-US"/>
              <a:t>：</a:t>
            </a:r>
            <a:endParaRPr lang="zh-CN" altLang="en-US"/>
          </a:p>
        </p:txBody>
      </p:sp>
      <p:sp>
        <p:nvSpPr>
          <p:cNvPr id="7" name="文本框 6"/>
          <p:cNvSpPr txBox="1"/>
          <p:nvPr/>
        </p:nvSpPr>
        <p:spPr>
          <a:xfrm>
            <a:off x="3526790" y="4641215"/>
            <a:ext cx="4064000" cy="922020"/>
          </a:xfrm>
          <a:prstGeom prst="rect">
            <a:avLst/>
          </a:prstGeom>
          <a:noFill/>
        </p:spPr>
        <p:txBody>
          <a:bodyPr wrap="square" rtlCol="0">
            <a:spAutoFit/>
          </a:bodyPr>
          <a:p>
            <a:pPr algn="ctr"/>
            <a:r>
              <a:rPr lang="zh-CN" altLang="en-US"/>
              <a:t>结构简单</a:t>
            </a:r>
            <a:endParaRPr lang="zh-CN" altLang="en-US"/>
          </a:p>
          <a:p>
            <a:pPr algn="ctr"/>
            <a:r>
              <a:rPr lang="zh-CN" altLang="en-US"/>
              <a:t>与原问题代价相关，便于研究机会约束对策略更新的</a:t>
            </a:r>
            <a:r>
              <a:rPr lang="zh-CN" altLang="en-US"/>
              <a:t>影响</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a:p>
            <a:r>
              <a:rPr lang="zh-CN" altLang="en-US"/>
              <a:t>小车跟随问题，后车在速度尽可能大的情况下，以一定概率保持与前车</a:t>
            </a:r>
            <a:r>
              <a:rPr lang="zh-CN" altLang="en-US"/>
              <a:t>距离</a:t>
            </a:r>
            <a:endParaRPr lang="zh-CN" altLang="en-US"/>
          </a:p>
        </p:txBody>
      </p:sp>
      <p:sp>
        <p:nvSpPr>
          <p:cNvPr id="3" name="文本占位符 2"/>
          <p:cNvSpPr>
            <a:spLocks noGrp="1"/>
          </p:cNvSpPr>
          <p:nvPr>
            <p:ph type="body" idx="13"/>
          </p:nvPr>
        </p:nvSpPr>
        <p:spPr/>
        <p:txBody>
          <a:bodyPr/>
          <a:p>
            <a:r>
              <a:rPr lang="en-US" altLang="zh-CN"/>
              <a:t>&gt;&gt;&gt;</a:t>
            </a:r>
            <a:r>
              <a:t>实验</a:t>
            </a:r>
            <a:r>
              <a:t>问题</a:t>
            </a:r>
          </a:p>
        </p:txBody>
      </p:sp>
      <p:sp>
        <p:nvSpPr>
          <p:cNvPr id="4" name="文本占位符 3"/>
          <p:cNvSpPr>
            <a:spLocks noGrp="1"/>
          </p:cNvSpPr>
          <p:nvPr>
            <p:ph type="body" idx="14"/>
          </p:nvPr>
        </p:nvSpPr>
        <p:spPr>
          <a:xfrm>
            <a:off x="805180" y="111760"/>
            <a:ext cx="8052435" cy="448310"/>
          </a:xfrm>
        </p:spPr>
        <p:txBody>
          <a:bodyPr/>
          <a:p>
            <a:r>
              <a:rPr>
                <a:sym typeface="+mn-ea"/>
              </a:rPr>
              <a:t>强化学习解机会约束优化问题（</a:t>
            </a:r>
            <a:r>
              <a:rPr lang="en-US" altLang="zh-CN">
                <a:sym typeface="+mn-ea"/>
              </a:rPr>
              <a:t>3.4</a:t>
            </a:r>
            <a:r>
              <a:rPr>
                <a:sym typeface="+mn-ea"/>
              </a:rPr>
              <a:t>）</a:t>
            </a:r>
            <a:endParaRPr lang="zh-CN" altLang="en-US"/>
          </a:p>
          <a:p>
            <a:endParaRPr lang="zh-CN" altLang="en-US"/>
          </a:p>
        </p:txBody>
      </p:sp>
      <p:pic>
        <p:nvPicPr>
          <p:cNvPr id="6" name="图片 5"/>
          <p:cNvPicPr>
            <a:picLocks noChangeAspect="1"/>
          </p:cNvPicPr>
          <p:nvPr/>
        </p:nvPicPr>
        <p:blipFill>
          <a:blip r:embed="rId1"/>
          <a:stretch>
            <a:fillRect/>
          </a:stretch>
        </p:blipFill>
        <p:spPr>
          <a:xfrm>
            <a:off x="4043363" y="1292860"/>
            <a:ext cx="3322955" cy="1460500"/>
          </a:xfrm>
          <a:prstGeom prst="rect">
            <a:avLst/>
          </a:prstGeom>
        </p:spPr>
      </p:pic>
      <p:grpSp>
        <p:nvGrpSpPr>
          <p:cNvPr id="5" name="组合 4"/>
          <p:cNvGrpSpPr/>
          <p:nvPr/>
        </p:nvGrpSpPr>
        <p:grpSpPr>
          <a:xfrm>
            <a:off x="4201160" y="3153410"/>
            <a:ext cx="3280410" cy="2199005"/>
            <a:chOff x="0" y="6085"/>
            <a:chExt cx="5166" cy="3463"/>
          </a:xfrm>
        </p:grpSpPr>
        <p:pic>
          <p:nvPicPr>
            <p:cNvPr id="7" name="图片 6"/>
            <p:cNvPicPr>
              <a:picLocks noChangeAspect="1"/>
            </p:cNvPicPr>
            <p:nvPr/>
          </p:nvPicPr>
          <p:blipFill>
            <a:blip r:embed="rId2"/>
            <a:stretch>
              <a:fillRect/>
            </a:stretch>
          </p:blipFill>
          <p:spPr>
            <a:xfrm>
              <a:off x="194" y="6085"/>
              <a:ext cx="4972" cy="2648"/>
            </a:xfrm>
            <a:prstGeom prst="rect">
              <a:avLst/>
            </a:prstGeom>
          </p:spPr>
        </p:pic>
        <mc:AlternateContent xmlns:mc="http://schemas.openxmlformats.org/markup-compatibility/2006">
          <mc:Choice xmlns:a14="http://schemas.microsoft.com/office/drawing/2010/main" Requires="a14">
            <p:sp>
              <p:nvSpPr>
                <p:cNvPr id="15" name="文本框 14"/>
                <p:cNvSpPr txBox="1"/>
                <p:nvPr/>
              </p:nvSpPr>
              <p:spPr>
                <a:xfrm>
                  <a:off x="0" y="8968"/>
                  <a:ext cx="2042" cy="580"/>
                </a:xfrm>
                <a:prstGeom prst="rect">
                  <a:avLst/>
                </a:prstGeom>
                <a:noFill/>
              </p:spPr>
              <p:txBody>
                <a:bodyPr wrap="square" rtlCol="0">
                  <a:spAutoFit/>
                </a:bodyPr>
                <a:p>
                  <a14:m>
                    <m:oMathPara xmlns:m="http://schemas.openxmlformats.org/officeDocument/2006/math">
                      <m:oMathParaPr>
                        <m:jc m:val="center"/>
                      </m:oMathParaPr>
                      <m:oMath xmlns:m="http://schemas.openxmlformats.org/officeDocument/2006/math">
                        <m:r>
                          <a:rPr lang="en-US" altLang="zh-CN" i="1">
                            <a:latin typeface="Cambria Math" panose="02040503050406030204" charset="0"/>
                            <a:cs typeface="Cambria Math" panose="02040503050406030204" charset="0"/>
                          </a:rPr>
                          <m:t>𝛿</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oMath>
                    </m:oMathPara>
                  </a14:m>
                  <a:endParaRPr lang="zh-CN" altLang="en-US"/>
                </a:p>
              </p:txBody>
            </p:sp>
          </mc:Choice>
          <mc:Fallback>
            <p:sp>
              <p:nvSpPr>
                <p:cNvPr id="15" name="文本框 14"/>
                <p:cNvSpPr txBox="1">
                  <a:spLocks noRot="1" noChangeAspect="1" noMove="1" noResize="1" noEditPoints="1" noAdjustHandles="1" noChangeArrowheads="1" noChangeShapeType="1" noTextEdit="1"/>
                </p:cNvSpPr>
                <p:nvPr/>
              </p:nvSpPr>
              <p:spPr>
                <a:xfrm>
                  <a:off x="0" y="8968"/>
                  <a:ext cx="2042" cy="580"/>
                </a:xfrm>
                <a:prstGeom prst="rect">
                  <a:avLst/>
                </a:prstGeom>
                <a:blipFill rotWithShape="1">
                  <a:blip r:embed="rId3"/>
                </a:blipFill>
              </p:spPr>
              <p:txBody>
                <a:bodyPr/>
                <a:lstStyle/>
                <a:p>
                  <a:r>
                    <a:rPr lang="zh-CN" altLang="en-US">
                      <a:noFill/>
                    </a:rPr>
                    <a:t> </a:t>
                  </a:r>
                </a:p>
              </p:txBody>
            </p:sp>
          </mc:Fallback>
        </mc:AlternateContent>
      </p:grpSp>
      <p:sp>
        <p:nvSpPr>
          <p:cNvPr id="8" name="灯片编号占位符 7"/>
          <p:cNvSpPr>
            <a:spLocks noGrp="1"/>
          </p:cNvSpPr>
          <p:nvPr>
            <p:ph type="sldNum" sz="quarter" idx="12"/>
          </p:nvPr>
        </p:nvSpPr>
        <p:spPr/>
        <p:txBody>
          <a:bodyPr/>
          <a:p>
            <a:pPr>
              <a:defRPr/>
            </a:pPr>
            <a:fld id="{AC6C5647-07D8-4AFC-B347-73DA68F3AADD}" type="slidenum">
              <a:rPr lang="zh-CN" altLang="en-US"/>
            </a:fld>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a:xfrm>
            <a:off x="794385" y="6057265"/>
            <a:ext cx="10515600" cy="356235"/>
          </a:xfrm>
        </p:spPr>
        <p:txBody>
          <a:bodyPr/>
          <a:p>
            <a:r>
              <a:rPr lang="zh-CN" altLang="en-US"/>
              <a:t>直接法</a:t>
            </a:r>
            <a:r>
              <a:rPr lang="zh-CN" altLang="en-US"/>
              <a:t>更能使</a:t>
            </a:r>
            <a:r>
              <a:rPr lang="zh-CN" altLang="en-US"/>
              <a:t>机会约束满足</a:t>
            </a:r>
            <a:r>
              <a:rPr lang="zh-CN" altLang="en-US"/>
              <a:t>概率能有效收敛到预设概率，且训练过程更</a:t>
            </a:r>
            <a:r>
              <a:rPr lang="zh-CN" altLang="en-US"/>
              <a:t>稳定</a:t>
            </a:r>
            <a:endParaRPr lang="zh-CN" altLang="en-US"/>
          </a:p>
        </p:txBody>
      </p:sp>
      <p:sp>
        <p:nvSpPr>
          <p:cNvPr id="3" name="文本占位符 2"/>
          <p:cNvSpPr>
            <a:spLocks noGrp="1"/>
          </p:cNvSpPr>
          <p:nvPr>
            <p:ph type="body" idx="13"/>
          </p:nvPr>
        </p:nvSpPr>
        <p:spPr/>
        <p:txBody>
          <a:bodyPr/>
          <a:p>
            <a:r>
              <a:rPr lang="en-US" altLang="zh-CN"/>
              <a:t>&gt;&gt;&gt;</a:t>
            </a:r>
            <a:r>
              <a:t>实验</a:t>
            </a:r>
            <a:r>
              <a:t>结果</a:t>
            </a:r>
          </a:p>
        </p:txBody>
      </p:sp>
      <p:sp>
        <p:nvSpPr>
          <p:cNvPr id="4" name="文本占位符 3"/>
          <p:cNvSpPr>
            <a:spLocks noGrp="1"/>
          </p:cNvSpPr>
          <p:nvPr>
            <p:ph type="body" idx="14"/>
          </p:nvPr>
        </p:nvSpPr>
        <p:spPr>
          <a:xfrm>
            <a:off x="805180" y="111760"/>
            <a:ext cx="7232015" cy="448310"/>
          </a:xfrm>
        </p:spPr>
        <p:txBody>
          <a:bodyPr/>
          <a:p>
            <a:r>
              <a:rPr lang="zh-CN" altLang="en-US"/>
              <a:t>强化学习解机会约束优化问题（</a:t>
            </a:r>
            <a:r>
              <a:rPr lang="en-US" altLang="zh-CN"/>
              <a:t>3.4</a:t>
            </a:r>
            <a:r>
              <a:rPr lang="zh-CN" altLang="en-US"/>
              <a:t>）</a:t>
            </a:r>
            <a:endParaRPr lang="zh-CN" altLang="en-US"/>
          </a:p>
        </p:txBody>
      </p:sp>
      <p:sp>
        <p:nvSpPr>
          <p:cNvPr id="5" name="灯片编号占位符 4"/>
          <p:cNvSpPr>
            <a:spLocks noGrp="1"/>
          </p:cNvSpPr>
          <p:nvPr>
            <p:ph type="sldNum" sz="quarter" idx="12"/>
          </p:nvPr>
        </p:nvSpPr>
        <p:spPr/>
        <p:txBody>
          <a:bodyPr/>
          <a:p>
            <a:pPr>
              <a:defRPr/>
            </a:pPr>
            <a:fld id="{AC6C5647-07D8-4AFC-B347-73DA68F3AADD}" type="slidenum">
              <a:rPr lang="zh-CN" altLang="en-US"/>
            </a:fld>
            <a:endParaRPr lang="zh-CN" altLang="en-US"/>
          </a:p>
        </p:txBody>
      </p:sp>
      <p:grpSp>
        <p:nvGrpSpPr>
          <p:cNvPr id="18" name="组合 17"/>
          <p:cNvGrpSpPr/>
          <p:nvPr/>
        </p:nvGrpSpPr>
        <p:grpSpPr>
          <a:xfrm>
            <a:off x="6110605" y="1059815"/>
            <a:ext cx="3265170" cy="4836160"/>
            <a:chOff x="9473" y="1669"/>
            <a:chExt cx="5142" cy="7616"/>
          </a:xfrm>
        </p:grpSpPr>
        <p:pic>
          <p:nvPicPr>
            <p:cNvPr id="10" name="图片 9" descr="ps_mean_jc"/>
            <p:cNvPicPr>
              <a:picLocks noChangeAspect="1"/>
            </p:cNvPicPr>
            <p:nvPr/>
          </p:nvPicPr>
          <p:blipFill>
            <a:blip r:embed="rId1"/>
            <a:stretch>
              <a:fillRect/>
            </a:stretch>
          </p:blipFill>
          <p:spPr>
            <a:xfrm>
              <a:off x="9475" y="5431"/>
              <a:ext cx="5140" cy="3855"/>
            </a:xfrm>
            <a:prstGeom prst="rect">
              <a:avLst/>
            </a:prstGeom>
          </p:spPr>
        </p:pic>
        <p:pic>
          <p:nvPicPr>
            <p:cNvPr id="11" name="图片 10" descr="return_mean_jc"/>
            <p:cNvPicPr>
              <a:picLocks noChangeAspect="1"/>
            </p:cNvPicPr>
            <p:nvPr/>
          </p:nvPicPr>
          <p:blipFill>
            <a:blip r:embed="rId2"/>
            <a:stretch>
              <a:fillRect/>
            </a:stretch>
          </p:blipFill>
          <p:spPr>
            <a:xfrm>
              <a:off x="9473" y="1669"/>
              <a:ext cx="5140" cy="3855"/>
            </a:xfrm>
            <a:prstGeom prst="rect">
              <a:avLst/>
            </a:prstGeom>
          </p:spPr>
        </p:pic>
      </p:grpSp>
      <p:pic>
        <p:nvPicPr>
          <p:cNvPr id="9" name="图片 8" descr="jc_mean_jc"/>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8916135" y="1059815"/>
            <a:ext cx="3263900" cy="2448000"/>
          </a:xfrm>
          <a:prstGeom prst="rect">
            <a:avLst/>
          </a:prstGeom>
        </p:spPr>
      </p:pic>
      <p:pic>
        <p:nvPicPr>
          <p:cNvPr id="12" name="图片 11" descr="grad_mean_Jc"/>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8918040" y="3448685"/>
            <a:ext cx="3263900" cy="2448000"/>
          </a:xfrm>
          <a:prstGeom prst="rect">
            <a:avLst/>
          </a:prstGeom>
        </p:spPr>
      </p:pic>
      <p:grpSp>
        <p:nvGrpSpPr>
          <p:cNvPr id="16" name="组合 15"/>
          <p:cNvGrpSpPr/>
          <p:nvPr/>
        </p:nvGrpSpPr>
        <p:grpSpPr>
          <a:xfrm>
            <a:off x="213995" y="1059815"/>
            <a:ext cx="3263900" cy="4836160"/>
            <a:chOff x="337" y="1669"/>
            <a:chExt cx="5140" cy="7616"/>
          </a:xfrm>
        </p:grpSpPr>
        <p:pic>
          <p:nvPicPr>
            <p:cNvPr id="6" name="图片 5" descr="ps_mean"/>
            <p:cNvPicPr>
              <a:picLocks noChangeAspect="1"/>
            </p:cNvPicPr>
            <p:nvPr/>
          </p:nvPicPr>
          <p:blipFill>
            <a:blip r:embed="rId5"/>
            <a:stretch>
              <a:fillRect/>
            </a:stretch>
          </p:blipFill>
          <p:spPr>
            <a:xfrm>
              <a:off x="337" y="5431"/>
              <a:ext cx="5140" cy="3855"/>
            </a:xfrm>
            <a:prstGeom prst="rect">
              <a:avLst/>
            </a:prstGeom>
          </p:spPr>
        </p:pic>
        <p:pic>
          <p:nvPicPr>
            <p:cNvPr id="7" name="图片 6" descr="return_mean"/>
            <p:cNvPicPr>
              <a:picLocks noChangeAspect="1"/>
            </p:cNvPicPr>
            <p:nvPr/>
          </p:nvPicPr>
          <p:blipFill>
            <a:blip r:embed="rId6"/>
            <a:stretch>
              <a:fillRect/>
            </a:stretch>
          </p:blipFill>
          <p:spPr>
            <a:xfrm>
              <a:off x="337" y="1669"/>
              <a:ext cx="5140" cy="3855"/>
            </a:xfrm>
            <a:prstGeom prst="rect">
              <a:avLst/>
            </a:prstGeom>
          </p:spPr>
        </p:pic>
      </p:grpSp>
      <p:grpSp>
        <p:nvGrpSpPr>
          <p:cNvPr id="17" name="组合 16"/>
          <p:cNvGrpSpPr/>
          <p:nvPr/>
        </p:nvGrpSpPr>
        <p:grpSpPr>
          <a:xfrm>
            <a:off x="2968625" y="1053465"/>
            <a:ext cx="3264535" cy="4836160"/>
            <a:chOff x="4905" y="1669"/>
            <a:chExt cx="5141" cy="7616"/>
          </a:xfrm>
        </p:grpSpPr>
        <p:pic>
          <p:nvPicPr>
            <p:cNvPr id="13" name="图片 12" descr="grad_mean_ps"/>
            <p:cNvPicPr>
              <a:picLocks noChangeAspect="1"/>
            </p:cNvPicPr>
            <p:nvPr/>
          </p:nvPicPr>
          <p:blipFill>
            <a:blip r:embed="rId7">
              <a:clrChange>
                <a:clrFrom>
                  <a:srgbClr val="FFFFFF">
                    <a:alpha val="100000"/>
                  </a:srgbClr>
                </a:clrFrom>
                <a:clrTo>
                  <a:srgbClr val="FFFFFF">
                    <a:alpha val="100000"/>
                    <a:alpha val="0"/>
                  </a:srgbClr>
                </a:clrTo>
              </a:clrChange>
            </a:blip>
            <a:stretch>
              <a:fillRect/>
            </a:stretch>
          </p:blipFill>
          <p:spPr>
            <a:xfrm>
              <a:off x="4906" y="5431"/>
              <a:ext cx="5140" cy="3855"/>
            </a:xfrm>
            <a:prstGeom prst="rect">
              <a:avLst/>
            </a:prstGeom>
          </p:spPr>
        </p:pic>
        <p:pic>
          <p:nvPicPr>
            <p:cNvPr id="8" name="图片 7" descr="jc_mean"/>
            <p:cNvPicPr>
              <a:picLocks noChangeAspect="1"/>
            </p:cNvPicPr>
            <p:nvPr/>
          </p:nvPicPr>
          <p:blipFill>
            <a:blip r:embed="rId8">
              <a:clrChange>
                <a:clrFrom>
                  <a:srgbClr val="FFFFFF">
                    <a:alpha val="100000"/>
                  </a:srgbClr>
                </a:clrFrom>
                <a:clrTo>
                  <a:srgbClr val="FFFFFF">
                    <a:alpha val="100000"/>
                    <a:alpha val="0"/>
                  </a:srgbClr>
                </a:clrTo>
              </a:clrChange>
            </a:blip>
            <a:stretch>
              <a:fillRect/>
            </a:stretch>
          </p:blipFill>
          <p:spPr>
            <a:xfrm>
              <a:off x="4905" y="1669"/>
              <a:ext cx="5140" cy="3855"/>
            </a:xfrm>
            <a:prstGeom prst="rect">
              <a:avLst/>
            </a:prstGeom>
          </p:spPr>
        </p:pic>
      </p:grpSp>
      <p:sp>
        <p:nvSpPr>
          <p:cNvPr id="19" name="矩形 18"/>
          <p:cNvSpPr/>
          <p:nvPr/>
        </p:nvSpPr>
        <p:spPr>
          <a:xfrm>
            <a:off x="217170" y="1080770"/>
            <a:ext cx="5820410" cy="4773295"/>
          </a:xfrm>
          <a:prstGeom prst="rect">
            <a:avLst/>
          </a:prstGeom>
          <a:solidFill>
            <a:srgbClr val="FF0000">
              <a:alpha val="15000"/>
            </a:srgb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矩形 19"/>
          <p:cNvSpPr/>
          <p:nvPr/>
        </p:nvSpPr>
        <p:spPr>
          <a:xfrm>
            <a:off x="6226175" y="1071245"/>
            <a:ext cx="5820410" cy="4773295"/>
          </a:xfrm>
          <a:prstGeom prst="rect">
            <a:avLst/>
          </a:prstGeom>
          <a:solidFill>
            <a:schemeClr val="accent1">
              <a:alpha val="15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文本框 20"/>
          <p:cNvSpPr txBox="1"/>
          <p:nvPr/>
        </p:nvSpPr>
        <p:spPr>
          <a:xfrm>
            <a:off x="2197100" y="794385"/>
            <a:ext cx="1860550" cy="368300"/>
          </a:xfrm>
          <a:prstGeom prst="rect">
            <a:avLst/>
          </a:prstGeom>
          <a:noFill/>
        </p:spPr>
        <p:txBody>
          <a:bodyPr wrap="square" rtlCol="0">
            <a:spAutoFit/>
          </a:bodyPr>
          <a:p>
            <a:pPr algn="ctr"/>
            <a:r>
              <a:rPr lang="zh-CN" altLang="en-US"/>
              <a:t>直接法求</a:t>
            </a:r>
            <a:r>
              <a:rPr lang="zh-CN" altLang="en-US"/>
              <a:t>梯度</a:t>
            </a:r>
            <a:endParaRPr lang="zh-CN" altLang="en-US"/>
          </a:p>
        </p:txBody>
      </p:sp>
      <p:sp>
        <p:nvSpPr>
          <p:cNvPr id="22" name="文本框 21"/>
          <p:cNvSpPr txBox="1"/>
          <p:nvPr/>
        </p:nvSpPr>
        <p:spPr>
          <a:xfrm>
            <a:off x="8206105" y="798830"/>
            <a:ext cx="1860550" cy="368300"/>
          </a:xfrm>
          <a:prstGeom prst="rect">
            <a:avLst/>
          </a:prstGeom>
          <a:noFill/>
        </p:spPr>
        <p:txBody>
          <a:bodyPr wrap="square" rtlCol="0">
            <a:spAutoFit/>
          </a:bodyPr>
          <a:p>
            <a:pPr algn="ctr"/>
            <a:r>
              <a:rPr lang="zh-CN" altLang="en-US"/>
              <a:t>间接法求</a:t>
            </a:r>
            <a:r>
              <a:rPr lang="zh-CN" altLang="en-US"/>
              <a:t>梯度</a:t>
            </a:r>
            <a:endParaRPr lang="zh-CN" altLang="en-US"/>
          </a:p>
        </p:txBody>
      </p:sp>
      <mc:AlternateContent xmlns:mc="http://schemas.openxmlformats.org/markup-compatibility/2006">
        <mc:Choice xmlns:a14="http://schemas.microsoft.com/office/drawing/2010/main" Requires="a14">
          <p:sp>
            <p:nvSpPr>
              <p:cNvPr id="23" name="文本框 22"/>
              <p:cNvSpPr txBox="1"/>
              <p:nvPr/>
            </p:nvSpPr>
            <p:spPr>
              <a:xfrm>
                <a:off x="5113020" y="699135"/>
                <a:ext cx="1691640" cy="368300"/>
              </a:xfrm>
              <a:prstGeom prst="rect">
                <a:avLst/>
              </a:prstGeom>
              <a:noFill/>
            </p:spPr>
            <p:txBody>
              <a:bodyPr wrap="square" rtlCol="0">
                <a:spAutoFit/>
              </a:bodyPr>
              <a:p>
                <a:pPr algn="ctr"/>
                <a:r>
                  <a:rPr lang="zh-CN" altLang="en-US"/>
                  <a:t>预设概率</a:t>
                </a:r>
                <a14:m>
                  <m:oMath xmlns:m="http://schemas.openxmlformats.org/officeDocument/2006/math">
                    <m:r>
                      <m:rPr>
                        <m:sty m:val="p"/>
                      </m:rPr>
                      <a:rPr lang="en-US" altLang="zh-CN">
                        <a:latin typeface="Cambria Math" panose="02040503050406030204" charset="0"/>
                        <a:cs typeface="Cambria Math" panose="02040503050406030204" charset="0"/>
                      </a:rPr>
                      <m:t>p</m:t>
                    </m:r>
                  </m:oMath>
                </a14:m>
                <a:r>
                  <a:rPr lang="en-US" altLang="zh-CN"/>
                  <a:t>=0.9</a:t>
                </a:r>
                <a:endParaRPr lang="en-US" altLang="zh-CN"/>
              </a:p>
            </p:txBody>
          </p:sp>
        </mc:Choice>
        <mc:Fallback>
          <p:sp>
            <p:nvSpPr>
              <p:cNvPr id="23" name="文本框 22"/>
              <p:cNvSpPr txBox="1">
                <a:spLocks noRot="1" noChangeAspect="1" noMove="1" noResize="1" noEditPoints="1" noAdjustHandles="1" noChangeArrowheads="1" noChangeShapeType="1" noTextEdit="1"/>
              </p:cNvSpPr>
              <p:nvPr/>
            </p:nvSpPr>
            <p:spPr>
              <a:xfrm>
                <a:off x="5113020" y="699135"/>
                <a:ext cx="1691640" cy="368300"/>
              </a:xfrm>
              <a:prstGeom prst="rect">
                <a:avLst/>
              </a:prstGeom>
              <a:blipFill rotWithShape="1">
                <a:blip r:embed="rId9"/>
                <a:stretch>
                  <a:fillRect/>
                </a:stretch>
              </a:blipFill>
            </p:spPr>
            <p:txBody>
              <a:bodyPr/>
              <a:lstStyle/>
              <a:p>
                <a:r>
                  <a:rPr lang="zh-CN" altLang="en-US">
                    <a:noFill/>
                  </a:rPr>
                  <a:t> </a:t>
                </a:r>
              </a:p>
            </p:txBody>
          </p:sp>
        </mc:Fallback>
      </mc:AlternateContent>
      <p:cxnSp>
        <p:nvCxnSpPr>
          <p:cNvPr id="24" name="直接箭头连接符 23"/>
          <p:cNvCxnSpPr/>
          <p:nvPr/>
        </p:nvCxnSpPr>
        <p:spPr>
          <a:xfrm flipV="1">
            <a:off x="668020" y="4459605"/>
            <a:ext cx="2325370" cy="13970"/>
          </a:xfrm>
          <a:prstGeom prst="straightConnector1">
            <a:avLst/>
          </a:prstGeom>
          <a:ln w="28575" cmpd="sng">
            <a:solidFill>
              <a:srgbClr val="FF0000"/>
            </a:solidFill>
            <a:prstDash val="sysDash"/>
            <a:tailEnd type="arrow"/>
          </a:ln>
        </p:spPr>
        <p:style>
          <a:lnRef idx="2">
            <a:schemeClr val="accent1"/>
          </a:lnRef>
          <a:fillRef idx="0">
            <a:srgbClr val="FFFFFF"/>
          </a:fillRef>
          <a:effectRef idx="0">
            <a:srgbClr val="FFFFFF"/>
          </a:effectRef>
          <a:fontRef idx="minor">
            <a:schemeClr val="tx1"/>
          </a:fontRef>
        </p:style>
      </p:cxnSp>
      <p:sp>
        <p:nvSpPr>
          <p:cNvPr id="25" name="文本框 24"/>
          <p:cNvSpPr txBox="1"/>
          <p:nvPr/>
        </p:nvSpPr>
        <p:spPr>
          <a:xfrm>
            <a:off x="2381885" y="3997960"/>
            <a:ext cx="782320" cy="306705"/>
          </a:xfrm>
          <a:prstGeom prst="rect">
            <a:avLst/>
          </a:prstGeom>
          <a:noFill/>
        </p:spPr>
        <p:txBody>
          <a:bodyPr wrap="square" rtlCol="0">
            <a:spAutoFit/>
          </a:bodyPr>
          <a:p>
            <a:pPr algn="ctr"/>
            <a:r>
              <a:rPr lang="en-US" altLang="zh-CN" sz="1400"/>
              <a:t>p=0.9</a:t>
            </a:r>
            <a:endParaRPr lang="en-US" altLang="zh-CN" sz="1400"/>
          </a:p>
        </p:txBody>
      </p:sp>
      <p:sp>
        <p:nvSpPr>
          <p:cNvPr id="26" name="椭圆 25"/>
          <p:cNvSpPr/>
          <p:nvPr/>
        </p:nvSpPr>
        <p:spPr>
          <a:xfrm>
            <a:off x="10868025" y="1590675"/>
            <a:ext cx="1019810" cy="1264920"/>
          </a:xfrm>
          <a:prstGeom prst="ellipse">
            <a:avLst/>
          </a:prstGeom>
          <a:noFill/>
          <a:ln w="19050"/>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椭圆 26"/>
          <p:cNvSpPr/>
          <p:nvPr/>
        </p:nvSpPr>
        <p:spPr>
          <a:xfrm>
            <a:off x="8009890" y="4171950"/>
            <a:ext cx="1019810" cy="1264920"/>
          </a:xfrm>
          <a:prstGeom prst="ellipse">
            <a:avLst/>
          </a:prstGeom>
          <a:noFill/>
          <a:ln w="19050"/>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椭圆 27"/>
          <p:cNvSpPr/>
          <p:nvPr/>
        </p:nvSpPr>
        <p:spPr>
          <a:xfrm>
            <a:off x="10669270" y="3947795"/>
            <a:ext cx="1229995" cy="1264920"/>
          </a:xfrm>
          <a:prstGeom prst="ellipse">
            <a:avLst/>
          </a:prstGeom>
          <a:noFill/>
          <a:ln w="19050"/>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文本框 28"/>
          <p:cNvSpPr txBox="1"/>
          <p:nvPr/>
        </p:nvSpPr>
        <p:spPr>
          <a:xfrm>
            <a:off x="7916545" y="3147695"/>
            <a:ext cx="2583815" cy="473075"/>
          </a:xfrm>
          <a:prstGeom prst="rect">
            <a:avLst/>
          </a:prstGeom>
          <a:noFill/>
          <a:ln w="22225">
            <a:solidFill>
              <a:schemeClr val="accent6"/>
            </a:solidFill>
          </a:ln>
        </p:spPr>
        <p:txBody>
          <a:bodyPr wrap="square" rtlCol="0">
            <a:noAutofit/>
          </a:bodyPr>
          <a:p>
            <a:pPr algn="ctr"/>
            <a:r>
              <a:rPr lang="zh-CN" altLang="en-US" sz="1400"/>
              <a:t>总</a:t>
            </a:r>
            <a:r>
              <a:rPr lang="en-US" altLang="zh-CN" sz="1400"/>
              <a:t>Loss</a:t>
            </a:r>
            <a:r>
              <a:rPr lang="zh-CN" altLang="en-US" sz="1400"/>
              <a:t>收敛但</a:t>
            </a:r>
            <a:r>
              <a:rPr lang="zh-CN" altLang="en-US" sz="1400" b="1">
                <a:solidFill>
                  <a:schemeClr val="accent6"/>
                </a:solidFill>
              </a:rPr>
              <a:t>约束指标未达到预期效果</a:t>
            </a:r>
            <a:endParaRPr lang="zh-CN" altLang="en-US" sz="1400" b="1">
              <a:solidFill>
                <a:schemeClr val="accent6"/>
              </a:solidFill>
            </a:endParaRPr>
          </a:p>
        </p:txBody>
      </p:sp>
      <p:sp>
        <p:nvSpPr>
          <p:cNvPr id="30" name="椭圆 29"/>
          <p:cNvSpPr/>
          <p:nvPr/>
        </p:nvSpPr>
        <p:spPr>
          <a:xfrm>
            <a:off x="8041640" y="1082675"/>
            <a:ext cx="1019810" cy="1264920"/>
          </a:xfrm>
          <a:prstGeom prst="ellipse">
            <a:avLst/>
          </a:prstGeom>
          <a:noFill/>
          <a:ln w="19050"/>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31" name="直接箭头连接符 30"/>
          <p:cNvCxnSpPr>
            <a:stCxn id="30" idx="4"/>
            <a:endCxn id="29" idx="0"/>
          </p:cNvCxnSpPr>
          <p:nvPr/>
        </p:nvCxnSpPr>
        <p:spPr>
          <a:xfrm>
            <a:off x="8551545" y="2347595"/>
            <a:ext cx="657225" cy="800100"/>
          </a:xfrm>
          <a:prstGeom prst="straightConnector1">
            <a:avLst/>
          </a:prstGeom>
          <a:ln w="19050">
            <a:tailEnd type="arrow"/>
          </a:ln>
        </p:spPr>
        <p:style>
          <a:lnRef idx="2">
            <a:schemeClr val="accent1"/>
          </a:lnRef>
          <a:fillRef idx="0">
            <a:srgbClr val="FFFFFF"/>
          </a:fillRef>
          <a:effectRef idx="0">
            <a:srgbClr val="FFFFFF"/>
          </a:effectRef>
          <a:fontRef idx="minor">
            <a:schemeClr val="tx1"/>
          </a:fontRef>
        </p:style>
      </p:cxnSp>
      <p:cxnSp>
        <p:nvCxnSpPr>
          <p:cNvPr id="32" name="直接箭头连接符 31"/>
          <p:cNvCxnSpPr>
            <a:endCxn id="29" idx="3"/>
          </p:cNvCxnSpPr>
          <p:nvPr/>
        </p:nvCxnSpPr>
        <p:spPr>
          <a:xfrm flipH="1">
            <a:off x="10500360" y="2817495"/>
            <a:ext cx="932180" cy="567055"/>
          </a:xfrm>
          <a:prstGeom prst="straightConnector1">
            <a:avLst/>
          </a:prstGeom>
          <a:ln w="19050">
            <a:tailEnd type="arrow"/>
          </a:ln>
        </p:spPr>
        <p:style>
          <a:lnRef idx="2">
            <a:schemeClr val="accent1"/>
          </a:lnRef>
          <a:fillRef idx="0">
            <a:srgbClr val="FFFFFF"/>
          </a:fillRef>
          <a:effectRef idx="0">
            <a:srgbClr val="FFFFFF"/>
          </a:effectRef>
          <a:fontRef idx="minor">
            <a:schemeClr val="tx1"/>
          </a:fontRef>
        </p:style>
      </p:cxnSp>
      <p:cxnSp>
        <p:nvCxnSpPr>
          <p:cNvPr id="33" name="直接箭头连接符 32"/>
          <p:cNvCxnSpPr>
            <a:stCxn id="27" idx="2"/>
            <a:endCxn id="29" idx="1"/>
          </p:cNvCxnSpPr>
          <p:nvPr/>
        </p:nvCxnSpPr>
        <p:spPr>
          <a:xfrm flipH="1" flipV="1">
            <a:off x="7916545" y="3384550"/>
            <a:ext cx="93345" cy="1419860"/>
          </a:xfrm>
          <a:prstGeom prst="straightConnector1">
            <a:avLst/>
          </a:prstGeom>
          <a:ln w="19050">
            <a:tailEnd type="arrow"/>
          </a:ln>
        </p:spPr>
        <p:style>
          <a:lnRef idx="2">
            <a:schemeClr val="accent1"/>
          </a:lnRef>
          <a:fillRef idx="0">
            <a:srgbClr val="FFFFFF"/>
          </a:fillRef>
          <a:effectRef idx="0">
            <a:srgbClr val="FFFFFF"/>
          </a:effectRef>
          <a:fontRef idx="minor">
            <a:schemeClr val="tx1"/>
          </a:fontRef>
        </p:style>
      </p:cxnSp>
      <p:cxnSp>
        <p:nvCxnSpPr>
          <p:cNvPr id="34" name="直接箭头连接符 33"/>
          <p:cNvCxnSpPr>
            <a:stCxn id="28" idx="0"/>
            <a:endCxn id="29" idx="2"/>
          </p:cNvCxnSpPr>
          <p:nvPr/>
        </p:nvCxnSpPr>
        <p:spPr>
          <a:xfrm flipH="1" flipV="1">
            <a:off x="9208770" y="3620770"/>
            <a:ext cx="2075815" cy="327025"/>
          </a:xfrm>
          <a:prstGeom prst="straightConnector1">
            <a:avLst/>
          </a:prstGeom>
          <a:ln w="19050">
            <a:tailEnd type="arrow"/>
          </a:ln>
        </p:spPr>
        <p:style>
          <a:lnRef idx="2">
            <a:schemeClr val="accent1"/>
          </a:lnRef>
          <a:fillRef idx="0">
            <a:srgbClr val="FFFFFF"/>
          </a:fillRef>
          <a:effectRef idx="0">
            <a:srgbClr val="FFFFFF"/>
          </a:effectRef>
          <a:fontRef idx="minor">
            <a:schemeClr val="tx1"/>
          </a:fontRef>
        </p:style>
      </p:cxnSp>
      <p:sp>
        <p:nvSpPr>
          <p:cNvPr id="35" name="椭圆 34"/>
          <p:cNvSpPr/>
          <p:nvPr/>
        </p:nvSpPr>
        <p:spPr>
          <a:xfrm>
            <a:off x="2167890" y="1325245"/>
            <a:ext cx="1013460" cy="489585"/>
          </a:xfrm>
          <a:prstGeom prst="ellipse">
            <a:avLst/>
          </a:prstGeom>
          <a:noFill/>
          <a:ln w="190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6" name="椭圆 35"/>
          <p:cNvSpPr/>
          <p:nvPr/>
        </p:nvSpPr>
        <p:spPr>
          <a:xfrm>
            <a:off x="2179320" y="4253865"/>
            <a:ext cx="1013460" cy="489585"/>
          </a:xfrm>
          <a:prstGeom prst="ellipse">
            <a:avLst/>
          </a:prstGeom>
          <a:noFill/>
          <a:ln w="190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椭圆 36"/>
          <p:cNvSpPr/>
          <p:nvPr/>
        </p:nvSpPr>
        <p:spPr>
          <a:xfrm>
            <a:off x="4872355" y="2805430"/>
            <a:ext cx="1013460" cy="489585"/>
          </a:xfrm>
          <a:prstGeom prst="ellipse">
            <a:avLst/>
          </a:prstGeom>
          <a:noFill/>
          <a:ln w="190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椭圆 37"/>
          <p:cNvSpPr/>
          <p:nvPr/>
        </p:nvSpPr>
        <p:spPr>
          <a:xfrm>
            <a:off x="4852035" y="5111750"/>
            <a:ext cx="1026795" cy="556895"/>
          </a:xfrm>
          <a:prstGeom prst="ellipse">
            <a:avLst/>
          </a:prstGeom>
          <a:noFill/>
          <a:ln w="1905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文本框 38"/>
          <p:cNvSpPr txBox="1"/>
          <p:nvPr/>
        </p:nvSpPr>
        <p:spPr>
          <a:xfrm>
            <a:off x="2073275" y="3134995"/>
            <a:ext cx="2583815" cy="521970"/>
          </a:xfrm>
          <a:prstGeom prst="rect">
            <a:avLst/>
          </a:prstGeom>
          <a:noFill/>
          <a:ln w="22225">
            <a:solidFill>
              <a:srgbClr val="FF0000"/>
            </a:solidFill>
          </a:ln>
        </p:spPr>
        <p:txBody>
          <a:bodyPr wrap="square" rtlCol="0">
            <a:spAutoFit/>
          </a:bodyPr>
          <a:p>
            <a:pPr algn="ctr">
              <a:buClrTx/>
              <a:buSzTx/>
              <a:buFontTx/>
            </a:pPr>
            <a:r>
              <a:rPr lang="zh-CN" altLang="en-US" sz="1400"/>
              <a:t>Loss收敛</a:t>
            </a:r>
            <a:endParaRPr lang="zh-CN" altLang="en-US" sz="1400"/>
          </a:p>
          <a:p>
            <a:pPr algn="ctr">
              <a:buClrTx/>
              <a:buSzTx/>
              <a:buFontTx/>
            </a:pPr>
            <a:r>
              <a:rPr lang="zh-CN" altLang="en-US" sz="1400"/>
              <a:t>且</a:t>
            </a:r>
            <a:r>
              <a:rPr lang="zh-CN" altLang="en-US" sz="1400" b="1">
                <a:solidFill>
                  <a:srgbClr val="FF0000"/>
                </a:solidFill>
              </a:rPr>
              <a:t>约束指标达到预期效果</a:t>
            </a:r>
            <a:endParaRPr lang="zh-CN" altLang="en-US" sz="1400" b="1">
              <a:solidFill>
                <a:srgbClr val="FF0000"/>
              </a:solidFill>
            </a:endParaRPr>
          </a:p>
        </p:txBody>
      </p:sp>
      <p:cxnSp>
        <p:nvCxnSpPr>
          <p:cNvPr id="40" name="直接箭头连接符 39"/>
          <p:cNvCxnSpPr>
            <a:stCxn id="35" idx="4"/>
            <a:endCxn id="39" idx="0"/>
          </p:cNvCxnSpPr>
          <p:nvPr/>
        </p:nvCxnSpPr>
        <p:spPr>
          <a:xfrm>
            <a:off x="2674620" y="1814830"/>
            <a:ext cx="690880" cy="1320165"/>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41" name="直接箭头连接符 40"/>
          <p:cNvCxnSpPr>
            <a:stCxn id="37" idx="3"/>
            <a:endCxn id="39" idx="3"/>
          </p:cNvCxnSpPr>
          <p:nvPr/>
        </p:nvCxnSpPr>
        <p:spPr>
          <a:xfrm flipH="1">
            <a:off x="4657090" y="3223260"/>
            <a:ext cx="363855" cy="17272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42" name="直接箭头连接符 41"/>
          <p:cNvCxnSpPr>
            <a:stCxn id="38" idx="0"/>
            <a:endCxn id="39" idx="2"/>
          </p:cNvCxnSpPr>
          <p:nvPr/>
        </p:nvCxnSpPr>
        <p:spPr>
          <a:xfrm flipH="1" flipV="1">
            <a:off x="3365500" y="3656965"/>
            <a:ext cx="2000250" cy="1454785"/>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43" name="直接箭头连接符 42"/>
          <p:cNvCxnSpPr>
            <a:stCxn id="36" idx="2"/>
            <a:endCxn id="39" idx="1"/>
          </p:cNvCxnSpPr>
          <p:nvPr/>
        </p:nvCxnSpPr>
        <p:spPr>
          <a:xfrm flipH="1" flipV="1">
            <a:off x="2073275" y="3395980"/>
            <a:ext cx="106045" cy="1102995"/>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1880235" y="3129915"/>
            <a:ext cx="7466965" cy="63246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buClrTx/>
              <a:buSzTx/>
              <a:buFontTx/>
            </a:pPr>
            <a:r>
              <a:rPr lang="zh-CN" altLang="en-US" sz="2800" b="1">
                <a:solidFill>
                  <a:schemeClr val="accent1"/>
                </a:solidFill>
              </a:rPr>
              <a:t>随机模型预测控制求解原理</a:t>
            </a:r>
            <a:endParaRPr lang="zh-CN" altLang="en-US" sz="2800" b="1">
              <a:solidFill>
                <a:schemeClr val="accent1"/>
              </a:solidFill>
            </a:endParaRPr>
          </a:p>
        </p:txBody>
      </p:sp>
      <p:sp>
        <p:nvSpPr>
          <p:cNvPr id="27" name="矩形 26"/>
          <p:cNvSpPr/>
          <p:nvPr/>
        </p:nvSpPr>
        <p:spPr>
          <a:xfrm>
            <a:off x="1880235" y="3959225"/>
            <a:ext cx="7466965" cy="63246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buClrTx/>
              <a:buSzTx/>
              <a:buFontTx/>
            </a:pPr>
            <a:r>
              <a:rPr lang="zh-CN" altLang="en-US" sz="2800" b="1">
                <a:solidFill>
                  <a:schemeClr val="accent1"/>
                </a:solidFill>
                <a:sym typeface="+mn-ea"/>
              </a:rPr>
              <a:t>随机模型预测控制保守性分析</a:t>
            </a:r>
            <a:endParaRPr lang="zh-CN" altLang="en-US" sz="2800" b="1">
              <a:solidFill>
                <a:schemeClr val="accent1"/>
              </a:solidFill>
              <a:sym typeface="+mn-ea"/>
            </a:endParaRPr>
          </a:p>
        </p:txBody>
      </p:sp>
      <p:sp>
        <p:nvSpPr>
          <p:cNvPr id="2" name="矩形 1"/>
          <p:cNvSpPr/>
          <p:nvPr/>
        </p:nvSpPr>
        <p:spPr>
          <a:xfrm>
            <a:off x="8876665" y="1905"/>
            <a:ext cx="3327400" cy="1172845"/>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sz="1800" noProof="1"/>
          </a:p>
        </p:txBody>
      </p:sp>
      <p:sp>
        <p:nvSpPr>
          <p:cNvPr id="3" name="文本框 2"/>
          <p:cNvSpPr txBox="1"/>
          <p:nvPr/>
        </p:nvSpPr>
        <p:spPr>
          <a:xfrm>
            <a:off x="8850630" y="227965"/>
            <a:ext cx="3405505" cy="678815"/>
          </a:xfrm>
          <a:prstGeom prst="rect">
            <a:avLst/>
          </a:prstGeom>
          <a:noFill/>
        </p:spPr>
        <p:txBody>
          <a:bodyPr wrap="square" rtlCol="0">
            <a:noAutofit/>
          </a:bodyPr>
          <a:p>
            <a:pPr algn="ctr"/>
            <a:r>
              <a:rPr lang="zh-CN" altLang="en-US" sz="4000" b="1">
                <a:solidFill>
                  <a:schemeClr val="bg1"/>
                </a:solidFill>
              </a:rPr>
              <a:t>第</a:t>
            </a:r>
            <a:r>
              <a:rPr lang="zh-CN" altLang="en-US" sz="4000" b="1">
                <a:solidFill>
                  <a:schemeClr val="bg1"/>
                </a:solidFill>
              </a:rPr>
              <a:t>四章</a:t>
            </a:r>
            <a:endParaRPr lang="zh-CN" altLang="en-US" sz="4000" b="1">
              <a:solidFill>
                <a:schemeClr val="bg1"/>
              </a:solidFill>
            </a:endParaRPr>
          </a:p>
        </p:txBody>
      </p:sp>
      <p:sp>
        <p:nvSpPr>
          <p:cNvPr id="5" name="文本框 4"/>
          <p:cNvSpPr txBox="1"/>
          <p:nvPr/>
        </p:nvSpPr>
        <p:spPr>
          <a:xfrm>
            <a:off x="1566545" y="1203325"/>
            <a:ext cx="8094345" cy="645160"/>
          </a:xfrm>
          <a:prstGeom prst="rect">
            <a:avLst/>
          </a:prstGeom>
          <a:noFill/>
        </p:spPr>
        <p:txBody>
          <a:bodyPr wrap="square" rtlCol="0" anchor="t">
            <a:spAutoFit/>
          </a:bodyPr>
          <a:p>
            <a:pPr algn="ctr">
              <a:buClrTx/>
              <a:buSzTx/>
              <a:buFontTx/>
            </a:pPr>
            <a:r>
              <a:rPr lang="zh-CN" altLang="en-US" sz="3600" b="1">
                <a:solidFill>
                  <a:schemeClr val="tx1"/>
                </a:solidFill>
                <a:latin typeface="+mn-lt"/>
                <a:ea typeface="+mn-ea"/>
                <a:sym typeface="+mn-ea"/>
              </a:rPr>
              <a:t>随机模型预测</a:t>
            </a:r>
            <a:r>
              <a:rPr lang="zh-CN" altLang="en-US" sz="3600" b="1">
                <a:solidFill>
                  <a:schemeClr val="tx1"/>
                </a:solidFill>
                <a:latin typeface="+mn-lt"/>
                <a:ea typeface="+mn-ea"/>
                <a:sym typeface="+mn-ea"/>
              </a:rPr>
              <a:t>控制解机会约束优化</a:t>
            </a:r>
            <a:r>
              <a:rPr lang="zh-CN" altLang="en-US" sz="3600" b="1">
                <a:solidFill>
                  <a:schemeClr val="tx1"/>
                </a:solidFill>
                <a:latin typeface="+mn-lt"/>
                <a:ea typeface="+mn-ea"/>
                <a:sym typeface="+mn-ea"/>
              </a:rPr>
              <a:t>问题</a:t>
            </a:r>
            <a:endParaRPr lang="zh-CN" altLang="en-US" sz="3600" b="1">
              <a:solidFill>
                <a:schemeClr val="tx1"/>
              </a:solidFill>
              <a:latin typeface="+mn-lt"/>
              <a:ea typeface="+mn-ea"/>
              <a:sym typeface="+mn-ea"/>
            </a:endParaRPr>
          </a:p>
        </p:txBody>
      </p:sp>
      <p:sp>
        <p:nvSpPr>
          <p:cNvPr id="25" name="矩形 24"/>
          <p:cNvSpPr/>
          <p:nvPr/>
        </p:nvSpPr>
        <p:spPr>
          <a:xfrm>
            <a:off x="1880235" y="2300605"/>
            <a:ext cx="7466965" cy="63246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b="1">
                <a:solidFill>
                  <a:schemeClr val="accent1"/>
                </a:solidFill>
                <a:sym typeface="+mn-ea"/>
              </a:rPr>
              <a:t>随机模型预测控制</a:t>
            </a:r>
            <a:r>
              <a:rPr lang="zh-CN" altLang="en-US" sz="2800" b="1">
                <a:solidFill>
                  <a:schemeClr val="accent1"/>
                </a:solidFill>
                <a:sym typeface="+mn-ea"/>
              </a:rPr>
              <a:t>框架</a:t>
            </a:r>
            <a:endParaRPr lang="zh-CN" altLang="en-US" sz="2800" b="1">
              <a:solidFill>
                <a:schemeClr val="accent1"/>
              </a:solidFill>
              <a:sym typeface="+mn-ea"/>
            </a:endParaRPr>
          </a:p>
        </p:txBody>
      </p:sp>
      <p:sp>
        <p:nvSpPr>
          <p:cNvPr id="4" name="矩形 3"/>
          <p:cNvSpPr/>
          <p:nvPr/>
        </p:nvSpPr>
        <p:spPr>
          <a:xfrm>
            <a:off x="1880235" y="4788535"/>
            <a:ext cx="7466965" cy="63246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buClrTx/>
              <a:buSzTx/>
              <a:buFontTx/>
            </a:pPr>
            <a:r>
              <a:rPr lang="zh-CN" altLang="en-US" sz="2800" b="1" u="sng">
                <a:solidFill>
                  <a:schemeClr val="accent1"/>
                </a:solidFill>
                <a:sym typeface="+mn-ea"/>
              </a:rPr>
              <a:t>基于分布函数的随机模型预测控制</a:t>
            </a:r>
            <a:endParaRPr lang="zh-CN" altLang="en-US" sz="2800" b="1" u="sng">
              <a:solidFill>
                <a:schemeClr val="accent1"/>
              </a:solidFill>
              <a:sym typeface="+mn-ea"/>
            </a:endParaRPr>
          </a:p>
        </p:txBody>
      </p:sp>
      <p:sp>
        <p:nvSpPr>
          <p:cNvPr id="6" name="矩形 5"/>
          <p:cNvSpPr/>
          <p:nvPr/>
        </p:nvSpPr>
        <p:spPr>
          <a:xfrm>
            <a:off x="1880235" y="5617845"/>
            <a:ext cx="7466965" cy="63246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buClrTx/>
              <a:buSzTx/>
              <a:buFontTx/>
            </a:pPr>
            <a:r>
              <a:rPr lang="zh-CN" altLang="en-US" sz="2800" b="1">
                <a:solidFill>
                  <a:schemeClr val="accent1"/>
                </a:solidFill>
                <a:sym typeface="+mn-ea"/>
              </a:rPr>
              <a:t>实验结果</a:t>
            </a:r>
            <a:endParaRPr lang="zh-CN" altLang="en-US" sz="2800" b="1">
              <a:solidFill>
                <a:schemeClr val="accent1"/>
              </a:solidFill>
              <a:sym typeface="+mn-ea"/>
            </a:endParaRPr>
          </a:p>
        </p:txBody>
      </p:sp>
      <p:sp>
        <p:nvSpPr>
          <p:cNvPr id="7" name="右箭头 6"/>
          <p:cNvSpPr/>
          <p:nvPr/>
        </p:nvSpPr>
        <p:spPr>
          <a:xfrm>
            <a:off x="306705" y="4817745"/>
            <a:ext cx="1595755" cy="5181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主要工作</a:t>
            </a:r>
            <a:endParaRPr lang="zh-CN" alt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a:p>
            <a:r>
              <a:rPr lang="zh-CN" altLang="en-US"/>
              <a:t>随机模型预测控制（</a:t>
            </a:r>
            <a:r>
              <a:rPr lang="en-US" altLang="zh-CN"/>
              <a:t>SMPC</a:t>
            </a:r>
            <a:r>
              <a:rPr lang="zh-CN" altLang="en-US"/>
              <a:t>）解决</a:t>
            </a:r>
            <a:r>
              <a:rPr lang="en-US" altLang="zh-CN"/>
              <a:t>CCOP</a:t>
            </a:r>
            <a:r>
              <a:rPr lang="zh-CN" altLang="en-US"/>
              <a:t>形式</a:t>
            </a:r>
            <a:r>
              <a:rPr lang="en-US" altLang="zh-CN"/>
              <a:t>MPC</a:t>
            </a:r>
            <a:r>
              <a:rPr lang="zh-CN" altLang="en-US"/>
              <a:t>问题</a:t>
            </a:r>
            <a:r>
              <a:rPr lang="en-US" altLang="zh-CN"/>
              <a:t>,</a:t>
            </a:r>
            <a:r>
              <a:rPr lang="zh-CN" altLang="en-US"/>
              <a:t>常通过将其处理成确定形式</a:t>
            </a:r>
            <a:r>
              <a:rPr lang="zh-CN" altLang="en-US"/>
              <a:t>问题求解。</a:t>
            </a:r>
            <a:endParaRPr lang="zh-CN" altLang="en-US"/>
          </a:p>
        </p:txBody>
      </p:sp>
      <p:sp>
        <p:nvSpPr>
          <p:cNvPr id="3" name="文本占位符 2"/>
          <p:cNvSpPr>
            <a:spLocks noGrp="1"/>
          </p:cNvSpPr>
          <p:nvPr>
            <p:ph type="body" idx="13"/>
          </p:nvPr>
        </p:nvSpPr>
        <p:spPr>
          <a:xfrm>
            <a:off x="0" y="670560"/>
            <a:ext cx="11475720" cy="448310"/>
          </a:xfrm>
        </p:spPr>
        <p:txBody>
          <a:bodyPr/>
          <a:p>
            <a:r>
              <a:rPr lang="en-US" altLang="zh-CN"/>
              <a:t>&gt;&gt;&gt;</a:t>
            </a:r>
            <a:r>
              <a:t>抗扰动</a:t>
            </a:r>
            <a:r>
              <a:rPr lang="en-US" altLang="zh-CN"/>
              <a:t>MPC</a:t>
            </a:r>
            <a:r>
              <a:t>框架</a:t>
            </a:r>
            <a:r>
              <a:rPr lang="en-US" altLang="zh-CN"/>
              <a:t>——</a:t>
            </a:r>
            <a:r>
              <a:t>随机模型预测控制（</a:t>
            </a:r>
            <a:r>
              <a:rPr lang="en-US" altLang="zh-CN"/>
              <a:t>SMPC</a:t>
            </a:r>
            <a:r>
              <a:t>）</a:t>
            </a:r>
          </a:p>
        </p:txBody>
      </p:sp>
      <p:sp>
        <p:nvSpPr>
          <p:cNvPr id="4" name="文本占位符 3"/>
          <p:cNvSpPr>
            <a:spLocks noGrp="1"/>
          </p:cNvSpPr>
          <p:nvPr>
            <p:ph type="body" idx="14"/>
          </p:nvPr>
        </p:nvSpPr>
        <p:spPr>
          <a:xfrm>
            <a:off x="805180" y="111760"/>
            <a:ext cx="7810500" cy="448310"/>
          </a:xfrm>
        </p:spPr>
        <p:txBody>
          <a:bodyPr/>
          <a:p>
            <a:r>
              <a:rPr lang="zh-CN" altLang="en-US"/>
              <a:t>随机模型预测控制解机会约束优化问题（</a:t>
            </a:r>
            <a:r>
              <a:rPr lang="en-US" altLang="zh-CN"/>
              <a:t>4.1</a:t>
            </a:r>
            <a:r>
              <a:rPr lang="zh-CN" altLang="en-US"/>
              <a:t>）</a:t>
            </a:r>
            <a:endParaRPr lang="zh-CN" altLang="en-US"/>
          </a:p>
        </p:txBody>
      </p:sp>
      <p:sp>
        <p:nvSpPr>
          <p:cNvPr id="5" name="灯片编号占位符 4"/>
          <p:cNvSpPr>
            <a:spLocks noGrp="1"/>
          </p:cNvSpPr>
          <p:nvPr>
            <p:ph type="sldNum" sz="quarter" idx="12"/>
          </p:nvPr>
        </p:nvSpPr>
        <p:spPr/>
        <p:txBody>
          <a:bodyPr/>
          <a:p>
            <a:pPr>
              <a:defRPr/>
            </a:pPr>
            <a:fld id="{AC6C5647-07D8-4AFC-B347-73DA68F3AADD}" type="slidenum">
              <a:rPr lang="zh-CN" altLang="en-US"/>
            </a:fld>
            <a:endParaRPr lang="zh-CN" altLang="en-US"/>
          </a:p>
        </p:txBody>
      </p:sp>
      <p:grpSp>
        <p:nvGrpSpPr>
          <p:cNvPr id="17" name="组合 16"/>
          <p:cNvGrpSpPr/>
          <p:nvPr>
            <p:custDataLst>
              <p:tags r:id="rId1"/>
            </p:custDataLst>
          </p:nvPr>
        </p:nvGrpSpPr>
        <p:grpSpPr>
          <a:xfrm>
            <a:off x="544830" y="1844040"/>
            <a:ext cx="4587240" cy="2118360"/>
            <a:chOff x="858" y="2162"/>
            <a:chExt cx="7224" cy="3336"/>
          </a:xfrm>
        </p:grpSpPr>
        <p:sp>
          <p:nvSpPr>
            <p:cNvPr id="13" name="圆角矩形 12"/>
            <p:cNvSpPr/>
            <p:nvPr>
              <p:custDataLst>
                <p:tags r:id="rId2"/>
              </p:custDataLst>
            </p:nvPr>
          </p:nvSpPr>
          <p:spPr>
            <a:xfrm>
              <a:off x="858" y="2162"/>
              <a:ext cx="7224" cy="3336"/>
            </a:xfrm>
            <a:prstGeom prst="roundRect">
              <a:avLst/>
            </a:prstGeom>
            <a:solidFill>
              <a:schemeClr val="accent1">
                <a:alpha val="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6" name="文本框 5"/>
                <p:cNvSpPr txBox="1"/>
                <p:nvPr/>
              </p:nvSpPr>
              <p:spPr>
                <a:xfrm>
                  <a:off x="1320" y="2570"/>
                  <a:ext cx="6589" cy="2623"/>
                </a:xfrm>
                <a:prstGeom prst="rect">
                  <a:avLst/>
                </a:prstGeom>
                <a:noFill/>
              </p:spPr>
              <p:txBody>
                <a:bodyPr wrap="none" rtlCol="0" anchor="t">
                  <a:spAutoFit/>
                </a:bodyPr>
                <a:p>
                  <a:pPr marL="0" indent="0" algn="l" latinLnBrk="0">
                    <a:lnSpc>
                      <a:spcPct val="100000"/>
                    </a:lnSpc>
                  </a:pPr>
                  <a14:m>
                    <m:oMathPara xmlns:m="http://schemas.openxmlformats.org/officeDocument/2006/math">
                      <m:oMathParaPr>
                        <m:jc m:val="centerGroup"/>
                      </m:oMathParaPr>
                      <m:oMath xmlns:m="http://schemas.openxmlformats.org/officeDocument/2006/math">
                        <m:func>
                          <m:funcPr>
                            <m:ctrlPr>
                              <a:rPr lang="en-US" altLang="zh-CN" i="1">
                                <a:latin typeface="Cambria Math" panose="02040503050406030204" charset="0"/>
                                <a:cs typeface="Cambria Math" panose="02040503050406030204" charset="0"/>
                              </a:rPr>
                            </m:ctrlPr>
                          </m:funcPr>
                          <m:fName>
                            <m:limLow>
                              <m:limLowPr>
                                <m:ctrlPr>
                                  <a:rPr lang="en-US" altLang="zh-CN">
                                    <a:latin typeface="Cambria Math" panose="02040503050406030204" charset="0"/>
                                    <a:cs typeface="Cambria Math" panose="02040503050406030204" charset="0"/>
                                  </a:rPr>
                                </m:ctrlPr>
                              </m:limLowPr>
                              <m:e>
                                <m:r>
                                  <m:rPr>
                                    <m:sty m:val="p"/>
                                  </m:rPr>
                                  <a:rPr lang="en-US" altLang="zh-CN">
                                    <a:latin typeface="Cambria Math" panose="02040503050406030204" charset="0"/>
                                    <a:cs typeface="Cambria Math" panose="02040503050406030204" charset="0"/>
                                  </a:rPr>
                                  <m:t>min</m:t>
                                </m:r>
                              </m:e>
                              <m:lim>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𝑢</m:t>
                                    </m:r>
                                  </m:e>
                                  <m:sub>
                                    <m:r>
                                      <a:rPr lang="en-US" altLang="zh-CN" i="1">
                                        <a:latin typeface="Cambria Math" panose="02040503050406030204" charset="0"/>
                                        <a:cs typeface="Cambria Math" panose="02040503050406030204" charset="0"/>
                                      </a:rPr>
                                      <m:t>𝑘</m:t>
                                    </m:r>
                                  </m:sub>
                                </m:sSub>
                              </m:lim>
                            </m:limLow>
                          </m:fName>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𝐽</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𝐸</m:t>
                                </m:r>
                              </m:e>
                              <m:sub>
                                <m:r>
                                  <a:rPr lang="en-US" altLang="zh-CN" i="1">
                                    <a:latin typeface="Cambria Math" panose="02040503050406030204" charset="0"/>
                                    <a:cs typeface="Cambria Math" panose="02040503050406030204" charset="0"/>
                                  </a:rPr>
                                  <m:t>𝑤</m:t>
                                </m:r>
                              </m:sub>
                            </m:sSub>
                            <m:r>
                              <a:rPr lang="en-US" altLang="zh-CN" i="1">
                                <a:latin typeface="Cambria Math" panose="02040503050406030204" charset="0"/>
                                <a:cs typeface="Cambria Math" panose="02040503050406030204" charset="0"/>
                              </a:rPr>
                              <m:t>[</m:t>
                            </m:r>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sub>
                              <m:sup>
                                <m:r>
                                  <a:rPr lang="en-US" altLang="zh-CN" i="1">
                                    <a:latin typeface="Cambria Math" panose="02040503050406030204" charset="0"/>
                                    <a:cs typeface="Cambria Math" panose="02040503050406030204" charset="0"/>
                                  </a:rPr>
                                  <m:t>∞</m:t>
                                </m:r>
                              </m:sup>
                              <m:e>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sub>
                                  <m:sup>
                                    <m:r>
                                      <a:rPr lang="en-US" altLang="zh-CN" i="1">
                                        <a:latin typeface="Cambria Math" panose="02040503050406030204" charset="0"/>
                                        <a:cs typeface="Cambria Math" panose="02040503050406030204" charset="0"/>
                                      </a:rPr>
                                      <m:t>𝑇</m:t>
                                    </m:r>
                                  </m:sup>
                                </m:sSubSup>
                                <m:r>
                                  <a:rPr lang="en-US" altLang="zh-CN" i="1">
                                    <a:latin typeface="Cambria Math" panose="02040503050406030204" charset="0"/>
                                    <a:cs typeface="Cambria Math" panose="02040503050406030204" charset="0"/>
                                  </a:rPr>
                                  <m:t>𝑄</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𝑢</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sub>
                                  <m:sup>
                                    <m:r>
                                      <a:rPr lang="en-US" altLang="zh-CN" i="1">
                                        <a:latin typeface="Cambria Math" panose="02040503050406030204" charset="0"/>
                                        <a:cs typeface="Cambria Math" panose="02040503050406030204" charset="0"/>
                                      </a:rPr>
                                      <m:t>𝑇</m:t>
                                    </m:r>
                                  </m:sup>
                                </m:sSubSup>
                                <m:r>
                                  <a:rPr lang="en-US" altLang="zh-CN" i="1">
                                    <a:latin typeface="Cambria Math" panose="02040503050406030204" charset="0"/>
                                    <a:cs typeface="Cambria Math" panose="02040503050406030204" charset="0"/>
                                  </a:rPr>
                                  <m:t>𝑅</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𝑢</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sub>
                                </m:sSub>
                              </m:e>
                            </m:nary>
                            <m:r>
                              <a:rPr lang="en-US" altLang="zh-CN" i="1">
                                <a:latin typeface="Cambria Math" panose="02040503050406030204" charset="0"/>
                                <a:cs typeface="Cambria Math" panose="02040503050406030204" charset="0"/>
                              </a:rPr>
                              <m:t>]</m:t>
                            </m:r>
                          </m:e>
                        </m:func>
                      </m:oMath>
                    </m:oMathPara>
                  </a14:m>
                  <a:endParaRPr lang="en-US" altLang="zh-CN" i="1">
                    <a:latin typeface="Cambria Math" panose="02040503050406030204" charset="0"/>
                    <a:cs typeface="Cambria Math" panose="02040503050406030204" charset="0"/>
                  </a:endParaRPr>
                </a:p>
                <a:p>
                  <a:pPr marL="0" indent="0" algn="l" latinLnBrk="0">
                    <a:lnSpc>
                      <a:spcPct val="150000"/>
                    </a:lnSpc>
                  </a:pPr>
                  <a14:m>
                    <m:oMathPara xmlns:m="http://schemas.openxmlformats.org/officeDocument/2006/math">
                      <m:oMathParaPr>
                        <m:jc m:val="left"/>
                      </m:oMathParaPr>
                      <m:oMath xmlns:m="http://schemas.openxmlformats.org/officeDocument/2006/math">
                        <m:r>
                          <a:rPr lang="en-US" altLang="zh-CN" i="1">
                            <a:latin typeface="Cambria Math" panose="02040503050406030204" charset="0"/>
                            <a:cs typeface="Cambria Math" panose="02040503050406030204" charset="0"/>
                          </a:rPr>
                          <m:t>𝑠</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𝑡</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𝑃𝑟</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𝑔</m:t>
                            </m:r>
                          </m:e>
                          <m:sup>
                            <m:r>
                              <a:rPr lang="en-US" altLang="zh-CN" i="1">
                                <a:latin typeface="Cambria Math" panose="02040503050406030204" charset="0"/>
                                <a:cs typeface="Cambria Math" panose="02040503050406030204" charset="0"/>
                              </a:rPr>
                              <m:t>𝑇</m:t>
                            </m:r>
                          </m:sup>
                        </m:sSup>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𝑝</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m:t>
                        </m:r>
                      </m:oMath>
                    </m:oMathPara>
                  </a14:m>
                  <a:endParaRPr lang="en-US" altLang="zh-CN" i="1">
                    <a:latin typeface="Cambria Math" panose="02040503050406030204" charset="0"/>
                    <a:cs typeface="Cambria Math" panose="02040503050406030204" charset="0"/>
                  </a:endParaRPr>
                </a:p>
                <a:p>
                  <a:pPr marL="0" indent="0" algn="l" latinLnBrk="0">
                    <a:lnSpc>
                      <a:spcPct val="150000"/>
                    </a:lnSpc>
                  </a:pPr>
                  <a:r>
                    <a:rPr lang="en-US" altLang="zh-CN">
                      <a:latin typeface="Cambria Math" panose="02040503050406030204" charset="0"/>
                      <a:cs typeface="Cambria Math" panose="02040503050406030204" charset="0"/>
                    </a:rPr>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𝐴</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𝐵</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𝑢</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𝑤</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𝑊</m:t>
                      </m:r>
                    </m:oMath>
                  </a14:m>
                  <a:endParaRPr lang="zh-CN" altLang="en-US"/>
                </a:p>
              </p:txBody>
            </p:sp>
          </mc:Choice>
          <mc:Fallback>
            <p:sp>
              <p:nvSpPr>
                <p:cNvPr id="6" name="文本框 5"/>
                <p:cNvSpPr txBox="1">
                  <a:spLocks noRot="1" noChangeAspect="1" noMove="1" noResize="1" noEditPoints="1" noAdjustHandles="1" noChangeArrowheads="1" noChangeShapeType="1" noTextEdit="1"/>
                </p:cNvSpPr>
                <p:nvPr/>
              </p:nvSpPr>
              <p:spPr>
                <a:xfrm>
                  <a:off x="1320" y="2570"/>
                  <a:ext cx="6589" cy="2623"/>
                </a:xfrm>
                <a:prstGeom prst="rect">
                  <a:avLst/>
                </a:prstGeom>
                <a:blipFill rotWithShape="1">
                  <a:blip r:embed="rId3"/>
                </a:blipFill>
              </p:spPr>
              <p:txBody>
                <a:bodyPr/>
                <a:lstStyle/>
                <a:p>
                  <a:r>
                    <a:rPr lang="zh-CN" altLang="en-US">
                      <a:noFill/>
                    </a:rPr>
                    <a:t> </a:t>
                  </a:r>
                </a:p>
              </p:txBody>
            </p:sp>
          </mc:Fallback>
        </mc:AlternateContent>
        <p:sp>
          <p:nvSpPr>
            <p:cNvPr id="9" name="矩形 8"/>
            <p:cNvSpPr/>
            <p:nvPr>
              <p:custDataLst>
                <p:tags r:id="rId4"/>
              </p:custDataLst>
            </p:nvPr>
          </p:nvSpPr>
          <p:spPr>
            <a:xfrm>
              <a:off x="1950" y="3806"/>
              <a:ext cx="5112" cy="816"/>
            </a:xfrm>
            <a:prstGeom prst="rect">
              <a:avLst/>
            </a:prstGeom>
            <a:noFill/>
            <a:ln w="190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矩形 9"/>
            <p:cNvSpPr/>
            <p:nvPr>
              <p:custDataLst>
                <p:tags r:id="rId5"/>
              </p:custDataLst>
            </p:nvPr>
          </p:nvSpPr>
          <p:spPr>
            <a:xfrm>
              <a:off x="2810" y="2878"/>
              <a:ext cx="589" cy="816"/>
            </a:xfrm>
            <a:prstGeom prst="rect">
              <a:avLst/>
            </a:prstGeom>
            <a:noFill/>
            <a:ln w="190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矩形 10"/>
            <p:cNvSpPr/>
            <p:nvPr>
              <p:custDataLst>
                <p:tags r:id="rId6"/>
              </p:custDataLst>
            </p:nvPr>
          </p:nvSpPr>
          <p:spPr>
            <a:xfrm>
              <a:off x="5234" y="4629"/>
              <a:ext cx="600" cy="548"/>
            </a:xfrm>
            <a:prstGeom prst="rect">
              <a:avLst/>
            </a:prstGeom>
            <a:noFill/>
            <a:ln w="190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18" name="组合 17"/>
          <p:cNvGrpSpPr/>
          <p:nvPr>
            <p:custDataLst>
              <p:tags r:id="rId7"/>
            </p:custDataLst>
          </p:nvPr>
        </p:nvGrpSpPr>
        <p:grpSpPr>
          <a:xfrm>
            <a:off x="5448300" y="1844040"/>
            <a:ext cx="6096000" cy="2118360"/>
            <a:chOff x="8580" y="2162"/>
            <a:chExt cx="9600" cy="3336"/>
          </a:xfrm>
        </p:grpSpPr>
        <p:sp>
          <p:nvSpPr>
            <p:cNvPr id="14" name="圆角矩形 13"/>
            <p:cNvSpPr/>
            <p:nvPr>
              <p:custDataLst>
                <p:tags r:id="rId8"/>
              </p:custDataLst>
            </p:nvPr>
          </p:nvSpPr>
          <p:spPr>
            <a:xfrm>
              <a:off x="10190" y="2162"/>
              <a:ext cx="7224" cy="3336"/>
            </a:xfrm>
            <a:prstGeom prst="roundRect">
              <a:avLst/>
            </a:prstGeom>
            <a:solidFill>
              <a:schemeClr val="accent1">
                <a:alpha val="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12" name="文本框 11"/>
                <p:cNvSpPr txBox="1"/>
                <p:nvPr/>
              </p:nvSpPr>
              <p:spPr>
                <a:xfrm>
                  <a:off x="8580" y="2540"/>
                  <a:ext cx="9600" cy="2621"/>
                </a:xfrm>
                <a:prstGeom prst="rect">
                  <a:avLst/>
                </a:prstGeom>
                <a:noFill/>
              </p:spPr>
              <p:txBody>
                <a:bodyPr wrap="square" rtlCol="0" anchor="t">
                  <a:spAutoFit/>
                </a:bodyPr>
                <a:p>
                  <a:pPr marL="0" indent="0" algn="l" latinLnBrk="0">
                    <a:lnSpc>
                      <a:spcPct val="100000"/>
                    </a:lnSpc>
                  </a:pPr>
                  <a14:m>
                    <m:oMathPara xmlns:m="http://schemas.openxmlformats.org/officeDocument/2006/math">
                      <m:oMathParaPr>
                        <m:jc m:val="centerGroup"/>
                      </m:oMathParaPr>
                      <m:oMath xmlns:m="http://schemas.openxmlformats.org/officeDocument/2006/math">
                        <m:func>
                          <m:funcPr>
                            <m:ctrlPr>
                              <a:rPr lang="en-US" altLang="zh-CN" i="1">
                                <a:latin typeface="Cambria Math" panose="02040503050406030204" charset="0"/>
                                <a:cs typeface="Cambria Math" panose="02040503050406030204" charset="0"/>
                              </a:rPr>
                            </m:ctrlPr>
                          </m:funcPr>
                          <m:fName>
                            <m:limLow>
                              <m:limLowPr>
                                <m:ctrlPr>
                                  <a:rPr lang="en-US" altLang="zh-CN">
                                    <a:latin typeface="Cambria Math" panose="02040503050406030204" charset="0"/>
                                    <a:cs typeface="Cambria Math" panose="02040503050406030204" charset="0"/>
                                  </a:rPr>
                                </m:ctrlPr>
                              </m:limLowPr>
                              <m:e>
                                <m:r>
                                  <m:rPr>
                                    <m:sty m:val="p"/>
                                  </m:rPr>
                                  <a:rPr lang="en-US" altLang="zh-CN">
                                    <a:latin typeface="Cambria Math" panose="02040503050406030204" charset="0"/>
                                    <a:cs typeface="Cambria Math" panose="02040503050406030204" charset="0"/>
                                  </a:rPr>
                                  <m:t>min</m:t>
                                </m:r>
                              </m:e>
                              <m:lim>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𝑢</m:t>
                                    </m:r>
                                  </m:e>
                                  <m:sub>
                                    <m:r>
                                      <a:rPr lang="en-US" altLang="zh-CN" i="1">
                                        <a:latin typeface="Cambria Math" panose="02040503050406030204" charset="0"/>
                                        <a:cs typeface="Cambria Math" panose="02040503050406030204" charset="0"/>
                                      </a:rPr>
                                      <m:t>𝑘</m:t>
                                    </m:r>
                                  </m:sub>
                                </m:sSub>
                              </m:lim>
                            </m:limLow>
                          </m:fName>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𝐽</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sub>
                              <m:sup>
                                <m:r>
                                  <a:rPr lang="en-US" altLang="zh-CN" i="1">
                                    <a:latin typeface="Cambria Math" panose="02040503050406030204" charset="0"/>
                                    <a:cs typeface="Cambria Math" panose="02040503050406030204" charset="0"/>
                                  </a:rPr>
                                  <m:t>∞</m:t>
                                </m:r>
                              </m:sup>
                              <m:e>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sub>
                                  <m:sup>
                                    <m:r>
                                      <a:rPr lang="en-US" altLang="zh-CN" i="1">
                                        <a:latin typeface="Cambria Math" panose="02040503050406030204" charset="0"/>
                                        <a:cs typeface="Cambria Math" panose="02040503050406030204" charset="0"/>
                                      </a:rPr>
                                      <m:t>𝑇</m:t>
                                    </m:r>
                                  </m:sup>
                                </m:sSubSup>
                                <m:r>
                                  <a:rPr lang="en-US" altLang="zh-CN" i="1">
                                    <a:latin typeface="Cambria Math" panose="02040503050406030204" charset="0"/>
                                    <a:cs typeface="Cambria Math" panose="02040503050406030204" charset="0"/>
                                  </a:rPr>
                                  <m:t>𝑄</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𝑢</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sub>
                                  <m:sup>
                                    <m:r>
                                      <a:rPr lang="en-US" altLang="zh-CN" i="1">
                                        <a:latin typeface="Cambria Math" panose="02040503050406030204" charset="0"/>
                                        <a:cs typeface="Cambria Math" panose="02040503050406030204" charset="0"/>
                                      </a:rPr>
                                      <m:t>𝑇</m:t>
                                    </m:r>
                                  </m:sup>
                                </m:sSubSup>
                                <m:r>
                                  <a:rPr lang="en-US" altLang="zh-CN" i="1">
                                    <a:latin typeface="Cambria Math" panose="02040503050406030204" charset="0"/>
                                    <a:cs typeface="Cambria Math" panose="02040503050406030204" charset="0"/>
                                  </a:rPr>
                                  <m:t>𝑅</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𝑢</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sub>
                                </m:sSub>
                              </m:e>
                            </m:nary>
                          </m:e>
                        </m:func>
                      </m:oMath>
                    </m:oMathPara>
                  </a14:m>
                  <a:endParaRPr lang="en-US" altLang="zh-CN" i="1">
                    <a:latin typeface="Cambria Math" panose="02040503050406030204" charset="0"/>
                    <a:cs typeface="Cambria Math" panose="02040503050406030204" charset="0"/>
                  </a:endParaRPr>
                </a:p>
                <a:p>
                  <a:pPr marL="0" indent="0" algn="l" latinLnBrk="0">
                    <a:lnSpc>
                      <a:spcPct val="150000"/>
                    </a:lnSpc>
                  </a:pPr>
                  <a14:m>
                    <m:oMathPara xmlns:m="http://schemas.openxmlformats.org/officeDocument/2006/math">
                      <m:oMathParaPr>
                        <m:jc m:val="center"/>
                      </m:oMathParaPr>
                      <m:oMath xmlns:m="http://schemas.openxmlformats.org/officeDocument/2006/math">
                        <m:r>
                          <a:rPr lang="en-US" altLang="zh-CN" i="1">
                            <a:latin typeface="Cambria Math" panose="02040503050406030204" charset="0"/>
                            <a:cs typeface="Cambria Math" panose="02040503050406030204" charset="0"/>
                          </a:rPr>
                          <m:t>𝑠</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𝑡</m:t>
                        </m:r>
                        <m:r>
                          <a:rPr lang="en-US" altLang="zh-CN" i="1">
                            <a:latin typeface="Cambria Math" panose="02040503050406030204" charset="0"/>
                            <a:cs typeface="Cambria Math" panose="02040503050406030204" charset="0"/>
                          </a:rPr>
                          <m:t>. </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𝑔</m:t>
                            </m:r>
                          </m:e>
                          <m:sup>
                            <m:r>
                              <a:rPr lang="en-US" altLang="zh-CN" i="1">
                                <a:latin typeface="Cambria Math" panose="02040503050406030204" charset="0"/>
                                <a:cs typeface="Cambria Math" panose="02040503050406030204" charset="0"/>
                              </a:rPr>
                              <m:t>𝑇</m:t>
                            </m:r>
                          </m:sup>
                        </m:sSup>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m:t>
                        </m:r>
                      </m:oMath>
                    </m:oMathPara>
                  </a14:m>
                  <a:endParaRPr lang="en-US" altLang="zh-CN" i="1">
                    <a:latin typeface="Cambria Math" panose="02040503050406030204" charset="0"/>
                    <a:cs typeface="Cambria Math" panose="02040503050406030204" charset="0"/>
                  </a:endParaRPr>
                </a:p>
                <a:p>
                  <a:pPr marL="0" indent="0" algn="ctr" latinLnBrk="0">
                    <a:lnSpc>
                      <a:spcPct val="150000"/>
                    </a:lnSpc>
                  </a:pPr>
                  <a:r>
                    <a:rPr lang="en-US" altLang="zh-CN">
                      <a:latin typeface="Cambria Math" panose="02040503050406030204" charset="0"/>
                      <a:cs typeface="Cambria Math" panose="02040503050406030204" charset="0"/>
                      <a:sym typeface="+mn-ea"/>
                    </a:rPr>
                    <a:t>        </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𝐴</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𝑥</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𝐵</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𝑢</m:t>
                          </m:r>
                        </m:e>
                        <m:sub>
                          <m:r>
                            <a:rPr lang="en-US" altLang="zh-CN" i="1">
                              <a:latin typeface="Cambria Math" panose="02040503050406030204" charset="0"/>
                              <a:cs typeface="Cambria Math" panose="02040503050406030204" charset="0"/>
                            </a:rPr>
                            <m:t>𝑘</m:t>
                          </m:r>
                        </m:sub>
                      </m:sSub>
                    </m:oMath>
                  </a14:m>
                  <a:endParaRPr lang="en-US" altLang="zh-CN" i="1">
                    <a:latin typeface="Cambria Math" panose="02040503050406030204" charset="0"/>
                    <a:cs typeface="Cambria Math" panose="02040503050406030204" charset="0"/>
                  </a:endParaRPr>
                </a:p>
              </p:txBody>
            </p:sp>
          </mc:Choice>
          <mc:Fallback>
            <p:sp>
              <p:nvSpPr>
                <p:cNvPr id="12" name="文本框 11"/>
                <p:cNvSpPr txBox="1">
                  <a:spLocks noRot="1" noChangeAspect="1" noMove="1" noResize="1" noEditPoints="1" noAdjustHandles="1" noChangeArrowheads="1" noChangeShapeType="1" noTextEdit="1"/>
                </p:cNvSpPr>
                <p:nvPr/>
              </p:nvSpPr>
              <p:spPr>
                <a:xfrm>
                  <a:off x="8580" y="2540"/>
                  <a:ext cx="9600" cy="2621"/>
                </a:xfrm>
                <a:prstGeom prst="rect">
                  <a:avLst/>
                </a:prstGeom>
                <a:blipFill rotWithShape="1">
                  <a:blip r:embed="rId9"/>
                </a:blipFill>
              </p:spPr>
              <p:txBody>
                <a:bodyPr/>
                <a:lstStyle/>
                <a:p>
                  <a:r>
                    <a:rPr lang="zh-CN" altLang="en-US">
                      <a:noFill/>
                    </a:rPr>
                    <a:t> </a:t>
                  </a:r>
                </a:p>
              </p:txBody>
            </p:sp>
          </mc:Fallback>
        </mc:AlternateContent>
      </p:grpSp>
      <p:sp>
        <p:nvSpPr>
          <p:cNvPr id="20" name="文本框 19"/>
          <p:cNvSpPr txBox="1"/>
          <p:nvPr>
            <p:custDataLst>
              <p:tags r:id="rId10"/>
            </p:custDataLst>
          </p:nvPr>
        </p:nvSpPr>
        <p:spPr>
          <a:xfrm>
            <a:off x="806450" y="1273810"/>
            <a:ext cx="4064000" cy="368300"/>
          </a:xfrm>
          <a:prstGeom prst="rect">
            <a:avLst/>
          </a:prstGeom>
          <a:noFill/>
        </p:spPr>
        <p:txBody>
          <a:bodyPr wrap="square" rtlCol="0">
            <a:spAutoFit/>
          </a:bodyPr>
          <a:p>
            <a:pPr algn="ctr"/>
            <a:r>
              <a:rPr lang="zh-CN" altLang="en-US"/>
              <a:t>机会约束优化</a:t>
            </a:r>
            <a:r>
              <a:rPr lang="zh-CN" altLang="en-US"/>
              <a:t>问题</a:t>
            </a:r>
            <a:endParaRPr lang="zh-CN" altLang="en-US"/>
          </a:p>
        </p:txBody>
      </p:sp>
      <p:sp>
        <p:nvSpPr>
          <p:cNvPr id="21" name="文本框 20"/>
          <p:cNvSpPr txBox="1"/>
          <p:nvPr>
            <p:custDataLst>
              <p:tags r:id="rId11"/>
            </p:custDataLst>
          </p:nvPr>
        </p:nvSpPr>
        <p:spPr>
          <a:xfrm>
            <a:off x="6464300" y="1273810"/>
            <a:ext cx="4064000" cy="368300"/>
          </a:xfrm>
          <a:prstGeom prst="rect">
            <a:avLst/>
          </a:prstGeom>
          <a:noFill/>
        </p:spPr>
        <p:txBody>
          <a:bodyPr wrap="square" rtlCol="0">
            <a:spAutoFit/>
          </a:bodyPr>
          <a:p>
            <a:pPr algn="ctr"/>
            <a:r>
              <a:rPr lang="zh-CN" altLang="en-US"/>
              <a:t>确定形式优化</a:t>
            </a:r>
            <a:r>
              <a:rPr lang="zh-CN" altLang="en-US"/>
              <a:t>问题</a:t>
            </a:r>
            <a:endParaRPr lang="zh-CN" altLang="en-US"/>
          </a:p>
        </p:txBody>
      </p:sp>
      <p:sp>
        <p:nvSpPr>
          <p:cNvPr id="22" name="右箭头 21"/>
          <p:cNvSpPr/>
          <p:nvPr/>
        </p:nvSpPr>
        <p:spPr>
          <a:xfrm>
            <a:off x="5162550" y="2401570"/>
            <a:ext cx="1287780" cy="647700"/>
          </a:xfrm>
          <a:prstGeom prst="rightArrow">
            <a:avLst/>
          </a:prstGeom>
          <a:noFill/>
          <a:ln w="19050">
            <a:solidFill>
              <a:schemeClr val="tx1">
                <a:lumMod val="95000"/>
                <a:lumOff val="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文本框 22"/>
          <p:cNvSpPr txBox="1"/>
          <p:nvPr/>
        </p:nvSpPr>
        <p:spPr>
          <a:xfrm>
            <a:off x="390843" y="1744980"/>
            <a:ext cx="962025" cy="506730"/>
          </a:xfrm>
          <a:prstGeom prst="rect">
            <a:avLst/>
          </a:prstGeom>
          <a:noFill/>
        </p:spPr>
        <p:txBody>
          <a:bodyPr wrap="square" rtlCol="0">
            <a:spAutoFit/>
          </a:bodyPr>
          <a:p>
            <a:pPr marL="0" indent="0" latinLnBrk="0">
              <a:lnSpc>
                <a:spcPct val="150000"/>
              </a:lnSpc>
            </a:pPr>
            <a:r>
              <a:rPr lang="en-US" altLang="zh-CN"/>
              <a:t> SMPC</a:t>
            </a:r>
            <a:endParaRPr lang="en-US" altLang="zh-CN"/>
          </a:p>
        </p:txBody>
      </p:sp>
      <p:pic>
        <p:nvPicPr>
          <p:cNvPr id="29" name="图片 28"/>
          <p:cNvPicPr>
            <a:picLocks noChangeAspect="1"/>
          </p:cNvPicPr>
          <p:nvPr/>
        </p:nvPicPr>
        <p:blipFill>
          <a:blip r:embed="rId12"/>
          <a:srcRect l="20582" t="-291" r="8411"/>
          <a:stretch>
            <a:fillRect/>
          </a:stretch>
        </p:blipFill>
        <p:spPr>
          <a:xfrm>
            <a:off x="7357110" y="4030980"/>
            <a:ext cx="2257357" cy="1515600"/>
          </a:xfrm>
          <a:prstGeom prst="rect">
            <a:avLst/>
          </a:prstGeom>
        </p:spPr>
      </p:pic>
      <p:pic>
        <p:nvPicPr>
          <p:cNvPr id="31" name="图片 30" descr="乡下开车"/>
          <p:cNvPicPr>
            <a:picLocks noChangeAspect="1"/>
          </p:cNvPicPr>
          <p:nvPr/>
        </p:nvPicPr>
        <p:blipFill>
          <a:blip r:embed="rId13"/>
          <a:stretch>
            <a:fillRect/>
          </a:stretch>
        </p:blipFill>
        <p:spPr>
          <a:xfrm>
            <a:off x="1701247" y="4030980"/>
            <a:ext cx="2274407" cy="1515600"/>
          </a:xfrm>
          <a:prstGeom prst="rect">
            <a:avLst/>
          </a:prstGeom>
        </p:spPr>
      </p:pic>
      <p:sp>
        <p:nvSpPr>
          <p:cNvPr id="32" name="文本框 31"/>
          <p:cNvSpPr txBox="1"/>
          <p:nvPr/>
        </p:nvSpPr>
        <p:spPr>
          <a:xfrm>
            <a:off x="468630" y="4009390"/>
            <a:ext cx="1241425" cy="368300"/>
          </a:xfrm>
          <a:prstGeom prst="rect">
            <a:avLst/>
          </a:prstGeom>
          <a:noFill/>
        </p:spPr>
        <p:txBody>
          <a:bodyPr wrap="square" rtlCol="0">
            <a:spAutoFit/>
          </a:bodyPr>
          <a:p>
            <a:r>
              <a:rPr lang="zh-CN" altLang="en-US"/>
              <a:t>扰动</a:t>
            </a:r>
            <a:r>
              <a:rPr lang="zh-CN" altLang="en-US"/>
              <a:t>场景</a:t>
            </a:r>
            <a:endParaRPr lang="zh-CN" altLang="en-US"/>
          </a:p>
        </p:txBody>
      </p:sp>
      <p:sp>
        <p:nvSpPr>
          <p:cNvPr id="33" name="文本框 32"/>
          <p:cNvSpPr txBox="1"/>
          <p:nvPr/>
        </p:nvSpPr>
        <p:spPr>
          <a:xfrm>
            <a:off x="9605010" y="4032250"/>
            <a:ext cx="1123315" cy="368300"/>
          </a:xfrm>
          <a:prstGeom prst="rect">
            <a:avLst/>
          </a:prstGeom>
          <a:noFill/>
        </p:spPr>
        <p:txBody>
          <a:bodyPr wrap="square" rtlCol="0">
            <a:spAutoFit/>
          </a:bodyPr>
          <a:p>
            <a:r>
              <a:rPr lang="zh-CN" altLang="en-US"/>
              <a:t>确定</a:t>
            </a:r>
            <a:r>
              <a:rPr lang="zh-CN" altLang="en-US"/>
              <a:t>场景</a:t>
            </a:r>
            <a:endParaRPr lang="zh-CN" altLang="en-US"/>
          </a:p>
        </p:txBody>
      </p:sp>
      <p:sp>
        <p:nvSpPr>
          <p:cNvPr id="7" name="文本框 6"/>
          <p:cNvSpPr txBox="1"/>
          <p:nvPr/>
        </p:nvSpPr>
        <p:spPr>
          <a:xfrm>
            <a:off x="6347778" y="1744980"/>
            <a:ext cx="962025" cy="506730"/>
          </a:xfrm>
          <a:prstGeom prst="rect">
            <a:avLst/>
          </a:prstGeom>
          <a:noFill/>
        </p:spPr>
        <p:txBody>
          <a:bodyPr wrap="square" rtlCol="0">
            <a:spAutoFit/>
          </a:bodyPr>
          <a:p>
            <a:pPr marL="0" indent="0" latinLnBrk="0">
              <a:lnSpc>
                <a:spcPct val="150000"/>
              </a:lnSpc>
            </a:pPr>
            <a:r>
              <a:rPr lang="en-US" altLang="zh-CN"/>
              <a:t> MPC</a:t>
            </a:r>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23" name="文本框 22"/>
              <p:cNvSpPr txBox="1"/>
              <p:nvPr/>
            </p:nvSpPr>
            <p:spPr>
              <a:xfrm>
                <a:off x="5631180" y="1629410"/>
                <a:ext cx="2536825" cy="645160"/>
              </a:xfrm>
              <a:prstGeom prst="rect">
                <a:avLst/>
              </a:prstGeom>
              <a:solidFill>
                <a:schemeClr val="bg1">
                  <a:alpha val="10000"/>
                </a:schemeClr>
              </a:solidFill>
            </p:spPr>
            <p:txBody>
              <a:bodyPr wrap="square" rtlCol="0" anchor="t">
                <a:spAutoFit/>
              </a:bodyPr>
              <a:p>
                <a:pPr algn="ctr"/>
                <a14:m>
                  <m:oMathPara xmlns:m="http://schemas.openxmlformats.org/officeDocument/2006/math">
                    <m:oMathParaPr>
                      <m:jc m:val="centerGroup"/>
                    </m:oMathParaPr>
                    <m:oMath xmlns:m="http://schemas.openxmlformats.org/officeDocument/2006/math">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𝑢</m:t>
                          </m:r>
                        </m:e>
                        <m:sub>
                          <m:r>
                            <a:rPr lang="en-US" altLang="zh-CN" sz="1800" i="1">
                              <a:latin typeface="Cambria Math" panose="02040503050406030204" charset="0"/>
                              <a:cs typeface="Cambria Math" panose="02040503050406030204" charset="0"/>
                            </a:rPr>
                            <m:t>𝑘</m:t>
                          </m:r>
                        </m:sub>
                      </m:sSub>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𝐾</m:t>
                      </m:r>
                      <m:sSub>
                        <m:sSubPr>
                          <m:ctrlPr>
                            <a:rPr lang="en-US" altLang="zh-CN" sz="1800" i="1">
                              <a:solidFill>
                                <a:srgbClr val="FF0000"/>
                              </a:solidFill>
                              <a:latin typeface="Cambria Math" panose="02040503050406030204" charset="0"/>
                              <a:cs typeface="Cambria Math" panose="02040503050406030204" charset="0"/>
                            </a:rPr>
                          </m:ctrlPr>
                        </m:sSubPr>
                        <m:e>
                          <m:r>
                            <a:rPr lang="en-US" altLang="zh-CN" sz="1800" i="1">
                              <a:solidFill>
                                <a:srgbClr val="FF0000"/>
                              </a:solidFill>
                              <a:latin typeface="Cambria Math" panose="02040503050406030204" charset="0"/>
                              <a:cs typeface="Cambria Math" panose="02040503050406030204" charset="0"/>
                            </a:rPr>
                            <m:t>𝑥</m:t>
                          </m:r>
                        </m:e>
                        <m:sub>
                          <m:r>
                            <a:rPr lang="en-US" altLang="zh-CN" sz="1800" i="1">
                              <a:solidFill>
                                <a:srgbClr val="FF0000"/>
                              </a:solidFill>
                              <a:latin typeface="Cambria Math" panose="02040503050406030204" charset="0"/>
                              <a:cs typeface="Cambria Math" panose="02040503050406030204" charset="0"/>
                            </a:rPr>
                            <m:t>𝑘</m:t>
                          </m:r>
                        </m:sub>
                      </m:sSub>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𝑐</m:t>
                          </m:r>
                        </m:e>
                        <m:sub>
                          <m:r>
                            <a:rPr lang="en-US" altLang="zh-CN" sz="1800" i="1">
                              <a:latin typeface="Cambria Math" panose="02040503050406030204" charset="0"/>
                              <a:cs typeface="Cambria Math" panose="02040503050406030204" charset="0"/>
                            </a:rPr>
                            <m:t>𝑘</m:t>
                          </m:r>
                        </m:sub>
                      </m:sSub>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𝐿𝑄𝑅</m:t>
                      </m:r>
                      <m:r>
                        <a:rPr lang="en-US" altLang="zh-CN" sz="1800" i="1">
                          <a:latin typeface="Cambria Math" panose="02040503050406030204" charset="0"/>
                          <a:cs typeface="Cambria Math" panose="02040503050406030204" charset="0"/>
                        </a:rPr>
                        <m:t>)</m:t>
                      </m:r>
                    </m:oMath>
                  </m:oMathPara>
                </a14:m>
                <a:endParaRPr lang="en-US" altLang="zh-CN" sz="1800" i="1">
                  <a:latin typeface="Cambria Math" panose="02040503050406030204" charset="0"/>
                  <a:cs typeface="Cambria Math" panose="02040503050406030204" charset="0"/>
                </a:endParaRPr>
              </a:p>
              <a:p>
                <a:pPr algn="ctr"/>
                <a14:m>
                  <m:oMathPara xmlns:m="http://schemas.openxmlformats.org/officeDocument/2006/math">
                    <m:oMathParaPr>
                      <m:jc m:val="center"/>
                    </m:oMathParaPr>
                    <m:oMath xmlns:m="http://schemas.openxmlformats.org/officeDocument/2006/math">
                      <m:sSub>
                        <m:sSubPr>
                          <m:ctrlPr>
                            <a:rPr lang="en-US" altLang="zh-CN" sz="1800" i="1">
                              <a:solidFill>
                                <a:srgbClr val="FF0000"/>
                              </a:solidFill>
                              <a:latin typeface="Cambria Math" panose="02040503050406030204" charset="0"/>
                              <a:cs typeface="Cambria Math" panose="02040503050406030204" charset="0"/>
                            </a:rPr>
                          </m:ctrlPr>
                        </m:sSubPr>
                        <m:e>
                          <m:r>
                            <a:rPr lang="en-US" altLang="zh-CN" sz="1800" i="1">
                              <a:solidFill>
                                <a:srgbClr val="FF0000"/>
                              </a:solidFill>
                              <a:latin typeface="Cambria Math" panose="02040503050406030204" charset="0"/>
                              <a:cs typeface="Cambria Math" panose="02040503050406030204" charset="0"/>
                            </a:rPr>
                            <m:t>𝑥</m:t>
                          </m:r>
                        </m:e>
                        <m:sub>
                          <m:r>
                            <a:rPr lang="en-US" altLang="zh-CN" sz="1800" i="1">
                              <a:solidFill>
                                <a:srgbClr val="FF0000"/>
                              </a:solidFill>
                              <a:latin typeface="Cambria Math" panose="02040503050406030204" charset="0"/>
                              <a:cs typeface="Cambria Math" panose="02040503050406030204" charset="0"/>
                            </a:rPr>
                            <m:t>𝑘</m:t>
                          </m:r>
                          <m:r>
                            <a:rPr lang="en-US" altLang="zh-CN" sz="1800" i="1">
                              <a:solidFill>
                                <a:srgbClr val="FF0000"/>
                              </a:solidFill>
                              <a:latin typeface="Cambria Math" panose="02040503050406030204" charset="0"/>
                              <a:cs typeface="Cambria Math" panose="02040503050406030204" charset="0"/>
                            </a:rPr>
                            <m:t>+</m:t>
                          </m:r>
                          <m:r>
                            <a:rPr lang="en-US" altLang="zh-CN" sz="1800" i="1">
                              <a:solidFill>
                                <a:srgbClr val="FF0000"/>
                              </a:solidFill>
                              <a:latin typeface="Cambria Math" panose="02040503050406030204" charset="0"/>
                              <a:cs typeface="Cambria Math" panose="02040503050406030204" charset="0"/>
                            </a:rPr>
                            <m:t>1</m:t>
                          </m:r>
                        </m:sub>
                      </m:sSub>
                      <m:r>
                        <a:rPr lang="en-US" altLang="zh-CN" sz="1800" i="1">
                          <a:solidFill>
                            <a:schemeClr val="tx1"/>
                          </a:solidFill>
                          <a:latin typeface="Cambria Math" panose="02040503050406030204" charset="0"/>
                          <a:ea typeface="微软雅黑" panose="020B0503020204020204" pitchFamily="34" charset="-122"/>
                          <a:cs typeface="Cambria Math" panose="02040503050406030204" charset="0"/>
                        </a:rPr>
                        <m:t>=</m:t>
                      </m:r>
                      <m:r>
                        <a:rPr lang="en-US" altLang="zh-CN" sz="1800" i="1">
                          <a:solidFill>
                            <a:schemeClr val="tx1"/>
                          </a:solidFill>
                          <a:latin typeface="Cambria Math" panose="02040503050406030204" charset="0"/>
                          <a:ea typeface="微软雅黑" panose="020B0503020204020204" pitchFamily="34" charset="-122"/>
                          <a:cs typeface="Cambria Math" panose="02040503050406030204" charset="0"/>
                        </a:rPr>
                        <m:t>𝐴</m:t>
                      </m:r>
                      <m:sSub>
                        <m:sSubPr>
                          <m:ctrlPr>
                            <a:rPr lang="en-US" altLang="zh-CN" sz="1800" i="1">
                              <a:solidFill>
                                <a:srgbClr val="FF0000"/>
                              </a:solidFill>
                              <a:latin typeface="Cambria Math" panose="02040503050406030204" charset="0"/>
                              <a:cs typeface="Cambria Math" panose="02040503050406030204" charset="0"/>
                            </a:rPr>
                          </m:ctrlPr>
                        </m:sSubPr>
                        <m:e>
                          <m:r>
                            <a:rPr lang="en-US" altLang="zh-CN" sz="1800" i="1">
                              <a:solidFill>
                                <a:srgbClr val="FF0000"/>
                              </a:solidFill>
                              <a:latin typeface="Cambria Math" panose="02040503050406030204" charset="0"/>
                              <a:cs typeface="Cambria Math" panose="02040503050406030204" charset="0"/>
                            </a:rPr>
                            <m:t>𝑥</m:t>
                          </m:r>
                        </m:e>
                        <m:sub>
                          <m:r>
                            <a:rPr lang="en-US" altLang="zh-CN" sz="1800" i="1">
                              <a:solidFill>
                                <a:srgbClr val="FF0000"/>
                              </a:solidFill>
                              <a:latin typeface="Cambria Math" panose="02040503050406030204" charset="0"/>
                              <a:cs typeface="Cambria Math" panose="02040503050406030204" charset="0"/>
                            </a:rPr>
                            <m:t>𝑘</m:t>
                          </m:r>
                        </m:sub>
                      </m:sSub>
                      <m:r>
                        <a:rPr lang="en-US" altLang="zh-CN" sz="1800" i="1">
                          <a:solidFill>
                            <a:schemeClr val="tx1"/>
                          </a:solidFill>
                          <a:latin typeface="Cambria Math" panose="02040503050406030204" charset="0"/>
                          <a:ea typeface="微软雅黑" panose="020B0503020204020204" pitchFamily="34" charset="-122"/>
                          <a:cs typeface="Cambria Math" panose="02040503050406030204" charset="0"/>
                        </a:rPr>
                        <m:t>+</m:t>
                      </m:r>
                      <m:r>
                        <a:rPr lang="en-US" altLang="zh-CN" sz="1800" i="1">
                          <a:solidFill>
                            <a:schemeClr val="tx1"/>
                          </a:solidFill>
                          <a:latin typeface="Cambria Math" panose="02040503050406030204" charset="0"/>
                          <a:ea typeface="微软雅黑" panose="020B0503020204020204" pitchFamily="34" charset="-122"/>
                          <a:cs typeface="Cambria Math" panose="02040503050406030204" charset="0"/>
                        </a:rPr>
                        <m:t>𝐵</m:t>
                      </m:r>
                      <m:sSub>
                        <m:sSubPr>
                          <m:ctrlPr>
                            <a:rPr lang="en-US" altLang="zh-CN" sz="1800" i="1">
                              <a:solidFill>
                                <a:schemeClr val="tx1"/>
                              </a:solidFill>
                              <a:latin typeface="Cambria Math" panose="02040503050406030204" charset="0"/>
                              <a:ea typeface="微软雅黑" panose="020B0503020204020204" pitchFamily="34" charset="-122"/>
                              <a:cs typeface="Cambria Math" panose="02040503050406030204" charset="0"/>
                            </a:rPr>
                          </m:ctrlPr>
                        </m:sSubPr>
                        <m:e>
                          <m:r>
                            <a:rPr lang="en-US" altLang="zh-CN" sz="1800" i="1">
                              <a:solidFill>
                                <a:schemeClr val="tx1"/>
                              </a:solidFill>
                              <a:latin typeface="Cambria Math" panose="02040503050406030204" charset="0"/>
                              <a:ea typeface="微软雅黑" panose="020B0503020204020204" pitchFamily="34" charset="-122"/>
                              <a:cs typeface="Cambria Math" panose="02040503050406030204" charset="0"/>
                            </a:rPr>
                            <m:t>𝑢</m:t>
                          </m:r>
                        </m:e>
                        <m:sub>
                          <m:r>
                            <a:rPr lang="en-US" altLang="zh-CN" sz="1800" i="1">
                              <a:solidFill>
                                <a:schemeClr val="tx1"/>
                              </a:solidFill>
                              <a:latin typeface="Cambria Math" panose="02040503050406030204" charset="0"/>
                              <a:ea typeface="微软雅黑" panose="020B0503020204020204" pitchFamily="34" charset="-122"/>
                              <a:cs typeface="Cambria Math" panose="02040503050406030204" charset="0"/>
                            </a:rPr>
                            <m:t>𝑘</m:t>
                          </m:r>
                        </m:sub>
                      </m:sSub>
                      <m:r>
                        <a:rPr lang="en-US" altLang="zh-CN" sz="1800" i="1">
                          <a:solidFill>
                            <a:schemeClr val="tx1"/>
                          </a:solidFill>
                          <a:latin typeface="Cambria Math" panose="02040503050406030204" charset="0"/>
                          <a:ea typeface="微软雅黑" panose="020B0503020204020204" pitchFamily="34" charset="-122"/>
                          <a:cs typeface="Cambria Math" panose="02040503050406030204" charset="0"/>
                        </a:rPr>
                        <m:t>+</m:t>
                      </m:r>
                      <m:sSub>
                        <m:sSubPr>
                          <m:ctrlPr>
                            <a:rPr lang="en-US" altLang="zh-CN" sz="1800" i="1">
                              <a:solidFill>
                                <a:schemeClr val="tx1"/>
                              </a:solidFill>
                              <a:latin typeface="Cambria Math" panose="02040503050406030204" charset="0"/>
                              <a:ea typeface="微软雅黑" panose="020B0503020204020204" pitchFamily="34" charset="-122"/>
                              <a:cs typeface="Cambria Math" panose="02040503050406030204" charset="0"/>
                            </a:rPr>
                          </m:ctrlPr>
                        </m:sSubPr>
                        <m:e>
                          <m:r>
                            <a:rPr lang="en-US" altLang="zh-CN" sz="1800" i="1">
                              <a:solidFill>
                                <a:schemeClr val="tx1"/>
                              </a:solidFill>
                              <a:latin typeface="Cambria Math" panose="02040503050406030204" charset="0"/>
                              <a:ea typeface="微软雅黑" panose="020B0503020204020204" pitchFamily="34" charset="-122"/>
                              <a:cs typeface="Cambria Math" panose="02040503050406030204" charset="0"/>
                            </a:rPr>
                            <m:t>𝑤</m:t>
                          </m:r>
                        </m:e>
                        <m:sub>
                          <m:r>
                            <a:rPr lang="en-US" altLang="zh-CN" sz="1800" i="1">
                              <a:solidFill>
                                <a:schemeClr val="tx1"/>
                              </a:solidFill>
                              <a:latin typeface="Cambria Math" panose="02040503050406030204" charset="0"/>
                              <a:ea typeface="微软雅黑" panose="020B0503020204020204" pitchFamily="34" charset="-122"/>
                              <a:cs typeface="Cambria Math" panose="02040503050406030204" charset="0"/>
                            </a:rPr>
                            <m:t>𝑘</m:t>
                          </m:r>
                        </m:sub>
                      </m:sSub>
                    </m:oMath>
                  </m:oMathPara>
                </a14:m>
                <a:endParaRPr lang="en-US" altLang="zh-CN" sz="1800" i="1">
                  <a:latin typeface="Cambria Math" panose="02040503050406030204" charset="0"/>
                  <a:cs typeface="Cambria Math" panose="02040503050406030204" charset="0"/>
                </a:endParaRPr>
              </a:p>
            </p:txBody>
          </p:sp>
        </mc:Choice>
        <mc:Fallback>
          <p:sp>
            <p:nvSpPr>
              <p:cNvPr id="23" name="文本框 22"/>
              <p:cNvSpPr txBox="1">
                <a:spLocks noRot="1" noChangeAspect="1" noMove="1" noResize="1" noEditPoints="1" noAdjustHandles="1" noChangeArrowheads="1" noChangeShapeType="1" noTextEdit="1"/>
              </p:cNvSpPr>
              <p:nvPr/>
            </p:nvSpPr>
            <p:spPr>
              <a:xfrm>
                <a:off x="5631180" y="1629410"/>
                <a:ext cx="2536825" cy="645160"/>
              </a:xfrm>
              <a:prstGeom prst="rect">
                <a:avLst/>
              </a:prstGeom>
              <a:blipFill rotWithShape="1">
                <a:blip r:embed="rId1"/>
                <a:stretch>
                  <a:fillRect/>
                </a:stretch>
              </a:blipFill>
            </p:spPr>
            <p:txBody>
              <a:bodyPr/>
              <a:lstStyle/>
              <a:p>
                <a:r>
                  <a:rPr lang="zh-CN" altLang="en-US">
                    <a:noFill/>
                  </a:rPr>
                  <a:t> </a:t>
                </a:r>
              </a:p>
            </p:txBody>
          </p:sp>
        </mc:Fallback>
      </mc:AlternateContent>
      <p:cxnSp>
        <p:nvCxnSpPr>
          <p:cNvPr id="50" name="直接箭头连接符 49"/>
          <p:cNvCxnSpPr>
            <a:endCxn id="23" idx="3"/>
          </p:cNvCxnSpPr>
          <p:nvPr/>
        </p:nvCxnSpPr>
        <p:spPr>
          <a:xfrm flipV="1">
            <a:off x="5605145" y="1951990"/>
            <a:ext cx="2562860" cy="5715"/>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29" name="圆角矩形 28"/>
          <p:cNvSpPr/>
          <p:nvPr/>
        </p:nvSpPr>
        <p:spPr>
          <a:xfrm>
            <a:off x="253365" y="3821430"/>
            <a:ext cx="5874385" cy="1714500"/>
          </a:xfrm>
          <a:prstGeom prst="round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0" name="图片 29" descr="置信椭圆"/>
          <p:cNvPicPr>
            <a:picLocks noChangeAspect="1"/>
          </p:cNvPicPr>
          <p:nvPr/>
        </p:nvPicPr>
        <p:blipFill>
          <a:blip r:embed="rId2"/>
          <a:stretch>
            <a:fillRect/>
          </a:stretch>
        </p:blipFill>
        <p:spPr>
          <a:xfrm>
            <a:off x="4427220" y="3839210"/>
            <a:ext cx="1593850" cy="1593850"/>
          </a:xfrm>
          <a:prstGeom prst="rect">
            <a:avLst/>
          </a:prstGeom>
        </p:spPr>
      </p:pic>
      <p:cxnSp>
        <p:nvCxnSpPr>
          <p:cNvPr id="49" name="直接箭头连接符 48"/>
          <p:cNvCxnSpPr>
            <a:endCxn id="42" idx="1"/>
          </p:cNvCxnSpPr>
          <p:nvPr/>
        </p:nvCxnSpPr>
        <p:spPr>
          <a:xfrm>
            <a:off x="4194810" y="2363470"/>
            <a:ext cx="2779395" cy="2295525"/>
          </a:xfrm>
          <a:prstGeom prst="straightConnector1">
            <a:avLst/>
          </a:prstGeom>
          <a:ln w="19050">
            <a:solidFill>
              <a:schemeClr val="tx1"/>
            </a:solidFill>
            <a:tailEnd type="triangle"/>
          </a:ln>
        </p:spPr>
        <p:style>
          <a:lnRef idx="2">
            <a:schemeClr val="accent1"/>
          </a:lnRef>
          <a:fillRef idx="0">
            <a:srgbClr val="FFFFFF"/>
          </a:fillRef>
          <a:effectRef idx="0">
            <a:srgbClr val="FFFFFF"/>
          </a:effectRef>
          <a:fontRef idx="minor">
            <a:schemeClr val="tx1"/>
          </a:fontRef>
        </p:style>
      </p:cxnSp>
      <p:sp>
        <p:nvSpPr>
          <p:cNvPr id="44" name="圆角矩形 43"/>
          <p:cNvSpPr/>
          <p:nvPr/>
        </p:nvSpPr>
        <p:spPr>
          <a:xfrm>
            <a:off x="6755765" y="3821430"/>
            <a:ext cx="5172075" cy="1713865"/>
          </a:xfrm>
          <a:prstGeom prst="round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1800" i="1">
              <a:solidFill>
                <a:schemeClr val="tx1"/>
              </a:solidFill>
              <a:latin typeface="Cambria Math" panose="02040503050406030204" charset="0"/>
              <a:ea typeface="微软雅黑" panose="020B0503020204020204" pitchFamily="34" charset="-122"/>
              <a:cs typeface="Cambria Math" panose="02040503050406030204" charset="0"/>
            </a:endParaRPr>
          </a:p>
        </p:txBody>
      </p:sp>
      <p:sp>
        <p:nvSpPr>
          <p:cNvPr id="27" name="矩形 26"/>
          <p:cNvSpPr/>
          <p:nvPr/>
        </p:nvSpPr>
        <p:spPr>
          <a:xfrm>
            <a:off x="8599170" y="1982470"/>
            <a:ext cx="1859280" cy="609600"/>
          </a:xfrm>
          <a:prstGeom prst="rect">
            <a:avLst/>
          </a:prstGeom>
          <a:solidFill>
            <a:srgbClr val="FF0000">
              <a:alpha val="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圆角矩形 8"/>
          <p:cNvSpPr/>
          <p:nvPr/>
        </p:nvSpPr>
        <p:spPr>
          <a:xfrm>
            <a:off x="405130" y="1164590"/>
            <a:ext cx="6217920" cy="1714500"/>
          </a:xfrm>
          <a:prstGeom prst="round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圆角矩形 14"/>
          <p:cNvSpPr/>
          <p:nvPr/>
        </p:nvSpPr>
        <p:spPr>
          <a:xfrm>
            <a:off x="7839710" y="1123950"/>
            <a:ext cx="4098925" cy="1713865"/>
          </a:xfrm>
          <a:prstGeom prst="round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1800" i="1">
              <a:solidFill>
                <a:schemeClr val="tx1"/>
              </a:solidFill>
              <a:latin typeface="Cambria Math" panose="02040503050406030204" charset="0"/>
              <a:ea typeface="微软雅黑" panose="020B0503020204020204" pitchFamily="34" charset="-122"/>
              <a:cs typeface="Cambria Math" panose="02040503050406030204" charset="0"/>
            </a:endParaRPr>
          </a:p>
        </p:txBody>
      </p:sp>
      <p:sp>
        <p:nvSpPr>
          <p:cNvPr id="2" name="文本占位符 1"/>
          <p:cNvSpPr>
            <a:spLocks noGrp="1"/>
          </p:cNvSpPr>
          <p:nvPr>
            <p:ph type="body" idx="1"/>
          </p:nvPr>
        </p:nvSpPr>
        <p:spPr>
          <a:xfrm>
            <a:off x="314325" y="6144895"/>
            <a:ext cx="11329670" cy="356235"/>
          </a:xfrm>
        </p:spPr>
        <p:txBody>
          <a:bodyPr/>
          <a:p>
            <a:r>
              <a:rPr lang="en-US" altLang="zh-CN"/>
              <a:t>STMPC</a:t>
            </a:r>
            <a:r>
              <a:rPr lang="zh-CN" altLang="en-US"/>
              <a:t>通过将系统状态分解为标称值和随机值，利用随机信息将真实问题转化为标称问题；只能处理有界</a:t>
            </a:r>
            <a:r>
              <a:rPr lang="zh-CN" altLang="en-US"/>
              <a:t>扰动</a:t>
            </a:r>
            <a:endParaRPr lang="zh-CN" altLang="en-US"/>
          </a:p>
        </p:txBody>
      </p:sp>
      <p:sp>
        <p:nvSpPr>
          <p:cNvPr id="3" name="文本占位符 2"/>
          <p:cNvSpPr>
            <a:spLocks noGrp="1"/>
          </p:cNvSpPr>
          <p:nvPr>
            <p:ph type="body" idx="13"/>
          </p:nvPr>
        </p:nvSpPr>
        <p:spPr>
          <a:xfrm>
            <a:off x="0" y="670560"/>
            <a:ext cx="6545580" cy="448310"/>
          </a:xfrm>
        </p:spPr>
        <p:txBody>
          <a:bodyPr/>
          <a:p>
            <a:r>
              <a:rPr lang="en-US" altLang="zh-CN"/>
              <a:t>&gt;&gt;&gt;</a:t>
            </a:r>
            <a:r>
              <a:t>管随机模型预测控制</a:t>
            </a:r>
            <a:r>
              <a:rPr lang="en-US" altLang="zh-CN"/>
              <a:t>(STMPC)</a:t>
            </a:r>
            <a:r>
              <a:t>算法</a:t>
            </a:r>
            <a:r>
              <a:t>原理</a:t>
            </a:r>
          </a:p>
        </p:txBody>
      </p:sp>
      <p:sp>
        <p:nvSpPr>
          <p:cNvPr id="4" name="文本占位符 3"/>
          <p:cNvSpPr>
            <a:spLocks noGrp="1"/>
          </p:cNvSpPr>
          <p:nvPr>
            <p:ph type="body" idx="14"/>
          </p:nvPr>
        </p:nvSpPr>
        <p:spPr>
          <a:xfrm>
            <a:off x="805180" y="111760"/>
            <a:ext cx="7642225" cy="448310"/>
          </a:xfrm>
        </p:spPr>
        <p:txBody>
          <a:bodyPr/>
          <a:p>
            <a:r>
              <a:rPr>
                <a:sym typeface="+mn-ea"/>
              </a:rPr>
              <a:t>随机模型预测控制解机会约束优化问题（</a:t>
            </a:r>
            <a:r>
              <a:rPr lang="en-US" altLang="zh-CN">
                <a:sym typeface="+mn-ea"/>
              </a:rPr>
              <a:t>4.2</a:t>
            </a:r>
            <a:r>
              <a:rPr>
                <a:sym typeface="+mn-ea"/>
              </a:rPr>
              <a:t>）</a:t>
            </a:r>
            <a:endParaRPr lang="zh-CN" altLang="en-US"/>
          </a:p>
          <a:p>
            <a:endParaRPr lang="zh-CN" altLang="en-US"/>
          </a:p>
        </p:txBody>
      </p:sp>
      <p:sp>
        <p:nvSpPr>
          <p:cNvPr id="5" name="灯片编号占位符 4"/>
          <p:cNvSpPr>
            <a:spLocks noGrp="1"/>
          </p:cNvSpPr>
          <p:nvPr>
            <p:ph type="sldNum" sz="quarter" idx="12"/>
          </p:nvPr>
        </p:nvSpPr>
        <p:spPr/>
        <p:txBody>
          <a:bodyPr/>
          <a:p>
            <a:pPr>
              <a:defRPr/>
            </a:pPr>
            <a:fld id="{AC6C5647-07D8-4AFC-B347-73DA68F3AADD}" type="slidenum">
              <a:rPr lang="zh-CN" altLang="en-US"/>
            </a:fld>
            <a:endParaRPr lang="zh-CN" altLang="en-US"/>
          </a:p>
        </p:txBody>
      </p:sp>
      <p:sp>
        <p:nvSpPr>
          <p:cNvPr id="7" name="圆角矩形 6"/>
          <p:cNvSpPr/>
          <p:nvPr/>
        </p:nvSpPr>
        <p:spPr>
          <a:xfrm>
            <a:off x="146050" y="3460750"/>
            <a:ext cx="1896110" cy="64071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800">
                <a:sym typeface="+mn-ea"/>
              </a:rPr>
              <a:t>随机信息</a:t>
            </a:r>
            <a:r>
              <a:rPr lang="zh-CN" altLang="en-US" sz="1800">
                <a:sym typeface="+mn-ea"/>
              </a:rPr>
              <a:t>推导</a:t>
            </a:r>
            <a:endParaRPr lang="zh-CN" altLang="en-US" sz="1800">
              <a:sym typeface="+mn-ea"/>
            </a:endParaRPr>
          </a:p>
          <a:p>
            <a:pPr lvl="0" algn="ctr">
              <a:buClrTx/>
              <a:buSzTx/>
              <a:buFontTx/>
            </a:pPr>
            <a:r>
              <a:rPr lang="zh-CN" altLang="en-US" sz="1800">
                <a:sym typeface="+mn-ea"/>
              </a:rPr>
              <a:t>（</a:t>
            </a:r>
            <a:r>
              <a:rPr lang="zh-CN" altLang="en-US" sz="1800">
                <a:sym typeface="+mn-ea"/>
              </a:rPr>
              <a:t>椭圆随机</a:t>
            </a:r>
            <a:r>
              <a:rPr lang="zh-CN" altLang="en-US" sz="1800">
                <a:sym typeface="+mn-ea"/>
              </a:rPr>
              <a:t>管）</a:t>
            </a:r>
            <a:endParaRPr lang="zh-CN" altLang="en-US" sz="1800">
              <a:sym typeface="+mn-ea"/>
            </a:endParaRPr>
          </a:p>
        </p:txBody>
      </p:sp>
      <p:sp>
        <p:nvSpPr>
          <p:cNvPr id="8" name="圆角矩形 7"/>
          <p:cNvSpPr/>
          <p:nvPr/>
        </p:nvSpPr>
        <p:spPr>
          <a:xfrm>
            <a:off x="6247130" y="3392170"/>
            <a:ext cx="1516380" cy="6408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800">
                <a:sym typeface="+mn-ea"/>
              </a:rPr>
              <a:t>问题</a:t>
            </a:r>
            <a:r>
              <a:rPr lang="zh-CN" altLang="en-US" sz="1800">
                <a:sym typeface="+mn-ea"/>
              </a:rPr>
              <a:t>转化</a:t>
            </a:r>
            <a:endParaRPr lang="zh-CN" altLang="en-US" sz="1800">
              <a:sym typeface="+mn-ea"/>
            </a:endParaRPr>
          </a:p>
        </p:txBody>
      </p:sp>
      <mc:AlternateContent xmlns:mc="http://schemas.openxmlformats.org/markup-compatibility/2006">
        <mc:Choice xmlns:a14="http://schemas.microsoft.com/office/drawing/2010/main" Requires="a14">
          <p:sp>
            <p:nvSpPr>
              <p:cNvPr id="11" name="文本框 10"/>
              <p:cNvSpPr txBox="1"/>
              <p:nvPr/>
            </p:nvSpPr>
            <p:spPr>
              <a:xfrm>
                <a:off x="1269048" y="1176655"/>
                <a:ext cx="4932045" cy="1420495"/>
              </a:xfrm>
              <a:prstGeom prst="rect">
                <a:avLst/>
              </a:prstGeom>
              <a:noFill/>
            </p:spPr>
            <p:txBody>
              <a:bodyPr wrap="none" rtlCol="0" anchor="t">
                <a:noAutofit/>
              </a:bodyPr>
              <a:p>
                <a:pPr indent="0" algn="l" fontAlgn="auto">
                  <a:lnSpc>
                    <a:spcPct val="150000"/>
                  </a:lnSpc>
                </a:pPr>
                <a:r>
                  <a:rPr lang="en-US" altLang="zh-CN">
                    <a:latin typeface="Cambria Math" panose="02040503050406030204" charset="0"/>
                    <a:cs typeface="Cambria Math" panose="02040503050406030204" charset="0"/>
                  </a:rPr>
                  <a:t>       </a:t>
                </a:r>
                <a14:m>
                  <m:oMath xmlns:m="http://schemas.openxmlformats.org/officeDocument/2006/math">
                    <m:func>
                      <m:funcPr>
                        <m:ctrlPr>
                          <a:rPr lang="en-US" altLang="zh-CN" i="1">
                            <a:latin typeface="Cambria Math" panose="02040503050406030204" charset="0"/>
                            <a:cs typeface="Cambria Math" panose="02040503050406030204" charset="0"/>
                          </a:rPr>
                        </m:ctrlPr>
                      </m:funcPr>
                      <m:fName>
                        <m:limLow>
                          <m:limLowPr>
                            <m:ctrlPr>
                              <a:rPr lang="en-US" altLang="zh-CN">
                                <a:latin typeface="Cambria Math" panose="02040503050406030204" charset="0"/>
                                <a:cs typeface="Cambria Math" panose="02040503050406030204" charset="0"/>
                              </a:rPr>
                            </m:ctrlPr>
                          </m:limLowPr>
                          <m:e>
                            <m:r>
                              <m:rPr>
                                <m:sty m:val="p"/>
                              </m:rPr>
                              <a:rPr lang="en-US" altLang="zh-CN">
                                <a:latin typeface="Cambria Math" panose="02040503050406030204" charset="0"/>
                                <a:cs typeface="Cambria Math" panose="02040503050406030204" charset="0"/>
                              </a:rPr>
                              <m:t>min</m:t>
                            </m:r>
                          </m:e>
                          <m:lim>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𝑢</m:t>
                                </m:r>
                              </m:e>
                              <m:sub>
                                <m:r>
                                  <a:rPr lang="en-US" altLang="zh-CN" i="1">
                                    <a:latin typeface="Cambria Math" panose="02040503050406030204" charset="0"/>
                                    <a:cs typeface="Cambria Math" panose="02040503050406030204" charset="0"/>
                                  </a:rPr>
                                  <m:t>𝑘</m:t>
                                </m:r>
                              </m:sub>
                            </m:sSub>
                          </m:lim>
                        </m:limLow>
                      </m:fName>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𝐽</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𝐸</m:t>
                            </m:r>
                          </m:e>
                          <m:sub>
                            <m:r>
                              <a:rPr lang="en-US" altLang="zh-CN" sz="1800" i="1">
                                <a:latin typeface="Cambria Math" panose="02040503050406030204" charset="0"/>
                                <a:cs typeface="Cambria Math" panose="02040503050406030204" charset="0"/>
                              </a:rPr>
                              <m:t>𝑤</m:t>
                            </m:r>
                          </m:sub>
                        </m:sSub>
                        <m:r>
                          <a:rPr lang="en-US" altLang="zh-CN" i="1">
                            <a:latin typeface="Cambria Math" panose="02040503050406030204" charset="0"/>
                            <a:cs typeface="Cambria Math" panose="02040503050406030204" charset="0"/>
                          </a:rPr>
                          <m:t>[</m:t>
                        </m:r>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sub>
                          <m:sup>
                            <m:r>
                              <a:rPr lang="en-US" altLang="zh-CN" i="1">
                                <a:latin typeface="Cambria Math" panose="02040503050406030204" charset="0"/>
                                <a:cs typeface="Cambria Math" panose="02040503050406030204" charset="0"/>
                              </a:rPr>
                              <m:t>∞</m:t>
                            </m:r>
                          </m:sup>
                          <m:e>
                            <m:sSubSup>
                              <m:sSubSupPr>
                                <m:ctrlPr>
                                  <a:rPr lang="en-US" altLang="zh-CN" i="1">
                                    <a:latin typeface="Cambria Math" panose="02040503050406030204" charset="0"/>
                                    <a:cs typeface="Cambria Math" panose="02040503050406030204" charset="0"/>
                                  </a:rPr>
                                </m:ctrlPr>
                              </m:sSubSupPr>
                              <m:e>
                                <m:r>
                                  <a:rPr lang="en-US" altLang="zh-CN" i="1">
                                    <a:solidFill>
                                      <a:srgbClr val="FF0000"/>
                                    </a:solidFill>
                                    <a:latin typeface="Cambria Math" panose="02040503050406030204" charset="0"/>
                                    <a:cs typeface="Cambria Math" panose="02040503050406030204" charset="0"/>
                                  </a:rPr>
                                  <m:t>𝑥</m:t>
                                </m:r>
                              </m:e>
                              <m:sub>
                                <m:r>
                                  <a:rPr lang="en-US" altLang="zh-CN" sz="1800" i="1">
                                    <a:solidFill>
                                      <a:srgbClr val="FF0000"/>
                                    </a:solidFill>
                                    <a:latin typeface="Cambria Math" panose="02040503050406030204" charset="0"/>
                                    <a:cs typeface="Cambria Math" panose="02040503050406030204" charset="0"/>
                                  </a:rPr>
                                  <m:t>𝑘</m:t>
                                </m:r>
                                <m:r>
                                  <a:rPr lang="en-US" altLang="zh-CN" sz="1800" i="1">
                                    <a:solidFill>
                                      <a:srgbClr val="FF0000"/>
                                    </a:solidFill>
                                    <a:latin typeface="Cambria Math" panose="02040503050406030204" charset="0"/>
                                    <a:cs typeface="Cambria Math" panose="02040503050406030204" charset="0"/>
                                  </a:rPr>
                                  <m:t>+</m:t>
                                </m:r>
                                <m:r>
                                  <a:rPr lang="en-US" altLang="zh-CN" sz="1800" i="1">
                                    <a:solidFill>
                                      <a:srgbClr val="FF0000"/>
                                    </a:solidFill>
                                    <a:latin typeface="Cambria Math" panose="02040503050406030204" charset="0"/>
                                    <a:cs typeface="Cambria Math" panose="02040503050406030204" charset="0"/>
                                  </a:rPr>
                                  <m:t>𝑖</m:t>
                                </m:r>
                              </m:sub>
                              <m:sup>
                                <m:r>
                                  <a:rPr lang="en-US" altLang="zh-CN" i="1">
                                    <a:latin typeface="Cambria Math" panose="02040503050406030204" charset="0"/>
                                    <a:cs typeface="Cambria Math" panose="02040503050406030204" charset="0"/>
                                  </a:rPr>
                                  <m:t>𝑇</m:t>
                                </m:r>
                              </m:sup>
                            </m:sSubSup>
                            <m:r>
                              <a:rPr lang="en-US" altLang="zh-CN" i="1">
                                <a:latin typeface="Cambria Math" panose="02040503050406030204" charset="0"/>
                                <a:cs typeface="Cambria Math" panose="02040503050406030204" charset="0"/>
                              </a:rPr>
                              <m:t>𝑄</m:t>
                            </m:r>
                            <m:sSub>
                              <m:sSubPr>
                                <m:ctrlPr>
                                  <a:rPr lang="en-US" altLang="zh-CN" sz="1800" i="1">
                                    <a:solidFill>
                                      <a:srgbClr val="FF0000"/>
                                    </a:solidFill>
                                    <a:latin typeface="Cambria Math" panose="02040503050406030204" charset="0"/>
                                    <a:cs typeface="Cambria Math" panose="02040503050406030204" charset="0"/>
                                  </a:rPr>
                                </m:ctrlPr>
                              </m:sSubPr>
                              <m:e>
                                <m:r>
                                  <a:rPr lang="en-US" altLang="zh-CN" sz="1800" i="1">
                                    <a:solidFill>
                                      <a:srgbClr val="FF0000"/>
                                    </a:solidFill>
                                    <a:latin typeface="Cambria Math" panose="02040503050406030204" charset="0"/>
                                    <a:cs typeface="Cambria Math" panose="02040503050406030204" charset="0"/>
                                  </a:rPr>
                                  <m:t>𝑥</m:t>
                                </m:r>
                              </m:e>
                              <m:sub>
                                <m:r>
                                  <a:rPr lang="en-US" altLang="zh-CN" sz="1800" i="1">
                                    <a:solidFill>
                                      <a:srgbClr val="FF0000"/>
                                    </a:solidFill>
                                    <a:latin typeface="Cambria Math" panose="02040503050406030204" charset="0"/>
                                    <a:cs typeface="Cambria Math" panose="02040503050406030204" charset="0"/>
                                  </a:rPr>
                                  <m:t>𝑘</m:t>
                                </m:r>
                                <m:r>
                                  <a:rPr lang="en-US" altLang="zh-CN" sz="1800" i="1">
                                    <a:solidFill>
                                      <a:srgbClr val="FF0000"/>
                                    </a:solidFill>
                                    <a:latin typeface="Cambria Math" panose="02040503050406030204" charset="0"/>
                                    <a:cs typeface="Cambria Math" panose="02040503050406030204" charset="0"/>
                                  </a:rPr>
                                  <m:t>+</m:t>
                                </m:r>
                                <m:r>
                                  <a:rPr lang="en-US" altLang="zh-CN" sz="1800" i="1">
                                    <a:solidFill>
                                      <a:srgbClr val="FF0000"/>
                                    </a:solidFill>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𝑢</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sub>
                              <m:sup>
                                <m:r>
                                  <a:rPr lang="en-US" altLang="zh-CN" i="1">
                                    <a:latin typeface="Cambria Math" panose="02040503050406030204" charset="0"/>
                                    <a:cs typeface="Cambria Math" panose="02040503050406030204" charset="0"/>
                                  </a:rPr>
                                  <m:t>𝑇</m:t>
                                </m:r>
                              </m:sup>
                            </m:sSubSup>
                            <m:r>
                              <a:rPr lang="en-US" altLang="zh-CN" i="1">
                                <a:latin typeface="Cambria Math" panose="02040503050406030204" charset="0"/>
                                <a:cs typeface="Cambria Math" panose="02040503050406030204" charset="0"/>
                              </a:rPr>
                              <m:t>𝑅</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𝑢</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sub>
                            </m:sSub>
                          </m:e>
                        </m:nary>
                        <m:r>
                          <a:rPr lang="en-US" altLang="zh-CN" i="1">
                            <a:latin typeface="Cambria Math" panose="02040503050406030204" charset="0"/>
                            <a:cs typeface="Cambria Math" panose="02040503050406030204" charset="0"/>
                          </a:rPr>
                          <m:t>]</m:t>
                        </m:r>
                      </m:e>
                    </m:func>
                  </m:oMath>
                </a14:m>
                <a:endParaRPr lang="en-US" altLang="zh-CN" i="1">
                  <a:latin typeface="Cambria Math" panose="02040503050406030204" charset="0"/>
                  <a:cs typeface="Cambria Math" panose="02040503050406030204" charset="0"/>
                </a:endParaRPr>
              </a:p>
              <a:p>
                <a:pPr indent="0" algn="l" fontAlgn="auto">
                  <a:lnSpc>
                    <a:spcPct val="150000"/>
                  </a:lnSpc>
                </a:pPr>
                <a14:m>
                  <m:oMathPara xmlns:m="http://schemas.openxmlformats.org/officeDocument/2006/math">
                    <m:oMathParaPr>
                      <m:jc m:val="left"/>
                    </m:oMathParaPr>
                    <m:oMath xmlns:m="http://schemas.openxmlformats.org/officeDocument/2006/math">
                      <m:r>
                        <a:rPr lang="en-US" altLang="zh-CN" i="1">
                          <a:latin typeface="Cambria Math" panose="02040503050406030204" charset="0"/>
                          <a:cs typeface="Cambria Math" panose="02040503050406030204" charset="0"/>
                        </a:rPr>
                        <m:t>𝑠</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𝑡</m:t>
                      </m:r>
                      <m:r>
                        <a:rPr lang="en-US" altLang="zh-CN" i="1">
                          <a:latin typeface="Cambria Math" panose="02040503050406030204" charset="0"/>
                          <a:cs typeface="Cambria Math" panose="02040503050406030204" charset="0"/>
                        </a:rPr>
                        <m:t>.</m:t>
                      </m:r>
                      <m:r>
                        <a:rPr lang="en-US" altLang="zh-CN" i="1">
                          <a:solidFill>
                            <a:schemeClr val="tx1"/>
                          </a:solidFill>
                          <a:latin typeface="Cambria Math" panose="02040503050406030204" charset="0"/>
                          <a:cs typeface="Cambria Math" panose="02040503050406030204" charset="0"/>
                        </a:rPr>
                        <m:t>𝑃𝑟</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𝑔</m:t>
                          </m:r>
                        </m:e>
                        <m:sup>
                          <m:r>
                            <a:rPr lang="en-US" altLang="zh-CN" i="1">
                              <a:latin typeface="Cambria Math" panose="02040503050406030204" charset="0"/>
                              <a:cs typeface="Cambria Math" panose="02040503050406030204" charset="0"/>
                            </a:rPr>
                            <m:t>𝑇</m:t>
                          </m:r>
                        </m:sup>
                      </m:sSup>
                      <m:sSub>
                        <m:sSubPr>
                          <m:ctrlPr>
                            <a:rPr lang="en-US" altLang="zh-CN" sz="1800" i="1">
                              <a:solidFill>
                                <a:srgbClr val="FF0000"/>
                              </a:solidFill>
                              <a:latin typeface="Cambria Math" panose="02040503050406030204" charset="0"/>
                              <a:cs typeface="Cambria Math" panose="02040503050406030204" charset="0"/>
                            </a:rPr>
                          </m:ctrlPr>
                        </m:sSubPr>
                        <m:e>
                          <m:r>
                            <a:rPr lang="en-US" altLang="zh-CN" sz="1800" i="1">
                              <a:solidFill>
                                <a:srgbClr val="FF0000"/>
                              </a:solidFill>
                              <a:latin typeface="Cambria Math" panose="02040503050406030204" charset="0"/>
                              <a:cs typeface="Cambria Math" panose="02040503050406030204" charset="0"/>
                            </a:rPr>
                            <m:t>𝑥</m:t>
                          </m:r>
                        </m:e>
                        <m:sub>
                          <m:r>
                            <a:rPr lang="en-US" altLang="zh-CN" sz="1800" i="1">
                              <a:solidFill>
                                <a:srgbClr val="FF0000"/>
                              </a:solidFill>
                              <a:latin typeface="Cambria Math" panose="02040503050406030204" charset="0"/>
                              <a:cs typeface="Cambria Math" panose="02040503050406030204" charset="0"/>
                            </a:rPr>
                            <m:t>𝑘</m:t>
                          </m:r>
                          <m:r>
                            <a:rPr lang="en-US" altLang="zh-CN" sz="1800" i="1">
                              <a:solidFill>
                                <a:srgbClr val="FF0000"/>
                              </a:solidFill>
                              <a:latin typeface="Cambria Math" panose="02040503050406030204" charset="0"/>
                              <a:cs typeface="Cambria Math" panose="02040503050406030204" charset="0"/>
                            </a:rPr>
                            <m:t>+</m:t>
                          </m:r>
                          <m:r>
                            <a:rPr lang="en-US" altLang="zh-CN" sz="1800" i="1">
                              <a:solidFill>
                                <a:srgbClr val="FF0000"/>
                              </a:solidFill>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𝑝</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m:t>
                      </m:r>
                    </m:oMath>
                  </m:oMathPara>
                </a14:m>
                <a:endParaRPr lang="en-US" altLang="zh-CN" i="1">
                  <a:latin typeface="Cambria Math" panose="02040503050406030204" charset="0"/>
                  <a:cs typeface="Cambria Math" panose="02040503050406030204" charset="0"/>
                </a:endParaRPr>
              </a:p>
              <a:p>
                <a:pPr indent="0" algn="l" fontAlgn="auto">
                  <a:lnSpc>
                    <a:spcPct val="150000"/>
                  </a:lnSpc>
                </a:pPr>
                <a14:m>
                  <m:oMathPara xmlns:m="http://schemas.openxmlformats.org/officeDocument/2006/math">
                    <m:oMathParaPr>
                      <m:jc m:val="left"/>
                    </m:oMathParaPr>
                    <m:oMath xmlns:m="http://schemas.openxmlformats.org/officeDocument/2006/math">
                      <m:r>
                        <a:rPr lang="en-US" altLang="zh-CN" i="1">
                          <a:latin typeface="Cambria Math" panose="02040503050406030204" charset="0"/>
                          <a:cs typeface="Cambria Math" panose="02040503050406030204" charset="0"/>
                        </a:rPr>
                        <m:t>       </m:t>
                      </m:r>
                      <m:sSub>
                        <m:sSubPr>
                          <m:ctrlPr>
                            <a:rPr lang="en-US" altLang="zh-CN" sz="1800" i="1">
                              <a:solidFill>
                                <a:srgbClr val="FF0000"/>
                              </a:solidFill>
                              <a:latin typeface="Cambria Math" panose="02040503050406030204" charset="0"/>
                              <a:cs typeface="Cambria Math" panose="02040503050406030204" charset="0"/>
                            </a:rPr>
                          </m:ctrlPr>
                        </m:sSubPr>
                        <m:e>
                          <m:r>
                            <a:rPr lang="en-US" altLang="zh-CN" sz="1800" i="1">
                              <a:solidFill>
                                <a:srgbClr val="FF0000"/>
                              </a:solidFill>
                              <a:latin typeface="Cambria Math" panose="02040503050406030204" charset="0"/>
                              <a:cs typeface="Cambria Math" panose="02040503050406030204" charset="0"/>
                            </a:rPr>
                            <m:t>𝑥</m:t>
                          </m:r>
                        </m:e>
                        <m:sub>
                          <m:r>
                            <a:rPr lang="en-US" altLang="zh-CN" sz="1800" i="1">
                              <a:solidFill>
                                <a:srgbClr val="FF0000"/>
                              </a:solidFill>
                              <a:latin typeface="Cambria Math" panose="02040503050406030204" charset="0"/>
                              <a:cs typeface="Cambria Math" panose="02040503050406030204" charset="0"/>
                            </a:rPr>
                            <m:t>𝑘</m:t>
                          </m:r>
                          <m:r>
                            <a:rPr lang="en-US" altLang="zh-CN" sz="1800" i="1">
                              <a:solidFill>
                                <a:srgbClr val="FF0000"/>
                              </a:solidFill>
                              <a:latin typeface="Cambria Math" panose="02040503050406030204" charset="0"/>
                              <a:cs typeface="Cambria Math" panose="02040503050406030204" charset="0"/>
                            </a:rPr>
                            <m:t>+</m:t>
                          </m:r>
                          <m:r>
                            <a:rPr lang="en-US" altLang="zh-CN" sz="1800" i="1">
                              <a:solidFill>
                                <a:srgbClr val="FF0000"/>
                              </a:solidFill>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𝐴</m:t>
                      </m:r>
                      <m:sSub>
                        <m:sSubPr>
                          <m:ctrlPr>
                            <a:rPr lang="en-US" altLang="zh-CN" sz="1800" i="1">
                              <a:solidFill>
                                <a:srgbClr val="FF0000"/>
                              </a:solidFill>
                              <a:latin typeface="Cambria Math" panose="02040503050406030204" charset="0"/>
                              <a:cs typeface="Cambria Math" panose="02040503050406030204" charset="0"/>
                            </a:rPr>
                          </m:ctrlPr>
                        </m:sSubPr>
                        <m:e>
                          <m:r>
                            <a:rPr lang="en-US" altLang="zh-CN" sz="1800" i="1">
                              <a:solidFill>
                                <a:srgbClr val="FF0000"/>
                              </a:solidFill>
                              <a:latin typeface="Cambria Math" panose="02040503050406030204" charset="0"/>
                              <a:cs typeface="Cambria Math" panose="02040503050406030204" charset="0"/>
                            </a:rPr>
                            <m:t>𝑥</m:t>
                          </m:r>
                        </m:e>
                        <m:sub>
                          <m:r>
                            <a:rPr lang="en-US" altLang="zh-CN" sz="1800" i="1">
                              <a:solidFill>
                                <a:srgbClr val="FF0000"/>
                              </a:solidFill>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𝐵</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𝑢</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𝐵</m:t>
                              </m:r>
                            </m:e>
                            <m:sub>
                              <m:r>
                                <a:rPr lang="en-US" altLang="zh-CN" i="1">
                                  <a:latin typeface="Cambria Math" panose="02040503050406030204" charset="0"/>
                                  <a:cs typeface="Cambria Math" panose="02040503050406030204" charset="0"/>
                                </a:rPr>
                                <m:t>𝑤</m:t>
                              </m:r>
                            </m:sub>
                          </m:sSub>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𝑤</m:t>
                          </m:r>
                        </m:e>
                        <m:sub>
                          <m:r>
                            <a:rPr lang="en-US" altLang="zh-CN" sz="1800"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𝑊</m:t>
                      </m:r>
                    </m:oMath>
                  </m:oMathPara>
                </a14:m>
                <a:endParaRPr lang="en-US" altLang="zh-CN"/>
              </a:p>
            </p:txBody>
          </p:sp>
        </mc:Choice>
        <mc:Fallback>
          <p:sp>
            <p:nvSpPr>
              <p:cNvPr id="11" name="文本框 10"/>
              <p:cNvSpPr txBox="1">
                <a:spLocks noRot="1" noChangeAspect="1" noMove="1" noResize="1" noEditPoints="1" noAdjustHandles="1" noChangeArrowheads="1" noChangeShapeType="1" noTextEdit="1"/>
              </p:cNvSpPr>
              <p:nvPr/>
            </p:nvSpPr>
            <p:spPr>
              <a:xfrm>
                <a:off x="1269048" y="1176655"/>
                <a:ext cx="4932045" cy="1420495"/>
              </a:xfrm>
              <a:prstGeom prst="rect">
                <a:avLst/>
              </a:prstGeom>
              <a:blipFill rotWithShape="1">
                <a:blip r:embed="rId3"/>
                <a:stretch>
                  <a:fillRect l="-6" r="6" b="-2593"/>
                </a:stretch>
              </a:blipFill>
            </p:spPr>
            <p:txBody>
              <a:bodyPr/>
              <a:lstStyle/>
              <a:p>
                <a:r>
                  <a:rPr lang="zh-CN" altLang="en-US">
                    <a:noFill/>
                  </a:rPr>
                  <a:t> </a:t>
                </a:r>
              </a:p>
            </p:txBody>
          </p:sp>
        </mc:Fallback>
      </mc:AlternateContent>
      <p:sp>
        <p:nvSpPr>
          <p:cNvPr id="13" name="圆角矩形 12"/>
          <p:cNvSpPr/>
          <p:nvPr/>
        </p:nvSpPr>
        <p:spPr>
          <a:xfrm>
            <a:off x="176530" y="1073150"/>
            <a:ext cx="1333500" cy="6096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问题</a:t>
            </a:r>
            <a:r>
              <a:rPr lang="zh-CN" altLang="en-US"/>
              <a:t>描述</a:t>
            </a:r>
            <a:endParaRPr lang="zh-CN" altLang="en-US"/>
          </a:p>
        </p:txBody>
      </p:sp>
      <p:sp>
        <p:nvSpPr>
          <p:cNvPr id="14" name="圆角矩形 13"/>
          <p:cNvSpPr/>
          <p:nvPr/>
        </p:nvSpPr>
        <p:spPr>
          <a:xfrm>
            <a:off x="6955790" y="1055370"/>
            <a:ext cx="1333500" cy="6096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状态</a:t>
            </a:r>
            <a:r>
              <a:rPr lang="zh-CN" altLang="en-US"/>
              <a:t>分解</a:t>
            </a:r>
            <a:endParaRPr lang="zh-CN" altLang="en-US"/>
          </a:p>
        </p:txBody>
      </p:sp>
      <mc:AlternateContent xmlns:mc="http://schemas.openxmlformats.org/markup-compatibility/2006">
        <mc:Choice xmlns:a14="http://schemas.microsoft.com/office/drawing/2010/main" Requires="a14">
          <p:sp>
            <p:nvSpPr>
              <p:cNvPr id="16" name="文本框 15"/>
              <p:cNvSpPr txBox="1"/>
              <p:nvPr/>
            </p:nvSpPr>
            <p:spPr>
              <a:xfrm>
                <a:off x="8545830" y="1235710"/>
                <a:ext cx="2331085" cy="368300"/>
              </a:xfrm>
              <a:prstGeom prst="rect">
                <a:avLst/>
              </a:prstGeom>
              <a:noFill/>
            </p:spPr>
            <p:txBody>
              <a:bodyPr wrap="square" rtlCol="0">
                <a:spAutoFit/>
              </a:bodyPr>
              <a:p>
                <a14:m>
                  <m:oMathPara xmlns:m="http://schemas.openxmlformats.org/officeDocument/2006/math">
                    <m:oMathParaPr>
                      <m:jc m:val="left"/>
                    </m:oMathParaPr>
                    <m:oMath xmlns:m="http://schemas.openxmlformats.org/officeDocument/2006/math">
                      <m:sSub>
                        <m:sSubPr>
                          <m:ctrlPr>
                            <a:rPr lang="en-US" altLang="zh-CN" i="1">
                              <a:solidFill>
                                <a:srgbClr val="FF0000"/>
                              </a:solidFill>
                              <a:latin typeface="Cambria Math" panose="02040503050406030204" charset="0"/>
                              <a:cs typeface="Cambria Math" panose="02040503050406030204" charset="0"/>
                            </a:rPr>
                          </m:ctrlPr>
                        </m:sSubPr>
                        <m:e>
                          <m:r>
                            <a:rPr lang="en-US" altLang="zh-CN" i="1">
                              <a:solidFill>
                                <a:srgbClr val="FF0000"/>
                              </a:solidFill>
                              <a:latin typeface="Cambria Math" panose="02040503050406030204" charset="0"/>
                              <a:cs typeface="Cambria Math" panose="02040503050406030204" charset="0"/>
                            </a:rPr>
                            <m:t>𝑥</m:t>
                          </m:r>
                        </m:e>
                        <m:sub>
                          <m:r>
                            <a:rPr lang="en-US" altLang="zh-CN" i="1">
                              <a:solidFill>
                                <a:srgbClr val="FF0000"/>
                              </a:solidFill>
                              <a:latin typeface="Cambria Math" panose="02040503050406030204" charset="0"/>
                              <a:cs typeface="Cambria Math" panose="02040503050406030204" charset="0"/>
                            </a:rPr>
                            <m:t>𝑘</m:t>
                          </m:r>
                          <m:r>
                            <a:rPr lang="en-US" altLang="zh-CN" i="1">
                              <a:solidFill>
                                <a:srgbClr val="FF0000"/>
                              </a:solidFill>
                              <a:latin typeface="Cambria Math" panose="02040503050406030204" charset="0"/>
                              <a:cs typeface="Cambria Math" panose="02040503050406030204" charset="0"/>
                            </a:rPr>
                            <m:t>+</m:t>
                          </m:r>
                          <m:r>
                            <a:rPr lang="en-US" altLang="zh-CN" i="1">
                              <a:solidFill>
                                <a:srgbClr val="FF0000"/>
                              </a:solidFill>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 =</m:t>
                      </m:r>
                      <m:sSub>
                        <m:sSubPr>
                          <m:ctrlPr>
                            <a:rPr lang="en-US" altLang="zh-CN" i="1">
                              <a:solidFill>
                                <a:schemeClr val="bg2">
                                  <a:lumMod val="50000"/>
                                </a:schemeClr>
                              </a:solidFill>
                              <a:latin typeface="Cambria Math" panose="02040503050406030204" charset="0"/>
                              <a:cs typeface="Cambria Math" panose="02040503050406030204" charset="0"/>
                            </a:rPr>
                          </m:ctrlPr>
                        </m:sSubPr>
                        <m:e>
                          <m:r>
                            <a:rPr lang="en-US" altLang="zh-CN" i="1">
                              <a:solidFill>
                                <a:schemeClr val="bg2">
                                  <a:lumMod val="50000"/>
                                </a:schemeClr>
                              </a:solidFill>
                              <a:latin typeface="Cambria Math" panose="02040503050406030204" charset="0"/>
                              <a:cs typeface="Cambria Math" panose="02040503050406030204" charset="0"/>
                            </a:rPr>
                            <m:t>𝑧</m:t>
                          </m:r>
                        </m:e>
                        <m:sub>
                          <m:r>
                            <a:rPr lang="en-US" altLang="zh-CN" i="1">
                              <a:solidFill>
                                <a:schemeClr val="bg2">
                                  <a:lumMod val="50000"/>
                                </a:schemeClr>
                              </a:solidFill>
                              <a:latin typeface="Cambria Math" panose="02040503050406030204" charset="0"/>
                              <a:cs typeface="Cambria Math" panose="02040503050406030204" charset="0"/>
                            </a:rPr>
                            <m:t>𝑘</m:t>
                          </m:r>
                          <m:r>
                            <a:rPr lang="en-US" altLang="zh-CN" i="1">
                              <a:solidFill>
                                <a:schemeClr val="bg2">
                                  <a:lumMod val="50000"/>
                                </a:schemeClr>
                              </a:solidFill>
                              <a:latin typeface="Cambria Math" panose="02040503050406030204" charset="0"/>
                              <a:cs typeface="Cambria Math" panose="02040503050406030204" charset="0"/>
                            </a:rPr>
                            <m:t>+</m:t>
                          </m:r>
                          <m:r>
                            <a:rPr lang="en-US" altLang="zh-CN" i="1">
                              <a:solidFill>
                                <a:schemeClr val="bg2">
                                  <a:lumMod val="50000"/>
                                </a:schemeClr>
                              </a:solidFill>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sSub>
                        <m:sSubPr>
                          <m:ctrlPr>
                            <a:rPr lang="en-US" altLang="zh-CN" i="1">
                              <a:solidFill>
                                <a:srgbClr val="35D949"/>
                              </a:solidFill>
                              <a:latin typeface="Cambria Math" panose="02040503050406030204" charset="0"/>
                              <a:cs typeface="Cambria Math" panose="02040503050406030204" charset="0"/>
                            </a:rPr>
                          </m:ctrlPr>
                        </m:sSubPr>
                        <m:e>
                          <m:r>
                            <a:rPr lang="en-US" altLang="zh-CN" i="1">
                              <a:solidFill>
                                <a:srgbClr val="35D949"/>
                              </a:solidFill>
                              <a:latin typeface="Cambria Math" panose="02040503050406030204" charset="0"/>
                              <a:cs typeface="Cambria Math" panose="02040503050406030204" charset="0"/>
                            </a:rPr>
                            <m:t>𝑒</m:t>
                          </m:r>
                        </m:e>
                        <m:sub>
                          <m:r>
                            <a:rPr lang="en-US" altLang="zh-CN" i="1">
                              <a:solidFill>
                                <a:srgbClr val="35D949"/>
                              </a:solidFill>
                              <a:latin typeface="Cambria Math" panose="02040503050406030204" charset="0"/>
                              <a:cs typeface="Cambria Math" panose="02040503050406030204" charset="0"/>
                            </a:rPr>
                            <m:t>𝑘</m:t>
                          </m:r>
                          <m:r>
                            <a:rPr lang="en-US" altLang="zh-CN" i="1">
                              <a:solidFill>
                                <a:srgbClr val="35D949"/>
                              </a:solidFill>
                              <a:latin typeface="Cambria Math" panose="02040503050406030204" charset="0"/>
                              <a:cs typeface="Cambria Math" panose="02040503050406030204" charset="0"/>
                            </a:rPr>
                            <m:t>+</m:t>
                          </m:r>
                          <m:r>
                            <a:rPr lang="en-US" altLang="zh-CN" i="1">
                              <a:solidFill>
                                <a:srgbClr val="35D949"/>
                              </a:solidFill>
                              <a:latin typeface="Cambria Math" panose="02040503050406030204" charset="0"/>
                              <a:cs typeface="Cambria Math" panose="02040503050406030204" charset="0"/>
                            </a:rPr>
                            <m:t>𝑖</m:t>
                          </m:r>
                        </m:sub>
                      </m:sSub>
                    </m:oMath>
                  </m:oMathPara>
                </a14:m>
                <a:endParaRPr lang="en-US" altLang="zh-CN" i="1">
                  <a:solidFill>
                    <a:srgbClr val="35D949"/>
                  </a:solidFill>
                  <a:latin typeface="Cambria Math" panose="02040503050406030204" charset="0"/>
                  <a:cs typeface="Cambria Math" panose="02040503050406030204" charset="0"/>
                </a:endParaRPr>
              </a:p>
            </p:txBody>
          </p:sp>
        </mc:Choice>
        <mc:Fallback>
          <p:sp>
            <p:nvSpPr>
              <p:cNvPr id="16" name="文本框 15"/>
              <p:cNvSpPr txBox="1">
                <a:spLocks noRot="1" noChangeAspect="1" noMove="1" noResize="1" noEditPoints="1" noAdjustHandles="1" noChangeArrowheads="1" noChangeShapeType="1" noTextEdit="1"/>
              </p:cNvSpPr>
              <p:nvPr/>
            </p:nvSpPr>
            <p:spPr>
              <a:xfrm>
                <a:off x="8545830" y="1235710"/>
                <a:ext cx="2331085" cy="368300"/>
              </a:xfrm>
              <a:prstGeom prst="rect">
                <a:avLst/>
              </a:prstGeom>
              <a:blipFill rotWithShape="1">
                <a:blip r:embed="rId4"/>
                <a:stretch>
                  <a:fillRect/>
                </a:stretch>
              </a:blipFill>
            </p:spPr>
            <p:txBody>
              <a:bodyPr/>
              <a:lstStyle/>
              <a:p>
                <a:r>
                  <a:rPr lang="zh-CN" altLang="en-US">
                    <a:noFill/>
                  </a:rPr>
                  <a:t> </a:t>
                </a:r>
              </a:p>
            </p:txBody>
          </p:sp>
        </mc:Fallback>
      </mc:AlternateContent>
      <p:cxnSp>
        <p:nvCxnSpPr>
          <p:cNvPr id="17" name="直接箭头连接符 16"/>
          <p:cNvCxnSpPr>
            <a:stCxn id="21" idx="2"/>
          </p:cNvCxnSpPr>
          <p:nvPr/>
        </p:nvCxnSpPr>
        <p:spPr>
          <a:xfrm flipH="1">
            <a:off x="9597390" y="1014095"/>
            <a:ext cx="55245" cy="274955"/>
          </a:xfrm>
          <a:prstGeom prst="straightConnector1">
            <a:avLst/>
          </a:prstGeom>
          <a:ln w="19050">
            <a:solidFill>
              <a:srgbClr val="0D7BCF"/>
            </a:solidFill>
            <a:tailEnd type="triangle"/>
          </a:ln>
        </p:spPr>
        <p:style>
          <a:lnRef idx="2">
            <a:schemeClr val="accent1"/>
          </a:lnRef>
          <a:fillRef idx="0">
            <a:srgbClr val="FFFFFF"/>
          </a:fillRef>
          <a:effectRef idx="0">
            <a:srgbClr val="FFFFFF"/>
          </a:effectRef>
          <a:fontRef idx="minor">
            <a:schemeClr val="tx1"/>
          </a:fontRef>
        </p:style>
      </p:cxnSp>
      <p:cxnSp>
        <p:nvCxnSpPr>
          <p:cNvPr id="18" name="直接箭头连接符 17"/>
          <p:cNvCxnSpPr>
            <a:stCxn id="22" idx="2"/>
          </p:cNvCxnSpPr>
          <p:nvPr/>
        </p:nvCxnSpPr>
        <p:spPr>
          <a:xfrm flipH="1">
            <a:off x="10382250" y="1052195"/>
            <a:ext cx="588645" cy="221615"/>
          </a:xfrm>
          <a:prstGeom prst="straightConnector1">
            <a:avLst/>
          </a:prstGeom>
          <a:ln w="19050">
            <a:solidFill>
              <a:srgbClr val="68DFBA"/>
            </a:solidFill>
            <a:tailEnd type="triangle"/>
          </a:ln>
        </p:spPr>
        <p:style>
          <a:lnRef idx="2">
            <a:schemeClr val="accent1"/>
          </a:lnRef>
          <a:fillRef idx="0">
            <a:srgbClr val="FFFFFF"/>
          </a:fillRef>
          <a:effectRef idx="0">
            <a:srgbClr val="FFFFFF"/>
          </a:effectRef>
          <a:fontRef idx="minor">
            <a:schemeClr val="tx1"/>
          </a:fontRef>
        </p:style>
      </p:cxnSp>
      <p:cxnSp>
        <p:nvCxnSpPr>
          <p:cNvPr id="19" name="直接箭头连接符 18"/>
          <p:cNvCxnSpPr>
            <a:stCxn id="20" idx="2"/>
          </p:cNvCxnSpPr>
          <p:nvPr/>
        </p:nvCxnSpPr>
        <p:spPr>
          <a:xfrm>
            <a:off x="8496935" y="1016635"/>
            <a:ext cx="318135" cy="259715"/>
          </a:xfrm>
          <a:prstGeom prst="straightConnector1">
            <a:avLst/>
          </a:prstGeom>
          <a:ln w="19050">
            <a:solidFill>
              <a:srgbClr val="FF0000"/>
            </a:solidFill>
            <a:tailEnd type="triangle"/>
          </a:ln>
        </p:spPr>
        <p:style>
          <a:lnRef idx="2">
            <a:schemeClr val="accent1"/>
          </a:lnRef>
          <a:fillRef idx="0">
            <a:srgbClr val="FFFFFF"/>
          </a:fillRef>
          <a:effectRef idx="0">
            <a:srgbClr val="FFFFFF"/>
          </a:effectRef>
          <a:fontRef idx="minor">
            <a:schemeClr val="tx1"/>
          </a:fontRef>
        </p:style>
      </p:cxnSp>
      <p:sp>
        <p:nvSpPr>
          <p:cNvPr id="20" name="文本框 19"/>
          <p:cNvSpPr txBox="1"/>
          <p:nvPr/>
        </p:nvSpPr>
        <p:spPr>
          <a:xfrm>
            <a:off x="7982585" y="709930"/>
            <a:ext cx="1028065" cy="306705"/>
          </a:xfrm>
          <a:prstGeom prst="rect">
            <a:avLst/>
          </a:prstGeom>
          <a:noFill/>
          <a:ln w="19050" cmpd="sng">
            <a:solidFill>
              <a:srgbClr val="FF0000"/>
            </a:solidFill>
            <a:prstDash val="solid"/>
          </a:ln>
        </p:spPr>
        <p:txBody>
          <a:bodyPr wrap="square" rtlCol="0">
            <a:spAutoFit/>
          </a:bodyPr>
          <a:p>
            <a:pPr algn="ctr"/>
            <a:r>
              <a:rPr lang="zh-CN" altLang="en-US" sz="1400"/>
              <a:t>真实状态</a:t>
            </a:r>
            <a:endParaRPr lang="zh-CN" altLang="en-US" sz="1400"/>
          </a:p>
        </p:txBody>
      </p:sp>
      <p:sp>
        <p:nvSpPr>
          <p:cNvPr id="21" name="文本框 20"/>
          <p:cNvSpPr txBox="1"/>
          <p:nvPr/>
        </p:nvSpPr>
        <p:spPr>
          <a:xfrm>
            <a:off x="9138285" y="707390"/>
            <a:ext cx="1028065" cy="306705"/>
          </a:xfrm>
          <a:prstGeom prst="rect">
            <a:avLst/>
          </a:prstGeom>
          <a:noFill/>
          <a:ln w="19050" cmpd="sng">
            <a:solidFill>
              <a:srgbClr val="0D7BCF"/>
            </a:solidFill>
            <a:prstDash val="solid"/>
          </a:ln>
        </p:spPr>
        <p:txBody>
          <a:bodyPr wrap="square" rtlCol="0">
            <a:spAutoFit/>
          </a:bodyPr>
          <a:p>
            <a:pPr algn="ctr"/>
            <a:r>
              <a:rPr lang="zh-CN" altLang="en-US" sz="1400"/>
              <a:t>标称</a:t>
            </a:r>
            <a:r>
              <a:rPr lang="zh-CN" altLang="en-US" sz="1400"/>
              <a:t>状态</a:t>
            </a:r>
            <a:endParaRPr lang="zh-CN" altLang="en-US" sz="1400"/>
          </a:p>
        </p:txBody>
      </p:sp>
      <p:sp>
        <p:nvSpPr>
          <p:cNvPr id="22" name="文本框 21"/>
          <p:cNvSpPr txBox="1"/>
          <p:nvPr/>
        </p:nvSpPr>
        <p:spPr>
          <a:xfrm>
            <a:off x="10456545" y="745490"/>
            <a:ext cx="1028065" cy="306705"/>
          </a:xfrm>
          <a:prstGeom prst="rect">
            <a:avLst/>
          </a:prstGeom>
          <a:noFill/>
          <a:ln w="19050" cmpd="sng">
            <a:solidFill>
              <a:srgbClr val="35D949"/>
            </a:solidFill>
            <a:prstDash val="solid"/>
          </a:ln>
        </p:spPr>
        <p:txBody>
          <a:bodyPr wrap="square" rtlCol="0">
            <a:spAutoFit/>
          </a:bodyPr>
          <a:p>
            <a:pPr algn="ctr"/>
            <a:r>
              <a:rPr lang="zh-CN" altLang="en-US" sz="1400"/>
              <a:t>随机</a:t>
            </a:r>
            <a:r>
              <a:rPr lang="zh-CN" altLang="en-US" sz="1400"/>
              <a:t>量</a:t>
            </a:r>
            <a:endParaRPr lang="zh-CN" altLang="en-US" sz="1400"/>
          </a:p>
        </p:txBody>
      </p:sp>
      <mc:AlternateContent xmlns:mc="http://schemas.openxmlformats.org/markup-compatibility/2006">
        <mc:Choice xmlns:a14="http://schemas.microsoft.com/office/drawing/2010/main" Requires="a14">
          <p:sp>
            <p:nvSpPr>
              <p:cNvPr id="26" name="文本框 25"/>
              <p:cNvSpPr txBox="1"/>
              <p:nvPr/>
            </p:nvSpPr>
            <p:spPr>
              <a:xfrm>
                <a:off x="8545830" y="1654810"/>
                <a:ext cx="2941320" cy="922020"/>
              </a:xfrm>
              <a:prstGeom prst="rect">
                <a:avLst/>
              </a:prstGeom>
              <a:noFill/>
            </p:spPr>
            <p:txBody>
              <a:bodyPr wrap="square" rtlCol="0">
                <a:spAutoFit/>
              </a:bodyPr>
              <a:p>
                <a:pPr algn="l"/>
                <a14:m>
                  <m:oMathPara xmlns:m="http://schemas.openxmlformats.org/officeDocument/2006/math">
                    <m:oMathParaPr>
                      <m:jc m:val="left"/>
                    </m:oMathParaPr>
                    <m:oMath xmlns:m="http://schemas.openxmlformats.org/officeDocument/2006/math">
                      <m:r>
                        <a:rPr lang="en-US" altLang="zh-CN" i="1">
                          <a:latin typeface="Cambria Math" panose="02040503050406030204" charset="0"/>
                          <a:ea typeface="MS Mincho" charset="0"/>
                          <a:cs typeface="Cambria Math" panose="02040503050406030204" charset="0"/>
                        </a:rPr>
                        <m:t>Փ=</m:t>
                      </m:r>
                      <m:r>
                        <a:rPr lang="en-US" altLang="zh-CN" i="1">
                          <a:latin typeface="Cambria Math" panose="02040503050406030204" charset="0"/>
                          <a:ea typeface="MS Mincho" charset="0"/>
                          <a:cs typeface="Cambria Math" panose="02040503050406030204" charset="0"/>
                        </a:rPr>
                        <m:t>𝐴</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𝐵𝐾</m:t>
                      </m:r>
                    </m:oMath>
                  </m:oMathPara>
                </a14:m>
                <a:endParaRPr lang="en-US" altLang="zh-CN" i="1">
                  <a:latin typeface="Cambria Math" panose="02040503050406030204" charset="0"/>
                  <a:cs typeface="Cambria Math" panose="02040503050406030204" charset="0"/>
                </a:endParaRPr>
              </a:p>
              <a:p>
                <a:pPr algn="l"/>
                <a14:m>
                  <m:oMathPara xmlns:m="http://schemas.openxmlformats.org/officeDocument/2006/math">
                    <m:oMathParaPr>
                      <m:jc m:val="left"/>
                    </m:oMathParaPr>
                    <m:oMath xmlns:m="http://schemas.openxmlformats.org/officeDocument/2006/math">
                      <m:sSub>
                        <m:sSubPr>
                          <m:ctrlPr>
                            <a:rPr lang="en-US" altLang="zh-CN" sz="1800" i="1">
                              <a:solidFill>
                                <a:schemeClr val="bg2">
                                  <a:lumMod val="50000"/>
                                </a:schemeClr>
                              </a:solidFill>
                              <a:latin typeface="Cambria Math" panose="02040503050406030204" charset="0"/>
                              <a:cs typeface="Cambria Math" panose="02040503050406030204" charset="0"/>
                            </a:rPr>
                          </m:ctrlPr>
                        </m:sSubPr>
                        <m:e>
                          <m:r>
                            <a:rPr lang="en-US" altLang="zh-CN" sz="1800" i="1">
                              <a:solidFill>
                                <a:schemeClr val="bg2">
                                  <a:lumMod val="50000"/>
                                </a:schemeClr>
                              </a:solidFill>
                              <a:latin typeface="Cambria Math" panose="02040503050406030204" charset="0"/>
                              <a:cs typeface="Cambria Math" panose="02040503050406030204" charset="0"/>
                            </a:rPr>
                            <m:t>𝑧</m:t>
                          </m:r>
                        </m:e>
                        <m:sub>
                          <m:r>
                            <a:rPr lang="en-US" altLang="zh-CN" sz="1800" i="1">
                              <a:solidFill>
                                <a:schemeClr val="bg2">
                                  <a:lumMod val="50000"/>
                                </a:schemeClr>
                              </a:solidFill>
                              <a:latin typeface="Cambria Math" panose="02040503050406030204" charset="0"/>
                              <a:cs typeface="Cambria Math" panose="02040503050406030204" charset="0"/>
                            </a:rPr>
                            <m:t>𝑘</m:t>
                          </m:r>
                          <m:r>
                            <a:rPr lang="en-US" altLang="zh-CN" sz="1800" i="1">
                              <a:solidFill>
                                <a:schemeClr val="bg2">
                                  <a:lumMod val="50000"/>
                                </a:schemeClr>
                              </a:solidFill>
                              <a:latin typeface="Cambria Math" panose="02040503050406030204" charset="0"/>
                              <a:cs typeface="Cambria Math" panose="02040503050406030204" charset="0"/>
                            </a:rPr>
                            <m:t>+</m:t>
                          </m:r>
                          <m:r>
                            <a:rPr lang="en-US" altLang="zh-CN" sz="1800" i="1">
                              <a:solidFill>
                                <a:schemeClr val="bg2">
                                  <a:lumMod val="50000"/>
                                </a:schemeClr>
                              </a:solidFill>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 =</m:t>
                      </m:r>
                      <m:r>
                        <a:rPr lang="en-US" altLang="zh-CN" i="1">
                          <a:latin typeface="Cambria Math" panose="02040503050406030204" charset="0"/>
                          <a:ea typeface="MS Mincho" charset="0"/>
                          <a:cs typeface="Cambria Math" panose="02040503050406030204" charset="0"/>
                        </a:rPr>
                        <m:t>Փ</m:t>
                      </m:r>
                      <m:sSub>
                        <m:sSubPr>
                          <m:ctrlPr>
                            <a:rPr lang="en-US" altLang="zh-CN" sz="1800" i="1">
                              <a:solidFill>
                                <a:schemeClr val="bg2">
                                  <a:lumMod val="50000"/>
                                </a:schemeClr>
                              </a:solidFill>
                              <a:latin typeface="Cambria Math" panose="02040503050406030204" charset="0"/>
                              <a:cs typeface="Cambria Math" panose="02040503050406030204" charset="0"/>
                            </a:rPr>
                          </m:ctrlPr>
                        </m:sSubPr>
                        <m:e>
                          <m:r>
                            <a:rPr lang="en-US" altLang="zh-CN" sz="1800" i="1">
                              <a:solidFill>
                                <a:schemeClr val="bg2">
                                  <a:lumMod val="50000"/>
                                </a:schemeClr>
                              </a:solidFill>
                              <a:latin typeface="Cambria Math" panose="02040503050406030204" charset="0"/>
                              <a:cs typeface="Cambria Math" panose="02040503050406030204" charset="0"/>
                            </a:rPr>
                            <m:t>𝑧</m:t>
                          </m:r>
                        </m:e>
                        <m:sub>
                          <m:r>
                            <a:rPr lang="en-US" altLang="zh-CN" sz="1800" i="1">
                              <a:solidFill>
                                <a:schemeClr val="bg2">
                                  <a:lumMod val="50000"/>
                                </a:schemeClr>
                              </a:solidFill>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𝑐</m:t>
                          </m:r>
                        </m:e>
                        <m:sub>
                          <m:r>
                            <a:rPr lang="en-US" altLang="zh-CN" i="1">
                              <a:latin typeface="Cambria Math" panose="02040503050406030204" charset="0"/>
                              <a:cs typeface="Cambria Math" panose="02040503050406030204" charset="0"/>
                            </a:rPr>
                            <m:t>𝑘</m:t>
                          </m:r>
                        </m:sub>
                      </m:sSub>
                    </m:oMath>
                  </m:oMathPara>
                </a14:m>
                <a:endParaRPr lang="en-US" altLang="zh-CN" i="1">
                  <a:latin typeface="Cambria Math" panose="02040503050406030204" charset="0"/>
                  <a:cs typeface="Cambria Math" panose="02040503050406030204" charset="0"/>
                </a:endParaRPr>
              </a:p>
              <a:p>
                <a14:m>
                  <m:oMathPara xmlns:m="http://schemas.openxmlformats.org/officeDocument/2006/math">
                    <m:oMathParaPr>
                      <m:jc m:val="left"/>
                    </m:oMathParaPr>
                    <m:oMath xmlns:m="http://schemas.openxmlformats.org/officeDocument/2006/math">
                      <m:sSub>
                        <m:sSubPr>
                          <m:ctrlPr>
                            <a:rPr lang="en-US" altLang="zh-CN" sz="1800" i="1">
                              <a:solidFill>
                                <a:srgbClr val="35D949"/>
                              </a:solidFill>
                              <a:latin typeface="Cambria Math" panose="02040503050406030204" charset="0"/>
                              <a:cs typeface="Cambria Math" panose="02040503050406030204" charset="0"/>
                            </a:rPr>
                          </m:ctrlPr>
                        </m:sSubPr>
                        <m:e>
                          <m:r>
                            <a:rPr lang="en-US" altLang="zh-CN" sz="1800" i="1">
                              <a:solidFill>
                                <a:srgbClr val="35D949"/>
                              </a:solidFill>
                              <a:latin typeface="Cambria Math" panose="02040503050406030204" charset="0"/>
                              <a:cs typeface="Cambria Math" panose="02040503050406030204" charset="0"/>
                            </a:rPr>
                            <m:t>𝑒</m:t>
                          </m:r>
                        </m:e>
                        <m:sub>
                          <m:r>
                            <a:rPr lang="en-US" altLang="zh-CN" sz="1800" i="1">
                              <a:solidFill>
                                <a:srgbClr val="35D949"/>
                              </a:solidFill>
                              <a:latin typeface="Cambria Math" panose="02040503050406030204" charset="0"/>
                              <a:cs typeface="Cambria Math" panose="02040503050406030204" charset="0"/>
                            </a:rPr>
                            <m:t>𝑘</m:t>
                          </m:r>
                          <m:r>
                            <a:rPr lang="en-US" altLang="zh-CN" sz="1800" i="1">
                              <a:solidFill>
                                <a:srgbClr val="35D949"/>
                              </a:solidFill>
                              <a:latin typeface="Cambria Math" panose="02040503050406030204" charset="0"/>
                              <a:cs typeface="Cambria Math" panose="02040503050406030204" charset="0"/>
                            </a:rPr>
                            <m:t>+</m:t>
                          </m:r>
                          <m:r>
                            <a:rPr lang="en-US" altLang="zh-CN" sz="1800" i="1">
                              <a:solidFill>
                                <a:srgbClr val="35D949"/>
                              </a:solidFill>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 =</m:t>
                      </m:r>
                      <m:r>
                        <a:rPr lang="en-US" altLang="zh-CN" i="1">
                          <a:latin typeface="Cambria Math" panose="02040503050406030204" charset="0"/>
                          <a:ea typeface="MS Mincho" charset="0"/>
                          <a:cs typeface="Cambria Math" panose="02040503050406030204" charset="0"/>
                        </a:rPr>
                        <m:t>Փ</m:t>
                      </m:r>
                      <m:sSub>
                        <m:sSubPr>
                          <m:ctrlPr>
                            <a:rPr lang="en-US" altLang="zh-CN" sz="1800" i="1">
                              <a:solidFill>
                                <a:srgbClr val="35D949"/>
                              </a:solidFill>
                              <a:latin typeface="Cambria Math" panose="02040503050406030204" charset="0"/>
                              <a:cs typeface="Cambria Math" panose="02040503050406030204" charset="0"/>
                            </a:rPr>
                          </m:ctrlPr>
                        </m:sSubPr>
                        <m:e>
                          <m:r>
                            <a:rPr lang="en-US" altLang="zh-CN" sz="1800" i="1">
                              <a:solidFill>
                                <a:srgbClr val="35D949"/>
                              </a:solidFill>
                              <a:latin typeface="Cambria Math" panose="02040503050406030204" charset="0"/>
                              <a:cs typeface="Cambria Math" panose="02040503050406030204" charset="0"/>
                            </a:rPr>
                            <m:t>𝑒</m:t>
                          </m:r>
                        </m:e>
                        <m:sub>
                          <m:r>
                            <a:rPr lang="en-US" altLang="zh-CN" sz="1800" i="1">
                              <a:solidFill>
                                <a:srgbClr val="35D949"/>
                              </a:solidFill>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𝑘</m:t>
                          </m:r>
                        </m:sub>
                      </m:sSub>
                    </m:oMath>
                  </m:oMathPara>
                </a14:m>
                <a:endParaRPr lang="zh-CN" altLang="en-US"/>
              </a:p>
            </p:txBody>
          </p:sp>
        </mc:Choice>
        <mc:Fallback>
          <p:sp>
            <p:nvSpPr>
              <p:cNvPr id="26" name="文本框 25"/>
              <p:cNvSpPr txBox="1">
                <a:spLocks noRot="1" noChangeAspect="1" noMove="1" noResize="1" noEditPoints="1" noAdjustHandles="1" noChangeArrowheads="1" noChangeShapeType="1" noTextEdit="1"/>
              </p:cNvSpPr>
              <p:nvPr/>
            </p:nvSpPr>
            <p:spPr>
              <a:xfrm>
                <a:off x="8545830" y="1654810"/>
                <a:ext cx="2941320" cy="922020"/>
              </a:xfrm>
              <a:prstGeom prst="rect">
                <a:avLst/>
              </a:prstGeom>
              <a:blipFill rotWithShape="1">
                <a:blip r:embed="rId5"/>
                <a:stretch>
                  <a:fillRect/>
                </a:stretch>
              </a:blipFill>
            </p:spPr>
            <p:txBody>
              <a:bodyPr/>
              <a:lstStyle/>
              <a:p>
                <a:r>
                  <a:rPr lang="zh-CN" altLang="en-US">
                    <a:noFill/>
                  </a:rPr>
                  <a:t> </a:t>
                </a:r>
              </a:p>
            </p:txBody>
          </p:sp>
        </mc:Fallback>
      </mc:AlternateContent>
      <p:sp>
        <p:nvSpPr>
          <p:cNvPr id="28" name="矩形 27"/>
          <p:cNvSpPr/>
          <p:nvPr/>
        </p:nvSpPr>
        <p:spPr>
          <a:xfrm>
            <a:off x="8530590" y="1997710"/>
            <a:ext cx="1889760" cy="571500"/>
          </a:xfrm>
          <a:prstGeom prst="rect">
            <a:avLst/>
          </a:prstGeom>
          <a:ln>
            <a:solidFill>
              <a:schemeClr val="tx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3" name="文本框 32"/>
          <p:cNvSpPr txBox="1"/>
          <p:nvPr/>
        </p:nvSpPr>
        <p:spPr>
          <a:xfrm>
            <a:off x="3227070" y="4580890"/>
            <a:ext cx="1203960" cy="368300"/>
          </a:xfrm>
          <a:prstGeom prst="rect">
            <a:avLst/>
          </a:prstGeom>
          <a:noFill/>
        </p:spPr>
        <p:txBody>
          <a:bodyPr wrap="square" rtlCol="0">
            <a:spAutoFit/>
          </a:bodyPr>
          <a:p>
            <a:r>
              <a:rPr lang="zh-CN" altLang="en-US"/>
              <a:t>置信椭圆</a:t>
            </a:r>
            <a:endParaRPr lang="zh-CN" altLang="en-US"/>
          </a:p>
        </p:txBody>
      </p:sp>
      <p:sp>
        <p:nvSpPr>
          <p:cNvPr id="35" name="文本框 34"/>
          <p:cNvSpPr txBox="1"/>
          <p:nvPr/>
        </p:nvSpPr>
        <p:spPr>
          <a:xfrm>
            <a:off x="2289810" y="3346450"/>
            <a:ext cx="2613660" cy="574040"/>
          </a:xfrm>
          <a:prstGeom prst="rect">
            <a:avLst/>
          </a:prstGeom>
          <a:noFill/>
        </p:spPr>
        <p:txBody>
          <a:bodyPr wrap="square" rtlCol="0">
            <a:noAutofit/>
          </a:bodyPr>
          <a:p>
            <a:endParaRPr lang="zh-CN" altLang="en-US"/>
          </a:p>
        </p:txBody>
      </p:sp>
      <mc:AlternateContent xmlns:mc="http://schemas.openxmlformats.org/markup-compatibility/2006">
        <mc:Choice xmlns:a14="http://schemas.microsoft.com/office/drawing/2010/main" Requires="a14">
          <p:sp>
            <p:nvSpPr>
              <p:cNvPr id="36" name="文本框 35"/>
              <p:cNvSpPr txBox="1"/>
              <p:nvPr/>
            </p:nvSpPr>
            <p:spPr>
              <a:xfrm>
                <a:off x="1169670" y="2973070"/>
                <a:ext cx="2552065" cy="368300"/>
              </a:xfrm>
              <a:prstGeom prst="rect">
                <a:avLst/>
              </a:prstGeom>
              <a:noFill/>
              <a:ln w="19050" cmpd="sng">
                <a:solidFill>
                  <a:schemeClr val="tx1"/>
                </a:solidFill>
                <a:prstDash val="solid"/>
              </a:ln>
            </p:spPr>
            <p:txBody>
              <a:bodyPr wrap="square" rtlCol="0">
                <a:spAutoFit/>
              </a:bodyPr>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𝑏</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𝜋</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𝑝</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𝑉</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𝛽</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𝑊</m:t>
                      </m:r>
                      <m:r>
                        <a:rPr lang="en-US" altLang="zh-CN" i="1">
                          <a:latin typeface="Cambria Math" panose="02040503050406030204" charset="0"/>
                          <a:cs typeface="Cambria Math" panose="02040503050406030204" charset="0"/>
                        </a:rPr>
                        <m:t>,</m:t>
                      </m:r>
                      <m:r>
                        <a:rPr lang="en-US" altLang="zh-CN" i="1">
                          <a:latin typeface="Cambria Math" panose="02040503050406030204" charset="0"/>
                          <a:ea typeface="MS Mincho" charset="0"/>
                          <a:cs typeface="Cambria Math" panose="02040503050406030204" charset="0"/>
                        </a:rPr>
                        <m:t>Փ</m:t>
                      </m:r>
                    </m:oMath>
                  </m:oMathPara>
                </a14:m>
                <a:endParaRPr lang="en-US" altLang="zh-CN">
                  <a:latin typeface="Cambria Math" panose="02040503050406030204" charset="0"/>
                  <a:cs typeface="Cambria Math" panose="02040503050406030204" charset="0"/>
                </a:endParaRPr>
              </a:p>
            </p:txBody>
          </p:sp>
        </mc:Choice>
        <mc:Fallback>
          <p:sp>
            <p:nvSpPr>
              <p:cNvPr id="36" name="文本框 35"/>
              <p:cNvSpPr txBox="1">
                <a:spLocks noRot="1" noChangeAspect="1" noMove="1" noResize="1" noEditPoints="1" noAdjustHandles="1" noChangeArrowheads="1" noChangeShapeType="1" noTextEdit="1"/>
              </p:cNvSpPr>
              <p:nvPr/>
            </p:nvSpPr>
            <p:spPr>
              <a:xfrm>
                <a:off x="1169670" y="2973070"/>
                <a:ext cx="2552065" cy="368300"/>
              </a:xfrm>
              <a:prstGeom prst="rect">
                <a:avLst/>
              </a:prstGeom>
              <a:blipFill rotWithShape="1">
                <a:blip r:embed="rId6"/>
                <a:stretch>
                  <a:fillRect l="-373" t="-2586" r="-373" b="-2586"/>
                </a:stretch>
              </a:blipFill>
              <a:ln w="19050" cmpd="sng">
                <a:solidFill>
                  <a:schemeClr val="tx1"/>
                </a:solidFill>
                <a:prstDash val="solid"/>
              </a:ln>
            </p:spPr>
            <p:txBody>
              <a:bodyPr/>
              <a:lstStyle/>
              <a:p>
                <a:r>
                  <a:rPr lang="zh-CN" altLang="en-US">
                    <a:noFill/>
                  </a:rPr>
                  <a:t> </a:t>
                </a:r>
              </a:p>
            </p:txBody>
          </p:sp>
        </mc:Fallback>
      </mc:AlternateContent>
      <p:cxnSp>
        <p:nvCxnSpPr>
          <p:cNvPr id="37" name="直接箭头连接符 36"/>
          <p:cNvCxnSpPr>
            <a:endCxn id="40" idx="0"/>
          </p:cNvCxnSpPr>
          <p:nvPr/>
        </p:nvCxnSpPr>
        <p:spPr>
          <a:xfrm flipH="1">
            <a:off x="2419985" y="3341370"/>
            <a:ext cx="26035" cy="820420"/>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mc:Choice xmlns:a14="http://schemas.microsoft.com/office/drawing/2010/main" Requires="a14">
          <p:sp>
            <p:nvSpPr>
              <p:cNvPr id="40" name="文本框 39"/>
              <p:cNvSpPr txBox="1"/>
              <p:nvPr/>
            </p:nvSpPr>
            <p:spPr>
              <a:xfrm>
                <a:off x="419100" y="4161790"/>
                <a:ext cx="4001135" cy="361315"/>
              </a:xfrm>
              <a:prstGeom prst="rect">
                <a:avLst/>
              </a:prstGeom>
              <a:noFill/>
            </p:spPr>
            <p:txBody>
              <a:bodyPr wrap="square" rtlCol="0" anchor="t">
                <a:spAutoFit/>
              </a:bodyPr>
              <a:p>
                <a:pPr algn="l"/>
                <a14:m>
                  <m:oMathPara xmlns:m="http://schemas.openxmlformats.org/officeDocument/2006/math">
                    <m:oMathParaPr>
                      <m:jc m:val="left"/>
                    </m:oMathParaPr>
                    <m:oMath xmlns:m="http://schemas.openxmlformats.org/officeDocument/2006/math">
                      <m:r>
                        <a:rPr lang="en-US" altLang="zh-CN" i="1">
                          <a:latin typeface="Cambria Math" panose="02040503050406030204" charset="0"/>
                          <a:cs typeface="Cambria Math" panose="02040503050406030204" charset="0"/>
                        </a:rPr>
                        <m:t>𝜀</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𝑉</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𝛽</m:t>
                      </m:r>
                      <m:r>
                        <a:rPr lang="en-US" altLang="zh-CN" i="1">
                          <a:latin typeface="Cambria Math" panose="02040503050406030204" charset="0"/>
                          <a:cs typeface="Cambria Math" panose="02040503050406030204" charset="0"/>
                        </a:rPr>
                        <m:t>)={</m:t>
                      </m:r>
                      <m:r>
                        <a:rPr lang="en-US" altLang="zh-CN" sz="1800" i="1">
                          <a:solidFill>
                            <a:srgbClr val="35D949"/>
                          </a:solidFill>
                          <a:latin typeface="Cambria Math" panose="02040503050406030204" charset="0"/>
                          <a:cs typeface="Cambria Math" panose="02040503050406030204" charset="0"/>
                        </a:rPr>
                        <m:t>𝑒</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sz="1800" i="1">
                              <a:solidFill>
                                <a:srgbClr val="35D949"/>
                              </a:solidFill>
                              <a:latin typeface="Cambria Math" panose="02040503050406030204" charset="0"/>
                              <a:cs typeface="Cambria Math" panose="02040503050406030204" charset="0"/>
                            </a:rPr>
                            <m:t>𝑒</m:t>
                          </m:r>
                        </m:e>
                        <m:sup>
                          <m:r>
                            <a:rPr lang="en-US" altLang="zh-CN" i="1">
                              <a:latin typeface="Cambria Math" panose="02040503050406030204" charset="0"/>
                              <a:cs typeface="Cambria Math" panose="02040503050406030204" charset="0"/>
                            </a:rPr>
                            <m:t>𝑇</m:t>
                          </m:r>
                        </m:sup>
                      </m:sSup>
                      <m:r>
                        <a:rPr lang="en-US" altLang="zh-CN" i="1">
                          <a:latin typeface="Cambria Math" panose="02040503050406030204" charset="0"/>
                          <a:cs typeface="Cambria Math" panose="02040503050406030204" charset="0"/>
                        </a:rPr>
                        <m:t>𝑉</m:t>
                      </m:r>
                      <m:r>
                        <a:rPr lang="en-US" altLang="zh-CN" sz="1800" i="1">
                          <a:solidFill>
                            <a:srgbClr val="35D949"/>
                          </a:solidFill>
                          <a:latin typeface="Cambria Math" panose="02040503050406030204" charset="0"/>
                          <a:cs typeface="Cambria Math" panose="02040503050406030204" charset="0"/>
                        </a:rPr>
                        <m:t>𝑒</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𝛽</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𝑉</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𝑉</m:t>
                          </m:r>
                        </m:e>
                        <m:sup>
                          <m:r>
                            <a:rPr lang="en-US" altLang="zh-CN" i="1">
                              <a:latin typeface="Cambria Math" panose="02040503050406030204" charset="0"/>
                              <a:cs typeface="Cambria Math" panose="02040503050406030204" charset="0"/>
                            </a:rPr>
                            <m:t>𝑇</m:t>
                          </m:r>
                        </m:sup>
                      </m:s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oMath>
                  </m:oMathPara>
                </a14:m>
                <a:endParaRPr lang="zh-CN" altLang="en-US"/>
              </a:p>
            </p:txBody>
          </p:sp>
        </mc:Choice>
        <mc:Fallback>
          <p:sp>
            <p:nvSpPr>
              <p:cNvPr id="40" name="文本框 39"/>
              <p:cNvSpPr txBox="1">
                <a:spLocks noRot="1" noChangeAspect="1" noMove="1" noResize="1" noEditPoints="1" noAdjustHandles="1" noChangeArrowheads="1" noChangeShapeType="1" noTextEdit="1"/>
              </p:cNvSpPr>
              <p:nvPr/>
            </p:nvSpPr>
            <p:spPr>
              <a:xfrm>
                <a:off x="419100" y="4161790"/>
                <a:ext cx="4001135" cy="361315"/>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1" name="文本框 40"/>
              <p:cNvSpPr txBox="1"/>
              <p:nvPr/>
            </p:nvSpPr>
            <p:spPr>
              <a:xfrm>
                <a:off x="419100" y="4969764"/>
                <a:ext cx="4217670" cy="411480"/>
              </a:xfrm>
              <a:prstGeom prst="rect">
                <a:avLst/>
              </a:prstGeom>
              <a:noFill/>
            </p:spPr>
            <p:txBody>
              <a:bodyPr wrap="none" rtlCol="0" anchor="t">
                <a:spAutoFit/>
              </a:bodyPr>
              <a:p>
                <a:pPr algn="l"/>
                <a14:m>
                  <m:oMathPara xmlns:m="http://schemas.openxmlformats.org/officeDocument/2006/math">
                    <m:oMathParaPr>
                      <m:jc m:val="left"/>
                    </m:oMathParaPr>
                    <m:oMath xmlns:m="http://schemas.openxmlformats.org/officeDocument/2006/math">
                      <m:r>
                        <a:rPr lang="en-US" altLang="zh-CN" i="1">
                          <a:latin typeface="Cambria Math" panose="02040503050406030204" charset="0"/>
                          <a:cs typeface="Cambria Math" panose="02040503050406030204" charset="0"/>
                        </a:rPr>
                        <m:t>𝑃𝑟</m:t>
                      </m:r>
                      <m:r>
                        <a:rPr lang="en-US" altLang="zh-CN" i="1">
                          <a:latin typeface="Cambria Math" panose="02040503050406030204" charset="0"/>
                          <a:cs typeface="Cambria Math" panose="02040503050406030204" charset="0"/>
                        </a:rPr>
                        <m:t>(</m:t>
                      </m:r>
                      <m:sSubSup>
                        <m:sSubSupPr>
                          <m:ctrlPr>
                            <a:rPr lang="en-US" altLang="zh-CN" sz="1800" i="1">
                              <a:solidFill>
                                <a:srgbClr val="35D949"/>
                              </a:solidFill>
                              <a:latin typeface="Cambria Math" panose="02040503050406030204" charset="0"/>
                              <a:cs typeface="Cambria Math" panose="02040503050406030204" charset="0"/>
                            </a:rPr>
                          </m:ctrlPr>
                        </m:sSubSupPr>
                        <m:e>
                          <m:r>
                            <a:rPr lang="en-US" altLang="zh-CN" sz="1800" i="1">
                              <a:solidFill>
                                <a:srgbClr val="35D949"/>
                              </a:solidFill>
                              <a:latin typeface="Cambria Math" panose="02040503050406030204" charset="0"/>
                              <a:cs typeface="Cambria Math" panose="02040503050406030204" charset="0"/>
                            </a:rPr>
                            <m:t>𝑒</m:t>
                          </m:r>
                        </m:e>
                        <m:sub>
                          <m:r>
                            <a:rPr lang="en-US" altLang="zh-CN" sz="1800" i="1">
                              <a:solidFill>
                                <a:srgbClr val="35D949"/>
                              </a:solidFill>
                              <a:latin typeface="Cambria Math" panose="02040503050406030204" charset="0"/>
                              <a:cs typeface="Cambria Math" panose="02040503050406030204" charset="0"/>
                            </a:rPr>
                            <m:t>𝑘</m:t>
                          </m:r>
                          <m:r>
                            <a:rPr lang="en-US" altLang="zh-CN" sz="1800" i="1">
                              <a:solidFill>
                                <a:srgbClr val="35D949"/>
                              </a:solidFill>
                              <a:latin typeface="Cambria Math" panose="02040503050406030204" charset="0"/>
                              <a:cs typeface="Cambria Math" panose="02040503050406030204" charset="0"/>
                            </a:rPr>
                            <m:t>+</m:t>
                          </m:r>
                          <m:r>
                            <a:rPr lang="en-US" altLang="zh-CN" sz="1800" i="1">
                              <a:solidFill>
                                <a:srgbClr val="35D949"/>
                              </a:solidFill>
                              <a:latin typeface="Cambria Math" panose="02040503050406030204" charset="0"/>
                              <a:cs typeface="Cambria Math" panose="02040503050406030204" charset="0"/>
                            </a:rPr>
                            <m:t>𝑖</m:t>
                          </m:r>
                          <m:r>
                            <a:rPr lang="en-US" altLang="zh-CN" sz="1800" i="1">
                              <a:solidFill>
                                <a:srgbClr val="35D949"/>
                              </a:solidFill>
                              <a:latin typeface="Cambria Math" panose="02040503050406030204" charset="0"/>
                              <a:cs typeface="Cambria Math" panose="02040503050406030204" charset="0"/>
                            </a:rPr>
                            <m:t>|</m:t>
                          </m:r>
                          <m:r>
                            <a:rPr lang="en-US" altLang="zh-CN" sz="1800" i="1">
                              <a:solidFill>
                                <a:srgbClr val="35D949"/>
                              </a:solidFill>
                              <a:latin typeface="Cambria Math" panose="02040503050406030204" charset="0"/>
                              <a:cs typeface="Cambria Math" panose="02040503050406030204" charset="0"/>
                            </a:rPr>
                            <m:t>𝑘</m:t>
                          </m:r>
                        </m:sub>
                        <m:sup>
                          <m:r>
                            <a:rPr lang="en-US" altLang="zh-CN" sz="1800" i="1">
                              <a:solidFill>
                                <a:srgbClr val="35D949"/>
                              </a:solidFill>
                              <a:latin typeface="Cambria Math" panose="02040503050406030204" charset="0"/>
                              <a:cs typeface="Cambria Math" panose="02040503050406030204" charset="0"/>
                            </a:rPr>
                            <m:t>𝑇</m:t>
                          </m:r>
                        </m:sup>
                      </m:sSubSup>
                      <m:r>
                        <a:rPr lang="en-US" altLang="zh-CN" i="1">
                          <a:latin typeface="Cambria Math" panose="02040503050406030204" charset="0"/>
                          <a:cs typeface="Cambria Math" panose="02040503050406030204" charset="0"/>
                        </a:rPr>
                        <m:t>𝑉</m:t>
                      </m:r>
                      <m:sSub>
                        <m:sSubPr>
                          <m:ctrlPr>
                            <a:rPr lang="en-US" altLang="zh-CN" sz="1800" i="1">
                              <a:solidFill>
                                <a:srgbClr val="35D949"/>
                              </a:solidFill>
                              <a:latin typeface="Cambria Math" panose="02040503050406030204" charset="0"/>
                              <a:cs typeface="Cambria Math" panose="02040503050406030204" charset="0"/>
                            </a:rPr>
                          </m:ctrlPr>
                        </m:sSubPr>
                        <m:e>
                          <m:r>
                            <a:rPr lang="en-US" altLang="zh-CN" sz="1800" i="1">
                              <a:solidFill>
                                <a:srgbClr val="35D949"/>
                              </a:solidFill>
                              <a:latin typeface="Cambria Math" panose="02040503050406030204" charset="0"/>
                              <a:cs typeface="Cambria Math" panose="02040503050406030204" charset="0"/>
                            </a:rPr>
                            <m:t>𝑒</m:t>
                          </m:r>
                        </m:e>
                        <m:sub>
                          <m:r>
                            <a:rPr lang="en-US" altLang="zh-CN" sz="1800" i="1">
                              <a:solidFill>
                                <a:srgbClr val="35D949"/>
                              </a:solidFill>
                              <a:latin typeface="Cambria Math" panose="02040503050406030204" charset="0"/>
                              <a:cs typeface="Cambria Math" panose="02040503050406030204" charset="0"/>
                            </a:rPr>
                            <m:t>𝑘</m:t>
                          </m:r>
                          <m:r>
                            <a:rPr lang="en-US" altLang="zh-CN" sz="1800" i="1">
                              <a:solidFill>
                                <a:srgbClr val="35D949"/>
                              </a:solidFill>
                              <a:latin typeface="Cambria Math" panose="02040503050406030204" charset="0"/>
                              <a:cs typeface="Cambria Math" panose="02040503050406030204" charset="0"/>
                            </a:rPr>
                            <m:t>+</m:t>
                          </m:r>
                          <m:r>
                            <a:rPr lang="en-US" altLang="zh-CN" sz="1800" i="1">
                              <a:solidFill>
                                <a:srgbClr val="35D949"/>
                              </a:solidFill>
                              <a:latin typeface="Cambria Math" panose="02040503050406030204" charset="0"/>
                              <a:cs typeface="Cambria Math" panose="02040503050406030204" charset="0"/>
                            </a:rPr>
                            <m:t>𝑖</m:t>
                          </m:r>
                          <m:r>
                            <a:rPr lang="en-US" altLang="zh-CN" sz="1800" i="1">
                              <a:solidFill>
                                <a:srgbClr val="35D949"/>
                              </a:solidFill>
                              <a:latin typeface="Cambria Math" panose="02040503050406030204" charset="0"/>
                              <a:cs typeface="Cambria Math" panose="02040503050406030204" charset="0"/>
                            </a:rPr>
                            <m:t>|</m:t>
                          </m:r>
                          <m:r>
                            <a:rPr lang="en-US" altLang="zh-CN" sz="1800" i="1">
                              <a:solidFill>
                                <a:srgbClr val="35D949"/>
                              </a:solidFill>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𝑏</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𝜋</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𝑝</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𝑝</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𝑁</m:t>
                          </m:r>
                        </m:e>
                        <m:sub>
                          <m:r>
                            <a:rPr lang="en-US" altLang="zh-CN" i="1">
                              <a:latin typeface="Cambria Math" panose="02040503050406030204" charset="0"/>
                              <a:cs typeface="Cambria Math" panose="02040503050406030204" charset="0"/>
                            </a:rPr>
                            <m:t>0</m:t>
                          </m:r>
                        </m:sub>
                      </m:sSub>
                    </m:oMath>
                  </m:oMathPara>
                </a14:m>
                <a:endParaRPr lang="zh-CN" altLang="en-US"/>
              </a:p>
            </p:txBody>
          </p:sp>
        </mc:Choice>
        <mc:Fallback>
          <p:sp>
            <p:nvSpPr>
              <p:cNvPr id="41" name="文本框 40"/>
              <p:cNvSpPr txBox="1">
                <a:spLocks noRot="1" noChangeAspect="1" noMove="1" noResize="1" noEditPoints="1" noAdjustHandles="1" noChangeArrowheads="1" noChangeShapeType="1" noTextEdit="1"/>
              </p:cNvSpPr>
              <p:nvPr/>
            </p:nvSpPr>
            <p:spPr>
              <a:xfrm>
                <a:off x="419100" y="4969764"/>
                <a:ext cx="4217670" cy="411480"/>
              </a:xfrm>
              <a:prstGeom prst="rect">
                <a:avLst/>
              </a:prstGeom>
              <a:blipFill rotWithShape="1">
                <a:blip r:embed="rId8"/>
                <a:stretch>
                  <a:fillRect t="-62" b="6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2" name="文本框 41"/>
              <p:cNvSpPr txBox="1"/>
              <p:nvPr/>
            </p:nvSpPr>
            <p:spPr>
              <a:xfrm>
                <a:off x="6973888" y="3948430"/>
                <a:ext cx="4932045" cy="1420495"/>
              </a:xfrm>
              <a:prstGeom prst="rect">
                <a:avLst/>
              </a:prstGeom>
              <a:noFill/>
            </p:spPr>
            <p:txBody>
              <a:bodyPr wrap="none" rtlCol="0" anchor="t">
                <a:noAutofit/>
              </a:bodyPr>
              <a:p>
                <a:pPr indent="0" algn="l" fontAlgn="auto">
                  <a:lnSpc>
                    <a:spcPct val="150000"/>
                  </a:lnSpc>
                </a:pPr>
                <a:r>
                  <a:rPr lang="en-US" altLang="zh-CN">
                    <a:latin typeface="Cambria Math" panose="02040503050406030204" charset="0"/>
                    <a:cs typeface="Cambria Math" panose="02040503050406030204" charset="0"/>
                  </a:rPr>
                  <a:t>       </a:t>
                </a:r>
                <a14:m>
                  <m:oMath xmlns:m="http://schemas.openxmlformats.org/officeDocument/2006/math">
                    <m:func>
                      <m:funcPr>
                        <m:ctrlPr>
                          <a:rPr lang="en-US" altLang="zh-CN" i="1">
                            <a:latin typeface="Cambria Math" panose="02040503050406030204" charset="0"/>
                            <a:cs typeface="Cambria Math" panose="02040503050406030204" charset="0"/>
                          </a:rPr>
                        </m:ctrlPr>
                      </m:funcPr>
                      <m:fName>
                        <m:limLow>
                          <m:limLowPr>
                            <m:ctrlPr>
                              <a:rPr lang="en-US" altLang="zh-CN">
                                <a:latin typeface="Cambria Math" panose="02040503050406030204" charset="0"/>
                                <a:cs typeface="Cambria Math" panose="02040503050406030204" charset="0"/>
                              </a:rPr>
                            </m:ctrlPr>
                          </m:limLowPr>
                          <m:e>
                            <m:r>
                              <m:rPr>
                                <m:sty m:val="p"/>
                              </m:rPr>
                              <a:rPr lang="en-US" altLang="zh-CN">
                                <a:latin typeface="Cambria Math" panose="02040503050406030204" charset="0"/>
                                <a:cs typeface="Cambria Math" panose="02040503050406030204" charset="0"/>
                              </a:rPr>
                              <m:t>min</m:t>
                            </m:r>
                          </m:e>
                          <m:lim>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𝑢</m:t>
                                </m:r>
                              </m:e>
                              <m:sub>
                                <m:r>
                                  <a:rPr lang="en-US" altLang="zh-CN" i="1">
                                    <a:latin typeface="Cambria Math" panose="02040503050406030204" charset="0"/>
                                    <a:cs typeface="Cambria Math" panose="02040503050406030204" charset="0"/>
                                  </a:rPr>
                                  <m:t>𝑘</m:t>
                                </m:r>
                              </m:sub>
                            </m:sSub>
                          </m:lim>
                        </m:limLow>
                      </m:fName>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𝐽</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e>
                    </m:func>
                    <m:r>
                      <a:rPr lang="en-US" altLang="zh-CN" i="1">
                        <a:latin typeface="Cambria Math" panose="02040503050406030204" charset="0"/>
                        <a:cs typeface="Cambria Math" panose="02040503050406030204" charset="0"/>
                      </a:rPr>
                      <m:t>[</m:t>
                    </m:r>
                    <m:m>
                      <m:mPr>
                        <m:mcs>
                          <m:mc>
                            <m:mcPr>
                              <m:count m:val="3"/>
                              <m:mcJc m:val="center"/>
                            </m:mcPr>
                          </m:mc>
                        </m:mcs>
                        <m:ctrlPr>
                          <a:rPr lang="en-US" altLang="zh-CN" i="1">
                            <a:latin typeface="Cambria Math" panose="02040503050406030204" charset="0"/>
                            <a:cs typeface="Cambria Math" panose="02040503050406030204" charset="0"/>
                          </a:rPr>
                        </m:ctrlPr>
                      </m:mPr>
                      <m:mr>
                        <m:e>
                          <m:sSubSup>
                            <m:sSubSupPr>
                              <m:ctrlPr>
                                <a:rPr lang="en-US" altLang="zh-CN" sz="1800" i="1">
                                  <a:solidFill>
                                    <a:schemeClr val="bg2">
                                      <a:lumMod val="50000"/>
                                    </a:schemeClr>
                                  </a:solidFill>
                                  <a:latin typeface="Cambria Math" panose="02040503050406030204" charset="0"/>
                                  <a:cs typeface="Cambria Math" panose="02040503050406030204" charset="0"/>
                                </a:rPr>
                              </m:ctrlPr>
                            </m:sSubSupPr>
                            <m:e>
                              <m:r>
                                <a:rPr lang="en-US" altLang="zh-CN" sz="1800" i="1">
                                  <a:solidFill>
                                    <a:schemeClr val="bg2">
                                      <a:lumMod val="50000"/>
                                    </a:schemeClr>
                                  </a:solidFill>
                                  <a:latin typeface="Cambria Math" panose="02040503050406030204" charset="0"/>
                                  <a:cs typeface="Cambria Math" panose="02040503050406030204" charset="0"/>
                                </a:rPr>
                                <m:t>𝑥</m:t>
                              </m:r>
                            </m:e>
                            <m:sub>
                              <m:r>
                                <a:rPr lang="en-US" altLang="zh-CN" sz="1800" i="1">
                                  <a:solidFill>
                                    <a:schemeClr val="bg2">
                                      <a:lumMod val="50000"/>
                                    </a:schemeClr>
                                  </a:solidFill>
                                  <a:latin typeface="Cambria Math" panose="02040503050406030204" charset="0"/>
                                  <a:cs typeface="Cambria Math" panose="02040503050406030204" charset="0"/>
                                </a:rPr>
                                <m:t>𝑘</m:t>
                              </m:r>
                            </m:sub>
                            <m:sup>
                              <m:r>
                                <a:rPr lang="en-US" altLang="zh-CN" sz="1800" i="1">
                                  <a:solidFill>
                                    <a:schemeClr val="bg2">
                                      <a:lumMod val="50000"/>
                                    </a:schemeClr>
                                  </a:solidFill>
                                  <a:latin typeface="Cambria Math" panose="02040503050406030204" charset="0"/>
                                  <a:cs typeface="Cambria Math" panose="02040503050406030204" charset="0"/>
                                </a:rPr>
                                <m:t>𝑇</m:t>
                              </m:r>
                            </m:sup>
                          </m:sSubSup>
                        </m:e>
                        <m:e>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𝑐</m:t>
                              </m:r>
                            </m:e>
                            <m:sub>
                              <m:r>
                                <a:rPr lang="en-US" altLang="zh-CN" i="1">
                                  <a:latin typeface="Cambria Math" panose="02040503050406030204" charset="0"/>
                                  <a:cs typeface="Cambria Math" panose="02040503050406030204" charset="0"/>
                                </a:rPr>
                                <m:t>𝑘</m:t>
                              </m:r>
                            </m:sub>
                            <m:sup>
                              <m:r>
                                <a:rPr lang="en-US" altLang="zh-CN" i="1">
                                  <a:latin typeface="Cambria Math" panose="02040503050406030204" charset="0"/>
                                  <a:cs typeface="Cambria Math" panose="02040503050406030204" charset="0"/>
                                </a:rPr>
                                <m:t>𝑇</m:t>
                              </m:r>
                            </m:sup>
                          </m:sSubSup>
                        </m:e>
                        <m:e>
                          <m:r>
                            <a:rPr lang="en-US" altLang="zh-CN" i="1">
                              <a:latin typeface="Cambria Math" panose="02040503050406030204" charset="0"/>
                              <a:cs typeface="Cambria Math" panose="02040503050406030204" charset="0"/>
                            </a:rPr>
                            <m:t>1</m:t>
                          </m:r>
                        </m:e>
                      </m:mr>
                    </m:m>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𝛺</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m:t>
                        </m:r>
                        <m:m>
                          <m:mPr>
                            <m:mcs>
                              <m:mc>
                                <m:mcPr>
                                  <m:count m:val="3"/>
                                  <m:mcJc m:val="center"/>
                                </m:mcPr>
                              </m:mc>
                            </m:mcs>
                            <m:ctrlPr>
                              <a:rPr lang="en-US" altLang="zh-CN" i="1">
                                <a:latin typeface="Cambria Math" panose="02040503050406030204" charset="0"/>
                                <a:cs typeface="Cambria Math" panose="02040503050406030204" charset="0"/>
                              </a:rPr>
                            </m:ctrlPr>
                          </m:mPr>
                          <m:mr>
                            <m:e>
                              <m:sSubSup>
                                <m:sSubSupPr>
                                  <m:ctrlPr>
                                    <a:rPr lang="en-US" altLang="zh-CN" sz="1800" i="1">
                                      <a:solidFill>
                                        <a:schemeClr val="bg2">
                                          <a:lumMod val="50000"/>
                                        </a:schemeClr>
                                      </a:solidFill>
                                      <a:latin typeface="Cambria Math" panose="02040503050406030204" charset="0"/>
                                      <a:cs typeface="Cambria Math" panose="02040503050406030204" charset="0"/>
                                    </a:rPr>
                                  </m:ctrlPr>
                                </m:sSubSupPr>
                                <m:e>
                                  <m:r>
                                    <a:rPr lang="en-US" altLang="zh-CN" sz="1800" i="1">
                                      <a:solidFill>
                                        <a:schemeClr val="bg2">
                                          <a:lumMod val="50000"/>
                                        </a:schemeClr>
                                      </a:solidFill>
                                      <a:latin typeface="Cambria Math" panose="02040503050406030204" charset="0"/>
                                      <a:cs typeface="Cambria Math" panose="02040503050406030204" charset="0"/>
                                    </a:rPr>
                                    <m:t>𝑥</m:t>
                                  </m:r>
                                </m:e>
                                <m:sub>
                                  <m:r>
                                    <a:rPr lang="en-US" altLang="zh-CN" sz="1800" i="1">
                                      <a:solidFill>
                                        <a:schemeClr val="bg2">
                                          <a:lumMod val="50000"/>
                                        </a:schemeClr>
                                      </a:solidFill>
                                      <a:latin typeface="Cambria Math" panose="02040503050406030204" charset="0"/>
                                      <a:cs typeface="Cambria Math" panose="02040503050406030204" charset="0"/>
                                    </a:rPr>
                                    <m:t>𝑘</m:t>
                                  </m:r>
                                </m:sub>
                                <m:sup>
                                  <m:r>
                                    <a:rPr lang="en-US" altLang="zh-CN" sz="1800" i="1">
                                      <a:solidFill>
                                        <a:schemeClr val="bg2">
                                          <a:lumMod val="50000"/>
                                        </a:schemeClr>
                                      </a:solidFill>
                                      <a:latin typeface="Cambria Math" panose="02040503050406030204" charset="0"/>
                                      <a:cs typeface="Cambria Math" panose="02040503050406030204" charset="0"/>
                                    </a:rPr>
                                    <m:t>𝑇</m:t>
                                  </m:r>
                                </m:sup>
                              </m:sSubSup>
                            </m:e>
                            <m:e>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𝑐</m:t>
                                  </m:r>
                                </m:e>
                                <m:sub>
                                  <m:r>
                                    <a:rPr lang="en-US" altLang="zh-CN" i="1">
                                      <a:latin typeface="Cambria Math" panose="02040503050406030204" charset="0"/>
                                      <a:cs typeface="Cambria Math" panose="02040503050406030204" charset="0"/>
                                    </a:rPr>
                                    <m:t>𝑘</m:t>
                                  </m:r>
                                </m:sub>
                                <m:sup>
                                  <m:r>
                                    <a:rPr lang="en-US" altLang="zh-CN" i="1">
                                      <a:latin typeface="Cambria Math" panose="02040503050406030204" charset="0"/>
                                      <a:cs typeface="Cambria Math" panose="02040503050406030204" charset="0"/>
                                    </a:rPr>
                                    <m:t>𝑇</m:t>
                                  </m:r>
                                </m:sup>
                              </m:sSubSup>
                            </m:e>
                            <m:e>
                              <m:r>
                                <a:rPr lang="en-US" altLang="zh-CN" i="1">
                                  <a:latin typeface="Cambria Math" panose="02040503050406030204" charset="0"/>
                                  <a:cs typeface="Cambria Math" panose="02040503050406030204" charset="0"/>
                                </a:rPr>
                                <m:t>1</m:t>
                              </m:r>
                            </m:e>
                          </m:mr>
                        </m:m>
                        <m:r>
                          <a:rPr lang="en-US" altLang="zh-CN" i="1">
                            <a:latin typeface="Cambria Math" panose="02040503050406030204" charset="0"/>
                            <a:cs typeface="Cambria Math" panose="02040503050406030204" charset="0"/>
                          </a:rPr>
                          <m:t>]</m:t>
                        </m:r>
                      </m:e>
                      <m:sup>
                        <m:r>
                          <a:rPr lang="en-US" altLang="zh-CN" i="1">
                            <a:latin typeface="Cambria Math" panose="02040503050406030204" charset="0"/>
                            <a:cs typeface="Cambria Math" panose="02040503050406030204" charset="0"/>
                          </a:rPr>
                          <m:t>𝑇</m:t>
                        </m:r>
                      </m:sup>
                    </m:sSup>
                  </m:oMath>
                </a14:m>
                <a:endParaRPr lang="en-US" altLang="zh-CN" i="1">
                  <a:latin typeface="Cambria Math" panose="02040503050406030204" charset="0"/>
                  <a:cs typeface="Cambria Math" panose="02040503050406030204" charset="0"/>
                </a:endParaRPr>
              </a:p>
              <a:p>
                <a:pPr indent="0" algn="l" fontAlgn="auto">
                  <a:lnSpc>
                    <a:spcPct val="150000"/>
                  </a:lnSpc>
                </a:pPr>
                <a14:m>
                  <m:oMathPara xmlns:m="http://schemas.openxmlformats.org/officeDocument/2006/math">
                    <m:oMathParaPr>
                      <m:jc m:val="left"/>
                    </m:oMathParaPr>
                    <m:oMath xmlns:m="http://schemas.openxmlformats.org/officeDocument/2006/math">
                      <m:r>
                        <a:rPr lang="en-US" altLang="zh-CN" i="1">
                          <a:latin typeface="Cambria Math" panose="02040503050406030204" charset="0"/>
                          <a:cs typeface="Cambria Math" panose="02040503050406030204" charset="0"/>
                        </a:rPr>
                        <m:t>𝑠</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𝑡</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𝑔</m:t>
                          </m:r>
                        </m:e>
                        <m:sup>
                          <m:r>
                            <a:rPr lang="en-US" altLang="zh-CN" i="1">
                              <a:latin typeface="Cambria Math" panose="02040503050406030204" charset="0"/>
                              <a:cs typeface="Cambria Math" panose="02040503050406030204" charset="0"/>
                            </a:rPr>
                            <m:t>𝑇</m:t>
                          </m:r>
                        </m:sup>
                      </m:sSup>
                      <m:sSub>
                        <m:sSubPr>
                          <m:ctrlPr>
                            <a:rPr lang="en-US" altLang="zh-CN" sz="1800" i="1">
                              <a:solidFill>
                                <a:schemeClr val="bg2">
                                  <a:lumMod val="50000"/>
                                </a:schemeClr>
                              </a:solidFill>
                              <a:latin typeface="Cambria Math" panose="02040503050406030204" charset="0"/>
                              <a:cs typeface="Cambria Math" panose="02040503050406030204" charset="0"/>
                            </a:rPr>
                          </m:ctrlPr>
                        </m:sSubPr>
                        <m:e>
                          <m:r>
                            <a:rPr lang="en-US" altLang="zh-CN" sz="1800" i="1">
                              <a:solidFill>
                                <a:schemeClr val="bg2">
                                  <a:lumMod val="50000"/>
                                </a:schemeClr>
                              </a:solidFill>
                              <a:latin typeface="Cambria Math" panose="02040503050406030204" charset="0"/>
                              <a:cs typeface="Cambria Math" panose="02040503050406030204" charset="0"/>
                            </a:rPr>
                            <m:t>𝑧</m:t>
                          </m:r>
                        </m:e>
                        <m:sub>
                          <m:r>
                            <a:rPr lang="en-US" altLang="zh-CN" sz="1800" i="1">
                              <a:solidFill>
                                <a:schemeClr val="bg2">
                                  <a:lumMod val="50000"/>
                                </a:schemeClr>
                              </a:solidFill>
                              <a:latin typeface="Cambria Math" panose="02040503050406030204" charset="0"/>
                              <a:cs typeface="Cambria Math" panose="02040503050406030204" charset="0"/>
                            </a:rPr>
                            <m:t>𝑘</m:t>
                          </m:r>
                          <m:r>
                            <a:rPr lang="en-US" altLang="zh-CN" sz="1800" i="1">
                              <a:solidFill>
                                <a:schemeClr val="bg2">
                                  <a:lumMod val="50000"/>
                                </a:schemeClr>
                              </a:solidFill>
                              <a:latin typeface="Cambria Math" panose="02040503050406030204" charset="0"/>
                              <a:cs typeface="Cambria Math" panose="02040503050406030204" charset="0"/>
                            </a:rPr>
                            <m:t>+</m:t>
                          </m:r>
                          <m:r>
                            <a:rPr lang="en-US" altLang="zh-CN" sz="1800" i="1">
                              <a:solidFill>
                                <a:schemeClr val="bg2">
                                  <a:lumMod val="50000"/>
                                </a:schemeClr>
                              </a:solidFill>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m:t>
                      </m:r>
                      <m:sSup>
                        <m:sSupPr>
                          <m:ctrlPr>
                            <a:rPr lang="en-US" altLang="zh-CN" sz="1800" i="1">
                              <a:solidFill>
                                <a:srgbClr val="35D949"/>
                              </a:solidFill>
                              <a:latin typeface="Cambria Math" panose="02040503050406030204" charset="0"/>
                              <a:cs typeface="Cambria Math" panose="02040503050406030204" charset="0"/>
                            </a:rPr>
                          </m:ctrlPr>
                        </m:sSupPr>
                        <m:e>
                          <m:r>
                            <a:rPr lang="en-US" altLang="zh-CN" sz="1800" i="1">
                              <a:solidFill>
                                <a:srgbClr val="35D949"/>
                              </a:solidFill>
                              <a:latin typeface="Cambria Math" panose="02040503050406030204" charset="0"/>
                              <a:cs typeface="Cambria Math" panose="02040503050406030204" charset="0"/>
                            </a:rPr>
                            <m:t>𝑏</m:t>
                          </m:r>
                          <m:r>
                            <a:rPr lang="en-US" altLang="zh-CN" sz="1800" i="1">
                              <a:solidFill>
                                <a:srgbClr val="35D949"/>
                              </a:solidFill>
                              <a:latin typeface="Cambria Math" panose="02040503050406030204" charset="0"/>
                              <a:cs typeface="Cambria Math" panose="02040503050406030204" charset="0"/>
                            </a:rPr>
                            <m:t>(</m:t>
                          </m:r>
                          <m:sSub>
                            <m:sSubPr>
                              <m:ctrlPr>
                                <a:rPr lang="en-US" altLang="zh-CN" sz="1800" i="1">
                                  <a:solidFill>
                                    <a:srgbClr val="35D949"/>
                                  </a:solidFill>
                                  <a:latin typeface="Cambria Math" panose="02040503050406030204" charset="0"/>
                                  <a:cs typeface="Cambria Math" panose="02040503050406030204" charset="0"/>
                                </a:rPr>
                              </m:ctrlPr>
                            </m:sSubPr>
                            <m:e>
                              <m:r>
                                <a:rPr lang="en-US" altLang="zh-CN" sz="1800" i="1">
                                  <a:solidFill>
                                    <a:srgbClr val="35D949"/>
                                  </a:solidFill>
                                  <a:latin typeface="Cambria Math" panose="02040503050406030204" charset="0"/>
                                  <a:cs typeface="Cambria Math" panose="02040503050406030204" charset="0"/>
                                </a:rPr>
                                <m:t>𝜋</m:t>
                              </m:r>
                            </m:e>
                            <m:sub>
                              <m:r>
                                <a:rPr lang="en-US" altLang="zh-CN" sz="1800" i="1">
                                  <a:solidFill>
                                    <a:srgbClr val="35D949"/>
                                  </a:solidFill>
                                  <a:latin typeface="Cambria Math" panose="02040503050406030204" charset="0"/>
                                  <a:cs typeface="Cambria Math" panose="02040503050406030204" charset="0"/>
                                </a:rPr>
                                <m:t>𝑖</m:t>
                              </m:r>
                              <m:r>
                                <a:rPr lang="en-US" altLang="zh-CN" sz="1800" i="1">
                                  <a:solidFill>
                                    <a:srgbClr val="35D949"/>
                                  </a:solidFill>
                                  <a:latin typeface="Cambria Math" panose="02040503050406030204" charset="0"/>
                                  <a:cs typeface="Cambria Math" panose="02040503050406030204" charset="0"/>
                                </a:rPr>
                                <m:t>|</m:t>
                              </m:r>
                              <m:r>
                                <a:rPr lang="en-US" altLang="zh-CN" sz="1800" i="1">
                                  <a:solidFill>
                                    <a:srgbClr val="35D949"/>
                                  </a:solidFill>
                                  <a:latin typeface="Cambria Math" panose="02040503050406030204" charset="0"/>
                                  <a:cs typeface="Cambria Math" panose="02040503050406030204" charset="0"/>
                                </a:rPr>
                                <m:t>0</m:t>
                              </m:r>
                            </m:sub>
                          </m:sSub>
                          <m:r>
                            <a:rPr lang="en-US" altLang="zh-CN" sz="1800" i="1">
                              <a:solidFill>
                                <a:srgbClr val="35D949"/>
                              </a:solidFill>
                              <a:latin typeface="Cambria Math" panose="02040503050406030204" charset="0"/>
                              <a:cs typeface="Cambria Math" panose="02040503050406030204" charset="0"/>
                            </a:rPr>
                            <m:t>,</m:t>
                          </m:r>
                          <m:r>
                            <a:rPr lang="en-US" altLang="zh-CN" sz="1800" i="1">
                              <a:solidFill>
                                <a:srgbClr val="35D949"/>
                              </a:solidFill>
                              <a:latin typeface="Cambria Math" panose="02040503050406030204" charset="0"/>
                              <a:cs typeface="Cambria Math" panose="02040503050406030204" charset="0"/>
                            </a:rPr>
                            <m:t>2</m:t>
                          </m:r>
                          <m:r>
                            <a:rPr lang="en-US" altLang="zh-CN" sz="1800" i="1">
                              <a:solidFill>
                                <a:srgbClr val="35D949"/>
                              </a:solidFill>
                              <a:latin typeface="Cambria Math" panose="02040503050406030204" charset="0"/>
                              <a:cs typeface="Cambria Math" panose="02040503050406030204" charset="0"/>
                            </a:rPr>
                            <m:t>𝑝</m:t>
                          </m:r>
                          <m:r>
                            <a:rPr lang="en-US" altLang="zh-CN" sz="1800" i="1">
                              <a:solidFill>
                                <a:srgbClr val="35D949"/>
                              </a:solidFill>
                              <a:latin typeface="Cambria Math" panose="02040503050406030204" charset="0"/>
                              <a:cs typeface="Cambria Math" panose="02040503050406030204" charset="0"/>
                            </a:rPr>
                            <m:t>−</m:t>
                          </m:r>
                          <m:r>
                            <a:rPr lang="en-US" altLang="zh-CN" sz="1800" i="1">
                              <a:solidFill>
                                <a:srgbClr val="35D949"/>
                              </a:solidFill>
                              <a:latin typeface="Cambria Math" panose="02040503050406030204" charset="0"/>
                              <a:cs typeface="Cambria Math" panose="02040503050406030204" charset="0"/>
                            </a:rPr>
                            <m:t>1</m:t>
                          </m:r>
                          <m:r>
                            <a:rPr lang="en-US" altLang="zh-CN" sz="1800" i="1">
                              <a:solidFill>
                                <a:srgbClr val="35D949"/>
                              </a:solidFill>
                              <a:latin typeface="Cambria Math" panose="02040503050406030204" charset="0"/>
                              <a:cs typeface="Cambria Math" panose="02040503050406030204" charset="0"/>
                            </a:rPr>
                            <m:t>)</m:t>
                          </m:r>
                        </m:e>
                        <m:sup>
                          <m:box>
                            <m:boxPr>
                              <m:noBreak m:val="on"/>
                              <m:ctrlPr>
                                <a:rPr lang="en-US" altLang="zh-CN" sz="1800" i="1">
                                  <a:solidFill>
                                    <a:srgbClr val="35D949"/>
                                  </a:solidFill>
                                  <a:latin typeface="Cambria Math" panose="02040503050406030204" charset="0"/>
                                  <a:cs typeface="Cambria Math" panose="02040503050406030204" charset="0"/>
                                </a:rPr>
                              </m:ctrlPr>
                            </m:boxPr>
                            <m:e>
                              <m:argPr>
                                <m:argSz m:val="-1"/>
                              </m:argPr>
                              <m:f>
                                <m:fPr>
                                  <m:ctrlPr>
                                    <a:rPr lang="en-US" altLang="zh-CN" sz="1800" i="1">
                                      <a:solidFill>
                                        <a:srgbClr val="35D949"/>
                                      </a:solidFill>
                                      <a:latin typeface="Cambria Math" panose="02040503050406030204" charset="0"/>
                                      <a:cs typeface="Cambria Math" panose="02040503050406030204" charset="0"/>
                                    </a:rPr>
                                  </m:ctrlPr>
                                </m:fPr>
                                <m:num>
                                  <m:r>
                                    <a:rPr lang="en-US" altLang="zh-CN" sz="1800" i="1">
                                      <a:solidFill>
                                        <a:srgbClr val="35D949"/>
                                      </a:solidFill>
                                      <a:latin typeface="Cambria Math" panose="02040503050406030204" charset="0"/>
                                      <a:cs typeface="Cambria Math" panose="02040503050406030204" charset="0"/>
                                    </a:rPr>
                                    <m:t>1</m:t>
                                  </m:r>
                                </m:num>
                                <m:den>
                                  <m:r>
                                    <a:rPr lang="en-US" altLang="zh-CN" sz="1800" i="1">
                                      <a:solidFill>
                                        <a:srgbClr val="35D949"/>
                                      </a:solidFill>
                                      <a:latin typeface="Cambria Math" panose="02040503050406030204" charset="0"/>
                                      <a:cs typeface="Cambria Math" panose="02040503050406030204" charset="0"/>
                                    </a:rPr>
                                    <m:t>2</m:t>
                                  </m:r>
                                </m:den>
                              </m:f>
                            </m:e>
                          </m:box>
                        </m:sup>
                      </m:sSup>
                      <m:rad>
                        <m:radPr>
                          <m:degHide m:val="on"/>
                          <m:ctrlPr>
                            <a:rPr lang="en-US" altLang="zh-CN" sz="1800" i="1">
                              <a:solidFill>
                                <a:srgbClr val="35D949"/>
                              </a:solidFill>
                              <a:latin typeface="Cambria Math" panose="02040503050406030204" charset="0"/>
                              <a:cs typeface="Cambria Math" panose="02040503050406030204" charset="0"/>
                            </a:rPr>
                          </m:ctrlPr>
                        </m:radPr>
                        <m:deg/>
                        <m:e>
                          <m:sSup>
                            <m:sSupPr>
                              <m:ctrlPr>
                                <a:rPr lang="en-US" altLang="zh-CN" sz="1800" i="1">
                                  <a:solidFill>
                                    <a:srgbClr val="35D949"/>
                                  </a:solidFill>
                                  <a:latin typeface="Cambria Math" panose="02040503050406030204" charset="0"/>
                                  <a:cs typeface="Cambria Math" panose="02040503050406030204" charset="0"/>
                                </a:rPr>
                              </m:ctrlPr>
                            </m:sSupPr>
                            <m:e>
                              <m:r>
                                <a:rPr lang="en-US" altLang="zh-CN" sz="1800" i="1">
                                  <a:solidFill>
                                    <a:srgbClr val="35D949"/>
                                  </a:solidFill>
                                  <a:latin typeface="Cambria Math" panose="02040503050406030204" charset="0"/>
                                  <a:cs typeface="Cambria Math" panose="02040503050406030204" charset="0"/>
                                </a:rPr>
                                <m:t>𝑔</m:t>
                              </m:r>
                            </m:e>
                            <m:sup>
                              <m:r>
                                <a:rPr lang="en-US" altLang="zh-CN" sz="1800" i="1">
                                  <a:solidFill>
                                    <a:srgbClr val="35D949"/>
                                  </a:solidFill>
                                  <a:latin typeface="Cambria Math" panose="02040503050406030204" charset="0"/>
                                  <a:cs typeface="Cambria Math" panose="02040503050406030204" charset="0"/>
                                </a:rPr>
                                <m:t>𝑇</m:t>
                              </m:r>
                            </m:sup>
                          </m:sSup>
                          <m:sSup>
                            <m:sSupPr>
                              <m:ctrlPr>
                                <a:rPr lang="en-US" altLang="zh-CN" sz="1800" i="1">
                                  <a:solidFill>
                                    <a:srgbClr val="35D949"/>
                                  </a:solidFill>
                                  <a:latin typeface="Cambria Math" panose="02040503050406030204" charset="0"/>
                                  <a:cs typeface="Cambria Math" panose="02040503050406030204" charset="0"/>
                                </a:rPr>
                              </m:ctrlPr>
                            </m:sSupPr>
                            <m:e>
                              <m:r>
                                <a:rPr lang="en-US" altLang="zh-CN" sz="1800" i="1">
                                  <a:solidFill>
                                    <a:srgbClr val="35D949"/>
                                  </a:solidFill>
                                  <a:latin typeface="Cambria Math" panose="02040503050406030204" charset="0"/>
                                  <a:cs typeface="Cambria Math" panose="02040503050406030204" charset="0"/>
                                </a:rPr>
                                <m:t>𝑉</m:t>
                              </m:r>
                            </m:e>
                            <m:sup>
                              <m:r>
                                <a:rPr lang="en-US" altLang="zh-CN" sz="1800" i="1">
                                  <a:solidFill>
                                    <a:srgbClr val="35D949"/>
                                  </a:solidFill>
                                  <a:latin typeface="Cambria Math" panose="02040503050406030204" charset="0"/>
                                  <a:cs typeface="Cambria Math" panose="02040503050406030204" charset="0"/>
                                </a:rPr>
                                <m:t>−</m:t>
                              </m:r>
                              <m:r>
                                <a:rPr lang="en-US" altLang="zh-CN" sz="1800" i="1">
                                  <a:solidFill>
                                    <a:srgbClr val="35D949"/>
                                  </a:solidFill>
                                  <a:latin typeface="Cambria Math" panose="02040503050406030204" charset="0"/>
                                  <a:cs typeface="Cambria Math" panose="02040503050406030204" charset="0"/>
                                </a:rPr>
                                <m:t>1</m:t>
                              </m:r>
                            </m:sup>
                          </m:sSup>
                          <m:r>
                            <a:rPr lang="en-US" altLang="zh-CN" sz="1800" i="1">
                              <a:solidFill>
                                <a:srgbClr val="35D949"/>
                              </a:solidFill>
                              <a:latin typeface="Cambria Math" panose="02040503050406030204" charset="0"/>
                              <a:cs typeface="Cambria Math" panose="02040503050406030204" charset="0"/>
                            </a:rPr>
                            <m:t>𝑔</m:t>
                          </m:r>
                        </m:e>
                      </m:rad>
                    </m:oMath>
                  </m:oMathPara>
                </a14:m>
                <a:endParaRPr lang="en-US" altLang="zh-CN" i="1">
                  <a:latin typeface="Cambria Math" panose="02040503050406030204" charset="0"/>
                  <a:cs typeface="Cambria Math" panose="02040503050406030204" charset="0"/>
                </a:endParaRPr>
              </a:p>
              <a:p>
                <a:pPr indent="0" algn="l" fontAlgn="auto">
                  <a:lnSpc>
                    <a:spcPct val="150000"/>
                  </a:lnSpc>
                </a:pPr>
                <a14:m>
                  <m:oMathPara xmlns:m="http://schemas.openxmlformats.org/officeDocument/2006/math">
                    <m:oMathParaPr>
                      <m:jc m:val="left"/>
                    </m:oMathParaPr>
                    <m:oMath xmlns:m="http://schemas.openxmlformats.org/officeDocument/2006/math">
                      <m:r>
                        <a:rPr lang="en-US" altLang="zh-CN" i="1">
                          <a:latin typeface="Cambria Math" panose="02040503050406030204" charset="0"/>
                          <a:cs typeface="Cambria Math" panose="02040503050406030204" charset="0"/>
                        </a:rPr>
                        <m:t>      </m:t>
                      </m:r>
                      <m:sSub>
                        <m:sSubPr>
                          <m:ctrlPr>
                            <a:rPr lang="en-US" altLang="zh-CN" sz="1800" i="1">
                              <a:solidFill>
                                <a:schemeClr val="bg2">
                                  <a:lumMod val="50000"/>
                                </a:schemeClr>
                              </a:solidFill>
                              <a:latin typeface="Cambria Math" panose="02040503050406030204" charset="0"/>
                              <a:cs typeface="Cambria Math" panose="02040503050406030204" charset="0"/>
                            </a:rPr>
                          </m:ctrlPr>
                        </m:sSubPr>
                        <m:e>
                          <m:r>
                            <a:rPr lang="en-US" altLang="zh-CN" sz="1800" i="1">
                              <a:solidFill>
                                <a:schemeClr val="bg2">
                                  <a:lumMod val="50000"/>
                                </a:schemeClr>
                              </a:solidFill>
                              <a:latin typeface="Cambria Math" panose="02040503050406030204" charset="0"/>
                              <a:cs typeface="Cambria Math" panose="02040503050406030204" charset="0"/>
                            </a:rPr>
                            <m:t>𝑧</m:t>
                          </m:r>
                        </m:e>
                        <m:sub>
                          <m:r>
                            <a:rPr lang="en-US" altLang="zh-CN" sz="1800" i="1">
                              <a:solidFill>
                                <a:schemeClr val="bg2">
                                  <a:lumMod val="50000"/>
                                </a:schemeClr>
                              </a:solidFill>
                              <a:latin typeface="Cambria Math" panose="02040503050406030204" charset="0"/>
                              <a:cs typeface="Cambria Math" panose="02040503050406030204" charset="0"/>
                            </a:rPr>
                            <m:t>𝑘</m:t>
                          </m:r>
                          <m:r>
                            <a:rPr lang="en-US" altLang="zh-CN" sz="1800" i="1">
                              <a:solidFill>
                                <a:schemeClr val="bg2">
                                  <a:lumMod val="50000"/>
                                </a:schemeClr>
                              </a:solidFill>
                              <a:latin typeface="Cambria Math" panose="02040503050406030204" charset="0"/>
                              <a:cs typeface="Cambria Math" panose="02040503050406030204" charset="0"/>
                            </a:rPr>
                            <m:t>+</m:t>
                          </m:r>
                          <m:r>
                            <a:rPr lang="en-US" altLang="zh-CN" sz="1800" i="1">
                              <a:solidFill>
                                <a:schemeClr val="bg2">
                                  <a:lumMod val="50000"/>
                                </a:schemeClr>
                              </a:solidFill>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ea typeface="MS Mincho" charset="0"/>
                          <a:cs typeface="Cambria Math" panose="02040503050406030204" charset="0"/>
                        </a:rPr>
                        <m:t>Փ</m:t>
                      </m:r>
                      <m:sSub>
                        <m:sSubPr>
                          <m:ctrlPr>
                            <a:rPr lang="en-US" altLang="zh-CN" sz="1800" i="1">
                              <a:solidFill>
                                <a:schemeClr val="bg2">
                                  <a:lumMod val="50000"/>
                                </a:schemeClr>
                              </a:solidFill>
                              <a:latin typeface="Cambria Math" panose="02040503050406030204" charset="0"/>
                              <a:cs typeface="Cambria Math" panose="02040503050406030204" charset="0"/>
                            </a:rPr>
                          </m:ctrlPr>
                        </m:sSubPr>
                        <m:e>
                          <m:r>
                            <a:rPr lang="en-US" altLang="zh-CN" sz="1800" i="1">
                              <a:solidFill>
                                <a:schemeClr val="bg2">
                                  <a:lumMod val="50000"/>
                                </a:schemeClr>
                              </a:solidFill>
                              <a:latin typeface="Cambria Math" panose="02040503050406030204" charset="0"/>
                              <a:cs typeface="Cambria Math" panose="02040503050406030204" charset="0"/>
                            </a:rPr>
                            <m:t>𝑧</m:t>
                          </m:r>
                        </m:e>
                        <m:sub>
                          <m:r>
                            <a:rPr lang="en-US" altLang="zh-CN" sz="1800" i="1">
                              <a:solidFill>
                                <a:schemeClr val="bg2">
                                  <a:lumMod val="50000"/>
                                </a:schemeClr>
                              </a:solidFill>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𝑐</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 </m:t>
                      </m:r>
                    </m:oMath>
                  </m:oMathPara>
                </a14:m>
                <a:endParaRPr lang="en-US" altLang="zh-CN"/>
              </a:p>
            </p:txBody>
          </p:sp>
        </mc:Choice>
        <mc:Fallback>
          <p:sp>
            <p:nvSpPr>
              <p:cNvPr id="42" name="文本框 41"/>
              <p:cNvSpPr txBox="1">
                <a:spLocks noRot="1" noChangeAspect="1" noMove="1" noResize="1" noEditPoints="1" noAdjustHandles="1" noChangeArrowheads="1" noChangeShapeType="1" noTextEdit="1"/>
              </p:cNvSpPr>
              <p:nvPr/>
            </p:nvSpPr>
            <p:spPr>
              <a:xfrm>
                <a:off x="6973888" y="3948430"/>
                <a:ext cx="4932045" cy="1420495"/>
              </a:xfrm>
              <a:prstGeom prst="rect">
                <a:avLst/>
              </a:prstGeom>
              <a:blipFill rotWithShape="1">
                <a:blip r:embed="rId9"/>
                <a:stretch>
                  <a:fillRect l="-6" r="6" b="-12964"/>
                </a:stretch>
              </a:blipFill>
            </p:spPr>
            <p:txBody>
              <a:bodyPr/>
              <a:lstStyle/>
              <a:p>
                <a:r>
                  <a:rPr lang="zh-CN" altLang="en-US">
                    <a:noFill/>
                  </a:rPr>
                  <a:t> </a:t>
                </a:r>
              </a:p>
            </p:txBody>
          </p:sp>
        </mc:Fallback>
      </mc:AlternateContent>
      <p:cxnSp>
        <p:nvCxnSpPr>
          <p:cNvPr id="46" name="直接箭头连接符 45"/>
          <p:cNvCxnSpPr>
            <a:stCxn id="41" idx="2"/>
          </p:cNvCxnSpPr>
          <p:nvPr/>
        </p:nvCxnSpPr>
        <p:spPr>
          <a:xfrm flipV="1">
            <a:off x="2527935" y="4649470"/>
            <a:ext cx="4425315" cy="731520"/>
          </a:xfrm>
          <a:prstGeom prst="straightConnector1">
            <a:avLst/>
          </a:prstGeom>
          <a:ln w="19050">
            <a:solidFill>
              <a:schemeClr val="tx1"/>
            </a:solidFill>
            <a:tailEnd type="triangle"/>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mc:Choice xmlns:a14="http://schemas.microsoft.com/office/drawing/2010/main" Requires="a14">
          <p:sp>
            <p:nvSpPr>
              <p:cNvPr id="47" name="文本框 46"/>
              <p:cNvSpPr txBox="1"/>
              <p:nvPr/>
            </p:nvSpPr>
            <p:spPr>
              <a:xfrm>
                <a:off x="3966210" y="2965450"/>
                <a:ext cx="2911475" cy="360680"/>
              </a:xfrm>
              <a:prstGeom prst="rect">
                <a:avLst/>
              </a:prstGeom>
              <a:solidFill>
                <a:schemeClr val="bg1"/>
              </a:solidFill>
              <a:ln w="19050" cmpd="sng">
                <a:solidFill>
                  <a:schemeClr val="tx1"/>
                </a:solidFill>
                <a:prstDash val="solid"/>
              </a:ln>
            </p:spPr>
            <p:txBody>
              <a:bodyPr wrap="square" rtlCol="0">
                <a:spAutoFit/>
              </a:bodyPr>
              <a:p>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𝑃𝑟</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𝑔</m:t>
                          </m:r>
                        </m:e>
                        <m:sup>
                          <m:r>
                            <a:rPr lang="en-US" altLang="zh-CN" i="1">
                              <a:latin typeface="Cambria Math" panose="02040503050406030204" charset="0"/>
                              <a:cs typeface="Cambria Math" panose="02040503050406030204" charset="0"/>
                            </a:rPr>
                            <m:t>𝑇</m:t>
                          </m:r>
                        </m:sup>
                      </m:sSup>
                      <m:sSub>
                        <m:sSubPr>
                          <m:ctrlPr>
                            <a:rPr lang="en-US" altLang="zh-CN" i="1">
                              <a:solidFill>
                                <a:schemeClr val="bg2">
                                  <a:lumMod val="50000"/>
                                </a:schemeClr>
                              </a:solidFill>
                              <a:latin typeface="Cambria Math" panose="02040503050406030204" charset="0"/>
                              <a:cs typeface="Cambria Math" panose="02040503050406030204" charset="0"/>
                            </a:rPr>
                          </m:ctrlPr>
                        </m:sSubPr>
                        <m:e>
                          <m:r>
                            <a:rPr lang="en-US" altLang="zh-CN" i="1">
                              <a:solidFill>
                                <a:schemeClr val="bg2">
                                  <a:lumMod val="50000"/>
                                </a:schemeClr>
                              </a:solidFill>
                              <a:latin typeface="Cambria Math" panose="02040503050406030204" charset="0"/>
                              <a:cs typeface="Cambria Math" panose="02040503050406030204" charset="0"/>
                            </a:rPr>
                            <m:t>𝑧</m:t>
                          </m:r>
                        </m:e>
                        <m:sub>
                          <m:r>
                            <a:rPr lang="en-US" altLang="zh-CN" i="1">
                              <a:solidFill>
                                <a:schemeClr val="bg2">
                                  <a:lumMod val="50000"/>
                                </a:schemeClr>
                              </a:solidFill>
                              <a:latin typeface="Cambria Math" panose="02040503050406030204" charset="0"/>
                              <a:cs typeface="Cambria Math" panose="02040503050406030204" charset="0"/>
                            </a:rPr>
                            <m:t>𝑘</m:t>
                          </m:r>
                          <m:r>
                            <a:rPr lang="en-US" altLang="zh-CN" i="1">
                              <a:solidFill>
                                <a:schemeClr val="bg2">
                                  <a:lumMod val="50000"/>
                                </a:schemeClr>
                              </a:solidFill>
                              <a:latin typeface="Cambria Math" panose="02040503050406030204" charset="0"/>
                              <a:cs typeface="Cambria Math" panose="02040503050406030204" charset="0"/>
                            </a:rPr>
                            <m:t>+</m:t>
                          </m:r>
                          <m:r>
                            <a:rPr lang="en-US" altLang="zh-CN" i="1">
                              <a:solidFill>
                                <a:schemeClr val="bg2">
                                  <a:lumMod val="50000"/>
                                </a:schemeClr>
                              </a:solidFill>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𝑔</m:t>
                          </m:r>
                        </m:e>
                        <m:sup>
                          <m:r>
                            <a:rPr lang="en-US" altLang="zh-CN" i="1">
                              <a:latin typeface="Cambria Math" panose="02040503050406030204" charset="0"/>
                              <a:cs typeface="Cambria Math" panose="02040503050406030204" charset="0"/>
                            </a:rPr>
                            <m:t>𝑇</m:t>
                          </m:r>
                        </m:sup>
                      </m:sSup>
                      <m:sSub>
                        <m:sSubPr>
                          <m:ctrlPr>
                            <a:rPr lang="en-US" altLang="zh-CN" i="1">
                              <a:solidFill>
                                <a:srgbClr val="35D949"/>
                              </a:solidFill>
                              <a:latin typeface="Cambria Math" panose="02040503050406030204" charset="0"/>
                              <a:cs typeface="Cambria Math" panose="02040503050406030204" charset="0"/>
                            </a:rPr>
                          </m:ctrlPr>
                        </m:sSubPr>
                        <m:e>
                          <m:r>
                            <a:rPr lang="en-US" altLang="zh-CN" i="1">
                              <a:solidFill>
                                <a:srgbClr val="35D949"/>
                              </a:solidFill>
                              <a:latin typeface="Cambria Math" panose="02040503050406030204" charset="0"/>
                              <a:cs typeface="Cambria Math" panose="02040503050406030204" charset="0"/>
                            </a:rPr>
                            <m:t>𝑒</m:t>
                          </m:r>
                        </m:e>
                        <m:sub>
                          <m:r>
                            <a:rPr lang="en-US" altLang="zh-CN" i="1">
                              <a:solidFill>
                                <a:srgbClr val="35D949"/>
                              </a:solidFill>
                              <a:latin typeface="Cambria Math" panose="02040503050406030204" charset="0"/>
                              <a:cs typeface="Cambria Math" panose="02040503050406030204" charset="0"/>
                            </a:rPr>
                            <m:t>𝑘</m:t>
                          </m:r>
                          <m:r>
                            <a:rPr lang="en-US" altLang="zh-CN" i="1">
                              <a:solidFill>
                                <a:srgbClr val="35D949"/>
                              </a:solidFill>
                              <a:latin typeface="Cambria Math" panose="02040503050406030204" charset="0"/>
                              <a:cs typeface="Cambria Math" panose="02040503050406030204" charset="0"/>
                            </a:rPr>
                            <m:t>+</m:t>
                          </m:r>
                          <m:r>
                            <a:rPr lang="en-US" altLang="zh-CN" i="1">
                              <a:solidFill>
                                <a:srgbClr val="35D949"/>
                              </a:solidFill>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oMath>
                  </m:oMathPara>
                </a14:m>
                <a:endParaRPr lang="zh-CN" altLang="en-US"/>
              </a:p>
            </p:txBody>
          </p:sp>
        </mc:Choice>
        <mc:Fallback>
          <p:sp>
            <p:nvSpPr>
              <p:cNvPr id="47" name="文本框 46"/>
              <p:cNvSpPr txBox="1">
                <a:spLocks noRot="1" noChangeAspect="1" noMove="1" noResize="1" noEditPoints="1" noAdjustHandles="1" noChangeArrowheads="1" noChangeShapeType="1" noTextEdit="1"/>
              </p:cNvSpPr>
              <p:nvPr/>
            </p:nvSpPr>
            <p:spPr>
              <a:xfrm>
                <a:off x="3966210" y="2965450"/>
                <a:ext cx="2911475" cy="360680"/>
              </a:xfrm>
              <a:prstGeom prst="rect">
                <a:avLst/>
              </a:prstGeom>
              <a:blipFill rotWithShape="1">
                <a:blip r:embed="rId10"/>
                <a:stretch>
                  <a:fillRect l="-327" t="-2641" r="-327" b="-2641"/>
                </a:stretch>
              </a:blipFill>
              <a:ln w="19050" cmpd="sng">
                <a:solidFill>
                  <a:schemeClr val="tx1"/>
                </a:solidFill>
                <a:prstDash val="solid"/>
              </a:ln>
            </p:spPr>
            <p:txBody>
              <a:bodyPr/>
              <a:lstStyle/>
              <a:p>
                <a:r>
                  <a:rPr lang="zh-CN" altLang="en-US">
                    <a:noFill/>
                  </a:rPr>
                  <a:t> </a:t>
                </a:r>
              </a:p>
            </p:txBody>
          </p:sp>
        </mc:Fallback>
      </mc:AlternateContent>
      <p:sp>
        <p:nvSpPr>
          <p:cNvPr id="6" name="矩形 5"/>
          <p:cNvSpPr/>
          <p:nvPr/>
        </p:nvSpPr>
        <p:spPr>
          <a:xfrm>
            <a:off x="8293100" y="2219960"/>
            <a:ext cx="2316480" cy="426720"/>
          </a:xfrm>
          <a:prstGeom prst="rect">
            <a:avLst/>
          </a:prstGeom>
          <a:noFill/>
          <a:ln w="19050">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0" name="直接箭头连接符 9"/>
          <p:cNvCxnSpPr>
            <a:stCxn id="6" idx="0"/>
          </p:cNvCxnSpPr>
          <p:nvPr/>
        </p:nvCxnSpPr>
        <p:spPr>
          <a:xfrm flipV="1">
            <a:off x="9451340" y="1610995"/>
            <a:ext cx="23495" cy="608965"/>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12" name="直接箭头连接符 11"/>
          <p:cNvCxnSpPr/>
          <p:nvPr/>
        </p:nvCxnSpPr>
        <p:spPr>
          <a:xfrm flipH="1">
            <a:off x="5149215" y="2436495"/>
            <a:ext cx="3156585" cy="84455"/>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24" name="文本框 23"/>
          <p:cNvSpPr txBox="1"/>
          <p:nvPr/>
        </p:nvSpPr>
        <p:spPr>
          <a:xfrm>
            <a:off x="5150485" y="2261870"/>
            <a:ext cx="1442085" cy="368300"/>
          </a:xfrm>
          <a:prstGeom prst="rect">
            <a:avLst/>
          </a:prstGeom>
          <a:noFill/>
        </p:spPr>
        <p:txBody>
          <a:bodyPr wrap="square" rtlCol="0">
            <a:spAutoFit/>
          </a:bodyPr>
          <a:p>
            <a:r>
              <a:rPr lang="zh-CN" altLang="en-US"/>
              <a:t>（有界）</a:t>
            </a: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a:xfrm>
            <a:off x="915670" y="5398135"/>
            <a:ext cx="10515600" cy="356235"/>
          </a:xfrm>
        </p:spPr>
        <p:txBody>
          <a:bodyPr/>
          <a:p>
            <a:r>
              <a:rPr lang="en-US" altLang="zh-CN"/>
              <a:t>STMPC</a:t>
            </a:r>
            <a:r>
              <a:rPr lang="zh-CN" altLang="en-US"/>
              <a:t>在推导过程中多处引入了不等式和充分条件，增大了算法保守性，且都与</a:t>
            </a:r>
            <a:r>
              <a:rPr lang="zh-CN" altLang="en-US"/>
              <a:t>随机分布计算</a:t>
            </a:r>
            <a:r>
              <a:rPr lang="zh-CN" altLang="en-US"/>
              <a:t>有关</a:t>
            </a:r>
            <a:endParaRPr lang="zh-CN" altLang="en-US"/>
          </a:p>
        </p:txBody>
      </p:sp>
      <p:sp>
        <p:nvSpPr>
          <p:cNvPr id="3" name="文本占位符 2"/>
          <p:cNvSpPr>
            <a:spLocks noGrp="1"/>
          </p:cNvSpPr>
          <p:nvPr>
            <p:ph type="body" idx="13"/>
          </p:nvPr>
        </p:nvSpPr>
        <p:spPr>
          <a:xfrm>
            <a:off x="0" y="670560"/>
            <a:ext cx="11231880" cy="448310"/>
          </a:xfrm>
        </p:spPr>
        <p:txBody>
          <a:bodyPr/>
          <a:p>
            <a:r>
              <a:rPr lang="en-US" altLang="zh-CN"/>
              <a:t>&gt;&gt;&gt;STMPC</a:t>
            </a:r>
            <a:r>
              <a:t>保守性分析</a:t>
            </a:r>
            <a:r>
              <a:rPr lang="en-US" altLang="zh-CN"/>
              <a:t>——</a:t>
            </a:r>
            <a:r>
              <a:t>从</a:t>
            </a:r>
            <a:r>
              <a:rPr lang="en-US" altLang="zh-CN"/>
              <a:t>STMPC</a:t>
            </a:r>
            <a:r>
              <a:t>理论推导</a:t>
            </a:r>
            <a:r>
              <a:t>算法保守的</a:t>
            </a:r>
            <a:r>
              <a:t>原因</a:t>
            </a:r>
          </a:p>
        </p:txBody>
      </p:sp>
      <p:sp>
        <p:nvSpPr>
          <p:cNvPr id="4" name="文本占位符 3"/>
          <p:cNvSpPr>
            <a:spLocks noGrp="1"/>
          </p:cNvSpPr>
          <p:nvPr>
            <p:ph type="body" idx="14"/>
          </p:nvPr>
        </p:nvSpPr>
        <p:spPr>
          <a:xfrm>
            <a:off x="805180" y="111760"/>
            <a:ext cx="8534400" cy="448310"/>
          </a:xfrm>
        </p:spPr>
        <p:txBody>
          <a:bodyPr/>
          <a:p>
            <a:r>
              <a:rPr>
                <a:sym typeface="+mn-ea"/>
              </a:rPr>
              <a:t>随机模型预测控制解机会约束优化问题（</a:t>
            </a:r>
            <a:r>
              <a:rPr lang="en-US" altLang="zh-CN">
                <a:sym typeface="+mn-ea"/>
              </a:rPr>
              <a:t>4.3</a:t>
            </a:r>
            <a:r>
              <a:rPr>
                <a:sym typeface="+mn-ea"/>
              </a:rPr>
              <a:t>）</a:t>
            </a:r>
            <a:endParaRPr lang="zh-CN" altLang="en-US"/>
          </a:p>
        </p:txBody>
      </p:sp>
      <mc:AlternateContent xmlns:mc="http://schemas.openxmlformats.org/markup-compatibility/2006" xmlns:a14="http://schemas.microsoft.com/office/drawing/2010/main">
        <mc:Choice Requires="a14">
          <p:graphicFrame>
            <p:nvGraphicFramePr>
              <p:cNvPr id="6" name="表格 5"/>
              <p:cNvGraphicFramePr/>
              <p:nvPr/>
            </p:nvGraphicFramePr>
            <p:xfrm>
              <a:off x="494030" y="1516380"/>
              <a:ext cx="11203940" cy="3142615"/>
            </p:xfrm>
            <a:graphic>
              <a:graphicData uri="http://schemas.openxmlformats.org/drawingml/2006/table">
                <a:tbl>
                  <a:tblPr firstRow="1" bandRow="1">
                    <a:tableStyleId>{5C22544A-7EE6-4342-B048-85BDC9FD1C3A}</a:tableStyleId>
                  </a:tblPr>
                  <a:tblGrid>
                    <a:gridCol w="1607185"/>
                    <a:gridCol w="2056765"/>
                    <a:gridCol w="7539990"/>
                  </a:tblGrid>
                  <a:tr h="381000">
                    <a:tc>
                      <a:txBody>
                        <a:bodyPr/>
                        <a:p>
                          <a:pPr algn="ctr">
                            <a:buNone/>
                          </a:pPr>
                          <a:r>
                            <a:rPr lang="zh-CN" altLang="en-US"/>
                            <a:t>偏差</a:t>
                          </a:r>
                          <a:r>
                            <a:rPr lang="zh-CN" altLang="en-US"/>
                            <a:t>编号</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75000"/>
                          </a:schemeClr>
                        </a:solidFill>
                      </a:tcPr>
                    </a:tc>
                    <a:tc>
                      <a:txBody>
                        <a:bodyPr/>
                        <a:p>
                          <a:pPr algn="ctr">
                            <a:buNone/>
                          </a:pPr>
                          <a:r>
                            <a:rPr lang="zh-CN" altLang="en-US"/>
                            <a:t>偏差</a:t>
                          </a:r>
                          <a:r>
                            <a:rPr lang="zh-CN" altLang="en-US"/>
                            <a:t>原因</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75000"/>
                          </a:schemeClr>
                        </a:solidFill>
                      </a:tcPr>
                    </a:tc>
                    <a:tc>
                      <a:txBody>
                        <a:bodyPr/>
                        <a:p>
                          <a:pPr algn="ctr">
                            <a:buNone/>
                          </a:pPr>
                          <a:r>
                            <a:rPr lang="zh-CN" altLang="en-US"/>
                            <a:t>偏差</a:t>
                          </a:r>
                          <a:r>
                            <a:rPr lang="zh-CN" altLang="en-US"/>
                            <a:t>表达式</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75000"/>
                          </a:schemeClr>
                        </a:solidFill>
                      </a:tcPr>
                    </a:tc>
                  </a:tr>
                  <a:tr h="381000">
                    <a:tc>
                      <a:txBody>
                        <a:bodyPr/>
                        <a:p>
                          <a:pPr algn="l">
                            <a:buClrTx/>
                            <a:buSzTx/>
                            <a:buFontTx/>
                            <a:buNone/>
                          </a:pPr>
                          <a14:m>
                            <m:oMathPara xmlns:m="http://schemas.openxmlformats.org/officeDocument/2006/math">
                              <m:oMathParaPr>
                                <m:jc m:val="centerGroup"/>
                              </m:oMathParaPr>
                              <m:oMath xmlns:m="http://schemas.openxmlformats.org/officeDocument/2006/math">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1</m:t>
                                    </m:r>
                                  </m:sub>
                                </m:sSub>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𝑟𝑒𝑓</m:t>
                                    </m:r>
                                  </m:sub>
                                </m:sSub>
                                <m:r>
                                  <a:rPr lang="en-US" altLang="zh-CN" sz="1800" i="1">
                                    <a:latin typeface="Cambria Math" panose="02040503050406030204" charset="0"/>
                                    <a:cs typeface="Cambria Math" panose="02040503050406030204" charset="0"/>
                                  </a:rPr>
                                  <m:t>)</m:t>
                                </m:r>
                              </m:oMath>
                            </m:oMathPara>
                          </a14:m>
                          <a:endParaRPr lang="en-US" altLang="zh-CN" i="1">
                            <a:latin typeface="Cambria Math" panose="02040503050406030204" charset="0"/>
                            <a:cs typeface="Cambria Math"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a:t>无</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a:t>0</a:t>
                          </a:r>
                          <a:endParaRPr lang="en-US" alt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p>
                          <a:pPr>
                            <a:buNone/>
                          </a:pPr>
                          <a14:m>
                            <m:oMathPara xmlns:m="http://schemas.openxmlformats.org/officeDocument/2006/math">
                              <m:oMathParaPr>
                                <m:jc m:val="centerGroup"/>
                              </m:oMathParaPr>
                              <m:oMath xmlns:m="http://schemas.openxmlformats.org/officeDocument/2006/math">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2</m:t>
                                    </m:r>
                                  </m:sub>
                                </m:sSub>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1</m:t>
                                    </m:r>
                                  </m:sub>
                                </m:sSub>
                                <m:r>
                                  <a:rPr lang="en-US" altLang="zh-CN" sz="1800" i="1">
                                    <a:latin typeface="Cambria Math" panose="02040503050406030204" charset="0"/>
                                    <a:cs typeface="Cambria Math" panose="02040503050406030204" charset="0"/>
                                  </a:rPr>
                                  <m:t>)</m:t>
                                </m:r>
                              </m:oMath>
                            </m:oMathPara>
                          </a14:m>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a:t>随机管</a:t>
                          </a:r>
                          <a:r>
                            <a:rPr lang="zh-CN" altLang="en-US" sz="1800">
                              <a:sym typeface="+mn-ea"/>
                            </a:rPr>
                            <a:t>条件</a:t>
                          </a:r>
                          <a:endParaRPr lang="zh-CN" altLang="en-US"/>
                        </a:p>
                        <a:p>
                          <a:pPr algn="ctr">
                            <a:buNone/>
                          </a:pPr>
                          <a:r>
                            <a:rPr lang="zh-CN" altLang="en-US"/>
                            <a:t>（置信</a:t>
                          </a:r>
                          <a:r>
                            <a:rPr lang="zh-CN" altLang="en-US"/>
                            <a:t>椭圆）</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14:m>
                            <m:oMathPara xmlns:m="http://schemas.openxmlformats.org/officeDocument/2006/math">
                              <m:oMathParaPr>
                                <m:jc m:val="centerGroup"/>
                              </m:oMathParaPr>
                              <m:oMath xmlns:m="http://schemas.openxmlformats.org/officeDocument/2006/math">
                                <m:sSub>
                                  <m:sSubPr>
                                    <m:ctrlPr>
                                      <a:rPr lang="en-US" altLang="zh-CN" sz="1800" i="1">
                                        <a:solidFill>
                                          <a:srgbClr val="FF0000"/>
                                        </a:solidFill>
                                        <a:latin typeface="Cambria Math" panose="02040503050406030204" charset="0"/>
                                        <a:cs typeface="Cambria Math" panose="02040503050406030204" charset="0"/>
                                      </a:rPr>
                                    </m:ctrlPr>
                                  </m:sSubPr>
                                  <m:e>
                                    <m:r>
                                      <a:rPr lang="en-US" altLang="zh-CN" sz="1800" i="1">
                                        <a:solidFill>
                                          <a:srgbClr val="FF0000"/>
                                        </a:solidFill>
                                        <a:latin typeface="Cambria Math" panose="02040503050406030204" charset="0"/>
                                        <a:cs typeface="Cambria Math" panose="02040503050406030204" charset="0"/>
                                      </a:rPr>
                                      <m:t>𝐹</m:t>
                                    </m:r>
                                  </m:e>
                                  <m:sub>
                                    <m:sSup>
                                      <m:sSupPr>
                                        <m:ctrlPr>
                                          <a:rPr lang="en-US" altLang="zh-CN" sz="1800" i="1">
                                            <a:solidFill>
                                              <a:srgbClr val="FF0000"/>
                                            </a:solidFill>
                                            <a:latin typeface="Cambria Math" panose="02040503050406030204" charset="0"/>
                                            <a:cs typeface="Cambria Math" panose="02040503050406030204" charset="0"/>
                                          </a:rPr>
                                        </m:ctrlPr>
                                      </m:sSupPr>
                                      <m:e>
                                        <m:r>
                                          <a:rPr lang="en-US" altLang="zh-CN" sz="1800" i="1">
                                            <a:solidFill>
                                              <a:srgbClr val="FF0000"/>
                                            </a:solidFill>
                                            <a:latin typeface="Cambria Math" panose="02040503050406030204" charset="0"/>
                                            <a:cs typeface="Cambria Math" panose="02040503050406030204" charset="0"/>
                                          </a:rPr>
                                          <m:t>𝑒</m:t>
                                        </m:r>
                                      </m:e>
                                      <m:sup>
                                        <m:r>
                                          <a:rPr lang="en-US" altLang="zh-CN" sz="1800" i="1">
                                            <a:solidFill>
                                              <a:srgbClr val="FF0000"/>
                                            </a:solidFill>
                                            <a:latin typeface="Cambria Math" panose="02040503050406030204" charset="0"/>
                                            <a:cs typeface="Cambria Math" panose="02040503050406030204" charset="0"/>
                                          </a:rPr>
                                          <m:t>𝑇</m:t>
                                        </m:r>
                                      </m:sup>
                                    </m:sSup>
                                    <m:r>
                                      <a:rPr lang="en-US" altLang="zh-CN" sz="1800" i="1">
                                        <a:solidFill>
                                          <a:srgbClr val="FF0000"/>
                                        </a:solidFill>
                                        <a:latin typeface="Cambria Math" panose="02040503050406030204" charset="0"/>
                                        <a:cs typeface="Cambria Math" panose="02040503050406030204" charset="0"/>
                                      </a:rPr>
                                      <m:t>𝑉𝑒</m:t>
                                    </m:r>
                                  </m:sub>
                                </m:sSub>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𝛽</m:t>
                                    </m:r>
                                  </m:e>
                                  <m:sub>
                                    <m:r>
                                      <a:rPr lang="en-US" altLang="zh-CN" sz="1800" i="1">
                                        <a:latin typeface="Cambria Math" panose="02040503050406030204" charset="0"/>
                                        <a:cs typeface="Cambria Math" panose="02040503050406030204" charset="0"/>
                                      </a:rPr>
                                      <m:t>𝑖</m:t>
                                    </m:r>
                                  </m:sub>
                                </m:sSub>
                                <m:r>
                                  <a:rPr lang="en-US" altLang="zh-CN" sz="1800" i="1">
                                    <a:latin typeface="Cambria Math" panose="02040503050406030204" charset="0"/>
                                    <a:cs typeface="Cambria Math" panose="02040503050406030204" charset="0"/>
                                  </a:rPr>
                                  <m:t>)∗[</m:t>
                                </m:r>
                                <m:sSub>
                                  <m:sSubPr>
                                    <m:ctrlPr>
                                      <a:rPr lang="en-US" altLang="zh-CN" sz="1800" i="1">
                                        <a:solidFill>
                                          <a:srgbClr val="FF0000"/>
                                        </a:solidFill>
                                        <a:latin typeface="Cambria Math" panose="02040503050406030204" charset="0"/>
                                        <a:cs typeface="Cambria Math" panose="02040503050406030204" charset="0"/>
                                      </a:rPr>
                                    </m:ctrlPr>
                                  </m:sSubPr>
                                  <m:e>
                                    <m:r>
                                      <a:rPr lang="en-US" altLang="zh-CN" sz="1800" i="1">
                                        <a:solidFill>
                                          <a:srgbClr val="FF0000"/>
                                        </a:solidFill>
                                        <a:latin typeface="Cambria Math" panose="02040503050406030204" charset="0"/>
                                        <a:cs typeface="Cambria Math" panose="02040503050406030204" charset="0"/>
                                      </a:rPr>
                                      <m:t>𝐹</m:t>
                                    </m:r>
                                  </m:e>
                                  <m:sub>
                                    <m:sSup>
                                      <m:sSupPr>
                                        <m:ctrlPr>
                                          <a:rPr lang="en-US" altLang="zh-CN" sz="1800" i="1">
                                            <a:solidFill>
                                              <a:srgbClr val="FF0000"/>
                                            </a:solidFill>
                                            <a:latin typeface="Cambria Math" panose="02040503050406030204" charset="0"/>
                                            <a:cs typeface="Cambria Math" panose="02040503050406030204" charset="0"/>
                                          </a:rPr>
                                        </m:ctrlPr>
                                      </m:sSupPr>
                                      <m:e>
                                        <m:r>
                                          <a:rPr lang="en-US" altLang="zh-CN" sz="1800" i="1">
                                            <a:solidFill>
                                              <a:srgbClr val="FF0000"/>
                                            </a:solidFill>
                                            <a:latin typeface="Cambria Math" panose="02040503050406030204" charset="0"/>
                                            <a:cs typeface="Cambria Math" panose="02040503050406030204" charset="0"/>
                                          </a:rPr>
                                          <m:t>𝑒</m:t>
                                        </m:r>
                                      </m:e>
                                      <m:sup>
                                        <m:r>
                                          <a:rPr lang="en-US" altLang="zh-CN" sz="1800" i="1">
                                            <a:solidFill>
                                              <a:srgbClr val="FF0000"/>
                                            </a:solidFill>
                                            <a:latin typeface="Cambria Math" panose="02040503050406030204" charset="0"/>
                                            <a:cs typeface="Cambria Math" panose="02040503050406030204" charset="0"/>
                                          </a:rPr>
                                          <m:t>𝑇</m:t>
                                        </m:r>
                                      </m:sup>
                                    </m:sSup>
                                    <m:r>
                                      <a:rPr lang="en-US" altLang="zh-CN" sz="1800" i="1">
                                        <a:solidFill>
                                          <a:srgbClr val="FF0000"/>
                                        </a:solidFill>
                                        <a:latin typeface="Cambria Math" panose="02040503050406030204" charset="0"/>
                                        <a:cs typeface="Cambria Math" panose="02040503050406030204" charset="0"/>
                                      </a:rPr>
                                      <m:t>𝑉𝑒</m:t>
                                    </m:r>
                                  </m:sub>
                                </m:sSub>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𝑏</m:t>
                                </m:r>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𝜋</m:t>
                                    </m:r>
                                  </m:e>
                                  <m:sub>
                                    <m:r>
                                      <a:rPr lang="en-US" altLang="zh-CN" sz="1800" i="1">
                                        <a:latin typeface="Cambria Math" panose="02040503050406030204" charset="0"/>
                                        <a:cs typeface="Cambria Math" panose="02040503050406030204" charset="0"/>
                                      </a:rPr>
                                      <m:t>𝑖</m:t>
                                    </m:r>
                                  </m:sub>
                                </m:sSub>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𝑟𝑒𝑓</m:t>
                                    </m:r>
                                  </m:sub>
                                </m:sSub>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𝜀</m:t>
                                </m:r>
                                <m:r>
                                  <a:rPr lang="en-US" altLang="zh-CN" sz="1800" i="1">
                                    <a:latin typeface="Cambria Math" panose="02040503050406030204" charset="0"/>
                                    <a:cs typeface="Cambria Math" panose="02040503050406030204" charset="0"/>
                                  </a:rPr>
                                  <m:t>)/</m:t>
                                </m:r>
                                <m:sSub>
                                  <m:sSubPr>
                                    <m:ctrlPr>
                                      <a:rPr lang="en-US" altLang="zh-CN" sz="1800" i="1">
                                        <a:solidFill>
                                          <a:srgbClr val="FF0000"/>
                                        </a:solidFill>
                                        <a:latin typeface="Cambria Math" panose="02040503050406030204" charset="0"/>
                                        <a:cs typeface="Cambria Math" panose="02040503050406030204" charset="0"/>
                                      </a:rPr>
                                    </m:ctrlPr>
                                  </m:sSubPr>
                                  <m:e>
                                    <m:r>
                                      <a:rPr lang="en-US" altLang="zh-CN" sz="1800" i="1">
                                        <a:solidFill>
                                          <a:srgbClr val="FF0000"/>
                                        </a:solidFill>
                                        <a:latin typeface="Cambria Math" panose="02040503050406030204" charset="0"/>
                                        <a:cs typeface="Cambria Math" panose="02040503050406030204" charset="0"/>
                                      </a:rPr>
                                      <m:t>𝐹</m:t>
                                    </m:r>
                                  </m:e>
                                  <m:sub>
                                    <m:sSup>
                                      <m:sSupPr>
                                        <m:ctrlPr>
                                          <a:rPr lang="en-US" altLang="zh-CN" sz="1800" i="1">
                                            <a:solidFill>
                                              <a:srgbClr val="FF0000"/>
                                            </a:solidFill>
                                            <a:latin typeface="Cambria Math" panose="02040503050406030204" charset="0"/>
                                            <a:cs typeface="Cambria Math" panose="02040503050406030204" charset="0"/>
                                          </a:rPr>
                                        </m:ctrlPr>
                                      </m:sSupPr>
                                      <m:e>
                                        <m:r>
                                          <a:rPr lang="en-US" altLang="zh-CN" sz="1800" i="1">
                                            <a:solidFill>
                                              <a:srgbClr val="FF0000"/>
                                            </a:solidFill>
                                            <a:latin typeface="Cambria Math" panose="02040503050406030204" charset="0"/>
                                            <a:cs typeface="Cambria Math" panose="02040503050406030204" charset="0"/>
                                          </a:rPr>
                                          <m:t>𝑒</m:t>
                                        </m:r>
                                      </m:e>
                                      <m:sup>
                                        <m:r>
                                          <a:rPr lang="en-US" altLang="zh-CN" sz="1800" i="1">
                                            <a:solidFill>
                                              <a:srgbClr val="FF0000"/>
                                            </a:solidFill>
                                            <a:latin typeface="Cambria Math" panose="02040503050406030204" charset="0"/>
                                            <a:cs typeface="Cambria Math" panose="02040503050406030204" charset="0"/>
                                          </a:rPr>
                                          <m:t>𝑇</m:t>
                                        </m:r>
                                      </m:sup>
                                    </m:sSup>
                                    <m:r>
                                      <a:rPr lang="en-US" altLang="zh-CN" sz="1800" i="1">
                                        <a:solidFill>
                                          <a:srgbClr val="FF0000"/>
                                        </a:solidFill>
                                        <a:latin typeface="Cambria Math" panose="02040503050406030204" charset="0"/>
                                        <a:cs typeface="Cambria Math" panose="02040503050406030204" charset="0"/>
                                      </a:rPr>
                                      <m:t>𝑉𝑒</m:t>
                                    </m:r>
                                  </m:sub>
                                </m:sSub>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𝛽</m:t>
                                    </m:r>
                                  </m:e>
                                  <m:sub>
                                    <m:r>
                                      <a:rPr lang="en-US" altLang="zh-CN" sz="1800" i="1">
                                        <a:latin typeface="Cambria Math" panose="02040503050406030204" charset="0"/>
                                        <a:cs typeface="Cambria Math" panose="02040503050406030204" charset="0"/>
                                      </a:rPr>
                                      <m:t>𝑖</m:t>
                                    </m:r>
                                  </m:sub>
                                </m:sSub>
                                <m:r>
                                  <a:rPr lang="en-US" altLang="zh-CN" sz="1800" i="1">
                                    <a:latin typeface="Cambria Math" panose="02040503050406030204" charset="0"/>
                                    <a:cs typeface="Cambria Math" panose="02040503050406030204" charset="0"/>
                                  </a:rPr>
                                  <m:t>)−</m:t>
                                </m:r>
                                <m:sSub>
                                  <m:sSubPr>
                                    <m:ctrlPr>
                                      <a:rPr lang="en-US" altLang="zh-CN" sz="1800" i="1">
                                        <a:solidFill>
                                          <a:srgbClr val="FF0000"/>
                                        </a:solidFill>
                                        <a:latin typeface="Cambria Math" panose="02040503050406030204" charset="0"/>
                                        <a:cs typeface="Cambria Math" panose="02040503050406030204" charset="0"/>
                                      </a:rPr>
                                    </m:ctrlPr>
                                  </m:sSubPr>
                                  <m:e>
                                    <m:r>
                                      <a:rPr lang="en-US" altLang="zh-CN" sz="1800" i="1">
                                        <a:solidFill>
                                          <a:srgbClr val="FF0000"/>
                                        </a:solidFill>
                                        <a:latin typeface="Cambria Math" panose="02040503050406030204" charset="0"/>
                                        <a:cs typeface="Cambria Math" panose="02040503050406030204" charset="0"/>
                                      </a:rPr>
                                      <m:t>𝐹</m:t>
                                    </m:r>
                                  </m:e>
                                  <m:sub>
                                    <m:sSub>
                                      <m:sSubPr>
                                        <m:ctrlPr>
                                          <a:rPr lang="en-US" altLang="zh-CN" sz="1800" i="1">
                                            <a:solidFill>
                                              <a:srgbClr val="FF0000"/>
                                            </a:solidFill>
                                            <a:latin typeface="Cambria Math" panose="02040503050406030204" charset="0"/>
                                            <a:cs typeface="Cambria Math" panose="02040503050406030204" charset="0"/>
                                          </a:rPr>
                                        </m:ctrlPr>
                                      </m:sSubPr>
                                      <m:e>
                                        <m:r>
                                          <a:rPr lang="en-US" altLang="zh-CN" sz="1800" i="1">
                                            <a:solidFill>
                                              <a:srgbClr val="FF0000"/>
                                            </a:solidFill>
                                            <a:latin typeface="Cambria Math" panose="02040503050406030204" charset="0"/>
                                            <a:cs typeface="Cambria Math" panose="02040503050406030204" charset="0"/>
                                          </a:rPr>
                                          <m:t>𝛽</m:t>
                                        </m:r>
                                      </m:e>
                                      <m:sub>
                                        <m:r>
                                          <a:rPr lang="en-US" altLang="zh-CN" sz="1800" i="1">
                                            <a:solidFill>
                                              <a:srgbClr val="FF0000"/>
                                            </a:solidFill>
                                            <a:latin typeface="Cambria Math" panose="02040503050406030204" charset="0"/>
                                            <a:cs typeface="Cambria Math" panose="02040503050406030204" charset="0"/>
                                          </a:rPr>
                                          <m:t>𝑖</m:t>
                                        </m:r>
                                      </m:sub>
                                    </m:sSub>
                                  </m:sub>
                                </m:sSub>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𝑏</m:t>
                                </m:r>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𝜋</m:t>
                                    </m:r>
                                  </m:e>
                                  <m:sub>
                                    <m:r>
                                      <a:rPr lang="en-US" altLang="zh-CN" sz="1800" i="1">
                                        <a:latin typeface="Cambria Math" panose="02040503050406030204" charset="0"/>
                                        <a:cs typeface="Cambria Math" panose="02040503050406030204" charset="0"/>
                                      </a:rPr>
                                      <m:t>𝑖</m:t>
                                    </m:r>
                                  </m:sub>
                                </m:sSub>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𝑟𝑒𝑓</m:t>
                                    </m:r>
                                  </m:sub>
                                </m:sSub>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𝜀</m:t>
                                </m:r>
                                <m:r>
                                  <a:rPr lang="en-US" altLang="zh-CN" sz="1800" i="1">
                                    <a:latin typeface="Cambria Math" panose="02040503050406030204" charset="0"/>
                                    <a:cs typeface="Cambria Math" panose="02040503050406030204" charset="0"/>
                                  </a:rPr>
                                  <m:t>))]</m:t>
                                </m:r>
                              </m:oMath>
                            </m:oMathPara>
                          </a14:m>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p>
                          <a:pPr>
                            <a:buNone/>
                          </a:pPr>
                          <a14:m>
                            <m:oMathPara xmlns:m="http://schemas.openxmlformats.org/officeDocument/2006/math">
                              <m:oMathParaPr>
                                <m:jc m:val="centerGroup"/>
                              </m:oMathParaPr>
                              <m:oMath xmlns:m="http://schemas.openxmlformats.org/officeDocument/2006/math">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3</m:t>
                                    </m:r>
                                  </m:sub>
                                </m:sSub>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2</m:t>
                                    </m:r>
                                  </m:sub>
                                </m:sSub>
                                <m:r>
                                  <a:rPr lang="en-US" altLang="zh-CN" sz="1800" i="1">
                                    <a:latin typeface="Cambria Math" panose="02040503050406030204" charset="0"/>
                                    <a:cs typeface="Cambria Math" panose="02040503050406030204" charset="0"/>
                                  </a:rPr>
                                  <m:t>)</m:t>
                                </m:r>
                              </m:oMath>
                            </m:oMathPara>
                          </a14:m>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r>
                            <a:rPr lang="zh-CN" altLang="en-US"/>
                            <a:t>机会约束处理机制</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14:m>
                            <m:oMathPara xmlns:m="http://schemas.openxmlformats.org/officeDocument/2006/math">
                              <m:oMathParaPr>
                                <m:jc m:val="centerGroup"/>
                              </m:oMathParaPr>
                              <m:oMath xmlns:m="http://schemas.openxmlformats.org/officeDocument/2006/math">
                                <m:r>
                                  <a:rPr lang="en-US" altLang="zh-CN" sz="1800" i="1">
                                    <a:latin typeface="Cambria Math" panose="02040503050406030204" charset="0"/>
                                    <a:cs typeface="Cambria Math" panose="02040503050406030204" charset="0"/>
                                  </a:rPr>
                                  <m:t>𝑃𝑟</m:t>
                                </m:r>
                                <m:r>
                                  <a:rPr lang="en-US" altLang="zh-CN" sz="1800" i="1">
                                    <a:latin typeface="Cambria Math" panose="02040503050406030204" charset="0"/>
                                    <a:cs typeface="Cambria Math" panose="02040503050406030204" charset="0"/>
                                  </a:rPr>
                                  <m:t>(</m:t>
                                </m:r>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𝑔</m:t>
                                    </m:r>
                                  </m:e>
                                  <m:sup>
                                    <m:r>
                                      <a:rPr lang="en-US" altLang="zh-CN" sz="1800" i="1">
                                        <a:latin typeface="Cambria Math" panose="02040503050406030204" charset="0"/>
                                        <a:cs typeface="Cambria Math" panose="02040503050406030204" charset="0"/>
                                      </a:rPr>
                                      <m:t>𝑇</m:t>
                                    </m:r>
                                  </m:sup>
                                </m:sSup>
                                <m:r>
                                  <a:rPr lang="en-US" altLang="zh-CN" sz="1800" i="1">
                                    <a:latin typeface="Cambria Math" panose="02040503050406030204" charset="0"/>
                                    <a:cs typeface="Cambria Math" panose="02040503050406030204" charset="0"/>
                                  </a:rPr>
                                  <m:t>𝑒</m:t>
                                </m:r>
                                <m:r>
                                  <a:rPr lang="en-US" altLang="zh-CN" sz="1800" i="1">
                                    <a:latin typeface="Cambria Math" panose="02040503050406030204" charset="0"/>
                                    <a:cs typeface="Cambria Math" panose="02040503050406030204" charset="0"/>
                                  </a:rPr>
                                  <m:t>≤</m:t>
                                </m:r>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𝑏</m:t>
                                    </m:r>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𝜋</m:t>
                                        </m:r>
                                      </m:e>
                                      <m:sub>
                                        <m:r>
                                          <a:rPr lang="en-US" altLang="zh-CN" sz="1800" i="1">
                                            <a:latin typeface="Cambria Math" panose="02040503050406030204" charset="0"/>
                                            <a:cs typeface="Cambria Math" panose="02040503050406030204" charset="0"/>
                                          </a:rPr>
                                          <m:t>𝑖</m:t>
                                        </m:r>
                                      </m:sub>
                                    </m:sSub>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𝑟𝑒𝑓</m:t>
                                        </m:r>
                                      </m:sub>
                                    </m:sSub>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𝜀</m:t>
                                    </m:r>
                                    <m:r>
                                      <a:rPr lang="en-US" altLang="zh-CN" sz="1800" i="1">
                                        <a:latin typeface="Cambria Math" panose="02040503050406030204" charset="0"/>
                                        <a:cs typeface="Cambria Math" panose="02040503050406030204" charset="0"/>
                                      </a:rPr>
                                      <m:t>)</m:t>
                                    </m:r>
                                  </m:e>
                                  <m:sup>
                                    <m:box>
                                      <m:boxPr>
                                        <m:noBreak m:val="on"/>
                                        <m:ctrlPr>
                                          <a:rPr lang="en-US" altLang="zh-CN" sz="1800" i="1">
                                            <a:latin typeface="Cambria Math" panose="02040503050406030204" charset="0"/>
                                            <a:cs typeface="Cambria Math" panose="02040503050406030204" charset="0"/>
                                          </a:rPr>
                                        </m:ctrlPr>
                                      </m:boxPr>
                                      <m:e>
                                        <m:argPr>
                                          <m:argSz m:val="-1"/>
                                        </m:argPr>
                                        <m:f>
                                          <m:fPr>
                                            <m:ctrlPr>
                                              <a:rPr lang="en-US" altLang="zh-CN" sz="1800" i="1">
                                                <a:latin typeface="Cambria Math" panose="02040503050406030204" charset="0"/>
                                                <a:cs typeface="Cambria Math" panose="02040503050406030204" charset="0"/>
                                              </a:rPr>
                                            </m:ctrlPr>
                                          </m:fPr>
                                          <m:num>
                                            <m:r>
                                              <a:rPr lang="en-US" altLang="zh-CN" sz="1800" i="1">
                                                <a:latin typeface="Cambria Math" panose="02040503050406030204" charset="0"/>
                                                <a:cs typeface="Cambria Math" panose="02040503050406030204" charset="0"/>
                                              </a:rPr>
                                              <m:t>1</m:t>
                                            </m:r>
                                          </m:num>
                                          <m:den>
                                            <m:r>
                                              <a:rPr lang="en-US" altLang="zh-CN" sz="1800" i="1">
                                                <a:latin typeface="Cambria Math" panose="02040503050406030204" charset="0"/>
                                                <a:cs typeface="Cambria Math" panose="02040503050406030204" charset="0"/>
                                              </a:rPr>
                                              <m:t>2</m:t>
                                            </m:r>
                                          </m:den>
                                        </m:f>
                                      </m:e>
                                    </m:box>
                                  </m:sup>
                                </m:sSup>
                                <m:rad>
                                  <m:radPr>
                                    <m:degHide m:val="on"/>
                                    <m:ctrlPr>
                                      <a:rPr lang="en-US" altLang="zh-CN" sz="1800" i="1">
                                        <a:latin typeface="Cambria Math" panose="02040503050406030204" charset="0"/>
                                        <a:cs typeface="Cambria Math" panose="02040503050406030204" charset="0"/>
                                      </a:rPr>
                                    </m:ctrlPr>
                                  </m:radPr>
                                  <m:deg/>
                                  <m:e>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𝑔</m:t>
                                        </m:r>
                                      </m:e>
                                      <m:sup>
                                        <m:r>
                                          <a:rPr lang="en-US" altLang="zh-CN" sz="1800" i="1">
                                            <a:latin typeface="Cambria Math" panose="02040503050406030204" charset="0"/>
                                            <a:cs typeface="Cambria Math" panose="02040503050406030204" charset="0"/>
                                          </a:rPr>
                                          <m:t>𝑇</m:t>
                                        </m:r>
                                      </m:sup>
                                    </m:sSup>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𝑉</m:t>
                                        </m:r>
                                      </m:e>
                                      <m:sup>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1</m:t>
                                        </m:r>
                                      </m:sup>
                                    </m:sSup>
                                    <m:r>
                                      <a:rPr lang="en-US" altLang="zh-CN" sz="1800" i="1">
                                        <a:latin typeface="Cambria Math" panose="02040503050406030204" charset="0"/>
                                        <a:cs typeface="Cambria Math" panose="02040503050406030204" charset="0"/>
                                      </a:rPr>
                                      <m:t>𝑔</m:t>
                                    </m:r>
                                  </m:e>
                                </m:rad>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𝑒</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𝜀</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𝑉</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𝑏</m:t>
                                </m:r>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𝜋</m:t>
                                    </m:r>
                                  </m:e>
                                  <m:sub>
                                    <m:r>
                                      <a:rPr lang="en-US" altLang="zh-CN" sz="1800" i="1">
                                        <a:latin typeface="Cambria Math" panose="02040503050406030204" charset="0"/>
                                        <a:cs typeface="Cambria Math" panose="02040503050406030204" charset="0"/>
                                      </a:rPr>
                                      <m:t>𝑖</m:t>
                                    </m:r>
                                  </m:sub>
                                </m:sSub>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𝑟𝑒𝑓</m:t>
                                    </m:r>
                                  </m:sub>
                                </m:sSub>
                                <m:r>
                                  <a:rPr lang="en-US" altLang="zh-CN" sz="1800" i="1">
                                    <a:latin typeface="Cambria Math" panose="02040503050406030204" charset="0"/>
                                    <a:cs typeface="Cambria Math" panose="02040503050406030204" charset="0"/>
                                  </a:rPr>
                                  <m:t>)))</m:t>
                                </m:r>
                              </m:oMath>
                            </m:oMathPara>
                          </a14:m>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p>
                          <a:pPr>
                            <a:buNone/>
                          </a:pPr>
                          <a14:m>
                            <m:oMathPara xmlns:m="http://schemas.openxmlformats.org/officeDocument/2006/math">
                              <m:oMathParaPr>
                                <m:jc m:val="centerGroup"/>
                              </m:oMathParaPr>
                              <m:oMath xmlns:m="http://schemas.openxmlformats.org/officeDocument/2006/math">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4</m:t>
                                    </m:r>
                                  </m:sub>
                                </m:sSub>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3</m:t>
                                    </m:r>
                                  </m:sub>
                                </m:sSub>
                                <m:r>
                                  <a:rPr lang="en-US" altLang="zh-CN" sz="1800" i="1">
                                    <a:latin typeface="Cambria Math" panose="02040503050406030204" charset="0"/>
                                    <a:cs typeface="Cambria Math" panose="02040503050406030204" charset="0"/>
                                  </a:rPr>
                                  <m:t>)</m:t>
                                </m:r>
                              </m:oMath>
                            </m:oMathPara>
                          </a14:m>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a:t>约束收紧</a:t>
                          </a:r>
                          <a:endParaRPr lang="zh-CN" altLang="en-US"/>
                        </a:p>
                        <a:p>
                          <a:pPr algn="ctr">
                            <a:buNone/>
                          </a:pPr>
                          <a:r>
                            <a:rPr lang="zh-CN" altLang="en-US"/>
                            <a:t>（性质保证</a:t>
                          </a:r>
                          <a:r>
                            <a:rPr lang="zh-CN" altLang="en-US"/>
                            <a:t>需要）</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14:m>
                            <m:oMathPara xmlns:m="http://schemas.openxmlformats.org/officeDocument/2006/math">
                              <m:oMathParaPr>
                                <m:jc m:val="centerGroup"/>
                              </m:oMathParaPr>
                              <m:oMath xmlns:m="http://schemas.openxmlformats.org/officeDocument/2006/math">
                                <m:sSub>
                                  <m:sSubPr>
                                    <m:ctrlPr>
                                      <a:rPr lang="en-US" altLang="zh-CN" sz="1800" i="1">
                                        <a:solidFill>
                                          <a:srgbClr val="FF0000"/>
                                        </a:solidFill>
                                        <a:latin typeface="Cambria Math" panose="02040503050406030204" charset="0"/>
                                        <a:cs typeface="Cambria Math" panose="02040503050406030204" charset="0"/>
                                      </a:rPr>
                                    </m:ctrlPr>
                                  </m:sSubPr>
                                  <m:e>
                                    <m:r>
                                      <a:rPr lang="en-US" altLang="zh-CN" sz="1800" i="1">
                                        <a:solidFill>
                                          <a:srgbClr val="FF0000"/>
                                        </a:solidFill>
                                        <a:latin typeface="Cambria Math" panose="02040503050406030204" charset="0"/>
                                        <a:cs typeface="Cambria Math" panose="02040503050406030204" charset="0"/>
                                      </a:rPr>
                                      <m:t>𝐹</m:t>
                                    </m:r>
                                  </m:e>
                                  <m:sub>
                                    <m:r>
                                      <a:rPr lang="en-US" altLang="zh-CN" sz="1800" i="1">
                                        <a:solidFill>
                                          <a:srgbClr val="FF0000"/>
                                        </a:solidFill>
                                        <a:latin typeface="Cambria Math" panose="02040503050406030204" charset="0"/>
                                        <a:cs typeface="Cambria Math" panose="02040503050406030204" charset="0"/>
                                      </a:rPr>
                                      <m:t>|</m:t>
                                    </m:r>
                                    <m:sSup>
                                      <m:sSupPr>
                                        <m:ctrlPr>
                                          <a:rPr lang="en-US" altLang="zh-CN" sz="1800" i="1">
                                            <a:solidFill>
                                              <a:srgbClr val="FF0000"/>
                                            </a:solidFill>
                                            <a:latin typeface="Cambria Math" panose="02040503050406030204" charset="0"/>
                                            <a:cs typeface="Cambria Math" panose="02040503050406030204" charset="0"/>
                                          </a:rPr>
                                        </m:ctrlPr>
                                      </m:sSupPr>
                                      <m:e>
                                        <m:r>
                                          <a:rPr lang="en-US" altLang="zh-CN" sz="1800" i="1">
                                            <a:solidFill>
                                              <a:srgbClr val="FF0000"/>
                                            </a:solidFill>
                                            <a:latin typeface="Cambria Math" panose="02040503050406030204" charset="0"/>
                                            <a:cs typeface="Cambria Math" panose="02040503050406030204" charset="0"/>
                                          </a:rPr>
                                          <m:t>𝑔</m:t>
                                        </m:r>
                                      </m:e>
                                      <m:sup>
                                        <m:r>
                                          <a:rPr lang="en-US" altLang="zh-CN" sz="1800" i="1">
                                            <a:solidFill>
                                              <a:srgbClr val="FF0000"/>
                                            </a:solidFill>
                                            <a:latin typeface="Cambria Math" panose="02040503050406030204" charset="0"/>
                                            <a:cs typeface="Cambria Math" panose="02040503050406030204" charset="0"/>
                                          </a:rPr>
                                          <m:t>𝑇</m:t>
                                        </m:r>
                                      </m:sup>
                                    </m:sSup>
                                    <m:r>
                                      <a:rPr lang="en-US" altLang="zh-CN" sz="1800" i="1">
                                        <a:solidFill>
                                          <a:srgbClr val="FF0000"/>
                                        </a:solidFill>
                                        <a:latin typeface="Cambria Math" panose="02040503050406030204" charset="0"/>
                                        <a:cs typeface="Cambria Math" panose="02040503050406030204" charset="0"/>
                                      </a:rPr>
                                      <m:t>𝑒</m:t>
                                    </m:r>
                                    <m:r>
                                      <a:rPr lang="en-US" altLang="zh-CN" sz="1800" i="1">
                                        <a:solidFill>
                                          <a:srgbClr val="FF0000"/>
                                        </a:solidFill>
                                        <a:latin typeface="Cambria Math" panose="02040503050406030204" charset="0"/>
                                        <a:cs typeface="Cambria Math" panose="02040503050406030204" charset="0"/>
                                      </a:rPr>
                                      <m:t>|</m:t>
                                    </m:r>
                                  </m:sub>
                                </m:sSub>
                                <m:r>
                                  <a:rPr lang="en-US" altLang="zh-CN" sz="1800" i="1">
                                    <a:latin typeface="Cambria Math" panose="02040503050406030204" charset="0"/>
                                    <a:cs typeface="Cambria Math" panose="02040503050406030204" charset="0"/>
                                  </a:rPr>
                                  <m:t>(</m:t>
                                </m:r>
                                <m:func>
                                  <m:funcPr>
                                    <m:ctrlPr>
                                      <a:rPr lang="en-US" altLang="zh-CN" sz="1800" i="1">
                                        <a:latin typeface="Cambria Math" panose="02040503050406030204" charset="0"/>
                                        <a:cs typeface="Cambria Math" panose="02040503050406030204" charset="0"/>
                                      </a:rPr>
                                    </m:ctrlPr>
                                  </m:funcPr>
                                  <m:fName>
                                    <m:limLow>
                                      <m:limLowPr>
                                        <m:ctrlPr>
                                          <a:rPr lang="en-US" altLang="zh-CN" sz="1800">
                                            <a:latin typeface="Cambria Math" panose="02040503050406030204" charset="0"/>
                                            <a:cs typeface="Cambria Math" panose="02040503050406030204" charset="0"/>
                                          </a:rPr>
                                        </m:ctrlPr>
                                      </m:limLowPr>
                                      <m:e>
                                        <m:r>
                                          <m:rPr>
                                            <m:sty m:val="p"/>
                                          </m:rPr>
                                          <a:rPr lang="en-US" altLang="zh-CN" sz="1800">
                                            <a:latin typeface="Cambria Math" panose="02040503050406030204" charset="0"/>
                                            <a:cs typeface="Cambria Math" panose="02040503050406030204" charset="0"/>
                                          </a:rPr>
                                          <m:t>max</m:t>
                                        </m:r>
                                      </m:e>
                                      <m:lim>
                                        <m:r>
                                          <a:rPr lang="en-US" altLang="zh-CN" sz="1800" i="1">
                                            <a:latin typeface="Cambria Math" panose="02040503050406030204" charset="0"/>
                                            <a:cs typeface="Cambria Math" panose="02040503050406030204" charset="0"/>
                                          </a:rPr>
                                          <m:t>𝑗</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1</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𝑖</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1</m:t>
                                        </m:r>
                                      </m:lim>
                                    </m:limLow>
                                  </m:fName>
                                  <m:e>
                                    <m:r>
                                      <a:rPr lang="en-US" altLang="zh-CN" sz="1800" i="1">
                                        <a:latin typeface="Cambria Math" panose="02040503050406030204" charset="0"/>
                                        <a:cs typeface="Cambria Math" panose="02040503050406030204" charset="0"/>
                                      </a:rPr>
                                      <m:t>{</m:t>
                                    </m:r>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𝑏</m:t>
                                        </m:r>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𝜋</m:t>
                                            </m:r>
                                          </m:e>
                                          <m:sub>
                                            <m:r>
                                              <a:rPr lang="en-US" altLang="zh-CN" sz="1800" i="1">
                                                <a:latin typeface="Cambria Math" panose="02040503050406030204" charset="0"/>
                                                <a:cs typeface="Cambria Math" panose="02040503050406030204" charset="0"/>
                                              </a:rPr>
                                              <m:t>𝑖</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𝑗</m:t>
                                            </m:r>
                                          </m:sub>
                                        </m:sSub>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𝑟𝑒𝑓</m:t>
                                            </m:r>
                                          </m:sub>
                                        </m:sSub>
                                        <m:r>
                                          <a:rPr lang="en-US" altLang="zh-CN" sz="1800" i="1">
                                            <a:latin typeface="Cambria Math" panose="02040503050406030204" charset="0"/>
                                            <a:cs typeface="Cambria Math" panose="02040503050406030204" charset="0"/>
                                          </a:rPr>
                                          <m:t>)</m:t>
                                        </m:r>
                                      </m:e>
                                      <m:sup>
                                        <m:box>
                                          <m:boxPr>
                                            <m:noBreak m:val="on"/>
                                            <m:ctrlPr>
                                              <a:rPr lang="en-US" altLang="zh-CN" sz="1800" i="1">
                                                <a:latin typeface="Cambria Math" panose="02040503050406030204" charset="0"/>
                                                <a:cs typeface="Cambria Math" panose="02040503050406030204" charset="0"/>
                                              </a:rPr>
                                            </m:ctrlPr>
                                          </m:boxPr>
                                          <m:e>
                                            <m:argPr>
                                              <m:argSz m:val="-1"/>
                                            </m:argPr>
                                            <m:f>
                                              <m:fPr>
                                                <m:ctrlPr>
                                                  <a:rPr lang="en-US" altLang="zh-CN" sz="1800" i="1">
                                                    <a:latin typeface="Cambria Math" panose="02040503050406030204" charset="0"/>
                                                    <a:cs typeface="Cambria Math" panose="02040503050406030204" charset="0"/>
                                                  </a:rPr>
                                                </m:ctrlPr>
                                              </m:fPr>
                                              <m:num>
                                                <m:r>
                                                  <a:rPr lang="en-US" altLang="zh-CN" sz="1800" i="1">
                                                    <a:latin typeface="Cambria Math" panose="02040503050406030204" charset="0"/>
                                                    <a:cs typeface="Cambria Math" panose="02040503050406030204" charset="0"/>
                                                  </a:rPr>
                                                  <m:t>1</m:t>
                                                </m:r>
                                              </m:num>
                                              <m:den>
                                                <m:r>
                                                  <a:rPr lang="en-US" altLang="zh-CN" sz="1800" i="1">
                                                    <a:latin typeface="Cambria Math" panose="02040503050406030204" charset="0"/>
                                                    <a:cs typeface="Cambria Math" panose="02040503050406030204" charset="0"/>
                                                  </a:rPr>
                                                  <m:t>2</m:t>
                                                </m:r>
                                              </m:den>
                                            </m:f>
                                          </m:e>
                                        </m:box>
                                      </m:sup>
                                    </m:sSup>
                                    <m:rad>
                                      <m:radPr>
                                        <m:degHide m:val="on"/>
                                        <m:ctrlPr>
                                          <a:rPr lang="en-US" altLang="zh-CN" sz="1800" i="1">
                                            <a:latin typeface="Cambria Math" panose="02040503050406030204" charset="0"/>
                                            <a:cs typeface="Cambria Math" panose="02040503050406030204" charset="0"/>
                                          </a:rPr>
                                        </m:ctrlPr>
                                      </m:radPr>
                                      <m:deg/>
                                      <m:e>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𝑔</m:t>
                                            </m:r>
                                          </m:e>
                                          <m:sup>
                                            <m:r>
                                              <a:rPr lang="en-US" altLang="zh-CN" sz="1800" i="1">
                                                <a:latin typeface="Cambria Math" panose="02040503050406030204" charset="0"/>
                                                <a:cs typeface="Cambria Math" panose="02040503050406030204" charset="0"/>
                                              </a:rPr>
                                              <m:t>𝑇</m:t>
                                            </m:r>
                                          </m:sup>
                                        </m:sSup>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𝑉</m:t>
                                            </m:r>
                                          </m:e>
                                          <m:sup>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1</m:t>
                                            </m:r>
                                          </m:sup>
                                        </m:sSup>
                                        <m:r>
                                          <a:rPr lang="en-US" altLang="zh-CN" sz="1800" i="1">
                                            <a:latin typeface="Cambria Math" panose="02040503050406030204" charset="0"/>
                                            <a:cs typeface="Cambria Math" panose="02040503050406030204" charset="0"/>
                                          </a:rPr>
                                          <m:t>𝑔</m:t>
                                        </m:r>
                                      </m:e>
                                    </m:rad>
                                    <m:r>
                                      <a:rPr lang="en-US" altLang="zh-CN" sz="1800" i="1">
                                        <a:latin typeface="Cambria Math" panose="02040503050406030204" charset="0"/>
                                        <a:cs typeface="Cambria Math" panose="02040503050406030204" charset="0"/>
                                      </a:rPr>
                                      <m:t>}</m:t>
                                    </m:r>
                                  </m:e>
                                </m:func>
                                <m:r>
                                  <a:rPr lang="en-US" altLang="zh-CN" sz="1800" i="1">
                                    <a:latin typeface="Cambria Math" panose="02040503050406030204" charset="0"/>
                                    <a:cs typeface="Cambria Math" panose="02040503050406030204" charset="0"/>
                                  </a:rPr>
                                  <m:t>)−</m:t>
                                </m:r>
                                <m:sSub>
                                  <m:sSubPr>
                                    <m:ctrlPr>
                                      <a:rPr lang="en-US" altLang="zh-CN" sz="1800" i="1">
                                        <a:solidFill>
                                          <a:srgbClr val="FF0000"/>
                                        </a:solidFill>
                                        <a:latin typeface="Cambria Math" panose="02040503050406030204" charset="0"/>
                                        <a:cs typeface="Cambria Math" panose="02040503050406030204" charset="0"/>
                                      </a:rPr>
                                    </m:ctrlPr>
                                  </m:sSubPr>
                                  <m:e>
                                    <m:r>
                                      <a:rPr lang="en-US" altLang="zh-CN" sz="1800" i="1">
                                        <a:solidFill>
                                          <a:srgbClr val="FF0000"/>
                                        </a:solidFill>
                                        <a:latin typeface="Cambria Math" panose="02040503050406030204" charset="0"/>
                                        <a:cs typeface="Cambria Math" panose="02040503050406030204" charset="0"/>
                                      </a:rPr>
                                      <m:t>𝐹</m:t>
                                    </m:r>
                                  </m:e>
                                  <m:sub>
                                    <m:r>
                                      <a:rPr lang="en-US" altLang="zh-CN" sz="1800" i="1">
                                        <a:solidFill>
                                          <a:srgbClr val="FF0000"/>
                                        </a:solidFill>
                                        <a:latin typeface="Cambria Math" panose="02040503050406030204" charset="0"/>
                                        <a:cs typeface="Cambria Math" panose="02040503050406030204" charset="0"/>
                                      </a:rPr>
                                      <m:t>|</m:t>
                                    </m:r>
                                    <m:sSup>
                                      <m:sSupPr>
                                        <m:ctrlPr>
                                          <a:rPr lang="en-US" altLang="zh-CN" sz="1800" i="1">
                                            <a:solidFill>
                                              <a:srgbClr val="FF0000"/>
                                            </a:solidFill>
                                            <a:latin typeface="Cambria Math" panose="02040503050406030204" charset="0"/>
                                            <a:cs typeface="Cambria Math" panose="02040503050406030204" charset="0"/>
                                          </a:rPr>
                                        </m:ctrlPr>
                                      </m:sSupPr>
                                      <m:e>
                                        <m:r>
                                          <a:rPr lang="en-US" altLang="zh-CN" sz="1800" i="1">
                                            <a:solidFill>
                                              <a:srgbClr val="FF0000"/>
                                            </a:solidFill>
                                            <a:latin typeface="Cambria Math" panose="02040503050406030204" charset="0"/>
                                            <a:cs typeface="Cambria Math" panose="02040503050406030204" charset="0"/>
                                          </a:rPr>
                                          <m:t>𝑔</m:t>
                                        </m:r>
                                      </m:e>
                                      <m:sup>
                                        <m:r>
                                          <a:rPr lang="en-US" altLang="zh-CN" sz="1800" i="1">
                                            <a:solidFill>
                                              <a:srgbClr val="FF0000"/>
                                            </a:solidFill>
                                            <a:latin typeface="Cambria Math" panose="02040503050406030204" charset="0"/>
                                            <a:cs typeface="Cambria Math" panose="02040503050406030204" charset="0"/>
                                          </a:rPr>
                                          <m:t>𝑇</m:t>
                                        </m:r>
                                      </m:sup>
                                    </m:sSup>
                                    <m:r>
                                      <a:rPr lang="en-US" altLang="zh-CN" sz="1800" i="1">
                                        <a:solidFill>
                                          <a:srgbClr val="FF0000"/>
                                        </a:solidFill>
                                        <a:latin typeface="Cambria Math" panose="02040503050406030204" charset="0"/>
                                        <a:cs typeface="Cambria Math" panose="02040503050406030204" charset="0"/>
                                      </a:rPr>
                                      <m:t>𝑒</m:t>
                                    </m:r>
                                    <m:r>
                                      <a:rPr lang="en-US" altLang="zh-CN" sz="1800" i="1">
                                        <a:solidFill>
                                          <a:srgbClr val="FF0000"/>
                                        </a:solidFill>
                                        <a:latin typeface="Cambria Math" panose="02040503050406030204" charset="0"/>
                                        <a:cs typeface="Cambria Math" panose="02040503050406030204" charset="0"/>
                                      </a:rPr>
                                      <m:t>|</m:t>
                                    </m:r>
                                  </m:sub>
                                </m:sSub>
                                <m:r>
                                  <a:rPr lang="en-US" altLang="zh-CN" sz="1800" i="1">
                                    <a:latin typeface="Cambria Math" panose="02040503050406030204" charset="0"/>
                                    <a:cs typeface="Cambria Math" panose="02040503050406030204" charset="0"/>
                                  </a:rPr>
                                  <m:t>(</m:t>
                                </m:r>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𝑏</m:t>
                                    </m:r>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𝜋</m:t>
                                        </m:r>
                                      </m:e>
                                      <m:sub>
                                        <m:r>
                                          <a:rPr lang="en-US" altLang="zh-CN" sz="1800" i="1">
                                            <a:latin typeface="Cambria Math" panose="02040503050406030204" charset="0"/>
                                            <a:cs typeface="Cambria Math" panose="02040503050406030204" charset="0"/>
                                          </a:rPr>
                                          <m:t>𝑖</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𝑖</m:t>
                                        </m:r>
                                      </m:sub>
                                    </m:sSub>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𝑟𝑒𝑓</m:t>
                                        </m:r>
                                      </m:sub>
                                    </m:sSub>
                                    <m:r>
                                      <a:rPr lang="en-US" altLang="zh-CN" sz="1800" i="1">
                                        <a:latin typeface="Cambria Math" panose="02040503050406030204" charset="0"/>
                                        <a:cs typeface="Cambria Math" panose="02040503050406030204" charset="0"/>
                                      </a:rPr>
                                      <m:t>)</m:t>
                                    </m:r>
                                  </m:e>
                                  <m:sup>
                                    <m:box>
                                      <m:boxPr>
                                        <m:noBreak m:val="on"/>
                                        <m:ctrlPr>
                                          <a:rPr lang="en-US" altLang="zh-CN" sz="1800" i="1">
                                            <a:latin typeface="Cambria Math" panose="02040503050406030204" charset="0"/>
                                            <a:cs typeface="Cambria Math" panose="02040503050406030204" charset="0"/>
                                          </a:rPr>
                                        </m:ctrlPr>
                                      </m:boxPr>
                                      <m:e>
                                        <m:argPr>
                                          <m:argSz m:val="-1"/>
                                        </m:argPr>
                                        <m:f>
                                          <m:fPr>
                                            <m:ctrlPr>
                                              <a:rPr lang="en-US" altLang="zh-CN" sz="1800" i="1">
                                                <a:latin typeface="Cambria Math" panose="02040503050406030204" charset="0"/>
                                                <a:cs typeface="Cambria Math" panose="02040503050406030204" charset="0"/>
                                              </a:rPr>
                                            </m:ctrlPr>
                                          </m:fPr>
                                          <m:num>
                                            <m:r>
                                              <a:rPr lang="en-US" altLang="zh-CN" sz="1800" i="1">
                                                <a:latin typeface="Cambria Math" panose="02040503050406030204" charset="0"/>
                                                <a:cs typeface="Cambria Math" panose="02040503050406030204" charset="0"/>
                                              </a:rPr>
                                              <m:t>1</m:t>
                                            </m:r>
                                          </m:num>
                                          <m:den>
                                            <m:r>
                                              <a:rPr lang="en-US" altLang="zh-CN" sz="1800" i="1">
                                                <a:latin typeface="Cambria Math" panose="02040503050406030204" charset="0"/>
                                                <a:cs typeface="Cambria Math" panose="02040503050406030204" charset="0"/>
                                              </a:rPr>
                                              <m:t>2</m:t>
                                            </m:r>
                                          </m:den>
                                        </m:f>
                                      </m:e>
                                    </m:box>
                                  </m:sup>
                                </m:sSup>
                                <m:rad>
                                  <m:radPr>
                                    <m:degHide m:val="on"/>
                                    <m:ctrlPr>
                                      <a:rPr lang="en-US" altLang="zh-CN" sz="1800" i="1">
                                        <a:latin typeface="Cambria Math" panose="02040503050406030204" charset="0"/>
                                        <a:cs typeface="Cambria Math" panose="02040503050406030204" charset="0"/>
                                      </a:rPr>
                                    </m:ctrlPr>
                                  </m:radPr>
                                  <m:deg/>
                                  <m:e>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𝑔</m:t>
                                        </m:r>
                                      </m:e>
                                      <m:sup>
                                        <m:r>
                                          <a:rPr lang="en-US" altLang="zh-CN" sz="1800" i="1">
                                            <a:latin typeface="Cambria Math" panose="02040503050406030204" charset="0"/>
                                            <a:cs typeface="Cambria Math" panose="02040503050406030204" charset="0"/>
                                          </a:rPr>
                                          <m:t>𝑇</m:t>
                                        </m:r>
                                      </m:sup>
                                    </m:sSup>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𝑉</m:t>
                                        </m:r>
                                      </m:e>
                                      <m:sup>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1</m:t>
                                        </m:r>
                                      </m:sup>
                                    </m:sSup>
                                    <m:r>
                                      <a:rPr lang="en-US" altLang="zh-CN" sz="1800" i="1">
                                        <a:latin typeface="Cambria Math" panose="02040503050406030204" charset="0"/>
                                        <a:cs typeface="Cambria Math" panose="02040503050406030204" charset="0"/>
                                      </a:rPr>
                                      <m:t>𝑔</m:t>
                                    </m:r>
                                  </m:e>
                                </m:rad>
                                <m:r>
                                  <a:rPr lang="en-US" altLang="zh-CN" sz="1800" i="1">
                                    <a:latin typeface="Cambria Math" panose="02040503050406030204" charset="0"/>
                                    <a:cs typeface="Cambria Math" panose="02040503050406030204" charset="0"/>
                                  </a:rPr>
                                  <m:t>)</m:t>
                                </m:r>
                              </m:oMath>
                            </m:oMathPara>
                          </a14:m>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p>
                          <a:pPr>
                            <a:buNone/>
                          </a:pPr>
                          <a14:m>
                            <m:oMathPara xmlns:m="http://schemas.openxmlformats.org/officeDocument/2006/math">
                              <m:oMathParaPr>
                                <m:jc m:val="centerGroup"/>
                              </m:oMathParaPr>
                              <m:oMath xmlns:m="http://schemas.openxmlformats.org/officeDocument/2006/math">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5</m:t>
                                    </m:r>
                                  </m:sub>
                                </m:sSub>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4</m:t>
                                    </m:r>
                                  </m:sub>
                                </m:sSub>
                                <m:r>
                                  <a:rPr lang="en-US" altLang="zh-CN" sz="1800" i="1">
                                    <a:latin typeface="Cambria Math" panose="02040503050406030204" charset="0"/>
                                    <a:cs typeface="Cambria Math" panose="02040503050406030204" charset="0"/>
                                  </a:rPr>
                                  <m:t>)</m:t>
                                </m:r>
                              </m:oMath>
                            </m:oMathPara>
                          </a14:m>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a:t>确定性约束</a:t>
                          </a:r>
                          <a:endParaRPr lang="zh-CN" altLang="en-US"/>
                        </a:p>
                        <a:p>
                          <a:pPr algn="ctr">
                            <a:buNone/>
                          </a:pPr>
                          <a:r>
                            <a:rPr lang="zh-CN" altLang="en-US"/>
                            <a:t>实际满足</a:t>
                          </a:r>
                          <a:r>
                            <a:rPr lang="zh-CN" altLang="en-US"/>
                            <a:t>情况</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14:m>
                            <m:oMathPara xmlns:m="http://schemas.openxmlformats.org/officeDocument/2006/math">
                              <m:oMathParaPr>
                                <m:jc m:val="centerGroup"/>
                              </m:oMathParaPr>
                              <m:oMath xmlns:m="http://schemas.openxmlformats.org/officeDocument/2006/math">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1</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𝑃𝑟</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𝑒𝑞𝑢𝑎𝑙</m:t>
                                </m:r>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𝐹</m:t>
                                    </m:r>
                                  </m:e>
                                  <m:sub>
                                    <m:r>
                                      <a:rPr lang="en-US" altLang="zh-CN" sz="1800" i="1">
                                        <a:latin typeface="Cambria Math" panose="02040503050406030204" charset="0"/>
                                        <a:cs typeface="Cambria Math" panose="02040503050406030204" charset="0"/>
                                      </a:rPr>
                                      <m:t>|</m:t>
                                    </m:r>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𝑔</m:t>
                                        </m:r>
                                      </m:e>
                                      <m:sup>
                                        <m:r>
                                          <a:rPr lang="en-US" altLang="zh-CN" sz="1800" i="1">
                                            <a:latin typeface="Cambria Math" panose="02040503050406030204" charset="0"/>
                                            <a:cs typeface="Cambria Math" panose="02040503050406030204" charset="0"/>
                                          </a:rPr>
                                          <m:t>𝑇</m:t>
                                        </m:r>
                                      </m:sup>
                                    </m:sSup>
                                    <m:r>
                                      <a:rPr lang="en-US" altLang="zh-CN" sz="1800" i="1">
                                        <a:latin typeface="Cambria Math" panose="02040503050406030204" charset="0"/>
                                        <a:cs typeface="Cambria Math" panose="02040503050406030204" charset="0"/>
                                      </a:rPr>
                                      <m:t>𝑒</m:t>
                                    </m:r>
                                    <m:r>
                                      <a:rPr lang="en-US" altLang="zh-CN" sz="1800" i="1">
                                        <a:latin typeface="Cambria Math" panose="02040503050406030204" charset="0"/>
                                        <a:cs typeface="Cambria Math" panose="02040503050406030204" charset="0"/>
                                      </a:rPr>
                                      <m:t>|</m:t>
                                    </m:r>
                                  </m:sub>
                                </m:sSub>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ℎ</m:t>
                                </m:r>
                                <m:r>
                                  <a:rPr lang="en-US" altLang="zh-CN" sz="1800" i="1">
                                    <a:latin typeface="Cambria Math" panose="02040503050406030204" charset="0"/>
                                    <a:cs typeface="Cambria Math" panose="02040503050406030204" charset="0"/>
                                  </a:rPr>
                                  <m:t>−</m:t>
                                </m:r>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𝑔</m:t>
                                    </m:r>
                                  </m:e>
                                  <m:sup>
                                    <m:r>
                                      <a:rPr lang="en-US" altLang="zh-CN" sz="1800" i="1">
                                        <a:latin typeface="Cambria Math" panose="02040503050406030204" charset="0"/>
                                        <a:cs typeface="Cambria Math" panose="02040503050406030204" charset="0"/>
                                      </a:rPr>
                                      <m:t>𝑇</m:t>
                                    </m:r>
                                  </m:sup>
                                </m:sSup>
                                <m:r>
                                  <a:rPr lang="en-US" altLang="zh-CN" sz="1800" i="1">
                                    <a:latin typeface="Cambria Math" panose="02040503050406030204" charset="0"/>
                                    <a:cs typeface="Cambria Math" panose="02040503050406030204" charset="0"/>
                                  </a:rPr>
                                  <m:t>𝑧</m:t>
                                </m:r>
                                <m:r>
                                  <a:rPr lang="en-US" altLang="zh-CN" sz="1800" i="1">
                                    <a:latin typeface="Cambria Math" panose="02040503050406030204" charset="0"/>
                                    <a:cs typeface="Cambria Math" panose="02040503050406030204" charset="0"/>
                                  </a:rPr>
                                  <m:t>)]−</m:t>
                                </m:r>
                                <m:sSub>
                                  <m:sSubPr>
                                    <m:ctrlPr>
                                      <a:rPr lang="en-US" altLang="zh-CN" sz="1800" i="1">
                                        <a:solidFill>
                                          <a:srgbClr val="FF0000"/>
                                        </a:solidFill>
                                        <a:latin typeface="Cambria Math" panose="02040503050406030204" charset="0"/>
                                        <a:cs typeface="Cambria Math" panose="02040503050406030204" charset="0"/>
                                      </a:rPr>
                                    </m:ctrlPr>
                                  </m:sSubPr>
                                  <m:e>
                                    <m:r>
                                      <a:rPr lang="en-US" altLang="zh-CN" sz="1800" i="1">
                                        <a:solidFill>
                                          <a:srgbClr val="FF0000"/>
                                        </a:solidFill>
                                        <a:latin typeface="Cambria Math" panose="02040503050406030204" charset="0"/>
                                        <a:cs typeface="Cambria Math" panose="02040503050406030204" charset="0"/>
                                      </a:rPr>
                                      <m:t>𝐹</m:t>
                                    </m:r>
                                  </m:e>
                                  <m:sub>
                                    <m:r>
                                      <a:rPr lang="en-US" altLang="zh-CN" sz="1800" i="1">
                                        <a:solidFill>
                                          <a:srgbClr val="FF0000"/>
                                        </a:solidFill>
                                        <a:latin typeface="Cambria Math" panose="02040503050406030204" charset="0"/>
                                        <a:cs typeface="Cambria Math" panose="02040503050406030204" charset="0"/>
                                      </a:rPr>
                                      <m:t>|</m:t>
                                    </m:r>
                                    <m:sSup>
                                      <m:sSupPr>
                                        <m:ctrlPr>
                                          <a:rPr lang="en-US" altLang="zh-CN" sz="1800" i="1">
                                            <a:solidFill>
                                              <a:srgbClr val="FF0000"/>
                                            </a:solidFill>
                                            <a:latin typeface="Cambria Math" panose="02040503050406030204" charset="0"/>
                                            <a:cs typeface="Cambria Math" panose="02040503050406030204" charset="0"/>
                                          </a:rPr>
                                        </m:ctrlPr>
                                      </m:sSupPr>
                                      <m:e>
                                        <m:r>
                                          <a:rPr lang="en-US" altLang="zh-CN" sz="1800" i="1">
                                            <a:solidFill>
                                              <a:srgbClr val="FF0000"/>
                                            </a:solidFill>
                                            <a:latin typeface="Cambria Math" panose="02040503050406030204" charset="0"/>
                                            <a:cs typeface="Cambria Math" panose="02040503050406030204" charset="0"/>
                                          </a:rPr>
                                          <m:t>𝑔</m:t>
                                        </m:r>
                                      </m:e>
                                      <m:sup>
                                        <m:r>
                                          <a:rPr lang="en-US" altLang="zh-CN" sz="1800" i="1">
                                            <a:solidFill>
                                              <a:srgbClr val="FF0000"/>
                                            </a:solidFill>
                                            <a:latin typeface="Cambria Math" panose="02040503050406030204" charset="0"/>
                                            <a:cs typeface="Cambria Math" panose="02040503050406030204" charset="0"/>
                                          </a:rPr>
                                          <m:t>𝑇</m:t>
                                        </m:r>
                                      </m:sup>
                                    </m:sSup>
                                    <m:r>
                                      <a:rPr lang="en-US" altLang="zh-CN" sz="1800" i="1">
                                        <a:solidFill>
                                          <a:srgbClr val="FF0000"/>
                                        </a:solidFill>
                                        <a:latin typeface="Cambria Math" panose="02040503050406030204" charset="0"/>
                                        <a:cs typeface="Cambria Math" panose="02040503050406030204" charset="0"/>
                                      </a:rPr>
                                      <m:t>𝑒</m:t>
                                    </m:r>
                                    <m:r>
                                      <a:rPr lang="en-US" altLang="zh-CN" sz="1800" i="1">
                                        <a:solidFill>
                                          <a:srgbClr val="FF0000"/>
                                        </a:solidFill>
                                        <a:latin typeface="Cambria Math" panose="02040503050406030204" charset="0"/>
                                        <a:cs typeface="Cambria Math" panose="02040503050406030204" charset="0"/>
                                      </a:rPr>
                                      <m:t>|</m:t>
                                    </m:r>
                                  </m:sub>
                                </m:sSub>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ℎ</m:t>
                                </m:r>
                                <m:r>
                                  <a:rPr lang="en-US" altLang="zh-CN" sz="1800" i="1">
                                    <a:latin typeface="Cambria Math" panose="02040503050406030204" charset="0"/>
                                    <a:cs typeface="Cambria Math" panose="02040503050406030204" charset="0"/>
                                  </a:rPr>
                                  <m:t>−</m:t>
                                </m:r>
                                <m:sSup>
                                  <m:sSupPr>
                                    <m:ctrlPr>
                                      <a:rPr lang="en-US" altLang="zh-CN" sz="1800" i="1">
                                        <a:latin typeface="Cambria Math" panose="02040503050406030204" charset="0"/>
                                        <a:cs typeface="Cambria Math" panose="02040503050406030204" charset="0"/>
                                      </a:rPr>
                                    </m:ctrlPr>
                                  </m:sSupPr>
                                  <m:e>
                                    <m:sSub>
                                      <m:sSubPr>
                                        <m:ctrlPr>
                                          <a:rPr lang="en-US" altLang="zh-CN" sz="1800" i="1">
                                            <a:latin typeface="Cambria Math" panose="02040503050406030204" charset="0"/>
                                            <a:cs typeface="Cambria Math" panose="02040503050406030204" charset="0"/>
                                          </a:rPr>
                                        </m:ctrlPr>
                                      </m:sSubPr>
                                      <m:e>
                                        <m:acc>
                                          <m:accPr>
                                            <m:chr m:val="̅"/>
                                            <m:ctrlPr>
                                              <a:rPr lang="en-US" altLang="zh-CN" sz="1800" i="1">
                                                <a:latin typeface="Cambria Math" panose="02040503050406030204" charset="0"/>
                                                <a:cs typeface="Cambria Math" panose="02040503050406030204" charset="0"/>
                                              </a:rPr>
                                            </m:ctrlPr>
                                          </m:accPr>
                                          <m:e>
                                            <m:r>
                                              <a:rPr lang="en-US" altLang="zh-CN" sz="1800" i="1">
                                                <a:latin typeface="Cambria Math" panose="02040503050406030204" charset="0"/>
                                                <a:cs typeface="Cambria Math" panose="02040503050406030204" charset="0"/>
                                              </a:rPr>
                                              <m:t>𝑏</m:t>
                                            </m:r>
                                          </m:e>
                                        </m:acc>
                                      </m:e>
                                      <m:sub>
                                        <m:r>
                                          <a:rPr lang="en-US" altLang="zh-CN" sz="1800" i="1">
                                            <a:latin typeface="Cambria Math" panose="02040503050406030204" charset="0"/>
                                            <a:cs typeface="Cambria Math" panose="02040503050406030204" charset="0"/>
                                          </a:rPr>
                                          <m:t>𝑖</m:t>
                                        </m:r>
                                      </m:sub>
                                    </m:sSub>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𝑟𝑒𝑓</m:t>
                                        </m:r>
                                      </m:sub>
                                    </m:sSub>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𝜀</m:t>
                                    </m:r>
                                    <m:r>
                                      <a:rPr lang="en-US" altLang="zh-CN" sz="1800" i="1">
                                        <a:latin typeface="Cambria Math" panose="02040503050406030204" charset="0"/>
                                        <a:cs typeface="Cambria Math" panose="02040503050406030204" charset="0"/>
                                      </a:rPr>
                                      <m:t>))</m:t>
                                    </m:r>
                                  </m:e>
                                  <m:sup>
                                    <m:box>
                                      <m:boxPr>
                                        <m:noBreak m:val="on"/>
                                        <m:ctrlPr>
                                          <a:rPr lang="en-US" altLang="zh-CN" sz="1800" i="1">
                                            <a:latin typeface="Cambria Math" panose="02040503050406030204" charset="0"/>
                                            <a:cs typeface="Cambria Math" panose="02040503050406030204" charset="0"/>
                                          </a:rPr>
                                        </m:ctrlPr>
                                      </m:boxPr>
                                      <m:e>
                                        <m:argPr>
                                          <m:argSz m:val="-1"/>
                                        </m:argPr>
                                        <m:f>
                                          <m:fPr>
                                            <m:ctrlPr>
                                              <a:rPr lang="en-US" altLang="zh-CN" sz="1800" i="1">
                                                <a:latin typeface="Cambria Math" panose="02040503050406030204" charset="0"/>
                                                <a:cs typeface="Cambria Math" panose="02040503050406030204" charset="0"/>
                                              </a:rPr>
                                            </m:ctrlPr>
                                          </m:fPr>
                                          <m:num>
                                            <m:r>
                                              <a:rPr lang="en-US" altLang="zh-CN" sz="1800" i="1">
                                                <a:latin typeface="Cambria Math" panose="02040503050406030204" charset="0"/>
                                                <a:cs typeface="Cambria Math" panose="02040503050406030204" charset="0"/>
                                              </a:rPr>
                                              <m:t>1</m:t>
                                            </m:r>
                                          </m:num>
                                          <m:den>
                                            <m:r>
                                              <a:rPr lang="en-US" altLang="zh-CN" sz="1800" i="1">
                                                <a:latin typeface="Cambria Math" panose="02040503050406030204" charset="0"/>
                                                <a:cs typeface="Cambria Math" panose="02040503050406030204" charset="0"/>
                                              </a:rPr>
                                              <m:t>2</m:t>
                                            </m:r>
                                          </m:den>
                                        </m:f>
                                      </m:e>
                                    </m:box>
                                  </m:sup>
                                </m:sSup>
                                <m:rad>
                                  <m:radPr>
                                    <m:degHide m:val="on"/>
                                    <m:ctrlPr>
                                      <a:rPr lang="en-US" altLang="zh-CN" sz="1800" i="1">
                                        <a:latin typeface="Cambria Math" panose="02040503050406030204" charset="0"/>
                                        <a:cs typeface="Cambria Math" panose="02040503050406030204" charset="0"/>
                                      </a:rPr>
                                    </m:ctrlPr>
                                  </m:radPr>
                                  <m:deg/>
                                  <m:e>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𝑔</m:t>
                                        </m:r>
                                      </m:e>
                                      <m:sup>
                                        <m:r>
                                          <a:rPr lang="en-US" altLang="zh-CN" sz="1800" i="1">
                                            <a:latin typeface="Cambria Math" panose="02040503050406030204" charset="0"/>
                                            <a:cs typeface="Cambria Math" panose="02040503050406030204" charset="0"/>
                                          </a:rPr>
                                          <m:t>𝑇</m:t>
                                        </m:r>
                                      </m:sup>
                                    </m:sSup>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𝑉</m:t>
                                        </m:r>
                                      </m:e>
                                      <m:sup>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1</m:t>
                                        </m:r>
                                      </m:sup>
                                    </m:sSup>
                                    <m:r>
                                      <a:rPr lang="en-US" altLang="zh-CN" sz="1800" i="1">
                                        <a:latin typeface="Cambria Math" panose="02040503050406030204" charset="0"/>
                                        <a:cs typeface="Cambria Math" panose="02040503050406030204" charset="0"/>
                                      </a:rPr>
                                      <m:t>𝑔</m:t>
                                    </m:r>
                                  </m:e>
                                </m:rad>
                              </m:oMath>
                            </m:oMathPara>
                          </a14:m>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mc:Choice>
        <mc:Fallback xmlns="">
          <p:graphicFrame>
            <p:nvGraphicFramePr>
              <p:cNvPr id="6" name="表格 5"/>
              <p:cNvGraphicFramePr/>
              <p:nvPr/>
            </p:nvGraphicFramePr>
            <p:xfrm>
              <a:off x="494030" y="1516380"/>
              <a:ext cx="11203940" cy="3142615"/>
            </p:xfrm>
            <a:graphic>
              <a:graphicData uri="http://schemas.openxmlformats.org/drawingml/2006/table">
                <a:tbl>
                  <a:tblPr firstRow="1" bandRow="1">
                    <a:tableStyleId>{5C22544A-7EE6-4342-B048-85BDC9FD1C3A}</a:tableStyleId>
                  </a:tblPr>
                  <a:tblGrid>
                    <a:gridCol w="1607185"/>
                    <a:gridCol w="2056765"/>
                    <a:gridCol w="7539990"/>
                  </a:tblGrid>
                  <a:tr h="381000">
                    <a:tc>
                      <a:txBody>
                        <a:bodyPr/>
                        <a:p>
                          <a:pPr algn="ctr">
                            <a:buNone/>
                          </a:pPr>
                          <a:r>
                            <a:rPr lang="zh-CN" altLang="en-US"/>
                            <a:t>偏差</a:t>
                          </a:r>
                          <a:r>
                            <a:rPr lang="zh-CN" altLang="en-US"/>
                            <a:t>编号</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75000"/>
                          </a:schemeClr>
                        </a:solidFill>
                      </a:tcPr>
                    </a:tc>
                    <a:tc>
                      <a:txBody>
                        <a:bodyPr/>
                        <a:p>
                          <a:pPr algn="ctr">
                            <a:buNone/>
                          </a:pPr>
                          <a:r>
                            <a:rPr lang="zh-CN" altLang="en-US"/>
                            <a:t>偏差</a:t>
                          </a:r>
                          <a:r>
                            <a:rPr lang="zh-CN" altLang="en-US"/>
                            <a:t>原因</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75000"/>
                          </a:schemeClr>
                        </a:solidFill>
                      </a:tcPr>
                    </a:tc>
                    <a:tc>
                      <a:txBody>
                        <a:bodyPr/>
                        <a:p>
                          <a:pPr algn="ctr">
                            <a:buNone/>
                          </a:pPr>
                          <a:r>
                            <a:rPr lang="zh-CN" altLang="en-US"/>
                            <a:t>偏差</a:t>
                          </a:r>
                          <a:r>
                            <a:rPr lang="zh-CN" altLang="en-US"/>
                            <a:t>表达式</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75000"/>
                          </a:schemeClr>
                        </a:solidFill>
                      </a:tcPr>
                    </a:tc>
                  </a:tr>
                  <a:tr h="381000">
                    <a:tc>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1"/>
                        </a:blipFill>
                      </a:tcPr>
                    </a:tc>
                    <a:tc>
                      <a:txBody>
                        <a:bodyPr/>
                        <a:p>
                          <a:pPr algn="ctr">
                            <a:buNone/>
                          </a:pPr>
                          <a:r>
                            <a:rPr lang="zh-CN" altLang="en-US"/>
                            <a:t>无</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a:t>0</a:t>
                          </a:r>
                          <a:endParaRPr lang="en-US" alt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640080">
                    <a:tc>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1"/>
                        </a:blipFill>
                      </a:tcPr>
                    </a:tc>
                    <a:tc>
                      <a:txBody>
                        <a:bodyPr/>
                        <a:p>
                          <a:pPr algn="ctr">
                            <a:buNone/>
                          </a:pPr>
                          <a:r>
                            <a:rPr lang="zh-CN" altLang="en-US"/>
                            <a:t>随机管</a:t>
                          </a:r>
                          <a:r>
                            <a:rPr lang="zh-CN" altLang="en-US" sz="1800">
                              <a:sym typeface="+mn-ea"/>
                            </a:rPr>
                            <a:t>条件</a:t>
                          </a:r>
                          <a:endParaRPr lang="zh-CN" altLang="en-US"/>
                        </a:p>
                        <a:p>
                          <a:pPr algn="ctr">
                            <a:buNone/>
                          </a:pPr>
                          <a:r>
                            <a:rPr lang="zh-CN" altLang="en-US"/>
                            <a:t>（置信</a:t>
                          </a:r>
                          <a:r>
                            <a:rPr lang="zh-CN" altLang="en-US"/>
                            <a:t>椭圆）</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1"/>
                        </a:blipFill>
                      </a:tcPr>
                    </a:tc>
                  </a:tr>
                  <a:tr h="460375">
                    <a:tc>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1"/>
                        </a:blipFill>
                      </a:tcPr>
                    </a:tc>
                    <a:tc>
                      <a:txBody>
                        <a:bodyPr/>
                        <a:p>
                          <a:pPr>
                            <a:buNone/>
                          </a:pPr>
                          <a:r>
                            <a:rPr lang="zh-CN" altLang="en-US"/>
                            <a:t>机会约束处理机制</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1"/>
                        </a:blipFill>
                      </a:tcPr>
                    </a:tc>
                  </a:tr>
                  <a:tr h="640080">
                    <a:tc>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1"/>
                        </a:blipFill>
                      </a:tcPr>
                    </a:tc>
                    <a:tc>
                      <a:txBody>
                        <a:bodyPr/>
                        <a:p>
                          <a:pPr algn="ctr">
                            <a:buNone/>
                          </a:pPr>
                          <a:r>
                            <a:rPr lang="zh-CN" altLang="en-US"/>
                            <a:t>约束收紧</a:t>
                          </a:r>
                          <a:endParaRPr lang="zh-CN" altLang="en-US"/>
                        </a:p>
                        <a:p>
                          <a:pPr algn="ctr">
                            <a:buNone/>
                          </a:pPr>
                          <a:r>
                            <a:rPr lang="zh-CN" altLang="en-US"/>
                            <a:t>（性质保证</a:t>
                          </a:r>
                          <a:r>
                            <a:rPr lang="zh-CN" altLang="en-US"/>
                            <a:t>需要）</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1"/>
                        </a:blipFill>
                      </a:tcPr>
                    </a:tc>
                  </a:tr>
                  <a:tr h="640080">
                    <a:tc>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1"/>
                        </a:blipFill>
                      </a:tcPr>
                    </a:tc>
                    <a:tc>
                      <a:txBody>
                        <a:bodyPr/>
                        <a:p>
                          <a:pPr algn="ctr">
                            <a:buNone/>
                          </a:pPr>
                          <a:r>
                            <a:rPr lang="zh-CN" altLang="en-US"/>
                            <a:t>确定性约束</a:t>
                          </a:r>
                          <a:endParaRPr lang="zh-CN" altLang="en-US"/>
                        </a:p>
                        <a:p>
                          <a:pPr algn="ctr">
                            <a:buNone/>
                          </a:pPr>
                          <a:r>
                            <a:rPr lang="zh-CN" altLang="en-US"/>
                            <a:t>实际满足</a:t>
                          </a:r>
                          <a:r>
                            <a:rPr lang="zh-CN" altLang="en-US"/>
                            <a:t>情况</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1"/>
                        </a:blipFill>
                      </a:tcPr>
                    </a:tc>
                  </a:tr>
                </a:tbl>
              </a:graphicData>
            </a:graphic>
          </p:graphicFrame>
        </mc:Fallback>
      </mc:AlternateContent>
      <p:sp>
        <p:nvSpPr>
          <p:cNvPr id="7" name="文本框 6"/>
          <p:cNvSpPr txBox="1"/>
          <p:nvPr/>
        </p:nvSpPr>
        <p:spPr>
          <a:xfrm>
            <a:off x="944880" y="4908550"/>
            <a:ext cx="10141585" cy="368300"/>
          </a:xfrm>
          <a:prstGeom prst="rect">
            <a:avLst/>
          </a:prstGeom>
          <a:noFill/>
        </p:spPr>
        <p:txBody>
          <a:bodyPr wrap="square" rtlCol="0">
            <a:spAutoFit/>
          </a:bodyPr>
          <a:p>
            <a:pPr algn="ctr"/>
            <a:r>
              <a:rPr lang="zh-CN" altLang="en-US"/>
              <a:t>依靠比置信椭圆更</a:t>
            </a:r>
            <a:r>
              <a:rPr lang="zh-CN" altLang="en-US"/>
              <a:t>精确的不确定部分</a:t>
            </a:r>
            <a:r>
              <a:rPr lang="zh-CN" altLang="en-US"/>
              <a:t>的分布信息可以减小概率满足偏差，降低</a:t>
            </a:r>
            <a:r>
              <a:rPr lang="zh-CN" altLang="en-US"/>
              <a:t>保守性</a:t>
            </a:r>
            <a:endParaRPr lang="zh-CN" altLang="en-US"/>
          </a:p>
        </p:txBody>
      </p:sp>
      <p:sp>
        <p:nvSpPr>
          <p:cNvPr id="8" name="矩形 7"/>
          <p:cNvSpPr/>
          <p:nvPr/>
        </p:nvSpPr>
        <p:spPr>
          <a:xfrm>
            <a:off x="369570" y="2233930"/>
            <a:ext cx="11460480" cy="1188720"/>
          </a:xfrm>
          <a:prstGeom prst="rect">
            <a:avLst/>
          </a:prstGeom>
          <a:noFill/>
          <a:ln w="19050">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灯片编号占位符 8"/>
          <p:cNvSpPr>
            <a:spLocks noGrp="1"/>
          </p:cNvSpPr>
          <p:nvPr>
            <p:ph type="sldNum" sz="quarter" idx="12"/>
          </p:nvPr>
        </p:nvSpPr>
        <p:spPr/>
        <p:txBody>
          <a:bodyPr/>
          <a:p>
            <a:pPr>
              <a:defRPr/>
            </a:pPr>
            <a:fld id="{AC6C5647-07D8-4AFC-B347-73DA68F3AADD}" type="slidenum">
              <a:rPr lang="zh-CN" altLang="en-US"/>
            </a:fld>
            <a:endParaRPr lang="zh-CN" altLang="en-US"/>
          </a:p>
        </p:txBody>
      </p:sp>
      <p:sp>
        <p:nvSpPr>
          <p:cNvPr id="5" name="文本框 4"/>
          <p:cNvSpPr txBox="1"/>
          <p:nvPr/>
        </p:nvSpPr>
        <p:spPr>
          <a:xfrm>
            <a:off x="2834005" y="1106805"/>
            <a:ext cx="9305925" cy="368300"/>
          </a:xfrm>
          <a:prstGeom prst="rect">
            <a:avLst/>
          </a:prstGeom>
          <a:noFill/>
        </p:spPr>
        <p:txBody>
          <a:bodyPr wrap="square" rtlCol="0">
            <a:spAutoFit/>
          </a:bodyPr>
          <a:p>
            <a:r>
              <a:rPr lang="zh-CN" altLang="en-US"/>
              <a:t>保守</a:t>
            </a:r>
            <a:r>
              <a:rPr lang="zh-CN" altLang="en-US"/>
              <a:t>性表现：机会约束满足概率过大，可行域</a:t>
            </a:r>
            <a:r>
              <a:rPr lang="zh-CN" altLang="en-US"/>
              <a:t>过小</a:t>
            </a: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 name="圆角矩形 43"/>
          <p:cNvSpPr/>
          <p:nvPr/>
        </p:nvSpPr>
        <p:spPr>
          <a:xfrm>
            <a:off x="6931660" y="3821430"/>
            <a:ext cx="5194300" cy="1979930"/>
          </a:xfrm>
          <a:prstGeom prst="round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1800" i="1">
              <a:solidFill>
                <a:schemeClr val="tx1"/>
              </a:solidFill>
              <a:latin typeface="Cambria Math" panose="02040503050406030204" charset="0"/>
              <a:ea typeface="微软雅黑" panose="020B0503020204020204" pitchFamily="34" charset="-122"/>
              <a:cs typeface="Cambria Math" panose="02040503050406030204" charset="0"/>
            </a:endParaRPr>
          </a:p>
        </p:txBody>
      </p:sp>
      <p:sp>
        <p:nvSpPr>
          <p:cNvPr id="9" name="圆角矩形 8"/>
          <p:cNvSpPr/>
          <p:nvPr/>
        </p:nvSpPr>
        <p:spPr>
          <a:xfrm>
            <a:off x="405130" y="1164590"/>
            <a:ext cx="6217920" cy="1714500"/>
          </a:xfrm>
          <a:prstGeom prst="round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圆角矩形 14"/>
          <p:cNvSpPr/>
          <p:nvPr/>
        </p:nvSpPr>
        <p:spPr>
          <a:xfrm>
            <a:off x="7839710" y="1123950"/>
            <a:ext cx="4098925" cy="1713865"/>
          </a:xfrm>
          <a:prstGeom prst="round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1800" i="1">
              <a:solidFill>
                <a:schemeClr val="tx1"/>
              </a:solidFill>
              <a:latin typeface="Cambria Math" panose="02040503050406030204" charset="0"/>
              <a:ea typeface="微软雅黑" panose="020B0503020204020204" pitchFamily="34" charset="-122"/>
              <a:cs typeface="Cambria Math" panose="02040503050406030204" charset="0"/>
            </a:endParaRPr>
          </a:p>
        </p:txBody>
      </p:sp>
      <p:sp>
        <p:nvSpPr>
          <p:cNvPr id="2" name="文本占位符 1"/>
          <p:cNvSpPr>
            <a:spLocks noGrp="1"/>
          </p:cNvSpPr>
          <p:nvPr>
            <p:ph type="body" idx="1"/>
          </p:nvPr>
        </p:nvSpPr>
        <p:spPr>
          <a:xfrm>
            <a:off x="786130" y="6076315"/>
            <a:ext cx="10515600" cy="356235"/>
          </a:xfrm>
        </p:spPr>
        <p:txBody>
          <a:bodyPr/>
          <a:p>
            <a:r>
              <a:rPr lang="zh-CN" altLang="en-US"/>
              <a:t>以高斯分布建模扰动，利用其代数性质获取更准确的随机量分布，降低保守性</a:t>
            </a:r>
            <a:endParaRPr lang="zh-CN" altLang="en-US"/>
          </a:p>
        </p:txBody>
      </p:sp>
      <p:sp>
        <p:nvSpPr>
          <p:cNvPr id="3" name="文本占位符 2"/>
          <p:cNvSpPr>
            <a:spLocks noGrp="1"/>
          </p:cNvSpPr>
          <p:nvPr>
            <p:ph type="body" idx="13"/>
          </p:nvPr>
        </p:nvSpPr>
        <p:spPr>
          <a:xfrm>
            <a:off x="0" y="670560"/>
            <a:ext cx="6812915" cy="448310"/>
          </a:xfrm>
        </p:spPr>
        <p:txBody>
          <a:bodyPr/>
          <a:p>
            <a:r>
              <a:rPr lang="en-US" altLang="zh-CN"/>
              <a:t>&gt;&gt;&gt;</a:t>
            </a:r>
            <a:r>
              <a:t>基于分布函数</a:t>
            </a:r>
            <a:r>
              <a:t>的随机模型预测控制理论推导</a:t>
            </a:r>
          </a:p>
          <a:p/>
        </p:txBody>
      </p:sp>
      <p:sp>
        <p:nvSpPr>
          <p:cNvPr id="4" name="文本占位符 3"/>
          <p:cNvSpPr>
            <a:spLocks noGrp="1"/>
          </p:cNvSpPr>
          <p:nvPr>
            <p:ph type="body" idx="14"/>
          </p:nvPr>
        </p:nvSpPr>
        <p:spPr>
          <a:xfrm>
            <a:off x="805180" y="111760"/>
            <a:ext cx="8062595" cy="448310"/>
          </a:xfrm>
        </p:spPr>
        <p:txBody>
          <a:bodyPr/>
          <a:p>
            <a:r>
              <a:rPr>
                <a:sym typeface="+mn-ea"/>
              </a:rPr>
              <a:t>随机模型预测控制解机会约束优化问题（</a:t>
            </a:r>
            <a:r>
              <a:rPr lang="en-US" altLang="zh-CN">
                <a:sym typeface="+mn-ea"/>
              </a:rPr>
              <a:t>4.4</a:t>
            </a:r>
            <a:r>
              <a:rPr>
                <a:sym typeface="+mn-ea"/>
              </a:rPr>
              <a:t>）</a:t>
            </a:r>
            <a:endParaRPr lang="zh-CN" altLang="en-US"/>
          </a:p>
        </p:txBody>
      </p:sp>
      <p:sp>
        <p:nvSpPr>
          <p:cNvPr id="5" name="灯片编号占位符 4"/>
          <p:cNvSpPr>
            <a:spLocks noGrp="1"/>
          </p:cNvSpPr>
          <p:nvPr>
            <p:ph type="sldNum" sz="quarter" idx="12"/>
          </p:nvPr>
        </p:nvSpPr>
        <p:spPr/>
        <p:txBody>
          <a:bodyPr/>
          <a:p>
            <a:pPr>
              <a:defRPr/>
            </a:pPr>
            <a:fld id="{AC6C5647-07D8-4AFC-B347-73DA68F3AADD}" type="slidenum">
              <a:rPr lang="zh-CN" altLang="en-US"/>
            </a:fld>
            <a:endParaRPr lang="zh-CN" altLang="en-US"/>
          </a:p>
        </p:txBody>
      </p:sp>
      <mc:AlternateContent xmlns:mc="http://schemas.openxmlformats.org/markup-compatibility/2006">
        <mc:Choice xmlns:a14="http://schemas.microsoft.com/office/drawing/2010/main" Requires="a14">
          <p:sp>
            <p:nvSpPr>
              <p:cNvPr id="23" name="文本框 22"/>
              <p:cNvSpPr txBox="1"/>
              <p:nvPr/>
            </p:nvSpPr>
            <p:spPr>
              <a:xfrm>
                <a:off x="5631180" y="1629410"/>
                <a:ext cx="2536825" cy="645160"/>
              </a:xfrm>
              <a:prstGeom prst="rect">
                <a:avLst/>
              </a:prstGeom>
              <a:solidFill>
                <a:schemeClr val="bg1">
                  <a:alpha val="10000"/>
                </a:schemeClr>
              </a:solidFill>
            </p:spPr>
            <p:txBody>
              <a:bodyPr wrap="square" rtlCol="0" anchor="t">
                <a:spAutoFit/>
              </a:bodyPr>
              <a:p>
                <a:pPr algn="ctr"/>
                <a14:m>
                  <m:oMathPara xmlns:m="http://schemas.openxmlformats.org/officeDocument/2006/math">
                    <m:oMathParaPr>
                      <m:jc m:val="centerGroup"/>
                    </m:oMathParaPr>
                    <m:oMath xmlns:m="http://schemas.openxmlformats.org/officeDocument/2006/math">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𝑢</m:t>
                          </m:r>
                        </m:e>
                        <m:sub>
                          <m:r>
                            <a:rPr lang="en-US" altLang="zh-CN" sz="1800" i="1">
                              <a:latin typeface="Cambria Math" panose="02040503050406030204" charset="0"/>
                              <a:cs typeface="Cambria Math" panose="02040503050406030204" charset="0"/>
                            </a:rPr>
                            <m:t>𝑘</m:t>
                          </m:r>
                        </m:sub>
                      </m:sSub>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𝐾</m:t>
                      </m:r>
                      <m:sSub>
                        <m:sSubPr>
                          <m:ctrlPr>
                            <a:rPr lang="en-US" altLang="zh-CN" sz="1800" i="1">
                              <a:solidFill>
                                <a:srgbClr val="FF0000"/>
                              </a:solidFill>
                              <a:latin typeface="Cambria Math" panose="02040503050406030204" charset="0"/>
                              <a:cs typeface="Cambria Math" panose="02040503050406030204" charset="0"/>
                            </a:rPr>
                          </m:ctrlPr>
                        </m:sSubPr>
                        <m:e>
                          <m:r>
                            <a:rPr lang="en-US" altLang="zh-CN" sz="1800" i="1">
                              <a:solidFill>
                                <a:srgbClr val="FF0000"/>
                              </a:solidFill>
                              <a:latin typeface="Cambria Math" panose="02040503050406030204" charset="0"/>
                              <a:cs typeface="Cambria Math" panose="02040503050406030204" charset="0"/>
                            </a:rPr>
                            <m:t>𝑥</m:t>
                          </m:r>
                        </m:e>
                        <m:sub>
                          <m:r>
                            <a:rPr lang="en-US" altLang="zh-CN" sz="1800" i="1">
                              <a:solidFill>
                                <a:srgbClr val="FF0000"/>
                              </a:solidFill>
                              <a:latin typeface="Cambria Math" panose="02040503050406030204" charset="0"/>
                              <a:cs typeface="Cambria Math" panose="02040503050406030204" charset="0"/>
                            </a:rPr>
                            <m:t>𝑘</m:t>
                          </m:r>
                        </m:sub>
                      </m:sSub>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𝑐</m:t>
                          </m:r>
                        </m:e>
                        <m:sub>
                          <m:r>
                            <a:rPr lang="en-US" altLang="zh-CN" sz="1800" i="1">
                              <a:latin typeface="Cambria Math" panose="02040503050406030204" charset="0"/>
                              <a:cs typeface="Cambria Math" panose="02040503050406030204" charset="0"/>
                            </a:rPr>
                            <m:t>𝑘</m:t>
                          </m:r>
                        </m:sub>
                      </m:sSub>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𝐿𝑄𝑅</m:t>
                      </m:r>
                      <m:r>
                        <a:rPr lang="en-US" altLang="zh-CN" sz="1800" i="1">
                          <a:latin typeface="Cambria Math" panose="02040503050406030204" charset="0"/>
                          <a:cs typeface="Cambria Math" panose="02040503050406030204" charset="0"/>
                        </a:rPr>
                        <m:t>)</m:t>
                      </m:r>
                    </m:oMath>
                  </m:oMathPara>
                </a14:m>
                <a:endParaRPr lang="en-US" altLang="zh-CN" sz="1800" i="1">
                  <a:latin typeface="Cambria Math" panose="02040503050406030204" charset="0"/>
                  <a:cs typeface="Cambria Math" panose="02040503050406030204" charset="0"/>
                </a:endParaRPr>
              </a:p>
              <a:p>
                <a:pPr algn="ctr"/>
                <a14:m>
                  <m:oMathPara xmlns:m="http://schemas.openxmlformats.org/officeDocument/2006/math">
                    <m:oMathParaPr>
                      <m:jc m:val="center"/>
                    </m:oMathParaPr>
                    <m:oMath xmlns:m="http://schemas.openxmlformats.org/officeDocument/2006/math">
                      <m:sSub>
                        <m:sSubPr>
                          <m:ctrlPr>
                            <a:rPr lang="en-US" altLang="zh-CN" sz="1800" i="1">
                              <a:solidFill>
                                <a:srgbClr val="FF0000"/>
                              </a:solidFill>
                              <a:latin typeface="Cambria Math" panose="02040503050406030204" charset="0"/>
                              <a:cs typeface="Cambria Math" panose="02040503050406030204" charset="0"/>
                            </a:rPr>
                          </m:ctrlPr>
                        </m:sSubPr>
                        <m:e>
                          <m:r>
                            <a:rPr lang="en-US" altLang="zh-CN" sz="1800" i="1">
                              <a:solidFill>
                                <a:srgbClr val="FF0000"/>
                              </a:solidFill>
                              <a:latin typeface="Cambria Math" panose="02040503050406030204" charset="0"/>
                              <a:cs typeface="Cambria Math" panose="02040503050406030204" charset="0"/>
                            </a:rPr>
                            <m:t>𝑥</m:t>
                          </m:r>
                        </m:e>
                        <m:sub>
                          <m:r>
                            <a:rPr lang="en-US" altLang="zh-CN" sz="1800" i="1">
                              <a:solidFill>
                                <a:srgbClr val="FF0000"/>
                              </a:solidFill>
                              <a:latin typeface="Cambria Math" panose="02040503050406030204" charset="0"/>
                              <a:cs typeface="Cambria Math" panose="02040503050406030204" charset="0"/>
                            </a:rPr>
                            <m:t>𝑘</m:t>
                          </m:r>
                          <m:r>
                            <a:rPr lang="en-US" altLang="zh-CN" sz="1800" i="1">
                              <a:solidFill>
                                <a:srgbClr val="FF0000"/>
                              </a:solidFill>
                              <a:latin typeface="Cambria Math" panose="02040503050406030204" charset="0"/>
                              <a:cs typeface="Cambria Math" panose="02040503050406030204" charset="0"/>
                            </a:rPr>
                            <m:t>+</m:t>
                          </m:r>
                          <m:r>
                            <a:rPr lang="en-US" altLang="zh-CN" sz="1800" i="1">
                              <a:solidFill>
                                <a:srgbClr val="FF0000"/>
                              </a:solidFill>
                              <a:latin typeface="Cambria Math" panose="02040503050406030204" charset="0"/>
                              <a:cs typeface="Cambria Math" panose="02040503050406030204" charset="0"/>
                            </a:rPr>
                            <m:t>1</m:t>
                          </m:r>
                        </m:sub>
                      </m:sSub>
                      <m:r>
                        <a:rPr lang="en-US" altLang="zh-CN" sz="1800" i="1">
                          <a:solidFill>
                            <a:schemeClr val="tx1"/>
                          </a:solidFill>
                          <a:latin typeface="Cambria Math" panose="02040503050406030204" charset="0"/>
                          <a:ea typeface="微软雅黑" panose="020B0503020204020204" pitchFamily="34" charset="-122"/>
                          <a:cs typeface="Cambria Math" panose="02040503050406030204" charset="0"/>
                        </a:rPr>
                        <m:t>=</m:t>
                      </m:r>
                      <m:r>
                        <a:rPr lang="en-US" altLang="zh-CN" sz="1800" i="1">
                          <a:solidFill>
                            <a:schemeClr val="tx1"/>
                          </a:solidFill>
                          <a:latin typeface="Cambria Math" panose="02040503050406030204" charset="0"/>
                          <a:ea typeface="微软雅黑" panose="020B0503020204020204" pitchFamily="34" charset="-122"/>
                          <a:cs typeface="Cambria Math" panose="02040503050406030204" charset="0"/>
                        </a:rPr>
                        <m:t>𝐴</m:t>
                      </m:r>
                      <m:sSub>
                        <m:sSubPr>
                          <m:ctrlPr>
                            <a:rPr lang="en-US" altLang="zh-CN" sz="1800" i="1">
                              <a:solidFill>
                                <a:srgbClr val="FF0000"/>
                              </a:solidFill>
                              <a:latin typeface="Cambria Math" panose="02040503050406030204" charset="0"/>
                              <a:cs typeface="Cambria Math" panose="02040503050406030204" charset="0"/>
                            </a:rPr>
                          </m:ctrlPr>
                        </m:sSubPr>
                        <m:e>
                          <m:r>
                            <a:rPr lang="en-US" altLang="zh-CN" sz="1800" i="1">
                              <a:solidFill>
                                <a:srgbClr val="FF0000"/>
                              </a:solidFill>
                              <a:latin typeface="Cambria Math" panose="02040503050406030204" charset="0"/>
                              <a:cs typeface="Cambria Math" panose="02040503050406030204" charset="0"/>
                            </a:rPr>
                            <m:t>𝑥</m:t>
                          </m:r>
                        </m:e>
                        <m:sub>
                          <m:r>
                            <a:rPr lang="en-US" altLang="zh-CN" sz="1800" i="1">
                              <a:solidFill>
                                <a:srgbClr val="FF0000"/>
                              </a:solidFill>
                              <a:latin typeface="Cambria Math" panose="02040503050406030204" charset="0"/>
                              <a:cs typeface="Cambria Math" panose="02040503050406030204" charset="0"/>
                            </a:rPr>
                            <m:t>𝑘</m:t>
                          </m:r>
                        </m:sub>
                      </m:sSub>
                      <m:r>
                        <a:rPr lang="en-US" altLang="zh-CN" sz="1800" i="1">
                          <a:solidFill>
                            <a:schemeClr val="tx1"/>
                          </a:solidFill>
                          <a:latin typeface="Cambria Math" panose="02040503050406030204" charset="0"/>
                          <a:ea typeface="微软雅黑" panose="020B0503020204020204" pitchFamily="34" charset="-122"/>
                          <a:cs typeface="Cambria Math" panose="02040503050406030204" charset="0"/>
                        </a:rPr>
                        <m:t>+</m:t>
                      </m:r>
                      <m:r>
                        <a:rPr lang="en-US" altLang="zh-CN" sz="1800" i="1">
                          <a:solidFill>
                            <a:schemeClr val="tx1"/>
                          </a:solidFill>
                          <a:latin typeface="Cambria Math" panose="02040503050406030204" charset="0"/>
                          <a:ea typeface="微软雅黑" panose="020B0503020204020204" pitchFamily="34" charset="-122"/>
                          <a:cs typeface="Cambria Math" panose="02040503050406030204" charset="0"/>
                        </a:rPr>
                        <m:t>𝐵</m:t>
                      </m:r>
                      <m:sSub>
                        <m:sSubPr>
                          <m:ctrlPr>
                            <a:rPr lang="en-US" altLang="zh-CN" sz="1800" i="1">
                              <a:solidFill>
                                <a:schemeClr val="tx1"/>
                              </a:solidFill>
                              <a:latin typeface="Cambria Math" panose="02040503050406030204" charset="0"/>
                              <a:ea typeface="微软雅黑" panose="020B0503020204020204" pitchFamily="34" charset="-122"/>
                              <a:cs typeface="Cambria Math" panose="02040503050406030204" charset="0"/>
                            </a:rPr>
                          </m:ctrlPr>
                        </m:sSubPr>
                        <m:e>
                          <m:r>
                            <a:rPr lang="en-US" altLang="zh-CN" sz="1800" i="1">
                              <a:solidFill>
                                <a:schemeClr val="tx1"/>
                              </a:solidFill>
                              <a:latin typeface="Cambria Math" panose="02040503050406030204" charset="0"/>
                              <a:ea typeface="微软雅黑" panose="020B0503020204020204" pitchFamily="34" charset="-122"/>
                              <a:cs typeface="Cambria Math" panose="02040503050406030204" charset="0"/>
                            </a:rPr>
                            <m:t>𝑢</m:t>
                          </m:r>
                        </m:e>
                        <m:sub>
                          <m:r>
                            <a:rPr lang="en-US" altLang="zh-CN" sz="1800" i="1">
                              <a:solidFill>
                                <a:schemeClr val="tx1"/>
                              </a:solidFill>
                              <a:latin typeface="Cambria Math" panose="02040503050406030204" charset="0"/>
                              <a:ea typeface="微软雅黑" panose="020B0503020204020204" pitchFamily="34" charset="-122"/>
                              <a:cs typeface="Cambria Math" panose="02040503050406030204" charset="0"/>
                            </a:rPr>
                            <m:t>𝑘</m:t>
                          </m:r>
                        </m:sub>
                      </m:sSub>
                      <m:r>
                        <a:rPr lang="en-US" altLang="zh-CN" sz="1800" i="1">
                          <a:solidFill>
                            <a:schemeClr val="tx1"/>
                          </a:solidFill>
                          <a:latin typeface="Cambria Math" panose="02040503050406030204" charset="0"/>
                          <a:ea typeface="微软雅黑" panose="020B0503020204020204" pitchFamily="34" charset="-122"/>
                          <a:cs typeface="Cambria Math" panose="02040503050406030204" charset="0"/>
                        </a:rPr>
                        <m:t>+</m:t>
                      </m:r>
                      <m:sSub>
                        <m:sSubPr>
                          <m:ctrlPr>
                            <a:rPr lang="en-US" altLang="zh-CN" sz="1800" i="1">
                              <a:solidFill>
                                <a:schemeClr val="tx1"/>
                              </a:solidFill>
                              <a:latin typeface="Cambria Math" panose="02040503050406030204" charset="0"/>
                              <a:ea typeface="微软雅黑" panose="020B0503020204020204" pitchFamily="34" charset="-122"/>
                              <a:cs typeface="Cambria Math" panose="02040503050406030204" charset="0"/>
                            </a:rPr>
                          </m:ctrlPr>
                        </m:sSubPr>
                        <m:e>
                          <m:r>
                            <a:rPr lang="en-US" altLang="zh-CN" sz="1800" i="1">
                              <a:solidFill>
                                <a:schemeClr val="tx1"/>
                              </a:solidFill>
                              <a:latin typeface="Cambria Math" panose="02040503050406030204" charset="0"/>
                              <a:ea typeface="微软雅黑" panose="020B0503020204020204" pitchFamily="34" charset="-122"/>
                              <a:cs typeface="Cambria Math" panose="02040503050406030204" charset="0"/>
                            </a:rPr>
                            <m:t>𝑤</m:t>
                          </m:r>
                        </m:e>
                        <m:sub>
                          <m:r>
                            <a:rPr lang="en-US" altLang="zh-CN" sz="1800" i="1">
                              <a:solidFill>
                                <a:schemeClr val="tx1"/>
                              </a:solidFill>
                              <a:latin typeface="Cambria Math" panose="02040503050406030204" charset="0"/>
                              <a:ea typeface="微软雅黑" panose="020B0503020204020204" pitchFamily="34" charset="-122"/>
                              <a:cs typeface="Cambria Math" panose="02040503050406030204" charset="0"/>
                            </a:rPr>
                            <m:t>𝑘</m:t>
                          </m:r>
                        </m:sub>
                      </m:sSub>
                    </m:oMath>
                  </m:oMathPara>
                </a14:m>
                <a:endParaRPr lang="en-US" altLang="zh-CN" sz="1800" i="1">
                  <a:latin typeface="Cambria Math" panose="02040503050406030204" charset="0"/>
                  <a:cs typeface="Cambria Math" panose="02040503050406030204" charset="0"/>
                </a:endParaRPr>
              </a:p>
            </p:txBody>
          </p:sp>
        </mc:Choice>
        <mc:Fallback>
          <p:sp>
            <p:nvSpPr>
              <p:cNvPr id="23" name="文本框 22"/>
              <p:cNvSpPr txBox="1">
                <a:spLocks noRot="1" noChangeAspect="1" noMove="1" noResize="1" noEditPoints="1" noAdjustHandles="1" noChangeArrowheads="1" noChangeShapeType="1" noTextEdit="1"/>
              </p:cNvSpPr>
              <p:nvPr/>
            </p:nvSpPr>
            <p:spPr>
              <a:xfrm>
                <a:off x="5631180" y="1629410"/>
                <a:ext cx="2536825" cy="645160"/>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1269048" y="1176655"/>
                <a:ext cx="4932045" cy="1420495"/>
              </a:xfrm>
              <a:prstGeom prst="rect">
                <a:avLst/>
              </a:prstGeom>
              <a:noFill/>
            </p:spPr>
            <p:txBody>
              <a:bodyPr wrap="none" rtlCol="0" anchor="t">
                <a:noAutofit/>
              </a:bodyPr>
              <a:p>
                <a:pPr indent="0" algn="l" fontAlgn="auto">
                  <a:lnSpc>
                    <a:spcPct val="150000"/>
                  </a:lnSpc>
                </a:pPr>
                <a:r>
                  <a:rPr lang="en-US" altLang="zh-CN">
                    <a:latin typeface="Cambria Math" panose="02040503050406030204" charset="0"/>
                    <a:cs typeface="Cambria Math" panose="02040503050406030204" charset="0"/>
                  </a:rPr>
                  <a:t>       </a:t>
                </a:r>
                <a14:m>
                  <m:oMath xmlns:m="http://schemas.openxmlformats.org/officeDocument/2006/math">
                    <m:func>
                      <m:funcPr>
                        <m:ctrlPr>
                          <a:rPr lang="en-US" altLang="zh-CN" i="1">
                            <a:latin typeface="Cambria Math" panose="02040503050406030204" charset="0"/>
                            <a:cs typeface="Cambria Math" panose="02040503050406030204" charset="0"/>
                          </a:rPr>
                        </m:ctrlPr>
                      </m:funcPr>
                      <m:fName>
                        <m:limLow>
                          <m:limLowPr>
                            <m:ctrlPr>
                              <a:rPr lang="en-US" altLang="zh-CN">
                                <a:latin typeface="Cambria Math" panose="02040503050406030204" charset="0"/>
                                <a:cs typeface="Cambria Math" panose="02040503050406030204" charset="0"/>
                              </a:rPr>
                            </m:ctrlPr>
                          </m:limLowPr>
                          <m:e>
                            <m:r>
                              <m:rPr>
                                <m:sty m:val="p"/>
                              </m:rPr>
                              <a:rPr lang="en-US" altLang="zh-CN">
                                <a:latin typeface="Cambria Math" panose="02040503050406030204" charset="0"/>
                                <a:cs typeface="Cambria Math" panose="02040503050406030204" charset="0"/>
                              </a:rPr>
                              <m:t>min</m:t>
                            </m:r>
                          </m:e>
                          <m:lim>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𝑢</m:t>
                                </m:r>
                              </m:e>
                              <m:sub>
                                <m:r>
                                  <a:rPr lang="en-US" altLang="zh-CN" i="1">
                                    <a:latin typeface="Cambria Math" panose="02040503050406030204" charset="0"/>
                                    <a:cs typeface="Cambria Math" panose="02040503050406030204" charset="0"/>
                                  </a:rPr>
                                  <m:t>𝑘</m:t>
                                </m:r>
                              </m:sub>
                            </m:sSub>
                          </m:lim>
                        </m:limLow>
                      </m:fName>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𝐽</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𝐸</m:t>
                            </m:r>
                          </m:e>
                          <m:sub>
                            <m:r>
                              <a:rPr lang="en-US" altLang="zh-CN" sz="1800" i="1">
                                <a:latin typeface="Cambria Math" panose="02040503050406030204" charset="0"/>
                                <a:cs typeface="Cambria Math" panose="02040503050406030204" charset="0"/>
                              </a:rPr>
                              <m:t>𝑤</m:t>
                            </m:r>
                          </m:sub>
                        </m:sSub>
                        <m:r>
                          <a:rPr lang="en-US" altLang="zh-CN" i="1">
                            <a:latin typeface="Cambria Math" panose="02040503050406030204" charset="0"/>
                            <a:cs typeface="Cambria Math" panose="02040503050406030204" charset="0"/>
                          </a:rPr>
                          <m:t>[</m:t>
                        </m:r>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sub>
                          <m:sup>
                            <m:r>
                              <a:rPr lang="en-US" altLang="zh-CN" i="1">
                                <a:latin typeface="Cambria Math" panose="02040503050406030204" charset="0"/>
                                <a:cs typeface="Cambria Math" panose="02040503050406030204" charset="0"/>
                              </a:rPr>
                              <m:t>∞</m:t>
                            </m:r>
                          </m:sup>
                          <m:e>
                            <m:sSubSup>
                              <m:sSubSupPr>
                                <m:ctrlPr>
                                  <a:rPr lang="en-US" altLang="zh-CN" i="1">
                                    <a:latin typeface="Cambria Math" panose="02040503050406030204" charset="0"/>
                                    <a:cs typeface="Cambria Math" panose="02040503050406030204" charset="0"/>
                                  </a:rPr>
                                </m:ctrlPr>
                              </m:sSubSupPr>
                              <m:e>
                                <m:r>
                                  <a:rPr lang="en-US" altLang="zh-CN" i="1">
                                    <a:solidFill>
                                      <a:srgbClr val="FF0000"/>
                                    </a:solidFill>
                                    <a:latin typeface="Cambria Math" panose="02040503050406030204" charset="0"/>
                                    <a:cs typeface="Cambria Math" panose="02040503050406030204" charset="0"/>
                                  </a:rPr>
                                  <m:t>𝑥</m:t>
                                </m:r>
                              </m:e>
                              <m:sub>
                                <m:r>
                                  <a:rPr lang="en-US" altLang="zh-CN" sz="1800" i="1">
                                    <a:solidFill>
                                      <a:srgbClr val="FF0000"/>
                                    </a:solidFill>
                                    <a:latin typeface="Cambria Math" panose="02040503050406030204" charset="0"/>
                                    <a:cs typeface="Cambria Math" panose="02040503050406030204" charset="0"/>
                                  </a:rPr>
                                  <m:t>𝑘</m:t>
                                </m:r>
                                <m:r>
                                  <a:rPr lang="en-US" altLang="zh-CN" sz="1800" i="1">
                                    <a:solidFill>
                                      <a:srgbClr val="FF0000"/>
                                    </a:solidFill>
                                    <a:latin typeface="Cambria Math" panose="02040503050406030204" charset="0"/>
                                    <a:cs typeface="Cambria Math" panose="02040503050406030204" charset="0"/>
                                  </a:rPr>
                                  <m:t>+</m:t>
                                </m:r>
                                <m:r>
                                  <a:rPr lang="en-US" altLang="zh-CN" sz="1800" i="1">
                                    <a:solidFill>
                                      <a:srgbClr val="FF0000"/>
                                    </a:solidFill>
                                    <a:latin typeface="Cambria Math" panose="02040503050406030204" charset="0"/>
                                    <a:cs typeface="Cambria Math" panose="02040503050406030204" charset="0"/>
                                  </a:rPr>
                                  <m:t>𝑖</m:t>
                                </m:r>
                              </m:sub>
                              <m:sup>
                                <m:r>
                                  <a:rPr lang="en-US" altLang="zh-CN" i="1">
                                    <a:latin typeface="Cambria Math" panose="02040503050406030204" charset="0"/>
                                    <a:cs typeface="Cambria Math" panose="02040503050406030204" charset="0"/>
                                  </a:rPr>
                                  <m:t>𝑇</m:t>
                                </m:r>
                              </m:sup>
                            </m:sSubSup>
                            <m:r>
                              <a:rPr lang="en-US" altLang="zh-CN" i="1">
                                <a:latin typeface="Cambria Math" panose="02040503050406030204" charset="0"/>
                                <a:cs typeface="Cambria Math" panose="02040503050406030204" charset="0"/>
                              </a:rPr>
                              <m:t>𝑄</m:t>
                            </m:r>
                            <m:sSub>
                              <m:sSubPr>
                                <m:ctrlPr>
                                  <a:rPr lang="en-US" altLang="zh-CN" sz="1800" i="1">
                                    <a:solidFill>
                                      <a:srgbClr val="FF0000"/>
                                    </a:solidFill>
                                    <a:latin typeface="Cambria Math" panose="02040503050406030204" charset="0"/>
                                    <a:cs typeface="Cambria Math" panose="02040503050406030204" charset="0"/>
                                  </a:rPr>
                                </m:ctrlPr>
                              </m:sSubPr>
                              <m:e>
                                <m:r>
                                  <a:rPr lang="en-US" altLang="zh-CN" sz="1800" i="1">
                                    <a:solidFill>
                                      <a:srgbClr val="FF0000"/>
                                    </a:solidFill>
                                    <a:latin typeface="Cambria Math" panose="02040503050406030204" charset="0"/>
                                    <a:cs typeface="Cambria Math" panose="02040503050406030204" charset="0"/>
                                  </a:rPr>
                                  <m:t>𝑥</m:t>
                                </m:r>
                              </m:e>
                              <m:sub>
                                <m:r>
                                  <a:rPr lang="en-US" altLang="zh-CN" sz="1800" i="1">
                                    <a:solidFill>
                                      <a:srgbClr val="FF0000"/>
                                    </a:solidFill>
                                    <a:latin typeface="Cambria Math" panose="02040503050406030204" charset="0"/>
                                    <a:cs typeface="Cambria Math" panose="02040503050406030204" charset="0"/>
                                  </a:rPr>
                                  <m:t>𝑘</m:t>
                                </m:r>
                                <m:r>
                                  <a:rPr lang="en-US" altLang="zh-CN" sz="1800" i="1">
                                    <a:solidFill>
                                      <a:srgbClr val="FF0000"/>
                                    </a:solidFill>
                                    <a:latin typeface="Cambria Math" panose="02040503050406030204" charset="0"/>
                                    <a:cs typeface="Cambria Math" panose="02040503050406030204" charset="0"/>
                                  </a:rPr>
                                  <m:t>+</m:t>
                                </m:r>
                                <m:r>
                                  <a:rPr lang="en-US" altLang="zh-CN" sz="1800" i="1">
                                    <a:solidFill>
                                      <a:srgbClr val="FF0000"/>
                                    </a:solidFill>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𝑢</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sub>
                              <m:sup>
                                <m:r>
                                  <a:rPr lang="en-US" altLang="zh-CN" i="1">
                                    <a:latin typeface="Cambria Math" panose="02040503050406030204" charset="0"/>
                                    <a:cs typeface="Cambria Math" panose="02040503050406030204" charset="0"/>
                                  </a:rPr>
                                  <m:t>𝑇</m:t>
                                </m:r>
                              </m:sup>
                            </m:sSubSup>
                            <m:r>
                              <a:rPr lang="en-US" altLang="zh-CN" i="1">
                                <a:latin typeface="Cambria Math" panose="02040503050406030204" charset="0"/>
                                <a:cs typeface="Cambria Math" panose="02040503050406030204" charset="0"/>
                              </a:rPr>
                              <m:t>𝑅</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𝑢</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sub>
                            </m:sSub>
                          </m:e>
                        </m:nary>
                        <m:r>
                          <a:rPr lang="en-US" altLang="zh-CN" i="1">
                            <a:latin typeface="Cambria Math" panose="02040503050406030204" charset="0"/>
                            <a:cs typeface="Cambria Math" panose="02040503050406030204" charset="0"/>
                          </a:rPr>
                          <m:t>]</m:t>
                        </m:r>
                      </m:e>
                    </m:func>
                  </m:oMath>
                </a14:m>
                <a:endParaRPr lang="en-US" altLang="zh-CN" i="1">
                  <a:latin typeface="Cambria Math" panose="02040503050406030204" charset="0"/>
                  <a:cs typeface="Cambria Math" panose="02040503050406030204" charset="0"/>
                </a:endParaRPr>
              </a:p>
              <a:p>
                <a:pPr indent="0" algn="l" fontAlgn="auto">
                  <a:lnSpc>
                    <a:spcPct val="150000"/>
                  </a:lnSpc>
                </a:pPr>
                <a14:m>
                  <m:oMathPara xmlns:m="http://schemas.openxmlformats.org/officeDocument/2006/math">
                    <m:oMathParaPr>
                      <m:jc m:val="left"/>
                    </m:oMathParaPr>
                    <m:oMath xmlns:m="http://schemas.openxmlformats.org/officeDocument/2006/math">
                      <m:r>
                        <a:rPr lang="en-US" altLang="zh-CN" i="1">
                          <a:latin typeface="Cambria Math" panose="02040503050406030204" charset="0"/>
                          <a:cs typeface="Cambria Math" panose="02040503050406030204" charset="0"/>
                        </a:rPr>
                        <m:t>𝑠</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𝑡</m:t>
                      </m:r>
                      <m:r>
                        <a:rPr lang="en-US" altLang="zh-CN" i="1">
                          <a:latin typeface="Cambria Math" panose="02040503050406030204" charset="0"/>
                          <a:cs typeface="Cambria Math" panose="02040503050406030204" charset="0"/>
                        </a:rPr>
                        <m:t>.</m:t>
                      </m:r>
                      <m:r>
                        <a:rPr lang="en-US" altLang="zh-CN" i="1">
                          <a:solidFill>
                            <a:schemeClr val="tx1"/>
                          </a:solidFill>
                          <a:latin typeface="Cambria Math" panose="02040503050406030204" charset="0"/>
                          <a:cs typeface="Cambria Math" panose="02040503050406030204" charset="0"/>
                        </a:rPr>
                        <m:t>𝑃𝑟</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𝑔</m:t>
                          </m:r>
                        </m:e>
                        <m:sup>
                          <m:r>
                            <a:rPr lang="en-US" altLang="zh-CN" i="1">
                              <a:latin typeface="Cambria Math" panose="02040503050406030204" charset="0"/>
                              <a:cs typeface="Cambria Math" panose="02040503050406030204" charset="0"/>
                            </a:rPr>
                            <m:t>𝑇</m:t>
                          </m:r>
                        </m:sup>
                      </m:sSup>
                      <m:sSub>
                        <m:sSubPr>
                          <m:ctrlPr>
                            <a:rPr lang="en-US" altLang="zh-CN" sz="1800" i="1">
                              <a:solidFill>
                                <a:srgbClr val="FF0000"/>
                              </a:solidFill>
                              <a:latin typeface="Cambria Math" panose="02040503050406030204" charset="0"/>
                              <a:cs typeface="Cambria Math" panose="02040503050406030204" charset="0"/>
                            </a:rPr>
                          </m:ctrlPr>
                        </m:sSubPr>
                        <m:e>
                          <m:r>
                            <a:rPr lang="en-US" altLang="zh-CN" sz="1800" i="1">
                              <a:solidFill>
                                <a:srgbClr val="FF0000"/>
                              </a:solidFill>
                              <a:latin typeface="Cambria Math" panose="02040503050406030204" charset="0"/>
                              <a:cs typeface="Cambria Math" panose="02040503050406030204" charset="0"/>
                            </a:rPr>
                            <m:t>𝑥</m:t>
                          </m:r>
                        </m:e>
                        <m:sub>
                          <m:r>
                            <a:rPr lang="en-US" altLang="zh-CN" sz="1800" i="1">
                              <a:solidFill>
                                <a:srgbClr val="FF0000"/>
                              </a:solidFill>
                              <a:latin typeface="Cambria Math" panose="02040503050406030204" charset="0"/>
                              <a:cs typeface="Cambria Math" panose="02040503050406030204" charset="0"/>
                            </a:rPr>
                            <m:t>𝑘</m:t>
                          </m:r>
                          <m:r>
                            <a:rPr lang="en-US" altLang="zh-CN" sz="1800" i="1">
                              <a:solidFill>
                                <a:srgbClr val="FF0000"/>
                              </a:solidFill>
                              <a:latin typeface="Cambria Math" panose="02040503050406030204" charset="0"/>
                              <a:cs typeface="Cambria Math" panose="02040503050406030204" charset="0"/>
                            </a:rPr>
                            <m:t>+</m:t>
                          </m:r>
                          <m:r>
                            <a:rPr lang="en-US" altLang="zh-CN" sz="1800" i="1">
                              <a:solidFill>
                                <a:srgbClr val="FF0000"/>
                              </a:solidFill>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𝑝</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m:t>
                      </m:r>
                    </m:oMath>
                  </m:oMathPara>
                </a14:m>
                <a:endParaRPr lang="en-US" altLang="zh-CN" i="1">
                  <a:latin typeface="Cambria Math" panose="02040503050406030204" charset="0"/>
                  <a:cs typeface="Cambria Math" panose="02040503050406030204" charset="0"/>
                </a:endParaRPr>
              </a:p>
              <a:p>
                <a:pPr indent="0" algn="l" fontAlgn="auto">
                  <a:lnSpc>
                    <a:spcPct val="150000"/>
                  </a:lnSpc>
                </a:pPr>
                <a14:m>
                  <m:oMathPara xmlns:m="http://schemas.openxmlformats.org/officeDocument/2006/math">
                    <m:oMathParaPr>
                      <m:jc m:val="left"/>
                    </m:oMathParaPr>
                    <m:oMath xmlns:m="http://schemas.openxmlformats.org/officeDocument/2006/math">
                      <m:r>
                        <a:rPr lang="en-US" altLang="zh-CN" i="1">
                          <a:latin typeface="Cambria Math" panose="02040503050406030204" charset="0"/>
                          <a:cs typeface="Cambria Math" panose="02040503050406030204" charset="0"/>
                        </a:rPr>
                        <m:t>       </m:t>
                      </m:r>
                      <m:sSub>
                        <m:sSubPr>
                          <m:ctrlPr>
                            <a:rPr lang="en-US" altLang="zh-CN" sz="1800" i="1">
                              <a:solidFill>
                                <a:srgbClr val="FF0000"/>
                              </a:solidFill>
                              <a:latin typeface="Cambria Math" panose="02040503050406030204" charset="0"/>
                              <a:cs typeface="Cambria Math" panose="02040503050406030204" charset="0"/>
                            </a:rPr>
                          </m:ctrlPr>
                        </m:sSubPr>
                        <m:e>
                          <m:r>
                            <a:rPr lang="en-US" altLang="zh-CN" sz="1800" i="1">
                              <a:solidFill>
                                <a:srgbClr val="FF0000"/>
                              </a:solidFill>
                              <a:latin typeface="Cambria Math" panose="02040503050406030204" charset="0"/>
                              <a:cs typeface="Cambria Math" panose="02040503050406030204" charset="0"/>
                            </a:rPr>
                            <m:t>𝑥</m:t>
                          </m:r>
                        </m:e>
                        <m:sub>
                          <m:r>
                            <a:rPr lang="en-US" altLang="zh-CN" sz="1800" i="1">
                              <a:solidFill>
                                <a:srgbClr val="FF0000"/>
                              </a:solidFill>
                              <a:latin typeface="Cambria Math" panose="02040503050406030204" charset="0"/>
                              <a:cs typeface="Cambria Math" panose="02040503050406030204" charset="0"/>
                            </a:rPr>
                            <m:t>𝑘</m:t>
                          </m:r>
                          <m:r>
                            <a:rPr lang="en-US" altLang="zh-CN" sz="1800" i="1">
                              <a:solidFill>
                                <a:srgbClr val="FF0000"/>
                              </a:solidFill>
                              <a:latin typeface="Cambria Math" panose="02040503050406030204" charset="0"/>
                              <a:cs typeface="Cambria Math" panose="02040503050406030204" charset="0"/>
                            </a:rPr>
                            <m:t>+</m:t>
                          </m:r>
                          <m:r>
                            <a:rPr lang="en-US" altLang="zh-CN" sz="1800" i="1">
                              <a:solidFill>
                                <a:srgbClr val="FF0000"/>
                              </a:solidFill>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𝐴</m:t>
                      </m:r>
                      <m:sSub>
                        <m:sSubPr>
                          <m:ctrlPr>
                            <a:rPr lang="en-US" altLang="zh-CN" sz="1800" i="1">
                              <a:solidFill>
                                <a:srgbClr val="FF0000"/>
                              </a:solidFill>
                              <a:latin typeface="Cambria Math" panose="02040503050406030204" charset="0"/>
                              <a:cs typeface="Cambria Math" panose="02040503050406030204" charset="0"/>
                            </a:rPr>
                          </m:ctrlPr>
                        </m:sSubPr>
                        <m:e>
                          <m:r>
                            <a:rPr lang="en-US" altLang="zh-CN" sz="1800" i="1">
                              <a:solidFill>
                                <a:srgbClr val="FF0000"/>
                              </a:solidFill>
                              <a:latin typeface="Cambria Math" panose="02040503050406030204" charset="0"/>
                              <a:cs typeface="Cambria Math" panose="02040503050406030204" charset="0"/>
                            </a:rPr>
                            <m:t>𝑥</m:t>
                          </m:r>
                        </m:e>
                        <m:sub>
                          <m:r>
                            <a:rPr lang="en-US" altLang="zh-CN" sz="1800" i="1">
                              <a:solidFill>
                                <a:srgbClr val="FF0000"/>
                              </a:solidFill>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𝐵</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𝑢</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𝐵</m:t>
                              </m:r>
                            </m:e>
                            <m:sub>
                              <m:r>
                                <a:rPr lang="en-US" altLang="zh-CN" i="1">
                                  <a:latin typeface="Cambria Math" panose="02040503050406030204" charset="0"/>
                                  <a:cs typeface="Cambria Math" panose="02040503050406030204" charset="0"/>
                                </a:rPr>
                                <m:t>𝑤</m:t>
                              </m:r>
                            </m:sub>
                          </m:sSub>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𝑤</m:t>
                          </m:r>
                        </m:e>
                        <m:sub>
                          <m:r>
                            <a:rPr lang="en-US" altLang="zh-CN" sz="1800" i="1">
                              <a:latin typeface="Cambria Math" panose="02040503050406030204" charset="0"/>
                              <a:cs typeface="Cambria Math" panose="02040503050406030204" charset="0"/>
                            </a:rPr>
                            <m:t>𝑘</m:t>
                          </m:r>
                        </m:sub>
                      </m:sSub>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𝑁</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0</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𝛴</m:t>
                      </m:r>
                      <m:r>
                        <a:rPr lang="en-US" altLang="zh-CN" sz="1800" i="1">
                          <a:latin typeface="Cambria Math" panose="02040503050406030204" charset="0"/>
                          <a:cs typeface="Cambria Math" panose="02040503050406030204" charset="0"/>
                        </a:rPr>
                        <m:t>)</m:t>
                      </m:r>
                    </m:oMath>
                  </m:oMathPara>
                </a14:m>
                <a:endParaRPr lang="en-US" altLang="zh-CN"/>
              </a:p>
            </p:txBody>
          </p:sp>
        </mc:Choice>
        <mc:Fallback>
          <p:sp>
            <p:nvSpPr>
              <p:cNvPr id="11" name="文本框 10"/>
              <p:cNvSpPr txBox="1">
                <a:spLocks noRot="1" noChangeAspect="1" noMove="1" noResize="1" noEditPoints="1" noAdjustHandles="1" noChangeArrowheads="1" noChangeShapeType="1" noTextEdit="1"/>
              </p:cNvSpPr>
              <p:nvPr/>
            </p:nvSpPr>
            <p:spPr>
              <a:xfrm>
                <a:off x="1269048" y="1176655"/>
                <a:ext cx="4932045" cy="1420495"/>
              </a:xfrm>
              <a:prstGeom prst="rect">
                <a:avLst/>
              </a:prstGeom>
              <a:blipFill rotWithShape="1">
                <a:blip r:embed="rId2"/>
                <a:stretch>
                  <a:fillRect l="-6" r="6" b="-2593"/>
                </a:stretch>
              </a:blipFill>
            </p:spPr>
            <p:txBody>
              <a:bodyPr/>
              <a:lstStyle/>
              <a:p>
                <a:r>
                  <a:rPr lang="zh-CN" altLang="en-US">
                    <a:noFill/>
                  </a:rPr>
                  <a:t> </a:t>
                </a:r>
              </a:p>
            </p:txBody>
          </p:sp>
        </mc:Fallback>
      </mc:AlternateContent>
      <p:sp>
        <p:nvSpPr>
          <p:cNvPr id="13" name="圆角矩形 12"/>
          <p:cNvSpPr/>
          <p:nvPr/>
        </p:nvSpPr>
        <p:spPr>
          <a:xfrm>
            <a:off x="176530" y="1073150"/>
            <a:ext cx="1333500" cy="6096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问题</a:t>
            </a:r>
            <a:r>
              <a:rPr lang="zh-CN" altLang="en-US"/>
              <a:t>描述</a:t>
            </a:r>
            <a:endParaRPr lang="zh-CN" altLang="en-US"/>
          </a:p>
        </p:txBody>
      </p:sp>
      <p:sp>
        <p:nvSpPr>
          <p:cNvPr id="14" name="圆角矩形 13"/>
          <p:cNvSpPr/>
          <p:nvPr/>
        </p:nvSpPr>
        <p:spPr>
          <a:xfrm>
            <a:off x="6955790" y="1055370"/>
            <a:ext cx="1333500" cy="6096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状态</a:t>
            </a:r>
            <a:r>
              <a:rPr lang="zh-CN" altLang="en-US"/>
              <a:t>分解</a:t>
            </a:r>
            <a:endParaRPr lang="zh-CN" altLang="en-US"/>
          </a:p>
        </p:txBody>
      </p:sp>
      <mc:AlternateContent xmlns:mc="http://schemas.openxmlformats.org/markup-compatibility/2006">
        <mc:Choice xmlns:a14="http://schemas.microsoft.com/office/drawing/2010/main" Requires="a14">
          <p:sp>
            <p:nvSpPr>
              <p:cNvPr id="16" name="文本框 15"/>
              <p:cNvSpPr txBox="1"/>
              <p:nvPr/>
            </p:nvSpPr>
            <p:spPr>
              <a:xfrm>
                <a:off x="8545830" y="1235710"/>
                <a:ext cx="2331085" cy="368300"/>
              </a:xfrm>
              <a:prstGeom prst="rect">
                <a:avLst/>
              </a:prstGeom>
              <a:noFill/>
            </p:spPr>
            <p:txBody>
              <a:bodyPr wrap="square" rtlCol="0">
                <a:spAutoFit/>
              </a:bodyPr>
              <a:p>
                <a14:m>
                  <m:oMathPara xmlns:m="http://schemas.openxmlformats.org/officeDocument/2006/math">
                    <m:oMathParaPr>
                      <m:jc m:val="left"/>
                    </m:oMathParaPr>
                    <m:oMath xmlns:m="http://schemas.openxmlformats.org/officeDocument/2006/math">
                      <m:sSub>
                        <m:sSubPr>
                          <m:ctrlPr>
                            <a:rPr lang="en-US" altLang="zh-CN" i="1">
                              <a:solidFill>
                                <a:srgbClr val="FF0000"/>
                              </a:solidFill>
                              <a:latin typeface="Cambria Math" panose="02040503050406030204" charset="0"/>
                              <a:cs typeface="Cambria Math" panose="02040503050406030204" charset="0"/>
                            </a:rPr>
                          </m:ctrlPr>
                        </m:sSubPr>
                        <m:e>
                          <m:r>
                            <a:rPr lang="en-US" altLang="zh-CN" i="1">
                              <a:solidFill>
                                <a:srgbClr val="FF0000"/>
                              </a:solidFill>
                              <a:latin typeface="Cambria Math" panose="02040503050406030204" charset="0"/>
                              <a:cs typeface="Cambria Math" panose="02040503050406030204" charset="0"/>
                            </a:rPr>
                            <m:t>𝑥</m:t>
                          </m:r>
                        </m:e>
                        <m:sub>
                          <m:r>
                            <a:rPr lang="en-US" altLang="zh-CN" i="1">
                              <a:solidFill>
                                <a:srgbClr val="FF0000"/>
                              </a:solidFill>
                              <a:latin typeface="Cambria Math" panose="02040503050406030204" charset="0"/>
                              <a:cs typeface="Cambria Math" panose="02040503050406030204" charset="0"/>
                            </a:rPr>
                            <m:t>𝑘</m:t>
                          </m:r>
                          <m:r>
                            <a:rPr lang="en-US" altLang="zh-CN" i="1">
                              <a:solidFill>
                                <a:srgbClr val="FF0000"/>
                              </a:solidFill>
                              <a:latin typeface="Cambria Math" panose="02040503050406030204" charset="0"/>
                              <a:cs typeface="Cambria Math" panose="02040503050406030204" charset="0"/>
                            </a:rPr>
                            <m:t>+</m:t>
                          </m:r>
                          <m:r>
                            <a:rPr lang="en-US" altLang="zh-CN" i="1">
                              <a:solidFill>
                                <a:srgbClr val="FF0000"/>
                              </a:solidFill>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 =</m:t>
                      </m:r>
                      <m:sSub>
                        <m:sSubPr>
                          <m:ctrlPr>
                            <a:rPr lang="en-US" altLang="zh-CN" i="1">
                              <a:solidFill>
                                <a:schemeClr val="bg2">
                                  <a:lumMod val="50000"/>
                                </a:schemeClr>
                              </a:solidFill>
                              <a:latin typeface="Cambria Math" panose="02040503050406030204" charset="0"/>
                              <a:cs typeface="Cambria Math" panose="02040503050406030204" charset="0"/>
                            </a:rPr>
                          </m:ctrlPr>
                        </m:sSubPr>
                        <m:e>
                          <m:r>
                            <a:rPr lang="en-US" altLang="zh-CN" i="1">
                              <a:solidFill>
                                <a:schemeClr val="bg2">
                                  <a:lumMod val="50000"/>
                                </a:schemeClr>
                              </a:solidFill>
                              <a:latin typeface="Cambria Math" panose="02040503050406030204" charset="0"/>
                              <a:cs typeface="Cambria Math" panose="02040503050406030204" charset="0"/>
                            </a:rPr>
                            <m:t>𝑧</m:t>
                          </m:r>
                        </m:e>
                        <m:sub>
                          <m:r>
                            <a:rPr lang="en-US" altLang="zh-CN" i="1">
                              <a:solidFill>
                                <a:schemeClr val="bg2">
                                  <a:lumMod val="50000"/>
                                </a:schemeClr>
                              </a:solidFill>
                              <a:latin typeface="Cambria Math" panose="02040503050406030204" charset="0"/>
                              <a:cs typeface="Cambria Math" panose="02040503050406030204" charset="0"/>
                            </a:rPr>
                            <m:t>𝑘</m:t>
                          </m:r>
                          <m:r>
                            <a:rPr lang="en-US" altLang="zh-CN" i="1">
                              <a:solidFill>
                                <a:schemeClr val="bg2">
                                  <a:lumMod val="50000"/>
                                </a:schemeClr>
                              </a:solidFill>
                              <a:latin typeface="Cambria Math" panose="02040503050406030204" charset="0"/>
                              <a:cs typeface="Cambria Math" panose="02040503050406030204" charset="0"/>
                            </a:rPr>
                            <m:t>+</m:t>
                          </m:r>
                          <m:r>
                            <a:rPr lang="en-US" altLang="zh-CN" i="1">
                              <a:solidFill>
                                <a:schemeClr val="bg2">
                                  <a:lumMod val="50000"/>
                                </a:schemeClr>
                              </a:solidFill>
                              <a:latin typeface="Cambria Math" panose="02040503050406030204" charset="0"/>
                              <a:cs typeface="Cambria Math" panose="02040503050406030204" charset="0"/>
                            </a:rPr>
                            <m:t>𝑖</m:t>
                          </m:r>
                        </m:sub>
                      </m:sSub>
                      <m:r>
                        <a:rPr lang="en-US" altLang="zh-CN" i="1">
                          <a:latin typeface="Cambria Math" panose="02040503050406030204" charset="0"/>
                          <a:cs typeface="Cambria Math" panose="02040503050406030204" charset="0"/>
                        </a:rPr>
                        <m:t>+</m:t>
                      </m:r>
                      <m:sSub>
                        <m:sSubPr>
                          <m:ctrlPr>
                            <a:rPr lang="en-US" altLang="zh-CN" i="1">
                              <a:solidFill>
                                <a:srgbClr val="35D949"/>
                              </a:solidFill>
                              <a:latin typeface="Cambria Math" panose="02040503050406030204" charset="0"/>
                              <a:cs typeface="Cambria Math" panose="02040503050406030204" charset="0"/>
                            </a:rPr>
                          </m:ctrlPr>
                        </m:sSubPr>
                        <m:e>
                          <m:r>
                            <a:rPr lang="en-US" altLang="zh-CN" i="1">
                              <a:solidFill>
                                <a:srgbClr val="35D949"/>
                              </a:solidFill>
                              <a:latin typeface="Cambria Math" panose="02040503050406030204" charset="0"/>
                              <a:cs typeface="Cambria Math" panose="02040503050406030204" charset="0"/>
                            </a:rPr>
                            <m:t>𝑒</m:t>
                          </m:r>
                        </m:e>
                        <m:sub>
                          <m:r>
                            <a:rPr lang="en-US" altLang="zh-CN" i="1">
                              <a:solidFill>
                                <a:srgbClr val="35D949"/>
                              </a:solidFill>
                              <a:latin typeface="Cambria Math" panose="02040503050406030204" charset="0"/>
                              <a:cs typeface="Cambria Math" panose="02040503050406030204" charset="0"/>
                            </a:rPr>
                            <m:t>𝑘</m:t>
                          </m:r>
                          <m:r>
                            <a:rPr lang="en-US" altLang="zh-CN" i="1">
                              <a:solidFill>
                                <a:srgbClr val="35D949"/>
                              </a:solidFill>
                              <a:latin typeface="Cambria Math" panose="02040503050406030204" charset="0"/>
                              <a:cs typeface="Cambria Math" panose="02040503050406030204" charset="0"/>
                            </a:rPr>
                            <m:t>+</m:t>
                          </m:r>
                          <m:r>
                            <a:rPr lang="en-US" altLang="zh-CN" i="1">
                              <a:solidFill>
                                <a:srgbClr val="35D949"/>
                              </a:solidFill>
                              <a:latin typeface="Cambria Math" panose="02040503050406030204" charset="0"/>
                              <a:cs typeface="Cambria Math" panose="02040503050406030204" charset="0"/>
                            </a:rPr>
                            <m:t>𝑖</m:t>
                          </m:r>
                        </m:sub>
                      </m:sSub>
                    </m:oMath>
                  </m:oMathPara>
                </a14:m>
                <a:endParaRPr lang="en-US" altLang="zh-CN" i="1">
                  <a:solidFill>
                    <a:srgbClr val="35D949"/>
                  </a:solidFill>
                  <a:latin typeface="Cambria Math" panose="02040503050406030204" charset="0"/>
                  <a:cs typeface="Cambria Math" panose="02040503050406030204" charset="0"/>
                </a:endParaRPr>
              </a:p>
            </p:txBody>
          </p:sp>
        </mc:Choice>
        <mc:Fallback>
          <p:sp>
            <p:nvSpPr>
              <p:cNvPr id="16" name="文本框 15"/>
              <p:cNvSpPr txBox="1">
                <a:spLocks noRot="1" noChangeAspect="1" noMove="1" noResize="1" noEditPoints="1" noAdjustHandles="1" noChangeArrowheads="1" noChangeShapeType="1" noTextEdit="1"/>
              </p:cNvSpPr>
              <p:nvPr/>
            </p:nvSpPr>
            <p:spPr>
              <a:xfrm>
                <a:off x="8545830" y="1235710"/>
                <a:ext cx="2331085" cy="368300"/>
              </a:xfrm>
              <a:prstGeom prst="rect">
                <a:avLst/>
              </a:prstGeom>
              <a:blipFill rotWithShape="1">
                <a:blip r:embed="rId3"/>
                <a:stretch>
                  <a:fillRect/>
                </a:stretch>
              </a:blipFill>
            </p:spPr>
            <p:txBody>
              <a:bodyPr/>
              <a:lstStyle/>
              <a:p>
                <a:r>
                  <a:rPr lang="zh-CN" altLang="en-US">
                    <a:noFill/>
                  </a:rPr>
                  <a:t> </a:t>
                </a:r>
              </a:p>
            </p:txBody>
          </p:sp>
        </mc:Fallback>
      </mc:AlternateContent>
      <p:cxnSp>
        <p:nvCxnSpPr>
          <p:cNvPr id="17" name="直接箭头连接符 16"/>
          <p:cNvCxnSpPr>
            <a:stCxn id="21" idx="2"/>
          </p:cNvCxnSpPr>
          <p:nvPr/>
        </p:nvCxnSpPr>
        <p:spPr>
          <a:xfrm flipH="1">
            <a:off x="9597390" y="1014095"/>
            <a:ext cx="55245" cy="274955"/>
          </a:xfrm>
          <a:prstGeom prst="straightConnector1">
            <a:avLst/>
          </a:prstGeom>
          <a:ln w="19050">
            <a:solidFill>
              <a:srgbClr val="0D7BCF"/>
            </a:solidFill>
            <a:tailEnd type="triangle"/>
          </a:ln>
        </p:spPr>
        <p:style>
          <a:lnRef idx="2">
            <a:schemeClr val="accent1"/>
          </a:lnRef>
          <a:fillRef idx="0">
            <a:srgbClr val="FFFFFF"/>
          </a:fillRef>
          <a:effectRef idx="0">
            <a:srgbClr val="FFFFFF"/>
          </a:effectRef>
          <a:fontRef idx="minor">
            <a:schemeClr val="tx1"/>
          </a:fontRef>
        </p:style>
      </p:cxnSp>
      <p:cxnSp>
        <p:nvCxnSpPr>
          <p:cNvPr id="18" name="直接箭头连接符 17"/>
          <p:cNvCxnSpPr>
            <a:stCxn id="22" idx="2"/>
          </p:cNvCxnSpPr>
          <p:nvPr/>
        </p:nvCxnSpPr>
        <p:spPr>
          <a:xfrm flipH="1">
            <a:off x="10382250" y="1052195"/>
            <a:ext cx="588645" cy="221615"/>
          </a:xfrm>
          <a:prstGeom prst="straightConnector1">
            <a:avLst/>
          </a:prstGeom>
          <a:ln w="19050">
            <a:solidFill>
              <a:srgbClr val="68DFBA"/>
            </a:solidFill>
            <a:tailEnd type="triangle"/>
          </a:ln>
        </p:spPr>
        <p:style>
          <a:lnRef idx="2">
            <a:schemeClr val="accent1"/>
          </a:lnRef>
          <a:fillRef idx="0">
            <a:srgbClr val="FFFFFF"/>
          </a:fillRef>
          <a:effectRef idx="0">
            <a:srgbClr val="FFFFFF"/>
          </a:effectRef>
          <a:fontRef idx="minor">
            <a:schemeClr val="tx1"/>
          </a:fontRef>
        </p:style>
      </p:cxnSp>
      <p:cxnSp>
        <p:nvCxnSpPr>
          <p:cNvPr id="19" name="直接箭头连接符 18"/>
          <p:cNvCxnSpPr>
            <a:stCxn id="20" idx="2"/>
          </p:cNvCxnSpPr>
          <p:nvPr/>
        </p:nvCxnSpPr>
        <p:spPr>
          <a:xfrm>
            <a:off x="8496935" y="1016635"/>
            <a:ext cx="318135" cy="259715"/>
          </a:xfrm>
          <a:prstGeom prst="straightConnector1">
            <a:avLst/>
          </a:prstGeom>
          <a:ln w="19050">
            <a:solidFill>
              <a:srgbClr val="FF0000"/>
            </a:solidFill>
            <a:tailEnd type="triangle"/>
          </a:ln>
        </p:spPr>
        <p:style>
          <a:lnRef idx="2">
            <a:schemeClr val="accent1"/>
          </a:lnRef>
          <a:fillRef idx="0">
            <a:srgbClr val="FFFFFF"/>
          </a:fillRef>
          <a:effectRef idx="0">
            <a:srgbClr val="FFFFFF"/>
          </a:effectRef>
          <a:fontRef idx="minor">
            <a:schemeClr val="tx1"/>
          </a:fontRef>
        </p:style>
      </p:cxnSp>
      <p:sp>
        <p:nvSpPr>
          <p:cNvPr id="20" name="文本框 19"/>
          <p:cNvSpPr txBox="1"/>
          <p:nvPr/>
        </p:nvSpPr>
        <p:spPr>
          <a:xfrm>
            <a:off x="7982585" y="709930"/>
            <a:ext cx="1028065" cy="306705"/>
          </a:xfrm>
          <a:prstGeom prst="rect">
            <a:avLst/>
          </a:prstGeom>
          <a:noFill/>
          <a:ln w="19050" cmpd="sng">
            <a:solidFill>
              <a:srgbClr val="FF0000"/>
            </a:solidFill>
            <a:prstDash val="solid"/>
          </a:ln>
        </p:spPr>
        <p:txBody>
          <a:bodyPr wrap="square" rtlCol="0">
            <a:spAutoFit/>
          </a:bodyPr>
          <a:p>
            <a:pPr algn="ctr"/>
            <a:r>
              <a:rPr lang="zh-CN" altLang="en-US" sz="1400"/>
              <a:t>真实状态</a:t>
            </a:r>
            <a:endParaRPr lang="zh-CN" altLang="en-US" sz="1400"/>
          </a:p>
        </p:txBody>
      </p:sp>
      <p:sp>
        <p:nvSpPr>
          <p:cNvPr id="21" name="文本框 20"/>
          <p:cNvSpPr txBox="1"/>
          <p:nvPr/>
        </p:nvSpPr>
        <p:spPr>
          <a:xfrm>
            <a:off x="9138285" y="707390"/>
            <a:ext cx="1028065" cy="306705"/>
          </a:xfrm>
          <a:prstGeom prst="rect">
            <a:avLst/>
          </a:prstGeom>
          <a:noFill/>
          <a:ln w="19050" cmpd="sng">
            <a:solidFill>
              <a:srgbClr val="0D7BCF"/>
            </a:solidFill>
            <a:prstDash val="solid"/>
          </a:ln>
        </p:spPr>
        <p:txBody>
          <a:bodyPr wrap="square" rtlCol="0">
            <a:spAutoFit/>
          </a:bodyPr>
          <a:p>
            <a:pPr algn="ctr"/>
            <a:r>
              <a:rPr lang="zh-CN" altLang="en-US" sz="1400"/>
              <a:t>标称</a:t>
            </a:r>
            <a:r>
              <a:rPr lang="zh-CN" altLang="en-US" sz="1400"/>
              <a:t>状态</a:t>
            </a:r>
            <a:endParaRPr lang="zh-CN" altLang="en-US" sz="1400"/>
          </a:p>
        </p:txBody>
      </p:sp>
      <p:sp>
        <p:nvSpPr>
          <p:cNvPr id="22" name="文本框 21"/>
          <p:cNvSpPr txBox="1"/>
          <p:nvPr/>
        </p:nvSpPr>
        <p:spPr>
          <a:xfrm>
            <a:off x="10456545" y="745490"/>
            <a:ext cx="1028065" cy="306705"/>
          </a:xfrm>
          <a:prstGeom prst="rect">
            <a:avLst/>
          </a:prstGeom>
          <a:noFill/>
          <a:ln w="19050" cmpd="sng">
            <a:solidFill>
              <a:srgbClr val="35D949"/>
            </a:solidFill>
            <a:prstDash val="solid"/>
          </a:ln>
        </p:spPr>
        <p:txBody>
          <a:bodyPr wrap="square" rtlCol="0">
            <a:spAutoFit/>
          </a:bodyPr>
          <a:p>
            <a:pPr algn="ctr"/>
            <a:r>
              <a:rPr lang="zh-CN" altLang="en-US" sz="1400"/>
              <a:t>随机</a:t>
            </a:r>
            <a:r>
              <a:rPr lang="zh-CN" altLang="en-US" sz="1400"/>
              <a:t>量</a:t>
            </a:r>
            <a:endParaRPr lang="zh-CN" altLang="en-US" sz="1400"/>
          </a:p>
        </p:txBody>
      </p:sp>
      <mc:AlternateContent xmlns:mc="http://schemas.openxmlformats.org/markup-compatibility/2006">
        <mc:Choice xmlns:a14="http://schemas.microsoft.com/office/drawing/2010/main" Requires="a14">
          <p:sp>
            <p:nvSpPr>
              <p:cNvPr id="26" name="文本框 25"/>
              <p:cNvSpPr txBox="1"/>
              <p:nvPr/>
            </p:nvSpPr>
            <p:spPr>
              <a:xfrm>
                <a:off x="8545830" y="1654810"/>
                <a:ext cx="2941320" cy="922020"/>
              </a:xfrm>
              <a:prstGeom prst="rect">
                <a:avLst/>
              </a:prstGeom>
              <a:noFill/>
            </p:spPr>
            <p:txBody>
              <a:bodyPr wrap="square" rtlCol="0">
                <a:spAutoFit/>
              </a:bodyPr>
              <a:p>
                <a:pPr algn="l"/>
                <a14:m>
                  <m:oMathPara xmlns:m="http://schemas.openxmlformats.org/officeDocument/2006/math">
                    <m:oMathParaPr>
                      <m:jc m:val="left"/>
                    </m:oMathParaPr>
                    <m:oMath xmlns:m="http://schemas.openxmlformats.org/officeDocument/2006/math">
                      <m:r>
                        <a:rPr lang="en-US" altLang="zh-CN" i="1">
                          <a:latin typeface="Cambria Math" panose="02040503050406030204" charset="0"/>
                          <a:ea typeface="MS Mincho" charset="0"/>
                          <a:cs typeface="Cambria Math" panose="02040503050406030204" charset="0"/>
                        </a:rPr>
                        <m:t>Փ=</m:t>
                      </m:r>
                      <m:r>
                        <a:rPr lang="en-US" altLang="zh-CN" i="1">
                          <a:latin typeface="Cambria Math" panose="02040503050406030204" charset="0"/>
                          <a:ea typeface="MS Mincho" charset="0"/>
                          <a:cs typeface="Cambria Math" panose="02040503050406030204" charset="0"/>
                        </a:rPr>
                        <m:t>𝐴</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𝐵𝐾</m:t>
                      </m:r>
                    </m:oMath>
                  </m:oMathPara>
                </a14:m>
                <a:endParaRPr lang="en-US" altLang="zh-CN" i="1">
                  <a:latin typeface="Cambria Math" panose="02040503050406030204" charset="0"/>
                  <a:cs typeface="Cambria Math" panose="02040503050406030204" charset="0"/>
                </a:endParaRPr>
              </a:p>
              <a:p>
                <a:pPr algn="l"/>
                <a14:m>
                  <m:oMathPara xmlns:m="http://schemas.openxmlformats.org/officeDocument/2006/math">
                    <m:oMathParaPr>
                      <m:jc m:val="left"/>
                    </m:oMathParaPr>
                    <m:oMath xmlns:m="http://schemas.openxmlformats.org/officeDocument/2006/math">
                      <m:sSub>
                        <m:sSubPr>
                          <m:ctrlPr>
                            <a:rPr lang="en-US" altLang="zh-CN" sz="1800" i="1">
                              <a:solidFill>
                                <a:schemeClr val="bg2">
                                  <a:lumMod val="50000"/>
                                </a:schemeClr>
                              </a:solidFill>
                              <a:latin typeface="Cambria Math" panose="02040503050406030204" charset="0"/>
                              <a:cs typeface="Cambria Math" panose="02040503050406030204" charset="0"/>
                            </a:rPr>
                          </m:ctrlPr>
                        </m:sSubPr>
                        <m:e>
                          <m:r>
                            <a:rPr lang="en-US" altLang="zh-CN" sz="1800" i="1">
                              <a:solidFill>
                                <a:schemeClr val="bg2">
                                  <a:lumMod val="50000"/>
                                </a:schemeClr>
                              </a:solidFill>
                              <a:latin typeface="Cambria Math" panose="02040503050406030204" charset="0"/>
                              <a:cs typeface="Cambria Math" panose="02040503050406030204" charset="0"/>
                            </a:rPr>
                            <m:t>𝑧</m:t>
                          </m:r>
                        </m:e>
                        <m:sub>
                          <m:r>
                            <a:rPr lang="en-US" altLang="zh-CN" sz="1800" i="1">
                              <a:solidFill>
                                <a:schemeClr val="bg2">
                                  <a:lumMod val="50000"/>
                                </a:schemeClr>
                              </a:solidFill>
                              <a:latin typeface="Cambria Math" panose="02040503050406030204" charset="0"/>
                              <a:cs typeface="Cambria Math" panose="02040503050406030204" charset="0"/>
                            </a:rPr>
                            <m:t>𝑘</m:t>
                          </m:r>
                          <m:r>
                            <a:rPr lang="en-US" altLang="zh-CN" sz="1800" i="1">
                              <a:solidFill>
                                <a:schemeClr val="bg2">
                                  <a:lumMod val="50000"/>
                                </a:schemeClr>
                              </a:solidFill>
                              <a:latin typeface="Cambria Math" panose="02040503050406030204" charset="0"/>
                              <a:cs typeface="Cambria Math" panose="02040503050406030204" charset="0"/>
                            </a:rPr>
                            <m:t>+</m:t>
                          </m:r>
                          <m:r>
                            <a:rPr lang="en-US" altLang="zh-CN" sz="1800" i="1">
                              <a:solidFill>
                                <a:schemeClr val="bg2">
                                  <a:lumMod val="50000"/>
                                </a:schemeClr>
                              </a:solidFill>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 =</m:t>
                      </m:r>
                      <m:r>
                        <a:rPr lang="en-US" altLang="zh-CN" i="1">
                          <a:latin typeface="Cambria Math" panose="02040503050406030204" charset="0"/>
                          <a:ea typeface="MS Mincho" charset="0"/>
                          <a:cs typeface="Cambria Math" panose="02040503050406030204" charset="0"/>
                        </a:rPr>
                        <m:t>Փ</m:t>
                      </m:r>
                      <m:sSub>
                        <m:sSubPr>
                          <m:ctrlPr>
                            <a:rPr lang="en-US" altLang="zh-CN" sz="1800" i="1">
                              <a:solidFill>
                                <a:schemeClr val="bg2">
                                  <a:lumMod val="50000"/>
                                </a:schemeClr>
                              </a:solidFill>
                              <a:latin typeface="Cambria Math" panose="02040503050406030204" charset="0"/>
                              <a:cs typeface="Cambria Math" panose="02040503050406030204" charset="0"/>
                            </a:rPr>
                          </m:ctrlPr>
                        </m:sSubPr>
                        <m:e>
                          <m:r>
                            <a:rPr lang="en-US" altLang="zh-CN" sz="1800" i="1">
                              <a:solidFill>
                                <a:schemeClr val="bg2">
                                  <a:lumMod val="50000"/>
                                </a:schemeClr>
                              </a:solidFill>
                              <a:latin typeface="Cambria Math" panose="02040503050406030204" charset="0"/>
                              <a:cs typeface="Cambria Math" panose="02040503050406030204" charset="0"/>
                            </a:rPr>
                            <m:t>𝑧</m:t>
                          </m:r>
                        </m:e>
                        <m:sub>
                          <m:r>
                            <a:rPr lang="en-US" altLang="zh-CN" sz="1800" i="1">
                              <a:solidFill>
                                <a:schemeClr val="bg2">
                                  <a:lumMod val="50000"/>
                                </a:schemeClr>
                              </a:solidFill>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𝑐</m:t>
                          </m:r>
                        </m:e>
                        <m:sub>
                          <m:r>
                            <a:rPr lang="en-US" altLang="zh-CN" i="1">
                              <a:latin typeface="Cambria Math" panose="02040503050406030204" charset="0"/>
                              <a:cs typeface="Cambria Math" panose="02040503050406030204" charset="0"/>
                            </a:rPr>
                            <m:t>𝑘</m:t>
                          </m:r>
                        </m:sub>
                      </m:sSub>
                    </m:oMath>
                  </m:oMathPara>
                </a14:m>
                <a:endParaRPr lang="en-US" altLang="zh-CN" i="1">
                  <a:latin typeface="Cambria Math" panose="02040503050406030204" charset="0"/>
                  <a:cs typeface="Cambria Math" panose="02040503050406030204" charset="0"/>
                </a:endParaRPr>
              </a:p>
              <a:p>
                <a14:m>
                  <m:oMathPara xmlns:m="http://schemas.openxmlformats.org/officeDocument/2006/math">
                    <m:oMathParaPr>
                      <m:jc m:val="left"/>
                    </m:oMathParaPr>
                    <m:oMath xmlns:m="http://schemas.openxmlformats.org/officeDocument/2006/math">
                      <m:sSub>
                        <m:sSubPr>
                          <m:ctrlPr>
                            <a:rPr lang="en-US" altLang="zh-CN" sz="1800" i="1">
                              <a:solidFill>
                                <a:srgbClr val="35D949"/>
                              </a:solidFill>
                              <a:latin typeface="Cambria Math" panose="02040503050406030204" charset="0"/>
                              <a:cs typeface="Cambria Math" panose="02040503050406030204" charset="0"/>
                            </a:rPr>
                          </m:ctrlPr>
                        </m:sSubPr>
                        <m:e>
                          <m:r>
                            <a:rPr lang="en-US" altLang="zh-CN" sz="1800" i="1">
                              <a:solidFill>
                                <a:srgbClr val="35D949"/>
                              </a:solidFill>
                              <a:latin typeface="Cambria Math" panose="02040503050406030204" charset="0"/>
                              <a:cs typeface="Cambria Math" panose="02040503050406030204" charset="0"/>
                            </a:rPr>
                            <m:t>𝑒</m:t>
                          </m:r>
                        </m:e>
                        <m:sub>
                          <m:r>
                            <a:rPr lang="en-US" altLang="zh-CN" sz="1800" i="1">
                              <a:solidFill>
                                <a:srgbClr val="35D949"/>
                              </a:solidFill>
                              <a:latin typeface="Cambria Math" panose="02040503050406030204" charset="0"/>
                              <a:cs typeface="Cambria Math" panose="02040503050406030204" charset="0"/>
                            </a:rPr>
                            <m:t>𝑘</m:t>
                          </m:r>
                          <m:r>
                            <a:rPr lang="en-US" altLang="zh-CN" sz="1800" i="1">
                              <a:solidFill>
                                <a:srgbClr val="35D949"/>
                              </a:solidFill>
                              <a:latin typeface="Cambria Math" panose="02040503050406030204" charset="0"/>
                              <a:cs typeface="Cambria Math" panose="02040503050406030204" charset="0"/>
                            </a:rPr>
                            <m:t>+</m:t>
                          </m:r>
                          <m:r>
                            <a:rPr lang="en-US" altLang="zh-CN" sz="1800" i="1">
                              <a:solidFill>
                                <a:srgbClr val="35D949"/>
                              </a:solidFill>
                              <a:latin typeface="Cambria Math" panose="02040503050406030204" charset="0"/>
                              <a:cs typeface="Cambria Math" panose="02040503050406030204" charset="0"/>
                            </a:rPr>
                            <m:t>1</m:t>
                          </m:r>
                        </m:sub>
                      </m:sSub>
                      <m:r>
                        <a:rPr lang="en-US" altLang="zh-CN" i="1">
                          <a:latin typeface="Cambria Math" panose="02040503050406030204" charset="0"/>
                          <a:cs typeface="Cambria Math" panose="02040503050406030204" charset="0"/>
                        </a:rPr>
                        <m:t> =</m:t>
                      </m:r>
                      <m:r>
                        <a:rPr lang="en-US" altLang="zh-CN" i="1">
                          <a:latin typeface="Cambria Math" panose="02040503050406030204" charset="0"/>
                          <a:ea typeface="MS Mincho" charset="0"/>
                          <a:cs typeface="Cambria Math" panose="02040503050406030204" charset="0"/>
                        </a:rPr>
                        <m:t>Փ</m:t>
                      </m:r>
                      <m:sSub>
                        <m:sSubPr>
                          <m:ctrlPr>
                            <a:rPr lang="en-US" altLang="zh-CN" sz="1800" i="1">
                              <a:solidFill>
                                <a:srgbClr val="35D949"/>
                              </a:solidFill>
                              <a:latin typeface="Cambria Math" panose="02040503050406030204" charset="0"/>
                              <a:cs typeface="Cambria Math" panose="02040503050406030204" charset="0"/>
                            </a:rPr>
                          </m:ctrlPr>
                        </m:sSubPr>
                        <m:e>
                          <m:r>
                            <a:rPr lang="en-US" altLang="zh-CN" sz="1800" i="1">
                              <a:solidFill>
                                <a:srgbClr val="35D949"/>
                              </a:solidFill>
                              <a:latin typeface="Cambria Math" panose="02040503050406030204" charset="0"/>
                              <a:cs typeface="Cambria Math" panose="02040503050406030204" charset="0"/>
                            </a:rPr>
                            <m:t>𝑒</m:t>
                          </m:r>
                        </m:e>
                        <m:sub>
                          <m:r>
                            <a:rPr lang="en-US" altLang="zh-CN" sz="1800" i="1">
                              <a:solidFill>
                                <a:srgbClr val="35D949"/>
                              </a:solidFill>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𝑘</m:t>
                          </m:r>
                        </m:sub>
                      </m:sSub>
                    </m:oMath>
                  </m:oMathPara>
                </a14:m>
                <a:endParaRPr lang="zh-CN" altLang="en-US"/>
              </a:p>
            </p:txBody>
          </p:sp>
        </mc:Choice>
        <mc:Fallback>
          <p:sp>
            <p:nvSpPr>
              <p:cNvPr id="26" name="文本框 25"/>
              <p:cNvSpPr txBox="1">
                <a:spLocks noRot="1" noChangeAspect="1" noMove="1" noResize="1" noEditPoints="1" noAdjustHandles="1" noChangeArrowheads="1" noChangeShapeType="1" noTextEdit="1"/>
              </p:cNvSpPr>
              <p:nvPr/>
            </p:nvSpPr>
            <p:spPr>
              <a:xfrm>
                <a:off x="8545830" y="1654810"/>
                <a:ext cx="2941320" cy="922020"/>
              </a:xfrm>
              <a:prstGeom prst="rect">
                <a:avLst/>
              </a:prstGeom>
              <a:blipFill rotWithShape="1">
                <a:blip r:embed="rId4"/>
                <a:stretch>
                  <a:fillRect/>
                </a:stretch>
              </a:blipFill>
            </p:spPr>
            <p:txBody>
              <a:bodyPr/>
              <a:lstStyle/>
              <a:p>
                <a:r>
                  <a:rPr lang="zh-CN" altLang="en-US">
                    <a:noFill/>
                  </a:rPr>
                  <a:t> </a:t>
                </a:r>
              </a:p>
            </p:txBody>
          </p:sp>
        </mc:Fallback>
      </mc:AlternateContent>
      <p:sp>
        <p:nvSpPr>
          <p:cNvPr id="28" name="矩形 27"/>
          <p:cNvSpPr/>
          <p:nvPr/>
        </p:nvSpPr>
        <p:spPr>
          <a:xfrm>
            <a:off x="8530590" y="1997710"/>
            <a:ext cx="1889760" cy="571500"/>
          </a:xfrm>
          <a:prstGeom prst="rect">
            <a:avLst/>
          </a:prstGeom>
          <a:ln>
            <a:solidFill>
              <a:schemeClr val="tx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50" name="直接箭头连接符 49"/>
          <p:cNvCxnSpPr/>
          <p:nvPr/>
        </p:nvCxnSpPr>
        <p:spPr>
          <a:xfrm flipV="1">
            <a:off x="5605145" y="1951990"/>
            <a:ext cx="2562860" cy="5715"/>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7" name="矩形 6"/>
          <p:cNvSpPr/>
          <p:nvPr/>
        </p:nvSpPr>
        <p:spPr>
          <a:xfrm>
            <a:off x="4408170" y="2272030"/>
            <a:ext cx="1181735" cy="441960"/>
          </a:xfrm>
          <a:prstGeom prst="rect">
            <a:avLst/>
          </a:prstGeom>
          <a:noFill/>
          <a:ln w="19050">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圆角矩形 28"/>
          <p:cNvSpPr/>
          <p:nvPr/>
        </p:nvSpPr>
        <p:spPr>
          <a:xfrm>
            <a:off x="253365" y="3821430"/>
            <a:ext cx="6475730" cy="1919605"/>
          </a:xfrm>
          <a:prstGeom prst="round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圆角矩形 7"/>
          <p:cNvSpPr/>
          <p:nvPr/>
        </p:nvSpPr>
        <p:spPr>
          <a:xfrm>
            <a:off x="146050" y="3460750"/>
            <a:ext cx="2132330" cy="64071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800">
                <a:sym typeface="+mn-ea"/>
              </a:rPr>
              <a:t>随机信息</a:t>
            </a:r>
            <a:r>
              <a:rPr lang="zh-CN" altLang="en-US" sz="1800">
                <a:sym typeface="+mn-ea"/>
              </a:rPr>
              <a:t>推导</a:t>
            </a:r>
            <a:endParaRPr lang="zh-CN" altLang="en-US" sz="1800">
              <a:sym typeface="+mn-ea"/>
            </a:endParaRPr>
          </a:p>
          <a:p>
            <a:pPr lvl="0" algn="ctr">
              <a:buClrTx/>
              <a:buSzTx/>
              <a:buFontTx/>
            </a:pPr>
            <a:r>
              <a:rPr lang="zh-CN" altLang="en-US" sz="1800">
                <a:sym typeface="+mn-ea"/>
              </a:rPr>
              <a:t>（</a:t>
            </a:r>
            <a:r>
              <a:rPr lang="zh-CN" altLang="en-US" sz="1800">
                <a:sym typeface="+mn-ea"/>
              </a:rPr>
              <a:t>多维高</a:t>
            </a:r>
            <a:r>
              <a:rPr lang="zh-CN" altLang="en-US" sz="1800">
                <a:sym typeface="+mn-ea"/>
              </a:rPr>
              <a:t>斯</a:t>
            </a:r>
            <a:r>
              <a:rPr lang="zh-CN" altLang="en-US" sz="1800">
                <a:sym typeface="+mn-ea"/>
              </a:rPr>
              <a:t>分布）</a:t>
            </a:r>
            <a:endParaRPr lang="zh-CN" altLang="en-US" sz="1800">
              <a:sym typeface="+mn-ea"/>
            </a:endParaRPr>
          </a:p>
        </p:txBody>
      </p:sp>
      <p:cxnSp>
        <p:nvCxnSpPr>
          <p:cNvPr id="10" name="直接箭头连接符 9"/>
          <p:cNvCxnSpPr/>
          <p:nvPr/>
        </p:nvCxnSpPr>
        <p:spPr>
          <a:xfrm flipH="1">
            <a:off x="3135630" y="2493010"/>
            <a:ext cx="5829300" cy="1501140"/>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2" name="直接箭头连接符 11"/>
          <p:cNvCxnSpPr>
            <a:stCxn id="7" idx="2"/>
          </p:cNvCxnSpPr>
          <p:nvPr/>
        </p:nvCxnSpPr>
        <p:spPr>
          <a:xfrm flipH="1">
            <a:off x="3478530" y="2713990"/>
            <a:ext cx="1520825" cy="1257300"/>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mc:Choice xmlns:a14="http://schemas.microsoft.com/office/drawing/2010/main" Requires="a14">
          <p:sp>
            <p:nvSpPr>
              <p:cNvPr id="24" name="文本框 23"/>
              <p:cNvSpPr txBox="1"/>
              <p:nvPr/>
            </p:nvSpPr>
            <p:spPr>
              <a:xfrm>
                <a:off x="9669716" y="3163824"/>
                <a:ext cx="2010410" cy="686435"/>
              </a:xfrm>
              <a:prstGeom prst="rect">
                <a:avLst/>
              </a:prstGeom>
              <a:noFill/>
            </p:spPr>
            <p:txBody>
              <a:bodyPr wrap="none" rtlCol="0" anchor="t">
                <a:spAutoFit/>
              </a:bodyPr>
              <a:p>
                <a:pPr algn="l"/>
                <a14:m>
                  <m:oMathPara xmlns:m="http://schemas.openxmlformats.org/officeDocument/2006/math">
                    <m:oMathParaPr>
                      <m:jc m:val="left"/>
                    </m:oMathParaPr>
                    <m:oMath xmlns:m="http://schemas.openxmlformats.org/officeDocument/2006/math">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𝑔</m:t>
                          </m:r>
                        </m:e>
                        <m:sup>
                          <m:r>
                            <a:rPr lang="en-US" altLang="zh-CN" i="1">
                              <a:latin typeface="Cambria Math" panose="02040503050406030204" charset="0"/>
                              <a:cs typeface="Cambria Math" panose="02040503050406030204" charset="0"/>
                            </a:rPr>
                            <m:t>𝑇</m:t>
                          </m:r>
                        </m:sup>
                      </m:sSup>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𝑧</m:t>
                          </m:r>
                        </m:e>
                        <m:sub>
                          <m:r>
                            <a:rPr lang="en-US" altLang="zh-CN" i="1">
                              <a:latin typeface="Cambria Math" panose="02040503050406030204" charset="0"/>
                              <a:cs typeface="Cambria Math" panose="02040503050406030204" charset="0"/>
                            </a:rPr>
                            <m:t>𝑗</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ℎ</m:t>
                          </m:r>
                        </m:e>
                        <m:sub>
                          <m:r>
                            <a:rPr lang="en-US" altLang="zh-CN" i="1">
                              <a:latin typeface="Cambria Math" panose="02040503050406030204" charset="0"/>
                              <a:cs typeface="Cambria Math" panose="02040503050406030204" charset="0"/>
                            </a:rPr>
                            <m:t>𝑗</m:t>
                          </m:r>
                        </m:sub>
                      </m:sSub>
                    </m:oMath>
                  </m:oMathPara>
                </a14:m>
                <a:endParaRPr lang="en-US" altLang="zh-CN" i="1">
                  <a:latin typeface="Cambria Math" panose="02040503050406030204" charset="0"/>
                  <a:cs typeface="Cambria Math" panose="02040503050406030204" charset="0"/>
                </a:endParaRPr>
              </a:p>
              <a:p>
                <a:pPr algn="l"/>
                <a14:m>
                  <m:oMathPara xmlns:m="http://schemas.openxmlformats.org/officeDocument/2006/math">
                    <m:oMathParaPr>
                      <m:jc m:val="left"/>
                    </m:oMathParaPr>
                    <m:oMath xmlns:m="http://schemas.openxmlformats.org/officeDocument/2006/math">
                      <m:r>
                        <a:rPr lang="en-US" altLang="zh-CN" i="1">
                          <a:latin typeface="Cambria Math" panose="02040503050406030204" charset="0"/>
                          <a:cs typeface="Cambria Math" panose="02040503050406030204" charset="0"/>
                        </a:rPr>
                        <m:t>𝑃𝑟</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𝑔</m:t>
                          </m:r>
                        </m:e>
                        <m:sup>
                          <m:r>
                            <a:rPr lang="en-US" altLang="zh-CN" i="1">
                              <a:latin typeface="Cambria Math" panose="02040503050406030204" charset="0"/>
                              <a:cs typeface="Cambria Math" panose="02040503050406030204" charset="0"/>
                            </a:rPr>
                            <m:t>𝑇</m:t>
                          </m:r>
                        </m:sup>
                      </m:sSup>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𝑒</m:t>
                          </m:r>
                        </m:e>
                        <m:sub>
                          <m:r>
                            <a:rPr lang="en-US" altLang="zh-CN" i="1">
                              <a:latin typeface="Cambria Math" panose="02040503050406030204" charset="0"/>
                              <a:cs typeface="Cambria Math" panose="02040503050406030204" charset="0"/>
                            </a:rPr>
                            <m:t>𝑗</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ℎ</m:t>
                          </m:r>
                        </m:e>
                        <m:sub>
                          <m:r>
                            <a:rPr lang="en-US" altLang="zh-CN" i="1">
                              <a:latin typeface="Cambria Math" panose="02040503050406030204" charset="0"/>
                              <a:cs typeface="Cambria Math" panose="02040503050406030204" charset="0"/>
                            </a:rPr>
                            <m:t>𝑗</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𝑝</m:t>
                      </m:r>
                    </m:oMath>
                  </m:oMathPara>
                </a14:m>
                <a:endParaRPr lang="en-US" altLang="zh-CN"/>
              </a:p>
            </p:txBody>
          </p:sp>
        </mc:Choice>
        <mc:Fallback>
          <p:sp>
            <p:nvSpPr>
              <p:cNvPr id="24" name="文本框 23"/>
              <p:cNvSpPr txBox="1">
                <a:spLocks noRot="1" noChangeAspect="1" noMove="1" noResize="1" noEditPoints="1" noAdjustHandles="1" noChangeArrowheads="1" noChangeShapeType="1" noTextEdit="1"/>
              </p:cNvSpPr>
              <p:nvPr/>
            </p:nvSpPr>
            <p:spPr>
              <a:xfrm>
                <a:off x="9669716" y="3163824"/>
                <a:ext cx="2010410" cy="686435"/>
              </a:xfrm>
              <a:prstGeom prst="rect">
                <a:avLst/>
              </a:prstGeom>
              <a:blipFill rotWithShape="1">
                <a:blip r:embed="rId5"/>
                <a:stretch>
                  <a:fillRect l="-28" t="-37" r="28" b="3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文本框 24"/>
              <p:cNvSpPr txBox="1"/>
              <p:nvPr/>
            </p:nvSpPr>
            <p:spPr>
              <a:xfrm>
                <a:off x="594296" y="4047744"/>
                <a:ext cx="6050915" cy="91059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sz="1800" i="1">
                              <a:solidFill>
                                <a:srgbClr val="35D949"/>
                              </a:solidFill>
                              <a:latin typeface="Cambria Math" panose="02040503050406030204" charset="0"/>
                              <a:cs typeface="Cambria Math" panose="02040503050406030204" charset="0"/>
                            </a:rPr>
                          </m:ctrlPr>
                        </m:sSubPr>
                        <m:e>
                          <m:r>
                            <a:rPr lang="en-US" altLang="zh-CN" sz="1800" i="1">
                              <a:solidFill>
                                <a:srgbClr val="35D949"/>
                              </a:solidFill>
                              <a:latin typeface="Cambria Math" panose="02040503050406030204" charset="0"/>
                              <a:cs typeface="Cambria Math" panose="02040503050406030204" charset="0"/>
                            </a:rPr>
                            <m:t>𝑒</m:t>
                          </m:r>
                        </m:e>
                        <m:sub>
                          <m:r>
                            <a:rPr lang="en-US" altLang="zh-CN" sz="1800" i="1">
                              <a:solidFill>
                                <a:srgbClr val="35D949"/>
                              </a:solidFill>
                              <a:latin typeface="Cambria Math" panose="02040503050406030204" charset="0"/>
                              <a:cs typeface="Cambria Math" panose="02040503050406030204" charset="0"/>
                            </a:rPr>
                            <m:t>𝑘</m:t>
                          </m:r>
                          <m:r>
                            <a:rPr lang="en-US" altLang="zh-CN" sz="1800" i="1">
                              <a:solidFill>
                                <a:srgbClr val="35D949"/>
                              </a:solidFill>
                              <a:latin typeface="Cambria Math" panose="02040503050406030204" charset="0"/>
                              <a:cs typeface="Cambria Math" panose="02040503050406030204" charset="0"/>
                            </a:rPr>
                            <m:t>+</m:t>
                          </m:r>
                          <m:r>
                            <a:rPr lang="en-US" altLang="zh-CN" sz="1800" i="1">
                              <a:solidFill>
                                <a:srgbClr val="35D949"/>
                              </a:solidFill>
                              <a:latin typeface="Cambria Math" panose="02040503050406030204" charset="0"/>
                              <a:cs typeface="Cambria Math" panose="02040503050406030204" charset="0"/>
                            </a:rPr>
                            <m:t>𝑖</m:t>
                          </m:r>
                          <m:r>
                            <a:rPr lang="en-US" altLang="zh-CN" sz="1800" i="1">
                              <a:solidFill>
                                <a:srgbClr val="35D949"/>
                              </a:solidFill>
                              <a:latin typeface="Cambria Math" panose="02040503050406030204" charset="0"/>
                              <a:cs typeface="Cambria Math" panose="02040503050406030204" charset="0"/>
                            </a:rPr>
                            <m:t>|</m:t>
                          </m:r>
                          <m:r>
                            <a:rPr lang="en-US" altLang="zh-CN" sz="1800" i="1">
                              <a:solidFill>
                                <a:srgbClr val="35D949"/>
                              </a:solidFill>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𝑖</m:t>
                          </m:r>
                        </m:sup>
                        <m:e>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ea typeface="MS Mincho" charset="0"/>
                                  <a:cs typeface="Cambria Math" panose="02040503050406030204" charset="0"/>
                                </a:rPr>
                                <m:t>Փ</m:t>
                              </m:r>
                            </m:e>
                            <m:sup>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𝑗</m:t>
                              </m:r>
                            </m:sup>
                          </m:sSup>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𝐵</m:t>
                              </m:r>
                            </m:e>
                            <m:sub>
                              <m:r>
                                <a:rPr lang="en-US" altLang="zh-CN" i="1">
                                  <a:latin typeface="Cambria Math" panose="02040503050406030204" charset="0"/>
                                  <a:cs typeface="Cambria Math" panose="02040503050406030204" charset="0"/>
                                </a:rPr>
                                <m:t>𝑤</m:t>
                              </m:r>
                            </m:sub>
                          </m:sSub>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𝑤</m:t>
                              </m:r>
                            </m:e>
                            <m:sub>
                              <m:r>
                                <a:rPr lang="en-US" altLang="zh-CN" i="1">
                                  <a:latin typeface="Cambria Math" panose="02040503050406030204" charset="0"/>
                                  <a:cs typeface="Cambria Math" panose="02040503050406030204" charset="0"/>
                                </a:rPr>
                                <m:t>𝑗</m:t>
                              </m:r>
                            </m:sub>
                          </m:sSub>
                        </m:e>
                      </m:nary>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𝑁</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𝑖</m:t>
                          </m:r>
                        </m:sup>
                        <m:e>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ea typeface="MS Mincho" charset="0"/>
                                  <a:cs typeface="Cambria Math" panose="02040503050406030204" charset="0"/>
                                </a:rPr>
                                <m:t>Փ</m:t>
                              </m:r>
                            </m:e>
                            <m:sup>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𝑗</m:t>
                              </m:r>
                            </m:sup>
                          </m:sSup>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𝐵</m:t>
                              </m:r>
                            </m:e>
                            <m:sub>
                              <m:r>
                                <a:rPr lang="en-US" altLang="zh-CN" i="1">
                                  <a:latin typeface="Cambria Math" panose="02040503050406030204" charset="0"/>
                                  <a:cs typeface="Cambria Math" panose="02040503050406030204" charset="0"/>
                                </a:rPr>
                                <m:t>𝑤</m:t>
                              </m:r>
                            </m:sub>
                          </m:sSub>
                        </m:e>
                      </m:nary>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𝛴</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m:t>
                          </m:r>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𝑖</m:t>
                              </m:r>
                            </m:sup>
                            <m:e>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ea typeface="MS Mincho" charset="0"/>
                                      <a:cs typeface="Cambria Math" panose="02040503050406030204" charset="0"/>
                                    </a:rPr>
                                    <m:t>Փ</m:t>
                                  </m:r>
                                </m:e>
                                <m:sup>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𝑗</m:t>
                                  </m:r>
                                </m:sup>
                              </m:sSup>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𝐵</m:t>
                                  </m:r>
                                </m:e>
                                <m:sub>
                                  <m:r>
                                    <a:rPr lang="en-US" altLang="zh-CN" i="1">
                                      <a:latin typeface="Cambria Math" panose="02040503050406030204" charset="0"/>
                                      <a:cs typeface="Cambria Math" panose="02040503050406030204" charset="0"/>
                                    </a:rPr>
                                    <m:t>𝑤</m:t>
                                  </m:r>
                                </m:sub>
                              </m:sSub>
                            </m:e>
                          </m:nary>
                          <m:r>
                            <a:rPr lang="en-US" altLang="zh-CN" i="1">
                              <a:latin typeface="Cambria Math" panose="02040503050406030204" charset="0"/>
                              <a:cs typeface="Cambria Math" panose="02040503050406030204" charset="0"/>
                            </a:rPr>
                            <m:t>)</m:t>
                          </m:r>
                        </m:e>
                        <m:sup>
                          <m:r>
                            <a:rPr lang="en-US" altLang="zh-CN" i="1">
                              <a:latin typeface="Cambria Math" panose="02040503050406030204" charset="0"/>
                              <a:cs typeface="Cambria Math" panose="02040503050406030204" charset="0"/>
                            </a:rPr>
                            <m:t>𝑇</m:t>
                          </m:r>
                        </m:sup>
                      </m:sSup>
                      <m:r>
                        <a:rPr lang="en-US" altLang="zh-CN" i="1">
                          <a:latin typeface="Cambria Math" panose="02040503050406030204" charset="0"/>
                          <a:cs typeface="Cambria Math" panose="02040503050406030204" charset="0"/>
                        </a:rPr>
                        <m:t>)</m:t>
                      </m:r>
                    </m:oMath>
                  </m:oMathPara>
                </a14:m>
                <a:endParaRPr lang="zh-CN" altLang="en-US"/>
              </a:p>
            </p:txBody>
          </p:sp>
        </mc:Choice>
        <mc:Fallback>
          <p:sp>
            <p:nvSpPr>
              <p:cNvPr id="25" name="文本框 24"/>
              <p:cNvSpPr txBox="1">
                <a:spLocks noRot="1" noChangeAspect="1" noMove="1" noResize="1" noEditPoints="1" noAdjustHandles="1" noChangeArrowheads="1" noChangeShapeType="1" noTextEdit="1"/>
              </p:cNvSpPr>
              <p:nvPr/>
            </p:nvSpPr>
            <p:spPr>
              <a:xfrm>
                <a:off x="594296" y="4047744"/>
                <a:ext cx="6050915" cy="910590"/>
              </a:xfrm>
              <a:prstGeom prst="rect">
                <a:avLst/>
              </a:prstGeom>
              <a:blipFill rotWithShape="1">
                <a:blip r:embed="rId6"/>
                <a:stretch>
                  <a:fillRect l="-9" t="-28" r="9" b="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文本框 26"/>
              <p:cNvSpPr txBox="1"/>
              <p:nvPr/>
            </p:nvSpPr>
            <p:spPr>
              <a:xfrm>
                <a:off x="584136" y="4814824"/>
                <a:ext cx="5147945" cy="91059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sz="1800" i="1">
                              <a:solidFill>
                                <a:srgbClr val="35D949"/>
                              </a:solidFill>
                              <a:latin typeface="Cambria Math" panose="02040503050406030204" charset="0"/>
                              <a:cs typeface="Cambria Math" panose="02040503050406030204" charset="0"/>
                            </a:rPr>
                          </m:ctrlPr>
                        </m:sSubPr>
                        <m:e>
                          <m:sSup>
                            <m:sSupPr>
                              <m:ctrlPr>
                                <a:rPr lang="en-US" altLang="zh-CN" sz="1800" i="1">
                                  <a:solidFill>
                                    <a:srgbClr val="35D949"/>
                                  </a:solidFill>
                                  <a:latin typeface="Cambria Math" panose="02040503050406030204" charset="0"/>
                                  <a:cs typeface="Cambria Math" panose="02040503050406030204" charset="0"/>
                                </a:rPr>
                              </m:ctrlPr>
                            </m:sSupPr>
                            <m:e>
                              <m:r>
                                <a:rPr lang="en-US" altLang="zh-CN" sz="1800" i="1">
                                  <a:solidFill>
                                    <a:srgbClr val="35D949"/>
                                  </a:solidFill>
                                  <a:latin typeface="Cambria Math" panose="02040503050406030204" charset="0"/>
                                  <a:cs typeface="Cambria Math" panose="02040503050406030204" charset="0"/>
                                </a:rPr>
                                <m:t>𝑔</m:t>
                              </m:r>
                            </m:e>
                            <m:sup>
                              <m:r>
                                <a:rPr lang="en-US" altLang="zh-CN" sz="1800" i="1">
                                  <a:solidFill>
                                    <a:srgbClr val="35D949"/>
                                  </a:solidFill>
                                  <a:latin typeface="Cambria Math" panose="02040503050406030204" charset="0"/>
                                  <a:cs typeface="Cambria Math" panose="02040503050406030204" charset="0"/>
                                </a:rPr>
                                <m:t>𝑇</m:t>
                              </m:r>
                            </m:sup>
                          </m:sSup>
                          <m:r>
                            <a:rPr lang="en-US" altLang="zh-CN" sz="1800" i="1">
                              <a:solidFill>
                                <a:srgbClr val="35D949"/>
                              </a:solidFill>
                              <a:latin typeface="Cambria Math" panose="02040503050406030204" charset="0"/>
                              <a:cs typeface="Cambria Math" panose="02040503050406030204" charset="0"/>
                            </a:rPr>
                            <m:t>𝑒</m:t>
                          </m:r>
                        </m:e>
                        <m:sub>
                          <m:r>
                            <a:rPr lang="en-US" altLang="zh-CN" sz="1800" i="1">
                              <a:solidFill>
                                <a:srgbClr val="35D949"/>
                              </a:solidFill>
                              <a:latin typeface="Cambria Math" panose="02040503050406030204" charset="0"/>
                              <a:cs typeface="Cambria Math" panose="02040503050406030204" charset="0"/>
                            </a:rPr>
                            <m:t>𝑘</m:t>
                          </m:r>
                          <m:r>
                            <a:rPr lang="en-US" altLang="zh-CN" sz="1800" i="1">
                              <a:solidFill>
                                <a:srgbClr val="35D949"/>
                              </a:solidFill>
                              <a:latin typeface="Cambria Math" panose="02040503050406030204" charset="0"/>
                              <a:cs typeface="Cambria Math" panose="02040503050406030204" charset="0"/>
                            </a:rPr>
                            <m:t>+</m:t>
                          </m:r>
                          <m:r>
                            <a:rPr lang="en-US" altLang="zh-CN" sz="1800" i="1">
                              <a:solidFill>
                                <a:srgbClr val="35D949"/>
                              </a:solidFill>
                              <a:latin typeface="Cambria Math" panose="02040503050406030204" charset="0"/>
                              <a:cs typeface="Cambria Math" panose="02040503050406030204" charset="0"/>
                            </a:rPr>
                            <m:t>𝑖</m:t>
                          </m:r>
                          <m:r>
                            <a:rPr lang="en-US" altLang="zh-CN" sz="1800" i="1">
                              <a:solidFill>
                                <a:srgbClr val="35D949"/>
                              </a:solidFill>
                              <a:latin typeface="Cambria Math" panose="02040503050406030204" charset="0"/>
                              <a:cs typeface="Cambria Math" panose="02040503050406030204" charset="0"/>
                            </a:rPr>
                            <m:t>|</m:t>
                          </m:r>
                          <m:r>
                            <a:rPr lang="en-US" altLang="zh-CN" sz="1800" i="1">
                              <a:solidFill>
                                <a:srgbClr val="35D949"/>
                              </a:solidFill>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𝑁</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𝑔</m:t>
                          </m:r>
                        </m:e>
                        <m:sup>
                          <m:r>
                            <a:rPr lang="en-US" altLang="zh-CN" i="1">
                              <a:latin typeface="Cambria Math" panose="02040503050406030204" charset="0"/>
                              <a:cs typeface="Cambria Math" panose="02040503050406030204" charset="0"/>
                            </a:rPr>
                            <m:t>𝑇</m:t>
                          </m:r>
                        </m:sup>
                      </m:sSup>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𝑖</m:t>
                          </m:r>
                        </m:sup>
                        <m:e>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ea typeface="MS Mincho" charset="0"/>
                                  <a:cs typeface="Cambria Math" panose="02040503050406030204" charset="0"/>
                                </a:rPr>
                                <m:t>Փ</m:t>
                              </m:r>
                            </m:e>
                            <m:sup>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𝑗</m:t>
                              </m:r>
                            </m:sup>
                          </m:sSup>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𝐵</m:t>
                              </m:r>
                            </m:e>
                            <m:sub>
                              <m:r>
                                <a:rPr lang="en-US" altLang="zh-CN" i="1">
                                  <a:latin typeface="Cambria Math" panose="02040503050406030204" charset="0"/>
                                  <a:cs typeface="Cambria Math" panose="02040503050406030204" charset="0"/>
                                </a:rPr>
                                <m:t>𝑤</m:t>
                              </m:r>
                            </m:sub>
                          </m:sSub>
                        </m:e>
                      </m:nary>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𝛴</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𝑔</m:t>
                              </m:r>
                            </m:e>
                            <m:sup>
                              <m:r>
                                <a:rPr lang="en-US" altLang="zh-CN" i="1">
                                  <a:latin typeface="Cambria Math" panose="02040503050406030204" charset="0"/>
                                  <a:cs typeface="Cambria Math" panose="02040503050406030204" charset="0"/>
                                </a:rPr>
                                <m:t>𝑇</m:t>
                              </m:r>
                            </m:sup>
                          </m:sSup>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𝑖</m:t>
                              </m:r>
                            </m:sup>
                            <m:e>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ea typeface="MS Mincho" charset="0"/>
                                      <a:cs typeface="Cambria Math" panose="02040503050406030204" charset="0"/>
                                    </a:rPr>
                                    <m:t>Փ</m:t>
                                  </m:r>
                                </m:e>
                                <m:sup>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𝑗</m:t>
                                  </m:r>
                                </m:sup>
                              </m:sSup>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𝐵</m:t>
                                  </m:r>
                                </m:e>
                                <m:sub>
                                  <m:r>
                                    <a:rPr lang="en-US" altLang="zh-CN" i="1">
                                      <a:latin typeface="Cambria Math" panose="02040503050406030204" charset="0"/>
                                      <a:cs typeface="Cambria Math" panose="02040503050406030204" charset="0"/>
                                    </a:rPr>
                                    <m:t>𝑤</m:t>
                                  </m:r>
                                </m:sub>
                              </m:sSub>
                            </m:e>
                          </m:nary>
                          <m:r>
                            <a:rPr lang="en-US" altLang="zh-CN" i="1">
                              <a:latin typeface="Cambria Math" panose="02040503050406030204" charset="0"/>
                              <a:cs typeface="Cambria Math" panose="02040503050406030204" charset="0"/>
                            </a:rPr>
                            <m:t>)</m:t>
                          </m:r>
                        </m:e>
                        <m:sup>
                          <m:r>
                            <a:rPr lang="en-US" altLang="zh-CN" i="1">
                              <a:latin typeface="Cambria Math" panose="02040503050406030204" charset="0"/>
                              <a:cs typeface="Cambria Math" panose="02040503050406030204" charset="0"/>
                            </a:rPr>
                            <m:t>𝑇</m:t>
                          </m:r>
                        </m:sup>
                      </m:sSup>
                      <m:r>
                        <a:rPr lang="en-US" altLang="zh-CN" i="1">
                          <a:latin typeface="Cambria Math" panose="02040503050406030204" charset="0"/>
                          <a:cs typeface="Cambria Math" panose="02040503050406030204" charset="0"/>
                        </a:rPr>
                        <m:t>)</m:t>
                      </m:r>
                    </m:oMath>
                  </m:oMathPara>
                </a14:m>
                <a:endParaRPr lang="zh-CN" altLang="en-US"/>
              </a:p>
            </p:txBody>
          </p:sp>
        </mc:Choice>
        <mc:Fallback>
          <p:sp>
            <p:nvSpPr>
              <p:cNvPr id="27" name="文本框 26"/>
              <p:cNvSpPr txBox="1">
                <a:spLocks noRot="1" noChangeAspect="1" noMove="1" noResize="1" noEditPoints="1" noAdjustHandles="1" noChangeArrowheads="1" noChangeShapeType="1" noTextEdit="1"/>
              </p:cNvSpPr>
              <p:nvPr/>
            </p:nvSpPr>
            <p:spPr>
              <a:xfrm>
                <a:off x="584136" y="4814824"/>
                <a:ext cx="5147945" cy="910590"/>
              </a:xfrm>
              <a:prstGeom prst="rect">
                <a:avLst/>
              </a:prstGeom>
              <a:blipFill rotWithShape="1">
                <a:blip r:embed="rId7"/>
                <a:stretch>
                  <a:fillRect l="-11" t="-28" r="11" b="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2" name="文本框 41"/>
              <p:cNvSpPr txBox="1"/>
              <p:nvPr/>
            </p:nvSpPr>
            <p:spPr>
              <a:xfrm>
                <a:off x="7172008" y="3948430"/>
                <a:ext cx="4932045" cy="1420495"/>
              </a:xfrm>
              <a:prstGeom prst="rect">
                <a:avLst/>
              </a:prstGeom>
              <a:noFill/>
            </p:spPr>
            <p:txBody>
              <a:bodyPr wrap="none" rtlCol="0" anchor="t">
                <a:noAutofit/>
              </a:bodyPr>
              <a:p>
                <a:pPr indent="0" algn="l" fontAlgn="auto">
                  <a:lnSpc>
                    <a:spcPct val="150000"/>
                  </a:lnSpc>
                </a:pPr>
                <a:r>
                  <a:rPr lang="en-US" altLang="zh-CN" sz="1400">
                    <a:latin typeface="Cambria Math" panose="02040503050406030204" charset="0"/>
                    <a:cs typeface="Cambria Math" panose="02040503050406030204" charset="0"/>
                  </a:rPr>
                  <a:t>       </a:t>
                </a:r>
                <a14:m>
                  <m:oMath xmlns:m="http://schemas.openxmlformats.org/officeDocument/2006/math">
                    <m:func>
                      <m:funcPr>
                        <m:ctrlPr>
                          <a:rPr lang="en-US" altLang="zh-CN" sz="1400" i="1">
                            <a:latin typeface="Cambria Math" panose="02040503050406030204" charset="0"/>
                            <a:cs typeface="Cambria Math" panose="02040503050406030204" charset="0"/>
                          </a:rPr>
                        </m:ctrlPr>
                      </m:funcPr>
                      <m:fName>
                        <m:limLow>
                          <m:limLowPr>
                            <m:ctrlPr>
                              <a:rPr lang="en-US" altLang="zh-CN" sz="1400">
                                <a:latin typeface="Cambria Math" panose="02040503050406030204" charset="0"/>
                                <a:cs typeface="Cambria Math" panose="02040503050406030204" charset="0"/>
                              </a:rPr>
                            </m:ctrlPr>
                          </m:limLowPr>
                          <m:e>
                            <m:r>
                              <m:rPr>
                                <m:sty m:val="p"/>
                              </m:rPr>
                              <a:rPr lang="en-US" altLang="zh-CN" sz="1400">
                                <a:latin typeface="Cambria Math" panose="02040503050406030204" charset="0"/>
                                <a:cs typeface="Cambria Math" panose="02040503050406030204" charset="0"/>
                              </a:rPr>
                              <m:t>min</m:t>
                            </m:r>
                          </m:e>
                          <m:lim>
                            <m:sSub>
                              <m:sSubPr>
                                <m:ctrlPr>
                                  <a:rPr lang="en-US" altLang="zh-CN" sz="1400" i="1">
                                    <a:latin typeface="Cambria Math" panose="02040503050406030204" charset="0"/>
                                    <a:cs typeface="Cambria Math" panose="02040503050406030204" charset="0"/>
                                  </a:rPr>
                                </m:ctrlPr>
                              </m:sSubPr>
                              <m:e>
                                <m:r>
                                  <a:rPr lang="en-US" altLang="zh-CN" sz="1400" i="1">
                                    <a:latin typeface="Cambria Math" panose="02040503050406030204" charset="0"/>
                                    <a:cs typeface="Cambria Math" panose="02040503050406030204" charset="0"/>
                                  </a:rPr>
                                  <m:t>𝑢</m:t>
                                </m:r>
                              </m:e>
                              <m:sub>
                                <m:r>
                                  <a:rPr lang="en-US" altLang="zh-CN" sz="1400" i="1">
                                    <a:latin typeface="Cambria Math" panose="02040503050406030204" charset="0"/>
                                    <a:cs typeface="Cambria Math" panose="02040503050406030204" charset="0"/>
                                  </a:rPr>
                                  <m:t>𝑘</m:t>
                                </m:r>
                              </m:sub>
                            </m:sSub>
                          </m:lim>
                        </m:limLow>
                      </m:fName>
                      <m:e>
                        <m:sSub>
                          <m:sSubPr>
                            <m:ctrlPr>
                              <a:rPr lang="en-US" altLang="zh-CN" sz="1400" i="1">
                                <a:latin typeface="Cambria Math" panose="02040503050406030204" charset="0"/>
                                <a:cs typeface="Cambria Math" panose="02040503050406030204" charset="0"/>
                              </a:rPr>
                            </m:ctrlPr>
                          </m:sSubPr>
                          <m:e>
                            <m:r>
                              <a:rPr lang="en-US" altLang="zh-CN" sz="1400" i="1">
                                <a:latin typeface="Cambria Math" panose="02040503050406030204" charset="0"/>
                                <a:cs typeface="Cambria Math" panose="02040503050406030204" charset="0"/>
                              </a:rPr>
                              <m:t>𝐽</m:t>
                            </m:r>
                          </m:e>
                          <m:sub>
                            <m:r>
                              <a:rPr lang="en-US" altLang="zh-CN" sz="1400" i="1">
                                <a:latin typeface="Cambria Math" panose="02040503050406030204" charset="0"/>
                                <a:cs typeface="Cambria Math" panose="02040503050406030204" charset="0"/>
                              </a:rPr>
                              <m:t>𝑘</m:t>
                            </m:r>
                          </m:sub>
                        </m:sSub>
                        <m:r>
                          <a:rPr lang="en-US" altLang="zh-CN" sz="1400" i="1">
                            <a:latin typeface="Cambria Math" panose="02040503050406030204" charset="0"/>
                            <a:cs typeface="Cambria Math" panose="02040503050406030204" charset="0"/>
                          </a:rPr>
                          <m:t>=</m:t>
                        </m:r>
                      </m:e>
                    </m:func>
                    <m:r>
                      <a:rPr lang="en-US" altLang="zh-CN" sz="1400" i="1">
                        <a:latin typeface="Cambria Math" panose="02040503050406030204" charset="0"/>
                        <a:cs typeface="Cambria Math" panose="02040503050406030204" charset="0"/>
                      </a:rPr>
                      <m:t>[</m:t>
                    </m:r>
                    <m:m>
                      <m:mPr>
                        <m:mcs>
                          <m:mc>
                            <m:mcPr>
                              <m:count m:val="3"/>
                              <m:mcJc m:val="center"/>
                            </m:mcPr>
                          </m:mc>
                        </m:mcs>
                        <m:ctrlPr>
                          <a:rPr lang="en-US" altLang="zh-CN" sz="1400" i="1">
                            <a:latin typeface="Cambria Math" panose="02040503050406030204" charset="0"/>
                            <a:cs typeface="Cambria Math" panose="02040503050406030204" charset="0"/>
                          </a:rPr>
                        </m:ctrlPr>
                      </m:mPr>
                      <m:mr>
                        <m:e>
                          <m:sSubSup>
                            <m:sSubSupPr>
                              <m:ctrlPr>
                                <a:rPr lang="en-US" altLang="zh-CN" sz="1400" i="1">
                                  <a:solidFill>
                                    <a:schemeClr val="bg2">
                                      <a:lumMod val="50000"/>
                                    </a:schemeClr>
                                  </a:solidFill>
                                  <a:latin typeface="Cambria Math" panose="02040503050406030204" charset="0"/>
                                  <a:cs typeface="Cambria Math" panose="02040503050406030204" charset="0"/>
                                </a:rPr>
                              </m:ctrlPr>
                            </m:sSubSupPr>
                            <m:e>
                              <m:r>
                                <a:rPr lang="en-US" altLang="zh-CN" sz="1400" i="1">
                                  <a:solidFill>
                                    <a:schemeClr val="bg2">
                                      <a:lumMod val="50000"/>
                                    </a:schemeClr>
                                  </a:solidFill>
                                  <a:latin typeface="Cambria Math" panose="02040503050406030204" charset="0"/>
                                  <a:cs typeface="Cambria Math" panose="02040503050406030204" charset="0"/>
                                </a:rPr>
                                <m:t>𝑥</m:t>
                              </m:r>
                            </m:e>
                            <m:sub>
                              <m:r>
                                <a:rPr lang="en-US" altLang="zh-CN" sz="1400" i="1">
                                  <a:solidFill>
                                    <a:schemeClr val="bg2">
                                      <a:lumMod val="50000"/>
                                    </a:schemeClr>
                                  </a:solidFill>
                                  <a:latin typeface="Cambria Math" panose="02040503050406030204" charset="0"/>
                                  <a:cs typeface="Cambria Math" panose="02040503050406030204" charset="0"/>
                                </a:rPr>
                                <m:t>𝑘</m:t>
                              </m:r>
                            </m:sub>
                            <m:sup>
                              <m:r>
                                <a:rPr lang="en-US" altLang="zh-CN" sz="1400" i="1">
                                  <a:solidFill>
                                    <a:schemeClr val="bg2">
                                      <a:lumMod val="50000"/>
                                    </a:schemeClr>
                                  </a:solidFill>
                                  <a:latin typeface="Cambria Math" panose="02040503050406030204" charset="0"/>
                                  <a:cs typeface="Cambria Math" panose="02040503050406030204" charset="0"/>
                                </a:rPr>
                                <m:t>𝑇</m:t>
                              </m:r>
                            </m:sup>
                          </m:sSubSup>
                        </m:e>
                        <m:e>
                          <m:sSubSup>
                            <m:sSubSupPr>
                              <m:ctrlPr>
                                <a:rPr lang="en-US" altLang="zh-CN" sz="1400" i="1">
                                  <a:latin typeface="Cambria Math" panose="02040503050406030204" charset="0"/>
                                  <a:cs typeface="Cambria Math" panose="02040503050406030204" charset="0"/>
                                </a:rPr>
                              </m:ctrlPr>
                            </m:sSubSupPr>
                            <m:e>
                              <m:r>
                                <a:rPr lang="en-US" altLang="zh-CN" sz="1400" i="1">
                                  <a:latin typeface="Cambria Math" panose="02040503050406030204" charset="0"/>
                                  <a:cs typeface="Cambria Math" panose="02040503050406030204" charset="0"/>
                                </a:rPr>
                                <m:t>𝑐</m:t>
                              </m:r>
                            </m:e>
                            <m:sub>
                              <m:r>
                                <a:rPr lang="en-US" altLang="zh-CN" sz="1400" i="1">
                                  <a:latin typeface="Cambria Math" panose="02040503050406030204" charset="0"/>
                                  <a:cs typeface="Cambria Math" panose="02040503050406030204" charset="0"/>
                                </a:rPr>
                                <m:t>𝑘</m:t>
                              </m:r>
                            </m:sub>
                            <m:sup>
                              <m:r>
                                <a:rPr lang="en-US" altLang="zh-CN" sz="1400" i="1">
                                  <a:latin typeface="Cambria Math" panose="02040503050406030204" charset="0"/>
                                  <a:cs typeface="Cambria Math" panose="02040503050406030204" charset="0"/>
                                </a:rPr>
                                <m:t>𝑇</m:t>
                              </m:r>
                            </m:sup>
                          </m:sSubSup>
                        </m:e>
                        <m:e>
                          <m:r>
                            <a:rPr lang="en-US" altLang="zh-CN" sz="1400" i="1">
                              <a:latin typeface="Cambria Math" panose="02040503050406030204" charset="0"/>
                              <a:cs typeface="Cambria Math" panose="02040503050406030204" charset="0"/>
                            </a:rPr>
                            <m:t>1</m:t>
                          </m:r>
                        </m:e>
                      </m:mr>
                    </m:m>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𝛺</m:t>
                    </m:r>
                    <m:sSup>
                      <m:sSupPr>
                        <m:ctrlPr>
                          <a:rPr lang="en-US" altLang="zh-CN" sz="1400" i="1">
                            <a:latin typeface="Cambria Math" panose="02040503050406030204" charset="0"/>
                            <a:cs typeface="Cambria Math" panose="02040503050406030204" charset="0"/>
                          </a:rPr>
                        </m:ctrlPr>
                      </m:sSupPr>
                      <m:e>
                        <m:r>
                          <a:rPr lang="en-US" altLang="zh-CN" sz="1400" i="1">
                            <a:latin typeface="Cambria Math" panose="02040503050406030204" charset="0"/>
                            <a:cs typeface="Cambria Math" panose="02040503050406030204" charset="0"/>
                          </a:rPr>
                          <m:t>[</m:t>
                        </m:r>
                        <m:m>
                          <m:mPr>
                            <m:mcs>
                              <m:mc>
                                <m:mcPr>
                                  <m:count m:val="3"/>
                                  <m:mcJc m:val="center"/>
                                </m:mcPr>
                              </m:mc>
                            </m:mcs>
                            <m:ctrlPr>
                              <a:rPr lang="en-US" altLang="zh-CN" sz="1400" i="1">
                                <a:latin typeface="Cambria Math" panose="02040503050406030204" charset="0"/>
                                <a:cs typeface="Cambria Math" panose="02040503050406030204" charset="0"/>
                              </a:rPr>
                            </m:ctrlPr>
                          </m:mPr>
                          <m:mr>
                            <m:e>
                              <m:sSubSup>
                                <m:sSubSupPr>
                                  <m:ctrlPr>
                                    <a:rPr lang="en-US" altLang="zh-CN" sz="1400" i="1">
                                      <a:solidFill>
                                        <a:schemeClr val="bg2">
                                          <a:lumMod val="50000"/>
                                        </a:schemeClr>
                                      </a:solidFill>
                                      <a:latin typeface="Cambria Math" panose="02040503050406030204" charset="0"/>
                                      <a:cs typeface="Cambria Math" panose="02040503050406030204" charset="0"/>
                                    </a:rPr>
                                  </m:ctrlPr>
                                </m:sSubSupPr>
                                <m:e>
                                  <m:r>
                                    <a:rPr lang="en-US" altLang="zh-CN" sz="1400" i="1">
                                      <a:solidFill>
                                        <a:schemeClr val="bg2">
                                          <a:lumMod val="50000"/>
                                        </a:schemeClr>
                                      </a:solidFill>
                                      <a:latin typeface="Cambria Math" panose="02040503050406030204" charset="0"/>
                                      <a:cs typeface="Cambria Math" panose="02040503050406030204" charset="0"/>
                                    </a:rPr>
                                    <m:t>𝑥</m:t>
                                  </m:r>
                                </m:e>
                                <m:sub>
                                  <m:r>
                                    <a:rPr lang="en-US" altLang="zh-CN" sz="1400" i="1">
                                      <a:solidFill>
                                        <a:schemeClr val="bg2">
                                          <a:lumMod val="50000"/>
                                        </a:schemeClr>
                                      </a:solidFill>
                                      <a:latin typeface="Cambria Math" panose="02040503050406030204" charset="0"/>
                                      <a:cs typeface="Cambria Math" panose="02040503050406030204" charset="0"/>
                                    </a:rPr>
                                    <m:t>𝑘</m:t>
                                  </m:r>
                                </m:sub>
                                <m:sup>
                                  <m:r>
                                    <a:rPr lang="en-US" altLang="zh-CN" sz="1400" i="1">
                                      <a:solidFill>
                                        <a:schemeClr val="bg2">
                                          <a:lumMod val="50000"/>
                                        </a:schemeClr>
                                      </a:solidFill>
                                      <a:latin typeface="Cambria Math" panose="02040503050406030204" charset="0"/>
                                      <a:cs typeface="Cambria Math" panose="02040503050406030204" charset="0"/>
                                    </a:rPr>
                                    <m:t>𝑇</m:t>
                                  </m:r>
                                </m:sup>
                              </m:sSubSup>
                            </m:e>
                            <m:e>
                              <m:sSubSup>
                                <m:sSubSupPr>
                                  <m:ctrlPr>
                                    <a:rPr lang="en-US" altLang="zh-CN" sz="1400" i="1">
                                      <a:latin typeface="Cambria Math" panose="02040503050406030204" charset="0"/>
                                      <a:cs typeface="Cambria Math" panose="02040503050406030204" charset="0"/>
                                    </a:rPr>
                                  </m:ctrlPr>
                                </m:sSubSupPr>
                                <m:e>
                                  <m:r>
                                    <a:rPr lang="en-US" altLang="zh-CN" sz="1400" i="1">
                                      <a:latin typeface="Cambria Math" panose="02040503050406030204" charset="0"/>
                                      <a:cs typeface="Cambria Math" panose="02040503050406030204" charset="0"/>
                                    </a:rPr>
                                    <m:t>𝑐</m:t>
                                  </m:r>
                                </m:e>
                                <m:sub>
                                  <m:r>
                                    <a:rPr lang="en-US" altLang="zh-CN" sz="1400" i="1">
                                      <a:latin typeface="Cambria Math" panose="02040503050406030204" charset="0"/>
                                      <a:cs typeface="Cambria Math" panose="02040503050406030204" charset="0"/>
                                    </a:rPr>
                                    <m:t>𝑘</m:t>
                                  </m:r>
                                </m:sub>
                                <m:sup>
                                  <m:r>
                                    <a:rPr lang="en-US" altLang="zh-CN" sz="1400" i="1">
                                      <a:latin typeface="Cambria Math" panose="02040503050406030204" charset="0"/>
                                      <a:cs typeface="Cambria Math" panose="02040503050406030204" charset="0"/>
                                    </a:rPr>
                                    <m:t>𝑇</m:t>
                                  </m:r>
                                </m:sup>
                              </m:sSubSup>
                            </m:e>
                            <m:e>
                              <m:r>
                                <a:rPr lang="en-US" altLang="zh-CN" sz="1400" i="1">
                                  <a:latin typeface="Cambria Math" panose="02040503050406030204" charset="0"/>
                                  <a:cs typeface="Cambria Math" panose="02040503050406030204" charset="0"/>
                                </a:rPr>
                                <m:t>1</m:t>
                              </m:r>
                            </m:e>
                          </m:mr>
                        </m:m>
                        <m:r>
                          <a:rPr lang="en-US" altLang="zh-CN" sz="1400" i="1">
                            <a:latin typeface="Cambria Math" panose="02040503050406030204" charset="0"/>
                            <a:cs typeface="Cambria Math" panose="02040503050406030204" charset="0"/>
                          </a:rPr>
                          <m:t>]</m:t>
                        </m:r>
                      </m:e>
                      <m:sup>
                        <m:r>
                          <a:rPr lang="en-US" altLang="zh-CN" sz="1400" i="1">
                            <a:latin typeface="Cambria Math" panose="02040503050406030204" charset="0"/>
                            <a:cs typeface="Cambria Math" panose="02040503050406030204" charset="0"/>
                          </a:rPr>
                          <m:t>𝑇</m:t>
                        </m:r>
                      </m:sup>
                    </m:sSup>
                  </m:oMath>
                </a14:m>
                <a:endParaRPr lang="en-US" altLang="zh-CN" sz="1400" i="1">
                  <a:latin typeface="Cambria Math" panose="02040503050406030204" charset="0"/>
                  <a:cs typeface="Cambria Math" panose="02040503050406030204" charset="0"/>
                </a:endParaRPr>
              </a:p>
              <a:p>
                <a:pPr indent="0" algn="l" fontAlgn="auto">
                  <a:lnSpc>
                    <a:spcPct val="150000"/>
                  </a:lnSpc>
                </a:pPr>
                <a14:m>
                  <m:oMathPara xmlns:m="http://schemas.openxmlformats.org/officeDocument/2006/math">
                    <m:oMathParaPr>
                      <m:jc m:val="left"/>
                    </m:oMathParaPr>
                    <m:oMath xmlns:m="http://schemas.openxmlformats.org/officeDocument/2006/math">
                      <m:r>
                        <a:rPr lang="en-US" altLang="zh-CN" sz="1400" i="1">
                          <a:latin typeface="Cambria Math" panose="02040503050406030204" charset="0"/>
                          <a:cs typeface="Cambria Math" panose="02040503050406030204" charset="0"/>
                        </a:rPr>
                        <m:t>𝑠</m:t>
                      </m:r>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𝑡</m:t>
                      </m:r>
                      <m:r>
                        <a:rPr lang="en-US" altLang="zh-CN" sz="1400" i="1">
                          <a:latin typeface="Cambria Math" panose="02040503050406030204" charset="0"/>
                          <a:cs typeface="Cambria Math" panose="02040503050406030204" charset="0"/>
                        </a:rPr>
                        <m:t>.</m:t>
                      </m:r>
                      <m:sSup>
                        <m:sSupPr>
                          <m:ctrlPr>
                            <a:rPr lang="en-US" altLang="zh-CN" sz="1400" i="1">
                              <a:latin typeface="Cambria Math" panose="02040503050406030204" charset="0"/>
                              <a:cs typeface="Cambria Math" panose="02040503050406030204" charset="0"/>
                            </a:rPr>
                          </m:ctrlPr>
                        </m:sSupPr>
                        <m:e>
                          <m:r>
                            <a:rPr lang="en-US" altLang="zh-CN" sz="1400" i="1">
                              <a:latin typeface="Cambria Math" panose="02040503050406030204" charset="0"/>
                              <a:cs typeface="Cambria Math" panose="02040503050406030204" charset="0"/>
                            </a:rPr>
                            <m:t>𝑔</m:t>
                          </m:r>
                        </m:e>
                        <m:sup>
                          <m:r>
                            <a:rPr lang="en-US" altLang="zh-CN" sz="1400" i="1">
                              <a:latin typeface="Cambria Math" panose="02040503050406030204" charset="0"/>
                              <a:cs typeface="Cambria Math" panose="02040503050406030204" charset="0"/>
                            </a:rPr>
                            <m:t>𝑇</m:t>
                          </m:r>
                        </m:sup>
                      </m:sSup>
                      <m:sSub>
                        <m:sSubPr>
                          <m:ctrlPr>
                            <a:rPr lang="en-US" altLang="zh-CN" sz="1400" i="1">
                              <a:solidFill>
                                <a:schemeClr val="bg2">
                                  <a:lumMod val="50000"/>
                                </a:schemeClr>
                              </a:solidFill>
                              <a:latin typeface="Cambria Math" panose="02040503050406030204" charset="0"/>
                              <a:cs typeface="Cambria Math" panose="02040503050406030204" charset="0"/>
                            </a:rPr>
                          </m:ctrlPr>
                        </m:sSubPr>
                        <m:e>
                          <m:r>
                            <a:rPr lang="en-US" altLang="zh-CN" sz="1400" i="1">
                              <a:solidFill>
                                <a:schemeClr val="bg2">
                                  <a:lumMod val="50000"/>
                                </a:schemeClr>
                              </a:solidFill>
                              <a:latin typeface="Cambria Math" panose="02040503050406030204" charset="0"/>
                              <a:cs typeface="Cambria Math" panose="02040503050406030204" charset="0"/>
                            </a:rPr>
                            <m:t>𝑧</m:t>
                          </m:r>
                        </m:e>
                        <m:sub>
                          <m:r>
                            <a:rPr lang="en-US" altLang="zh-CN" sz="1400" i="1">
                              <a:solidFill>
                                <a:schemeClr val="bg2">
                                  <a:lumMod val="50000"/>
                                </a:schemeClr>
                              </a:solidFill>
                              <a:latin typeface="Cambria Math" panose="02040503050406030204" charset="0"/>
                              <a:cs typeface="Cambria Math" panose="02040503050406030204" charset="0"/>
                            </a:rPr>
                            <m:t>𝑘</m:t>
                          </m:r>
                          <m:r>
                            <a:rPr lang="en-US" altLang="zh-CN" sz="1400" i="1">
                              <a:solidFill>
                                <a:schemeClr val="bg2">
                                  <a:lumMod val="50000"/>
                                </a:schemeClr>
                              </a:solidFill>
                              <a:latin typeface="Cambria Math" panose="02040503050406030204" charset="0"/>
                              <a:cs typeface="Cambria Math" panose="02040503050406030204" charset="0"/>
                            </a:rPr>
                            <m:t>+</m:t>
                          </m:r>
                          <m:r>
                            <a:rPr lang="en-US" altLang="zh-CN" sz="1400" i="1">
                              <a:solidFill>
                                <a:schemeClr val="bg2">
                                  <a:lumMod val="50000"/>
                                </a:schemeClr>
                              </a:solidFill>
                              <a:latin typeface="Cambria Math" panose="02040503050406030204" charset="0"/>
                              <a:cs typeface="Cambria Math" panose="02040503050406030204" charset="0"/>
                            </a:rPr>
                            <m:t>𝑖</m:t>
                          </m:r>
                        </m:sub>
                      </m:sSub>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ℎ</m:t>
                      </m:r>
                      <m:r>
                        <a:rPr lang="en-US" altLang="zh-CN" sz="1400" i="1">
                          <a:latin typeface="Cambria Math" panose="02040503050406030204" charset="0"/>
                          <a:cs typeface="Cambria Math" panose="02040503050406030204" charset="0"/>
                        </a:rPr>
                        <m:t>−</m:t>
                      </m:r>
                      <m:sSub>
                        <m:sSubPr>
                          <m:ctrlPr>
                            <a:rPr lang="en-US" altLang="zh-CN" sz="1400" i="1">
                              <a:solidFill>
                                <a:srgbClr val="35D949"/>
                              </a:solidFill>
                              <a:latin typeface="Cambria Math" panose="02040503050406030204" charset="0"/>
                              <a:cs typeface="Cambria Math" panose="02040503050406030204" charset="0"/>
                            </a:rPr>
                          </m:ctrlPr>
                        </m:sSubPr>
                        <m:e>
                          <m:r>
                            <a:rPr lang="en-US" altLang="zh-CN" sz="1400" i="1">
                              <a:solidFill>
                                <a:srgbClr val="35D949"/>
                              </a:solidFill>
                              <a:latin typeface="Cambria Math" panose="02040503050406030204" charset="0"/>
                              <a:cs typeface="Cambria Math" panose="02040503050406030204" charset="0"/>
                            </a:rPr>
                            <m:t>ℎ</m:t>
                          </m:r>
                        </m:e>
                        <m:sub>
                          <m:r>
                            <a:rPr lang="en-US" altLang="zh-CN" sz="1400" i="1">
                              <a:solidFill>
                                <a:srgbClr val="35D949"/>
                              </a:solidFill>
                              <a:latin typeface="Cambria Math" panose="02040503050406030204" charset="0"/>
                              <a:cs typeface="Cambria Math" panose="02040503050406030204" charset="0"/>
                            </a:rPr>
                            <m:t>𝑗</m:t>
                          </m:r>
                        </m:sub>
                      </m:sSub>
                    </m:oMath>
                  </m:oMathPara>
                </a14:m>
                <a:endParaRPr lang="en-US" altLang="zh-CN" sz="1400" i="1">
                  <a:latin typeface="Cambria Math" panose="02040503050406030204" charset="0"/>
                  <a:cs typeface="Cambria Math" panose="02040503050406030204" charset="0"/>
                </a:endParaRPr>
              </a:p>
              <a:p>
                <a:pPr indent="0" algn="l" fontAlgn="auto">
                  <a:lnSpc>
                    <a:spcPct val="150000"/>
                  </a:lnSpc>
                </a:pPr>
                <a14:m>
                  <m:oMathPara xmlns:m="http://schemas.openxmlformats.org/officeDocument/2006/math">
                    <m:oMathParaPr>
                      <m:jc m:val="left"/>
                    </m:oMathParaPr>
                    <m:oMath xmlns:m="http://schemas.openxmlformats.org/officeDocument/2006/math">
                      <m:sSub>
                        <m:sSubPr>
                          <m:ctrlPr>
                            <a:rPr lang="en-US" altLang="zh-CN" sz="1400" i="1">
                              <a:latin typeface="Cambria Math" panose="02040503050406030204" charset="0"/>
                              <a:cs typeface="Cambria Math" panose="02040503050406030204" charset="0"/>
                            </a:rPr>
                          </m:ctrlPr>
                        </m:sSubPr>
                        <m:e>
                          <m:r>
                            <a:rPr lang="en-US" altLang="zh-CN" sz="1400" i="1">
                              <a:latin typeface="Cambria Math" panose="02040503050406030204" charset="0"/>
                              <a:cs typeface="Cambria Math" panose="02040503050406030204" charset="0"/>
                            </a:rPr>
                            <m:t>ℎ</m:t>
                          </m:r>
                        </m:e>
                        <m:sub>
                          <m:r>
                            <a:rPr lang="en-US" altLang="zh-CN" sz="1400" i="1">
                              <a:latin typeface="Cambria Math" panose="02040503050406030204" charset="0"/>
                              <a:cs typeface="Cambria Math" panose="02040503050406030204" charset="0"/>
                            </a:rPr>
                            <m:t>𝑗</m:t>
                          </m:r>
                        </m:sub>
                      </m:sSub>
                      <m:r>
                        <a:rPr lang="en-US" altLang="zh-CN" sz="1400" i="1">
                          <a:latin typeface="Cambria Math" panose="02040503050406030204" charset="0"/>
                          <a:cs typeface="Cambria Math" panose="02040503050406030204" charset="0"/>
                        </a:rPr>
                        <m:t>≥</m:t>
                      </m:r>
                      <m:d>
                        <m:dPr>
                          <m:begChr m:val="{"/>
                          <m:endChr m:val=""/>
                          <m:ctrlPr>
                            <a:rPr lang="en-US" altLang="zh-CN" sz="1400" i="1">
                              <a:latin typeface="Cambria Math" panose="02040503050406030204" charset="0"/>
                              <a:cs typeface="Cambria Math" panose="02040503050406030204" charset="0"/>
                            </a:rPr>
                          </m:ctrlPr>
                        </m:dPr>
                        <m:e>
                          <m:m>
                            <m:mPr>
                              <m:mcs>
                                <m:mc>
                                  <m:mcPr>
                                    <m:count m:val="1"/>
                                    <m:mcJc m:val="center"/>
                                  </m:mcPr>
                                </m:mc>
                              </m:mcs>
                              <m:ctrlPr>
                                <a:rPr lang="en-US" altLang="zh-CN" sz="1400" i="1">
                                  <a:latin typeface="Cambria Math" panose="02040503050406030204" charset="0"/>
                                  <a:cs typeface="Cambria Math" panose="02040503050406030204" charset="0"/>
                                </a:rPr>
                              </m:ctrlPr>
                            </m:mPr>
                            <m:mr>
                              <m:e>
                                <m:sSubSup>
                                  <m:sSubSupPr>
                                    <m:ctrlPr>
                                      <a:rPr lang="en-US" altLang="zh-CN" sz="1400" i="1">
                                        <a:latin typeface="Cambria Math" panose="02040503050406030204" charset="0"/>
                                        <a:cs typeface="Cambria Math" panose="02040503050406030204" charset="0"/>
                                      </a:rPr>
                                    </m:ctrlPr>
                                  </m:sSubSupPr>
                                  <m:e>
                                    <m:r>
                                      <a:rPr lang="en-US" altLang="zh-CN" sz="1400" i="1">
                                        <a:latin typeface="Cambria Math" panose="02040503050406030204" charset="0"/>
                                        <a:cs typeface="Cambria Math" panose="02040503050406030204" charset="0"/>
                                      </a:rPr>
                                      <m:t>𝐹</m:t>
                                    </m:r>
                                  </m:e>
                                  <m:sub>
                                    <m:sSup>
                                      <m:sSupPr>
                                        <m:ctrlPr>
                                          <a:rPr lang="en-US" altLang="zh-CN" sz="1400" i="1">
                                            <a:solidFill>
                                              <a:srgbClr val="35D949"/>
                                            </a:solidFill>
                                            <a:latin typeface="Cambria Math" panose="02040503050406030204" charset="0"/>
                                            <a:cs typeface="Cambria Math" panose="02040503050406030204" charset="0"/>
                                          </a:rPr>
                                        </m:ctrlPr>
                                      </m:sSupPr>
                                      <m:e>
                                        <m:r>
                                          <a:rPr lang="en-US" altLang="zh-CN" sz="1400" i="1">
                                            <a:solidFill>
                                              <a:srgbClr val="35D949"/>
                                            </a:solidFill>
                                            <a:latin typeface="Cambria Math" panose="02040503050406030204" charset="0"/>
                                            <a:cs typeface="Cambria Math" panose="02040503050406030204" charset="0"/>
                                          </a:rPr>
                                          <m:t>𝑔</m:t>
                                        </m:r>
                                      </m:e>
                                      <m:sup>
                                        <m:r>
                                          <a:rPr lang="en-US" altLang="zh-CN" sz="1400" i="1">
                                            <a:solidFill>
                                              <a:srgbClr val="35D949"/>
                                            </a:solidFill>
                                            <a:latin typeface="Cambria Math" panose="02040503050406030204" charset="0"/>
                                            <a:cs typeface="Cambria Math" panose="02040503050406030204" charset="0"/>
                                          </a:rPr>
                                          <m:t>𝑇</m:t>
                                        </m:r>
                                      </m:sup>
                                    </m:sSup>
                                    <m:sSub>
                                      <m:sSubPr>
                                        <m:ctrlPr>
                                          <a:rPr lang="en-US" altLang="zh-CN" sz="1400" i="1">
                                            <a:solidFill>
                                              <a:srgbClr val="35D949"/>
                                            </a:solidFill>
                                            <a:latin typeface="Cambria Math" panose="02040503050406030204" charset="0"/>
                                            <a:cs typeface="Cambria Math" panose="02040503050406030204" charset="0"/>
                                          </a:rPr>
                                        </m:ctrlPr>
                                      </m:sSubPr>
                                      <m:e>
                                        <m:r>
                                          <a:rPr lang="en-US" altLang="zh-CN" sz="1400" i="1">
                                            <a:solidFill>
                                              <a:srgbClr val="35D949"/>
                                            </a:solidFill>
                                            <a:latin typeface="Cambria Math" panose="02040503050406030204" charset="0"/>
                                            <a:cs typeface="Cambria Math" panose="02040503050406030204" charset="0"/>
                                          </a:rPr>
                                          <m:t>𝑒</m:t>
                                        </m:r>
                                      </m:e>
                                      <m:sub>
                                        <m:r>
                                          <a:rPr lang="en-US" altLang="zh-CN" sz="1400" i="1">
                                            <a:solidFill>
                                              <a:srgbClr val="35D949"/>
                                            </a:solidFill>
                                            <a:latin typeface="Cambria Math" panose="02040503050406030204" charset="0"/>
                                            <a:cs typeface="Cambria Math" panose="02040503050406030204" charset="0"/>
                                          </a:rPr>
                                          <m:t>𝑗</m:t>
                                        </m:r>
                                      </m:sub>
                                    </m:sSub>
                                  </m:sub>
                                  <m:sup>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1</m:t>
                                    </m:r>
                                  </m:sup>
                                </m:sSubSup>
                                <m:r>
                                  <a:rPr lang="en-US" altLang="zh-CN" sz="1400" i="1">
                                    <a:latin typeface="Cambria Math" panose="02040503050406030204" charset="0"/>
                                    <a:cs typeface="Cambria Math" panose="02040503050406030204" charset="0"/>
                                  </a:rPr>
                                  <m:t>(</m:t>
                                </m:r>
                                <m:sSub>
                                  <m:sSubPr>
                                    <m:ctrlPr>
                                      <a:rPr lang="en-US" altLang="zh-CN" sz="1400" i="1">
                                        <a:latin typeface="Cambria Math" panose="02040503050406030204" charset="0"/>
                                        <a:cs typeface="Cambria Math" panose="02040503050406030204" charset="0"/>
                                      </a:rPr>
                                    </m:ctrlPr>
                                  </m:sSubPr>
                                  <m:e>
                                    <m:r>
                                      <a:rPr lang="en-US" altLang="zh-CN" sz="1400" i="1">
                                        <a:latin typeface="Cambria Math" panose="02040503050406030204" charset="0"/>
                                        <a:cs typeface="Cambria Math" panose="02040503050406030204" charset="0"/>
                                      </a:rPr>
                                      <m:t>𝑝</m:t>
                                    </m:r>
                                  </m:e>
                                  <m:sub>
                                    <m:r>
                                      <a:rPr lang="en-US" altLang="zh-CN" sz="1400" i="1">
                                        <a:latin typeface="Cambria Math" panose="02040503050406030204" charset="0"/>
                                        <a:cs typeface="Cambria Math" panose="02040503050406030204" charset="0"/>
                                      </a:rPr>
                                      <m:t>𝑟𝑒𝑓</m:t>
                                    </m:r>
                                  </m:sub>
                                </m:sSub>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𝑗</m:t>
                                </m:r>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1</m:t>
                                </m:r>
                              </m:e>
                            </m:mr>
                            <m:mr>
                              <m:e>
                                <m:r>
                                  <a:rPr lang="en-US" sz="1400" i="1">
                                    <a:latin typeface="Cambria Math" panose="02040503050406030204" charset="0"/>
                                  </a:rPr>
                                  <m:t>𝑚𝑎𝑥</m:t>
                                </m:r>
                                <m:r>
                                  <a:rPr lang="en-US" sz="1400" i="1">
                                    <a:latin typeface="Cambria Math" panose="02040503050406030204" charset="0"/>
                                  </a:rPr>
                                  <m:t>{</m:t>
                                </m:r>
                                <m:sSubSup>
                                  <m:sSubSupPr>
                                    <m:ctrlPr>
                                      <a:rPr lang="en-US" altLang="zh-CN" sz="1400" i="1">
                                        <a:latin typeface="Cambria Math" panose="02040503050406030204" charset="0"/>
                                        <a:cs typeface="Cambria Math" panose="02040503050406030204" charset="0"/>
                                      </a:rPr>
                                    </m:ctrlPr>
                                  </m:sSubSupPr>
                                  <m:e>
                                    <m:r>
                                      <a:rPr lang="en-US" altLang="zh-CN" sz="1400" i="1">
                                        <a:latin typeface="Cambria Math" panose="02040503050406030204" charset="0"/>
                                        <a:cs typeface="Cambria Math" panose="02040503050406030204" charset="0"/>
                                      </a:rPr>
                                      <m:t>𝐹</m:t>
                                    </m:r>
                                  </m:e>
                                  <m:sub>
                                    <m:sSup>
                                      <m:sSupPr>
                                        <m:ctrlPr>
                                          <a:rPr lang="en-US" altLang="zh-CN" sz="1400" i="1">
                                            <a:solidFill>
                                              <a:srgbClr val="35D949"/>
                                            </a:solidFill>
                                            <a:latin typeface="Cambria Math" panose="02040503050406030204" charset="0"/>
                                            <a:cs typeface="Cambria Math" panose="02040503050406030204" charset="0"/>
                                          </a:rPr>
                                        </m:ctrlPr>
                                      </m:sSupPr>
                                      <m:e>
                                        <m:r>
                                          <a:rPr lang="en-US" altLang="zh-CN" sz="1400" i="1">
                                            <a:solidFill>
                                              <a:srgbClr val="35D949"/>
                                            </a:solidFill>
                                            <a:latin typeface="Cambria Math" panose="02040503050406030204" charset="0"/>
                                            <a:cs typeface="Cambria Math" panose="02040503050406030204" charset="0"/>
                                          </a:rPr>
                                          <m:t>𝑔</m:t>
                                        </m:r>
                                      </m:e>
                                      <m:sup>
                                        <m:r>
                                          <a:rPr lang="en-US" altLang="zh-CN" sz="1400" i="1">
                                            <a:solidFill>
                                              <a:srgbClr val="35D949"/>
                                            </a:solidFill>
                                            <a:latin typeface="Cambria Math" panose="02040503050406030204" charset="0"/>
                                            <a:cs typeface="Cambria Math" panose="02040503050406030204" charset="0"/>
                                          </a:rPr>
                                          <m:t>𝑇</m:t>
                                        </m:r>
                                      </m:sup>
                                    </m:sSup>
                                    <m:sSub>
                                      <m:sSubPr>
                                        <m:ctrlPr>
                                          <a:rPr lang="en-US" altLang="zh-CN" sz="1400" i="1">
                                            <a:solidFill>
                                              <a:srgbClr val="35D949"/>
                                            </a:solidFill>
                                            <a:latin typeface="Cambria Math" panose="02040503050406030204" charset="0"/>
                                            <a:cs typeface="Cambria Math" panose="02040503050406030204" charset="0"/>
                                          </a:rPr>
                                        </m:ctrlPr>
                                      </m:sSubPr>
                                      <m:e>
                                        <m:r>
                                          <a:rPr lang="en-US" altLang="zh-CN" sz="1400" i="1">
                                            <a:solidFill>
                                              <a:srgbClr val="35D949"/>
                                            </a:solidFill>
                                            <a:latin typeface="Cambria Math" panose="02040503050406030204" charset="0"/>
                                            <a:cs typeface="Cambria Math" panose="02040503050406030204" charset="0"/>
                                          </a:rPr>
                                          <m:t>𝑒</m:t>
                                        </m:r>
                                      </m:e>
                                      <m:sub>
                                        <m:r>
                                          <a:rPr lang="en-US" altLang="zh-CN" sz="1400" i="1">
                                            <a:solidFill>
                                              <a:srgbClr val="35D949"/>
                                            </a:solidFill>
                                            <a:latin typeface="Cambria Math" panose="02040503050406030204" charset="0"/>
                                            <a:cs typeface="Cambria Math" panose="02040503050406030204" charset="0"/>
                                          </a:rPr>
                                          <m:t>𝑗</m:t>
                                        </m:r>
                                      </m:sub>
                                    </m:sSub>
                                  </m:sub>
                                  <m:sup>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1</m:t>
                                    </m:r>
                                  </m:sup>
                                </m:sSubSup>
                                <m:r>
                                  <a:rPr lang="en-US" altLang="zh-CN" sz="1400" i="1">
                                    <a:latin typeface="Cambria Math" panose="02040503050406030204" charset="0"/>
                                    <a:cs typeface="Cambria Math" panose="02040503050406030204" charset="0"/>
                                  </a:rPr>
                                  <m:t>(</m:t>
                                </m:r>
                                <m:sSub>
                                  <m:sSubPr>
                                    <m:ctrlPr>
                                      <a:rPr lang="en-US" altLang="zh-CN" sz="1400" i="1">
                                        <a:latin typeface="Cambria Math" panose="02040503050406030204" charset="0"/>
                                        <a:cs typeface="Cambria Math" panose="02040503050406030204" charset="0"/>
                                      </a:rPr>
                                    </m:ctrlPr>
                                  </m:sSubPr>
                                  <m:e>
                                    <m:r>
                                      <a:rPr lang="en-US" altLang="zh-CN" sz="1400" i="1">
                                        <a:latin typeface="Cambria Math" panose="02040503050406030204" charset="0"/>
                                        <a:cs typeface="Cambria Math" panose="02040503050406030204" charset="0"/>
                                      </a:rPr>
                                      <m:t>𝑝</m:t>
                                    </m:r>
                                  </m:e>
                                  <m:sub>
                                    <m:r>
                                      <a:rPr lang="en-US" altLang="zh-CN" sz="1400" i="1">
                                        <a:latin typeface="Cambria Math" panose="02040503050406030204" charset="0"/>
                                        <a:cs typeface="Cambria Math" panose="02040503050406030204" charset="0"/>
                                      </a:rPr>
                                      <m:t>𝑟𝑒𝑓</m:t>
                                    </m:r>
                                  </m:sub>
                                </m:sSub>
                                <m:r>
                                  <a:rPr lang="en-US" altLang="zh-CN" sz="1400" i="1">
                                    <a:latin typeface="Cambria Math" panose="02040503050406030204" charset="0"/>
                                    <a:cs typeface="Cambria Math" panose="02040503050406030204" charset="0"/>
                                  </a:rPr>
                                  <m:t>),</m:t>
                                </m:r>
                                <m:sSub>
                                  <m:sSubPr>
                                    <m:ctrlPr>
                                      <a:rPr lang="en-US" altLang="zh-CN" sz="1400" i="1">
                                        <a:latin typeface="Cambria Math" panose="02040503050406030204" charset="0"/>
                                        <a:cs typeface="Cambria Math" panose="02040503050406030204" charset="0"/>
                                      </a:rPr>
                                    </m:ctrlPr>
                                  </m:sSubPr>
                                  <m:e>
                                    <m:r>
                                      <a:rPr lang="en-US" altLang="zh-CN" sz="1400" i="1">
                                        <a:latin typeface="Cambria Math" panose="02040503050406030204" charset="0"/>
                                        <a:cs typeface="Cambria Math" panose="02040503050406030204" charset="0"/>
                                      </a:rPr>
                                      <m:t>ℎ</m:t>
                                    </m:r>
                                  </m:e>
                                  <m:sub>
                                    <m:r>
                                      <a:rPr lang="en-US" altLang="zh-CN" sz="1400" i="1">
                                        <a:latin typeface="Cambria Math" panose="02040503050406030204" charset="0"/>
                                        <a:cs typeface="Cambria Math" panose="02040503050406030204" charset="0"/>
                                      </a:rPr>
                                      <m:t>𝑗</m:t>
                                    </m:r>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1</m:t>
                                    </m:r>
                                  </m:sub>
                                </m:sSub>
                                <m:r>
                                  <a:rPr lang="en-US" sz="1400" i="1">
                                    <a:latin typeface="Cambria Math" panose="02040503050406030204" charset="0"/>
                                  </a:rPr>
                                  <m:t>+</m:t>
                                </m:r>
                                <m:sSup>
                                  <m:sSupPr>
                                    <m:ctrlPr>
                                      <a:rPr lang="en-US" sz="1400" i="1">
                                        <a:latin typeface="Cambria Math" panose="02040503050406030204" charset="0"/>
                                        <a:cs typeface="Cambria Math" panose="02040503050406030204" charset="0"/>
                                      </a:rPr>
                                    </m:ctrlPr>
                                  </m:sSupPr>
                                  <m:e>
                                    <m:r>
                                      <a:rPr lang="en-US" sz="1400" i="1">
                                        <a:latin typeface="Cambria Math" panose="02040503050406030204" charset="0"/>
                                        <a:cs typeface="Cambria Math" panose="02040503050406030204" charset="0"/>
                                      </a:rPr>
                                      <m:t>𝑔</m:t>
                                    </m:r>
                                  </m:e>
                                  <m:sup>
                                    <m:r>
                                      <a:rPr lang="en-US" sz="1400" i="1">
                                        <a:latin typeface="Cambria Math" panose="02040503050406030204" charset="0"/>
                                        <a:cs typeface="Cambria Math" panose="02040503050406030204" charset="0"/>
                                      </a:rPr>
                                      <m:t>𝑇</m:t>
                                    </m:r>
                                  </m:sup>
                                </m:sSup>
                                <m:sSup>
                                  <m:sSupPr>
                                    <m:ctrlPr>
                                      <a:rPr lang="en-US" sz="1400" i="1">
                                        <a:latin typeface="Cambria Math" panose="02040503050406030204" charset="0"/>
                                        <a:cs typeface="Cambria Math" panose="02040503050406030204" charset="0"/>
                                      </a:rPr>
                                    </m:ctrlPr>
                                  </m:sSupPr>
                                  <m:e>
                                    <m:r>
                                      <a:rPr lang="en-US" altLang="zh-CN" sz="1400" i="1">
                                        <a:latin typeface="Cambria Math" panose="02040503050406030204" charset="0"/>
                                        <a:ea typeface="MS Mincho" charset="0"/>
                                        <a:cs typeface="Cambria Math" panose="02040503050406030204" charset="0"/>
                                      </a:rPr>
                                      <m:t>Փ</m:t>
                                    </m:r>
                                  </m:e>
                                  <m:sup>
                                    <m:r>
                                      <a:rPr lang="en-US" sz="1400" i="1">
                                        <a:latin typeface="Cambria Math" panose="02040503050406030204" charset="0"/>
                                        <a:cs typeface="Cambria Math" panose="02040503050406030204" charset="0"/>
                                      </a:rPr>
                                      <m:t>𝑗</m:t>
                                    </m:r>
                                    <m:r>
                                      <a:rPr lang="en-US" sz="1400" i="1">
                                        <a:latin typeface="Cambria Math" panose="02040503050406030204" charset="0"/>
                                        <a:cs typeface="Cambria Math" panose="02040503050406030204" charset="0"/>
                                      </a:rPr>
                                      <m:t>−</m:t>
                                    </m:r>
                                    <m:r>
                                      <a:rPr lang="en-US" sz="1400" i="1">
                                        <a:latin typeface="Cambria Math" panose="02040503050406030204" charset="0"/>
                                        <a:cs typeface="Cambria Math" panose="02040503050406030204" charset="0"/>
                                      </a:rPr>
                                      <m:t>1</m:t>
                                    </m:r>
                                  </m:sup>
                                </m:sSup>
                                <m:sSub>
                                  <m:sSubPr>
                                    <m:ctrlPr>
                                      <a:rPr lang="en-US" sz="1400" i="1">
                                        <a:latin typeface="Cambria Math" panose="02040503050406030204" charset="0"/>
                                        <a:cs typeface="Cambria Math" panose="02040503050406030204" charset="0"/>
                                      </a:rPr>
                                    </m:ctrlPr>
                                  </m:sSubPr>
                                  <m:e>
                                    <m:r>
                                      <a:rPr lang="en-US" sz="1400" i="1">
                                        <a:latin typeface="Cambria Math" panose="02040503050406030204" charset="0"/>
                                        <a:cs typeface="Cambria Math" panose="02040503050406030204" charset="0"/>
                                      </a:rPr>
                                      <m:t>𝑤</m:t>
                                    </m:r>
                                  </m:e>
                                  <m:sub>
                                    <m:r>
                                      <a:rPr lang="en-US" sz="1400" i="1">
                                        <a:latin typeface="Cambria Math" panose="02040503050406030204" charset="0"/>
                                        <a:cs typeface="Cambria Math" panose="02040503050406030204" charset="0"/>
                                      </a:rPr>
                                      <m:t>𝑘</m:t>
                                    </m:r>
                                  </m:sub>
                                </m:sSub>
                                <m:r>
                                  <a:rPr lang="en-US" sz="1400" i="1">
                                    <a:latin typeface="Cambria Math" panose="02040503050406030204" charset="0"/>
                                  </a:rPr>
                                  <m:t>,</m:t>
                                </m:r>
                                <m:r>
                                  <a:rPr lang="en-US" sz="1400" i="1">
                                    <a:latin typeface="Cambria Math" panose="02040503050406030204" charset="0"/>
                                  </a:rPr>
                                  <m:t>𝑗</m:t>
                                </m:r>
                                <m:r>
                                  <a:rPr lang="en-US" sz="1400" i="1">
                                    <a:latin typeface="Cambria Math" panose="02040503050406030204" charset="0"/>
                                    <a:cs typeface="Cambria Math" panose="02040503050406030204" charset="0"/>
                                  </a:rPr>
                                  <m:t>≥</m:t>
                                </m:r>
                                <m:r>
                                  <a:rPr lang="en-US" sz="1400" i="1">
                                    <a:latin typeface="Cambria Math" panose="02040503050406030204" charset="0"/>
                                    <a:cs typeface="Cambria Math" panose="02040503050406030204" charset="0"/>
                                  </a:rPr>
                                  <m:t>2</m:t>
                                </m:r>
                                <m:r>
                                  <a:rPr lang="en-US" sz="1400" i="1">
                                    <a:latin typeface="Cambria Math" panose="02040503050406030204" charset="0"/>
                                  </a:rPr>
                                  <m:t>}</m:t>
                                </m:r>
                              </m:e>
                            </m:mr>
                          </m:m>
                        </m:e>
                      </m:d>
                      <m:r>
                        <a:rPr lang="en-US" altLang="zh-CN" sz="1400" i="1">
                          <a:latin typeface="Cambria Math" panose="02040503050406030204" charset="0"/>
                          <a:cs typeface="Cambria Math" panose="02040503050406030204" charset="0"/>
                        </a:rPr>
                        <m:t> </m:t>
                      </m:r>
                    </m:oMath>
                  </m:oMathPara>
                </a14:m>
                <a:endParaRPr lang="en-US" altLang="zh-CN" sz="1400"/>
              </a:p>
            </p:txBody>
          </p:sp>
        </mc:Choice>
        <mc:Fallback>
          <p:sp>
            <p:nvSpPr>
              <p:cNvPr id="42" name="文本框 41"/>
              <p:cNvSpPr txBox="1">
                <a:spLocks noRot="1" noChangeAspect="1" noMove="1" noResize="1" noEditPoints="1" noAdjustHandles="1" noChangeArrowheads="1" noChangeShapeType="1" noTextEdit="1"/>
              </p:cNvSpPr>
              <p:nvPr/>
            </p:nvSpPr>
            <p:spPr>
              <a:xfrm>
                <a:off x="7172008" y="3948430"/>
                <a:ext cx="4932045" cy="1420495"/>
              </a:xfrm>
              <a:prstGeom prst="rect">
                <a:avLst/>
              </a:prstGeom>
              <a:blipFill rotWithShape="1">
                <a:blip r:embed="rId8"/>
                <a:stretch>
                  <a:fillRect l="-6" r="6" b="-23961"/>
                </a:stretch>
              </a:blipFill>
            </p:spPr>
            <p:txBody>
              <a:bodyPr/>
              <a:lstStyle/>
              <a:p>
                <a:r>
                  <a:rPr lang="zh-CN" altLang="en-US">
                    <a:noFill/>
                  </a:rPr>
                  <a:t> </a:t>
                </a:r>
              </a:p>
            </p:txBody>
          </p:sp>
        </mc:Fallback>
      </mc:AlternateContent>
      <p:sp>
        <p:nvSpPr>
          <p:cNvPr id="30" name="圆角矩形 29"/>
          <p:cNvSpPr/>
          <p:nvPr/>
        </p:nvSpPr>
        <p:spPr>
          <a:xfrm>
            <a:off x="6856730" y="3422650"/>
            <a:ext cx="1516380" cy="6408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800">
                <a:sym typeface="+mn-ea"/>
              </a:rPr>
              <a:t>问题</a:t>
            </a:r>
            <a:r>
              <a:rPr lang="zh-CN" altLang="en-US" sz="1800">
                <a:sym typeface="+mn-ea"/>
              </a:rPr>
              <a:t>转化</a:t>
            </a:r>
            <a:endParaRPr lang="zh-CN" altLang="en-US" sz="1800">
              <a:sym typeface="+mn-ea"/>
            </a:endParaRPr>
          </a:p>
        </p:txBody>
      </p:sp>
      <p:sp>
        <p:nvSpPr>
          <p:cNvPr id="31" name="文本框 30"/>
          <p:cNvSpPr txBox="1"/>
          <p:nvPr/>
        </p:nvSpPr>
        <p:spPr>
          <a:xfrm>
            <a:off x="9689465" y="2874010"/>
            <a:ext cx="4360545" cy="368300"/>
          </a:xfrm>
          <a:prstGeom prst="rect">
            <a:avLst/>
          </a:prstGeom>
          <a:noFill/>
        </p:spPr>
        <p:txBody>
          <a:bodyPr wrap="square" rtlCol="0">
            <a:spAutoFit/>
          </a:bodyPr>
          <a:p>
            <a:r>
              <a:rPr lang="zh-CN" altLang="en-US"/>
              <a:t>约束收紧</a:t>
            </a:r>
            <a:r>
              <a:rPr lang="zh-CN" altLang="en-US"/>
              <a:t>模式：</a:t>
            </a:r>
            <a:endParaRPr lang="zh-CN" altLang="en-US"/>
          </a:p>
        </p:txBody>
      </p:sp>
      <p:sp>
        <p:nvSpPr>
          <p:cNvPr id="32" name="矩形 31"/>
          <p:cNvSpPr/>
          <p:nvPr/>
        </p:nvSpPr>
        <p:spPr>
          <a:xfrm>
            <a:off x="182880" y="2912745"/>
            <a:ext cx="11932920" cy="3001645"/>
          </a:xfrm>
          <a:prstGeom prst="rect">
            <a:avLst/>
          </a:prstGeom>
          <a:noFill/>
          <a:ln w="19050">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文本框 32"/>
          <p:cNvSpPr txBox="1"/>
          <p:nvPr/>
        </p:nvSpPr>
        <p:spPr>
          <a:xfrm>
            <a:off x="10782935" y="5015230"/>
            <a:ext cx="1409065" cy="337185"/>
          </a:xfrm>
          <a:prstGeom prst="rect">
            <a:avLst/>
          </a:prstGeom>
          <a:noFill/>
        </p:spPr>
        <p:txBody>
          <a:bodyPr wrap="square" rtlCol="0">
            <a:spAutoFit/>
          </a:bodyPr>
          <a:p>
            <a:pPr algn="r"/>
            <a:r>
              <a:rPr lang="zh-CN" altLang="en-US" sz="1600"/>
              <a:t>约束满足要求</a:t>
            </a:r>
            <a:endParaRPr lang="zh-CN" altLang="en-US" sz="1600"/>
          </a:p>
        </p:txBody>
      </p:sp>
      <p:sp>
        <p:nvSpPr>
          <p:cNvPr id="34" name="文本框 33"/>
          <p:cNvSpPr txBox="1"/>
          <p:nvPr/>
        </p:nvSpPr>
        <p:spPr>
          <a:xfrm>
            <a:off x="10719435" y="5408930"/>
            <a:ext cx="1472565" cy="337185"/>
          </a:xfrm>
          <a:prstGeom prst="rect">
            <a:avLst/>
          </a:prstGeom>
          <a:noFill/>
        </p:spPr>
        <p:txBody>
          <a:bodyPr wrap="square" rtlCol="0">
            <a:spAutoFit/>
          </a:bodyPr>
          <a:p>
            <a:pPr algn="r"/>
            <a:r>
              <a:rPr lang="zh-CN" altLang="en-US" sz="1600"/>
              <a:t>递归可行要求</a:t>
            </a:r>
            <a:endParaRPr lang="zh-CN" altLang="en-US" sz="16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 name="圆角矩形 28"/>
          <p:cNvSpPr/>
          <p:nvPr/>
        </p:nvSpPr>
        <p:spPr>
          <a:xfrm>
            <a:off x="6326505" y="3483610"/>
            <a:ext cx="4883785" cy="1980000"/>
          </a:xfrm>
          <a:prstGeom prst="round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46" name="文本框 45"/>
              <p:cNvSpPr txBox="1"/>
              <p:nvPr/>
            </p:nvSpPr>
            <p:spPr>
              <a:xfrm>
                <a:off x="6431216" y="3773424"/>
                <a:ext cx="4788535" cy="1597025"/>
              </a:xfrm>
              <a:prstGeom prst="rect">
                <a:avLst/>
              </a:prstGeom>
              <a:noFill/>
            </p:spPr>
            <p:txBody>
              <a:bodyPr wrap="none" rtlCol="0" anchor="t">
                <a:spAutoFit/>
              </a:bodyPr>
              <a:p>
                <a:pPr algn="l"/>
                <a14:m>
                  <m:oMathPara xmlns:m="http://schemas.openxmlformats.org/officeDocument/2006/math">
                    <m:oMathParaPr>
                      <m:jc m:val="left"/>
                    </m:oMathParaPr>
                    <m:oMath xmlns:m="http://schemas.openxmlformats.org/officeDocument/2006/math">
                      <m:r>
                        <a:rPr lang="en-US" altLang="zh-CN" sz="1600" i="1">
                          <a:latin typeface="Cambria Math" panose="02040503050406030204" charset="0"/>
                          <a:cs typeface="Cambria Math" panose="02040503050406030204" charset="0"/>
                        </a:rPr>
                        <m:t>𝑃</m:t>
                      </m:r>
                      <m:r>
                        <a:rPr lang="en-US" altLang="zh-CN" sz="1600" i="1">
                          <a:latin typeface="Cambria Math" panose="02040503050406030204" charset="0"/>
                          <a:cs typeface="Cambria Math" panose="02040503050406030204" charset="0"/>
                        </a:rPr>
                        <m:t>(</m:t>
                      </m:r>
                      <m:r>
                        <a:rPr lang="zh-CN" altLang="en-US" sz="1600" i="1">
                          <a:latin typeface="Cambria Math" panose="02040503050406030204" charset="0"/>
                          <a:ea typeface="MS Mincho" charset="0"/>
                          <a:cs typeface="Cambria Math" panose="02040503050406030204" charset="0"/>
                        </a:rPr>
                        <m:t>无界扰动递归可行</m:t>
                      </m:r>
                      <m:r>
                        <a:rPr lang="en-US" altLang="zh-CN" sz="1600" i="1">
                          <a:latin typeface="Cambria Math" panose="02040503050406030204" charset="0"/>
                          <a:ea typeface="MS Mincho" charset="0"/>
                          <a:cs typeface="Cambria Math" panose="02040503050406030204" charset="0"/>
                        </a:rPr>
                        <m:t>|</m:t>
                      </m:r>
                      <m:r>
                        <a:rPr lang="zh-CN" altLang="en-US" sz="1600" i="1">
                          <a:latin typeface="Cambria Math" panose="02040503050406030204" charset="0"/>
                          <a:ea typeface="MS Mincho" charset="0"/>
                          <a:cs typeface="Cambria Math" panose="02040503050406030204" charset="0"/>
                        </a:rPr>
                        <m:t>阶段扰动递归可行</m:t>
                      </m:r>
                      <m:r>
                        <a:rPr lang="en-US" altLang="zh-CN" sz="1600" i="1">
                          <a:latin typeface="Cambria Math" panose="02040503050406030204" charset="0"/>
                          <a:cs typeface="Cambria Math" panose="02040503050406030204" charset="0"/>
                        </a:rPr>
                        <m:t>)</m:t>
                      </m:r>
                    </m:oMath>
                  </m:oMathPara>
                </a14:m>
                <a:endParaRPr lang="en-US" altLang="zh-CN" sz="1600" i="1">
                  <a:latin typeface="Cambria Math" panose="02040503050406030204" charset="0"/>
                  <a:cs typeface="Cambria Math" panose="02040503050406030204" charset="0"/>
                </a:endParaRPr>
              </a:p>
              <a:p>
                <a:pPr algn="l"/>
                <a14:m>
                  <m:oMathPara xmlns:m="http://schemas.openxmlformats.org/officeDocument/2006/math">
                    <m:oMathParaPr>
                      <m:jc m:val="left"/>
                    </m:oMathParaPr>
                    <m:oMath xmlns:m="http://schemas.openxmlformats.org/officeDocument/2006/math">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𝑃</m:t>
                      </m:r>
                      <m:r>
                        <a:rPr lang="en-US" altLang="zh-CN" sz="1600" i="1">
                          <a:latin typeface="Cambria Math" panose="02040503050406030204" charset="0"/>
                          <a:cs typeface="Cambria Math" panose="02040503050406030204" charset="0"/>
                        </a:rPr>
                        <m:t>(</m:t>
                      </m:r>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ℎ</m:t>
                          </m:r>
                        </m:e>
                        <m:sub>
                          <m:r>
                            <a:rPr lang="en-US" altLang="zh-CN" sz="1600" i="1">
                              <a:latin typeface="Cambria Math" panose="02040503050406030204" charset="0"/>
                              <a:cs typeface="Cambria Math" panose="02040503050406030204" charset="0"/>
                            </a:rPr>
                            <m:t>𝑗</m:t>
                          </m:r>
                        </m:sub>
                      </m:sSub>
                      <m:r>
                        <a:rPr lang="en-US" altLang="zh-CN" sz="1600" i="1">
                          <a:latin typeface="Cambria Math" panose="02040503050406030204" charset="0"/>
                          <a:cs typeface="Cambria Math" panose="02040503050406030204" charset="0"/>
                        </a:rPr>
                        <m:t>≥</m:t>
                      </m:r>
                      <m:sSubSup>
                        <m:sSubSupPr>
                          <m:ctrlPr>
                            <a:rPr lang="en-US" altLang="zh-CN" sz="1600" i="1">
                              <a:latin typeface="Cambria Math" panose="02040503050406030204" charset="0"/>
                              <a:cs typeface="Cambria Math" panose="02040503050406030204" charset="0"/>
                            </a:rPr>
                          </m:ctrlPr>
                        </m:sSubSupPr>
                        <m:e>
                          <m:r>
                            <a:rPr lang="en-US" altLang="zh-CN" sz="1600" i="1">
                              <a:latin typeface="Cambria Math" panose="02040503050406030204" charset="0"/>
                              <a:cs typeface="Cambria Math" panose="02040503050406030204" charset="0"/>
                            </a:rPr>
                            <m:t>𝐹</m:t>
                          </m:r>
                        </m:e>
                        <m:sub>
                          <m:sSup>
                            <m:sSupPr>
                              <m:ctrlPr>
                                <a:rPr lang="en-US" altLang="zh-CN" sz="1600" i="1">
                                  <a:latin typeface="Cambria Math" panose="02040503050406030204" charset="0"/>
                                  <a:cs typeface="Cambria Math" panose="02040503050406030204" charset="0"/>
                                </a:rPr>
                              </m:ctrlPr>
                            </m:sSupPr>
                            <m:e>
                              <m:r>
                                <a:rPr lang="en-US" altLang="zh-CN" sz="1600" i="1">
                                  <a:latin typeface="Cambria Math" panose="02040503050406030204" charset="0"/>
                                  <a:cs typeface="Cambria Math" panose="02040503050406030204" charset="0"/>
                                </a:rPr>
                                <m:t>𝑔</m:t>
                              </m:r>
                            </m:e>
                            <m:sup>
                              <m:r>
                                <a:rPr lang="en-US" altLang="zh-CN" sz="1600" i="1">
                                  <a:latin typeface="Cambria Math" panose="02040503050406030204" charset="0"/>
                                  <a:cs typeface="Cambria Math" panose="02040503050406030204" charset="0"/>
                                </a:rPr>
                                <m:t>𝑇</m:t>
                              </m:r>
                            </m:sup>
                          </m:sSup>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𝑒</m:t>
                              </m:r>
                            </m:e>
                            <m:sub>
                              <m:r>
                                <a:rPr lang="en-US" altLang="zh-CN" sz="1600" i="1">
                                  <a:latin typeface="Cambria Math" panose="02040503050406030204" charset="0"/>
                                  <a:cs typeface="Cambria Math" panose="02040503050406030204" charset="0"/>
                                </a:rPr>
                                <m:t>1</m:t>
                              </m:r>
                            </m:sub>
                          </m:sSub>
                        </m:sub>
                        <m:sup>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1</m:t>
                          </m:r>
                        </m:sup>
                      </m:sSubSup>
                      <m:r>
                        <a:rPr lang="en-US" altLang="zh-CN" sz="1600" i="1">
                          <a:latin typeface="Cambria Math" panose="02040503050406030204" charset="0"/>
                          <a:cs typeface="Cambria Math" panose="02040503050406030204" charset="0"/>
                        </a:rPr>
                        <m:t>+</m:t>
                      </m:r>
                      <m:nary>
                        <m:naryPr>
                          <m:chr m:val="∑"/>
                          <m:limLoc m:val="undOvr"/>
                          <m:ctrlPr>
                            <a:rPr lang="en-US" altLang="zh-CN" sz="1600" i="1">
                              <a:latin typeface="Cambria Math" panose="02040503050406030204" charset="0"/>
                              <a:cs typeface="Cambria Math" panose="02040503050406030204" charset="0"/>
                            </a:rPr>
                          </m:ctrlPr>
                        </m:naryPr>
                        <m:sub>
                          <m:r>
                            <a:rPr lang="en-US" altLang="zh-CN" sz="1600" i="1">
                              <a:latin typeface="Cambria Math" panose="02040503050406030204" charset="0"/>
                              <a:cs typeface="Cambria Math" panose="02040503050406030204" charset="0"/>
                            </a:rPr>
                            <m:t>𝑟</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1</m:t>
                          </m:r>
                        </m:sub>
                        <m:sup>
                          <m:r>
                            <a:rPr lang="en-US" altLang="zh-CN" sz="1600" i="1">
                              <a:latin typeface="Cambria Math" panose="02040503050406030204" charset="0"/>
                              <a:cs typeface="Cambria Math" panose="02040503050406030204" charset="0"/>
                            </a:rPr>
                            <m:t>𝑗</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1</m:t>
                          </m:r>
                        </m:sup>
                        <m:e>
                          <m:sSup>
                            <m:sSupPr>
                              <m:ctrlPr>
                                <a:rPr lang="en-US" altLang="zh-CN" sz="1600" i="1">
                                  <a:latin typeface="Cambria Math" panose="02040503050406030204" charset="0"/>
                                  <a:cs typeface="Cambria Math" panose="02040503050406030204" charset="0"/>
                                </a:rPr>
                              </m:ctrlPr>
                            </m:sSupPr>
                            <m:e>
                              <m:r>
                                <a:rPr lang="en-US" altLang="zh-CN" sz="1600" i="1">
                                  <a:latin typeface="Cambria Math" panose="02040503050406030204" charset="0"/>
                                  <a:cs typeface="Cambria Math" panose="02040503050406030204" charset="0"/>
                                </a:rPr>
                                <m:t>𝑔</m:t>
                              </m:r>
                            </m:e>
                            <m:sup>
                              <m:r>
                                <a:rPr lang="en-US" altLang="zh-CN" sz="1600" i="1">
                                  <a:latin typeface="Cambria Math" panose="02040503050406030204" charset="0"/>
                                  <a:cs typeface="Cambria Math" panose="02040503050406030204" charset="0"/>
                                </a:rPr>
                                <m:t>𝑇</m:t>
                              </m:r>
                            </m:sup>
                          </m:sSup>
                          <m:sSup>
                            <m:sSupPr>
                              <m:ctrlPr>
                                <a:rPr lang="en-US" sz="1600" i="1">
                                  <a:latin typeface="Cambria Math" panose="02040503050406030204" charset="0"/>
                                  <a:cs typeface="Cambria Math" panose="02040503050406030204" charset="0"/>
                                </a:rPr>
                              </m:ctrlPr>
                            </m:sSupPr>
                            <m:e>
                              <m:r>
                                <a:rPr lang="en-US" altLang="zh-CN" sz="1600" i="1">
                                  <a:latin typeface="Cambria Math" panose="02040503050406030204" charset="0"/>
                                  <a:ea typeface="MS Mincho" charset="0"/>
                                  <a:cs typeface="Cambria Math" panose="02040503050406030204" charset="0"/>
                                </a:rPr>
                                <m:t>Փ</m:t>
                              </m:r>
                            </m:e>
                            <m:sup>
                              <m:r>
                                <a:rPr lang="en-US" altLang="zh-CN" sz="1600" i="1">
                                  <a:latin typeface="Cambria Math" panose="02040503050406030204" charset="0"/>
                                  <a:ea typeface="MS Mincho" charset="0"/>
                                  <a:cs typeface="Cambria Math" panose="02040503050406030204" charset="0"/>
                                </a:rPr>
                                <m:t>𝑟</m:t>
                              </m:r>
                            </m:sup>
                          </m:sSup>
                          <m:sSub>
                            <m:sSubPr>
                              <m:ctrlPr>
                                <a:rPr lang="en-US" sz="1600" i="1">
                                  <a:latin typeface="Cambria Math" panose="02040503050406030204" charset="0"/>
                                  <a:cs typeface="Cambria Math" panose="02040503050406030204" charset="0"/>
                                </a:rPr>
                              </m:ctrlPr>
                            </m:sSubPr>
                            <m:e>
                              <m:r>
                                <a:rPr lang="en-US" sz="1600" i="1">
                                  <a:latin typeface="Cambria Math" panose="02040503050406030204" charset="0"/>
                                  <a:cs typeface="Cambria Math" panose="02040503050406030204" charset="0"/>
                                </a:rPr>
                                <m:t>𝑤</m:t>
                              </m:r>
                            </m:e>
                            <m:sub>
                              <m:r>
                                <a:rPr lang="en-US" sz="1600" i="1">
                                  <a:latin typeface="Cambria Math" panose="02040503050406030204" charset="0"/>
                                  <a:cs typeface="Cambria Math" panose="02040503050406030204" charset="0"/>
                                </a:rPr>
                                <m:t>𝑘</m:t>
                              </m:r>
                            </m:sub>
                          </m:sSub>
                          <m:r>
                            <a:rPr lang="en-US" sz="1600" i="1">
                              <a:latin typeface="Cambria Math" panose="02040503050406030204" charset="0"/>
                              <a:cs typeface="Cambria Math" panose="02040503050406030204" charset="0"/>
                            </a:rPr>
                            <m:t>|</m:t>
                          </m:r>
                          <m:sSub>
                            <m:sSubPr>
                              <m:ctrlPr>
                                <a:rPr lang="en-US" sz="1600" i="1">
                                  <a:latin typeface="Cambria Math" panose="02040503050406030204" charset="0"/>
                                  <a:cs typeface="Cambria Math" panose="02040503050406030204" charset="0"/>
                                </a:rPr>
                              </m:ctrlPr>
                            </m:sSubPr>
                            <m:e>
                              <m:r>
                                <a:rPr lang="en-US" sz="1600" i="1">
                                  <a:latin typeface="Cambria Math" panose="02040503050406030204" charset="0"/>
                                  <a:cs typeface="Cambria Math" panose="02040503050406030204" charset="0"/>
                                </a:rPr>
                                <m:t>ℎ</m:t>
                              </m:r>
                            </m:e>
                            <m:sub>
                              <m:r>
                                <a:rPr lang="en-US" sz="1600" i="1">
                                  <a:latin typeface="Cambria Math" panose="02040503050406030204" charset="0"/>
                                  <a:cs typeface="Cambria Math" panose="02040503050406030204" charset="0"/>
                                </a:rPr>
                                <m:t>𝑗</m:t>
                              </m:r>
                            </m:sub>
                          </m:sSub>
                          <m:r>
                            <a:rPr lang="en-US" sz="1600" i="1">
                              <a:latin typeface="Cambria Math" panose="02040503050406030204" charset="0"/>
                              <a:cs typeface="Cambria Math" panose="02040503050406030204" charset="0"/>
                            </a:rPr>
                            <m:t>≥</m:t>
                          </m:r>
                          <m:sSubSup>
                            <m:sSubSupPr>
                              <m:ctrlPr>
                                <a:rPr lang="en-US" sz="1600" i="1">
                                  <a:latin typeface="Cambria Math" panose="02040503050406030204" charset="0"/>
                                  <a:cs typeface="Cambria Math" panose="02040503050406030204" charset="0"/>
                                </a:rPr>
                              </m:ctrlPr>
                            </m:sSubSupPr>
                            <m:e>
                              <m:r>
                                <a:rPr lang="en-US" sz="1600" i="1">
                                  <a:latin typeface="Cambria Math" panose="02040503050406030204" charset="0"/>
                                  <a:cs typeface="Cambria Math" panose="02040503050406030204" charset="0"/>
                                </a:rPr>
                                <m:t>𝐹</m:t>
                              </m:r>
                            </m:e>
                            <m:sub>
                              <m:sSup>
                                <m:sSupPr>
                                  <m:ctrlPr>
                                    <a:rPr lang="en-US" sz="1600" i="1">
                                      <a:latin typeface="Cambria Math" panose="02040503050406030204" charset="0"/>
                                      <a:cs typeface="Cambria Math" panose="02040503050406030204" charset="0"/>
                                    </a:rPr>
                                  </m:ctrlPr>
                                </m:sSupPr>
                                <m:e>
                                  <m:r>
                                    <a:rPr lang="en-US" sz="1600" i="1">
                                      <a:latin typeface="Cambria Math" panose="02040503050406030204" charset="0"/>
                                      <a:cs typeface="Cambria Math" panose="02040503050406030204" charset="0"/>
                                    </a:rPr>
                                    <m:t>𝑔</m:t>
                                  </m:r>
                                </m:e>
                                <m:sup>
                                  <m:r>
                                    <a:rPr lang="en-US" sz="1600" i="1">
                                      <a:latin typeface="Cambria Math" panose="02040503050406030204" charset="0"/>
                                      <a:cs typeface="Cambria Math" panose="02040503050406030204" charset="0"/>
                                    </a:rPr>
                                    <m:t>𝑇</m:t>
                                  </m:r>
                                </m:sup>
                              </m:sSup>
                              <m:sSub>
                                <m:sSubPr>
                                  <m:ctrlPr>
                                    <a:rPr lang="en-US" sz="1600" i="1">
                                      <a:latin typeface="Cambria Math" panose="02040503050406030204" charset="0"/>
                                      <a:cs typeface="Cambria Math" panose="02040503050406030204" charset="0"/>
                                    </a:rPr>
                                  </m:ctrlPr>
                                </m:sSubPr>
                                <m:e>
                                  <m:r>
                                    <a:rPr lang="en-US" sz="1600" i="1">
                                      <a:latin typeface="Cambria Math" panose="02040503050406030204" charset="0"/>
                                      <a:cs typeface="Cambria Math" panose="02040503050406030204" charset="0"/>
                                    </a:rPr>
                                    <m:t>𝑒</m:t>
                                  </m:r>
                                </m:e>
                                <m:sub>
                                  <m:r>
                                    <a:rPr lang="en-US" sz="1600" i="1">
                                      <a:latin typeface="Cambria Math" panose="02040503050406030204" charset="0"/>
                                      <a:cs typeface="Cambria Math" panose="02040503050406030204" charset="0"/>
                                    </a:rPr>
                                    <m:t>1</m:t>
                                  </m:r>
                                </m:sub>
                              </m:sSub>
                            </m:sub>
                            <m:sup>
                              <m:r>
                                <a:rPr lang="en-US" sz="1600" i="1">
                                  <a:latin typeface="Cambria Math" panose="02040503050406030204" charset="0"/>
                                  <a:cs typeface="Cambria Math" panose="02040503050406030204" charset="0"/>
                                </a:rPr>
                                <m:t>−</m:t>
                              </m:r>
                              <m:r>
                                <a:rPr lang="en-US" sz="1600" i="1">
                                  <a:latin typeface="Cambria Math" panose="02040503050406030204" charset="0"/>
                                  <a:cs typeface="Cambria Math" panose="02040503050406030204" charset="0"/>
                                </a:rPr>
                                <m:t>1</m:t>
                              </m:r>
                            </m:sup>
                          </m:sSubSup>
                          <m:r>
                            <a:rPr lang="en-US" sz="1600" i="1">
                              <a:latin typeface="Cambria Math" panose="02040503050406030204" charset="0"/>
                              <a:cs typeface="Cambria Math" panose="02040503050406030204" charset="0"/>
                            </a:rPr>
                            <m:t>+</m:t>
                          </m:r>
                          <m:r>
                            <a:rPr lang="en-US" sz="1600" i="1">
                              <a:latin typeface="Cambria Math" panose="02040503050406030204" charset="0"/>
                              <a:cs typeface="Cambria Math" panose="02040503050406030204" charset="0"/>
                            </a:rPr>
                            <m:t>3</m:t>
                          </m:r>
                          <m:nary>
                            <m:naryPr>
                              <m:chr m:val="∑"/>
                              <m:limLoc m:val="undOvr"/>
                              <m:ctrlPr>
                                <a:rPr lang="en-US" sz="1600" i="1">
                                  <a:latin typeface="Cambria Math" panose="02040503050406030204" charset="0"/>
                                  <a:cs typeface="Cambria Math" panose="02040503050406030204" charset="0"/>
                                </a:rPr>
                              </m:ctrlPr>
                            </m:naryPr>
                            <m:sub>
                              <m:r>
                                <a:rPr lang="en-US" sz="1600" i="1">
                                  <a:latin typeface="Cambria Math" panose="02040503050406030204" charset="0"/>
                                  <a:cs typeface="Cambria Math" panose="02040503050406030204" charset="0"/>
                                </a:rPr>
                                <m:t>𝑟</m:t>
                              </m:r>
                              <m:r>
                                <a:rPr lang="en-US" sz="1600" i="1">
                                  <a:latin typeface="Cambria Math" panose="02040503050406030204" charset="0"/>
                                  <a:cs typeface="Cambria Math" panose="02040503050406030204" charset="0"/>
                                </a:rPr>
                                <m:t>=</m:t>
                              </m:r>
                              <m:r>
                                <a:rPr lang="en-US" sz="1600" i="1">
                                  <a:latin typeface="Cambria Math" panose="02040503050406030204" charset="0"/>
                                  <a:cs typeface="Cambria Math" panose="02040503050406030204" charset="0"/>
                                </a:rPr>
                                <m:t>1</m:t>
                              </m:r>
                            </m:sub>
                            <m:sup>
                              <m:r>
                                <a:rPr lang="en-US" sz="1600" i="1">
                                  <a:latin typeface="Cambria Math" panose="02040503050406030204" charset="0"/>
                                  <a:cs typeface="Cambria Math" panose="02040503050406030204" charset="0"/>
                                </a:rPr>
                                <m:t>𝑗</m:t>
                              </m:r>
                              <m:r>
                                <a:rPr lang="en-US" sz="1600" i="1">
                                  <a:latin typeface="Cambria Math" panose="02040503050406030204" charset="0"/>
                                  <a:cs typeface="Cambria Math" panose="02040503050406030204" charset="0"/>
                                </a:rPr>
                                <m:t>−</m:t>
                              </m:r>
                              <m:r>
                                <a:rPr lang="en-US" sz="1600" i="1">
                                  <a:latin typeface="Cambria Math" panose="02040503050406030204" charset="0"/>
                                  <a:cs typeface="Cambria Math" panose="02040503050406030204" charset="0"/>
                                </a:rPr>
                                <m:t>1</m:t>
                              </m:r>
                            </m:sup>
                            <m:e>
                              <m:sSub>
                                <m:sSubPr>
                                  <m:ctrlPr>
                                    <a:rPr lang="en-US" sz="1600" i="1">
                                      <a:latin typeface="Cambria Math" panose="02040503050406030204" charset="0"/>
                                      <a:cs typeface="Cambria Math" panose="02040503050406030204" charset="0"/>
                                    </a:rPr>
                                  </m:ctrlPr>
                                </m:sSubPr>
                                <m:e>
                                  <m:r>
                                    <a:rPr lang="en-US" sz="1600" i="1">
                                      <a:latin typeface="Cambria Math" panose="02040503050406030204" charset="0"/>
                                      <a:cs typeface="Cambria Math" panose="02040503050406030204" charset="0"/>
                                    </a:rPr>
                                    <m:t>𝜎</m:t>
                                  </m:r>
                                </m:e>
                                <m:sub>
                                  <m:r>
                                    <a:rPr lang="en-US" sz="1600" i="1">
                                      <a:latin typeface="Cambria Math" panose="02040503050406030204" charset="0"/>
                                      <a:cs typeface="Cambria Math" panose="02040503050406030204" charset="0"/>
                                    </a:rPr>
                                    <m:t>𝑟</m:t>
                                  </m:r>
                                </m:sub>
                              </m:sSub>
                            </m:e>
                          </m:nary>
                        </m:e>
                      </m:nary>
                      <m:r>
                        <a:rPr lang="en-US" altLang="zh-CN" sz="1600" i="1">
                          <a:latin typeface="Cambria Math" panose="02040503050406030204" charset="0"/>
                          <a:cs typeface="Cambria Math" panose="02040503050406030204" charset="0"/>
                        </a:rPr>
                        <m:t>)</m:t>
                      </m:r>
                    </m:oMath>
                  </m:oMathPara>
                </a14:m>
                <a:endParaRPr lang="en-US" altLang="zh-CN" sz="1600" i="1">
                  <a:latin typeface="Cambria Math" panose="02040503050406030204" charset="0"/>
                  <a:cs typeface="Cambria Math" panose="02040503050406030204" charset="0"/>
                </a:endParaRPr>
              </a:p>
              <a:p>
                <a:pPr algn="l"/>
                <a14:m>
                  <m:oMathPara xmlns:m="http://schemas.openxmlformats.org/officeDocument/2006/math">
                    <m:oMathParaPr>
                      <m:jc m:val="left"/>
                    </m:oMathParaPr>
                    <m:oMath xmlns:m="http://schemas.openxmlformats.org/officeDocument/2006/math">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𝑃</m:t>
                      </m:r>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ea typeface="MS Mincho" charset="0"/>
                          <a:cs typeface="Cambria Math" panose="02040503050406030204" charset="0"/>
                        </a:rPr>
                        <m:t>Փ</m:t>
                      </m:r>
                      <m:sSub>
                        <m:sSubPr>
                          <m:ctrlPr>
                            <a:rPr lang="en-US" altLang="zh-CN" sz="1600" i="1">
                              <a:latin typeface="Cambria Math" panose="02040503050406030204" charset="0"/>
                              <a:ea typeface="MS Mincho" charset="0"/>
                              <a:cs typeface="Cambria Math" panose="02040503050406030204" charset="0"/>
                            </a:rPr>
                          </m:ctrlPr>
                        </m:sSubPr>
                        <m:e>
                          <m:r>
                            <a:rPr lang="en-US" altLang="zh-CN" sz="1600" i="1">
                              <a:latin typeface="Cambria Math" panose="02040503050406030204" charset="0"/>
                              <a:ea typeface="MS Mincho" charset="0"/>
                              <a:cs typeface="Cambria Math" panose="02040503050406030204" charset="0"/>
                            </a:rPr>
                            <m:t>𝑧</m:t>
                          </m:r>
                        </m:e>
                        <m:sub>
                          <m:r>
                            <a:rPr lang="en-US" altLang="zh-CN" sz="1600" i="1">
                              <a:latin typeface="Cambria Math" panose="02040503050406030204" charset="0"/>
                              <a:ea typeface="MS Mincho" charset="0"/>
                              <a:cs typeface="Cambria Math" panose="02040503050406030204" charset="0"/>
                            </a:rPr>
                            <m:t>𝑘</m:t>
                          </m:r>
                          <m:r>
                            <a:rPr lang="en-US" altLang="zh-CN" sz="1600" i="1">
                              <a:latin typeface="Cambria Math" panose="02040503050406030204" charset="0"/>
                              <a:ea typeface="MS Mincho" charset="0"/>
                              <a:cs typeface="Cambria Math" panose="02040503050406030204" charset="0"/>
                            </a:rPr>
                            <m:t>+</m:t>
                          </m:r>
                          <m:r>
                            <a:rPr lang="en-US" altLang="zh-CN" sz="1600" i="1">
                              <a:latin typeface="Cambria Math" panose="02040503050406030204" charset="0"/>
                              <a:ea typeface="MS Mincho" charset="0"/>
                              <a:cs typeface="Cambria Math" panose="02040503050406030204" charset="0"/>
                            </a:rPr>
                            <m:t>𝑁</m:t>
                          </m:r>
                          <m:r>
                            <a:rPr lang="en-US" altLang="zh-CN" sz="1600" i="1">
                              <a:latin typeface="Cambria Math" panose="02040503050406030204" charset="0"/>
                              <a:ea typeface="MS Mincho" charset="0"/>
                              <a:cs typeface="Cambria Math" panose="02040503050406030204" charset="0"/>
                            </a:rPr>
                            <m:t>|</m:t>
                          </m:r>
                          <m:r>
                            <a:rPr lang="en-US" altLang="zh-CN" sz="1600" i="1">
                              <a:latin typeface="Cambria Math" panose="02040503050406030204" charset="0"/>
                              <a:ea typeface="MS Mincho" charset="0"/>
                              <a:cs typeface="Cambria Math" panose="02040503050406030204" charset="0"/>
                            </a:rPr>
                            <m:t>𝑘</m:t>
                          </m:r>
                        </m:sub>
                      </m:sSub>
                      <m:r>
                        <a:rPr lang="en-US" altLang="zh-CN" sz="1600" i="1">
                          <a:latin typeface="Cambria Math" panose="02040503050406030204" charset="0"/>
                          <a:cs typeface="Cambria Math" panose="02040503050406030204" charset="0"/>
                        </a:rPr>
                        <m:t>+</m:t>
                      </m:r>
                      <m:sSup>
                        <m:sSupPr>
                          <m:ctrlPr>
                            <a:rPr lang="en-US" altLang="zh-CN" sz="1600" i="1">
                              <a:latin typeface="Cambria Math" panose="02040503050406030204" charset="0"/>
                              <a:cs typeface="Cambria Math" panose="02040503050406030204" charset="0"/>
                            </a:rPr>
                          </m:ctrlPr>
                        </m:sSupPr>
                        <m:e>
                          <m:r>
                            <a:rPr lang="en-US" altLang="zh-CN" sz="1600" i="1">
                              <a:latin typeface="Cambria Math" panose="02040503050406030204" charset="0"/>
                              <a:ea typeface="MS Mincho" charset="0"/>
                              <a:cs typeface="Cambria Math" panose="02040503050406030204" charset="0"/>
                            </a:rPr>
                            <m:t>Փ</m:t>
                          </m:r>
                        </m:e>
                        <m:sup>
                          <m:r>
                            <a:rPr lang="en-US" altLang="zh-CN" sz="1600" i="1">
                              <a:latin typeface="Cambria Math" panose="02040503050406030204" charset="0"/>
                              <a:cs typeface="Cambria Math" panose="02040503050406030204" charset="0"/>
                            </a:rPr>
                            <m:t>𝑁</m:t>
                          </m:r>
                        </m:sup>
                      </m:sSup>
                      <m:sSub>
                        <m:sSubPr>
                          <m:ctrlPr>
                            <a:rPr lang="en-US" altLang="zh-CN" sz="1600" i="1">
                              <a:latin typeface="Cambria Math" panose="02040503050406030204" charset="0"/>
                              <a:cs typeface="Cambria Math" panose="02040503050406030204" charset="0"/>
                            </a:rPr>
                          </m:ctrlPr>
                        </m:sSubPr>
                        <m:e>
                          <m:r>
                            <a:rPr lang="en-US" altLang="zh-CN" sz="1600" i="1">
                              <a:latin typeface="Cambria Math" panose="02040503050406030204" charset="0"/>
                              <a:cs typeface="Cambria Math" panose="02040503050406030204" charset="0"/>
                            </a:rPr>
                            <m:t>𝑤</m:t>
                          </m:r>
                        </m:e>
                        <m:sub>
                          <m:r>
                            <a:rPr lang="en-US" altLang="zh-CN" sz="1600" i="1">
                              <a:latin typeface="Cambria Math" panose="02040503050406030204" charset="0"/>
                              <a:cs typeface="Cambria Math" panose="02040503050406030204" charset="0"/>
                            </a:rPr>
                            <m:t>𝑘</m:t>
                          </m:r>
                        </m:sub>
                      </m:sSub>
                      <m:r>
                        <a:rPr lang="en-US" altLang="zh-CN" sz="1600" i="1">
                          <a:latin typeface="Cambria Math" panose="02040503050406030204" charset="0"/>
                          <a:cs typeface="Cambria Math" panose="02040503050406030204" charset="0"/>
                        </a:rPr>
                        <m:t>)</m:t>
                      </m:r>
                      <m:r>
                        <a:rPr lang="en-US" altLang="zh-CN" sz="1600" i="1">
                          <a:latin typeface="Cambria Math" panose="02040503050406030204" charset="0"/>
                          <a:cs typeface="Cambria Math" panose="02040503050406030204" charset="0"/>
                        </a:rPr>
                        <m:t>∈</m:t>
                      </m:r>
                      <m:sSub>
                        <m:sSubPr>
                          <m:ctrlPr>
                            <a:rPr lang="en-US" altLang="zh-CN" sz="1600" i="1">
                              <a:solidFill>
                                <a:schemeClr val="tx1"/>
                              </a:solidFill>
                              <a:latin typeface="Cambria Math" panose="02040503050406030204" charset="0"/>
                              <a:cs typeface="Cambria Math" panose="02040503050406030204" charset="0"/>
                            </a:rPr>
                          </m:ctrlPr>
                        </m:sSubPr>
                        <m:e>
                          <m:r>
                            <a:rPr lang="en-US" altLang="zh-CN" sz="1600" i="1">
                              <a:solidFill>
                                <a:schemeClr val="tx1"/>
                              </a:solidFill>
                              <a:latin typeface="Cambria Math" panose="02040503050406030204" charset="0"/>
                              <a:cs typeface="Cambria Math" panose="02040503050406030204" charset="0"/>
                            </a:rPr>
                            <m:t>𝑆</m:t>
                          </m:r>
                        </m:e>
                        <m:sub>
                          <m:acc>
                            <m:accPr>
                              <m:ctrlPr>
                                <a:rPr lang="en-US" altLang="zh-CN" sz="1600" i="1">
                                  <a:solidFill>
                                    <a:schemeClr val="tx1"/>
                                  </a:solidFill>
                                  <a:latin typeface="Cambria Math" panose="02040503050406030204" charset="0"/>
                                  <a:cs typeface="Cambria Math" panose="02040503050406030204" charset="0"/>
                                </a:rPr>
                              </m:ctrlPr>
                            </m:accPr>
                            <m:e>
                              <m:r>
                                <a:rPr lang="en-US" altLang="zh-CN" sz="1600" i="1">
                                  <a:solidFill>
                                    <a:schemeClr val="tx1"/>
                                  </a:solidFill>
                                  <a:latin typeface="Cambria Math" panose="02040503050406030204" charset="0"/>
                                  <a:cs typeface="Cambria Math" panose="02040503050406030204" charset="0"/>
                                </a:rPr>
                                <m:t>𝑁</m:t>
                              </m:r>
                            </m:e>
                          </m:acc>
                        </m:sub>
                      </m:sSub>
                      <m:r>
                        <a:rPr lang="en-US" altLang="zh-CN" sz="1600" i="1">
                          <a:solidFill>
                            <a:schemeClr val="tx1"/>
                          </a:solidFill>
                          <a:latin typeface="Cambria Math" panose="02040503050406030204" charset="0"/>
                          <a:cs typeface="Cambria Math" panose="02040503050406030204" charset="0"/>
                        </a:rPr>
                        <m:t>|</m:t>
                      </m:r>
                      <m:sSub>
                        <m:sSubPr>
                          <m:ctrlPr>
                            <a:rPr lang="en-US" altLang="zh-CN" sz="1600" i="1">
                              <a:latin typeface="Cambria Math" panose="02040503050406030204" charset="0"/>
                              <a:ea typeface="MS Mincho" charset="0"/>
                              <a:cs typeface="Cambria Math" panose="02040503050406030204" charset="0"/>
                            </a:rPr>
                          </m:ctrlPr>
                        </m:sSubPr>
                        <m:e>
                          <m:r>
                            <a:rPr lang="en-US" altLang="zh-CN" sz="1600" i="1">
                              <a:latin typeface="Cambria Math" panose="02040503050406030204" charset="0"/>
                              <a:ea typeface="MS Mincho" charset="0"/>
                              <a:cs typeface="Cambria Math" panose="02040503050406030204" charset="0"/>
                            </a:rPr>
                            <m:t>𝑧</m:t>
                          </m:r>
                        </m:e>
                        <m:sub>
                          <m:r>
                            <a:rPr lang="en-US" altLang="zh-CN" sz="1600" i="1">
                              <a:latin typeface="Cambria Math" panose="02040503050406030204" charset="0"/>
                              <a:ea typeface="MS Mincho" charset="0"/>
                              <a:cs typeface="Cambria Math" panose="02040503050406030204" charset="0"/>
                            </a:rPr>
                            <m:t>𝑘</m:t>
                          </m:r>
                          <m:r>
                            <a:rPr lang="en-US" altLang="zh-CN" sz="1600" i="1">
                              <a:latin typeface="Cambria Math" panose="02040503050406030204" charset="0"/>
                              <a:ea typeface="MS Mincho" charset="0"/>
                              <a:cs typeface="Cambria Math" panose="02040503050406030204" charset="0"/>
                            </a:rPr>
                            <m:t>+</m:t>
                          </m:r>
                          <m:r>
                            <a:rPr lang="en-US" altLang="zh-CN" sz="1600" i="1">
                              <a:latin typeface="Cambria Math" panose="02040503050406030204" charset="0"/>
                              <a:ea typeface="MS Mincho" charset="0"/>
                              <a:cs typeface="Cambria Math" panose="02040503050406030204" charset="0"/>
                            </a:rPr>
                            <m:t>𝑁</m:t>
                          </m:r>
                          <m:r>
                            <a:rPr lang="en-US" altLang="zh-CN" sz="1600" i="1">
                              <a:latin typeface="Cambria Math" panose="02040503050406030204" charset="0"/>
                              <a:ea typeface="MS Mincho" charset="0"/>
                              <a:cs typeface="Cambria Math" panose="02040503050406030204" charset="0"/>
                            </a:rPr>
                            <m:t>|</m:t>
                          </m:r>
                          <m:r>
                            <a:rPr lang="en-US" altLang="zh-CN" sz="1600" i="1">
                              <a:latin typeface="Cambria Math" panose="02040503050406030204" charset="0"/>
                              <a:ea typeface="MS Mincho" charset="0"/>
                              <a:cs typeface="Cambria Math" panose="02040503050406030204" charset="0"/>
                            </a:rPr>
                            <m:t>𝑘</m:t>
                          </m:r>
                        </m:sub>
                      </m:sSub>
                      <m:r>
                        <a:rPr lang="en-US" altLang="zh-CN" sz="1600" i="1">
                          <a:latin typeface="Cambria Math" panose="02040503050406030204" charset="0"/>
                          <a:ea typeface="MS Mincho" charset="0"/>
                          <a:cs typeface="Cambria Math" panose="02040503050406030204" charset="0"/>
                        </a:rPr>
                        <m:t>∈</m:t>
                      </m:r>
                      <m:sSub>
                        <m:sSubPr>
                          <m:ctrlPr>
                            <a:rPr lang="en-US" altLang="zh-CN" sz="1600" i="1">
                              <a:solidFill>
                                <a:schemeClr val="tx1"/>
                              </a:solidFill>
                              <a:latin typeface="Cambria Math" panose="02040503050406030204" charset="0"/>
                              <a:cs typeface="Cambria Math" panose="02040503050406030204" charset="0"/>
                            </a:rPr>
                          </m:ctrlPr>
                        </m:sSubPr>
                        <m:e>
                          <m:r>
                            <a:rPr lang="en-US" altLang="zh-CN" sz="1600" i="1">
                              <a:solidFill>
                                <a:schemeClr val="tx1"/>
                              </a:solidFill>
                              <a:latin typeface="Cambria Math" panose="02040503050406030204" charset="0"/>
                              <a:cs typeface="Cambria Math" panose="02040503050406030204" charset="0"/>
                            </a:rPr>
                            <m:t>𝑆</m:t>
                          </m:r>
                        </m:e>
                        <m:sub>
                          <m:acc>
                            <m:accPr>
                              <m:ctrlPr>
                                <a:rPr lang="en-US" altLang="zh-CN" sz="1600" i="1">
                                  <a:solidFill>
                                    <a:schemeClr val="tx1"/>
                                  </a:solidFill>
                                  <a:latin typeface="Cambria Math" panose="02040503050406030204" charset="0"/>
                                  <a:cs typeface="Cambria Math" panose="02040503050406030204" charset="0"/>
                                </a:rPr>
                              </m:ctrlPr>
                            </m:accPr>
                            <m:e>
                              <m:r>
                                <a:rPr lang="en-US" altLang="zh-CN" sz="1600" i="1">
                                  <a:solidFill>
                                    <a:schemeClr val="tx1"/>
                                  </a:solidFill>
                                  <a:latin typeface="Cambria Math" panose="02040503050406030204" charset="0"/>
                                  <a:cs typeface="Cambria Math" panose="02040503050406030204" charset="0"/>
                                </a:rPr>
                                <m:t>𝑁</m:t>
                              </m:r>
                            </m:e>
                          </m:acc>
                        </m:sub>
                      </m:sSub>
                    </m:oMath>
                  </m:oMathPara>
                </a14:m>
                <a:endParaRPr lang="en-US" altLang="zh-CN" sz="1600" i="1">
                  <a:solidFill>
                    <a:schemeClr val="tx1"/>
                  </a:solidFill>
                  <a:latin typeface="Cambria Math" panose="02040503050406030204" charset="0"/>
                  <a:cs typeface="Cambria Math" panose="02040503050406030204" charset="0"/>
                </a:endParaRPr>
              </a:p>
              <a:p>
                <a:pPr algn="l"/>
                <a14:m>
                  <m:oMath xmlns:m="http://schemas.openxmlformats.org/officeDocument/2006/math">
                    <m:r>
                      <a:rPr lang="en-US" altLang="zh-CN" sz="1600" i="1">
                        <a:solidFill>
                          <a:schemeClr val="tx1"/>
                        </a:solidFill>
                        <a:latin typeface="Cambria Math" panose="02040503050406030204" charset="0"/>
                        <a:cs typeface="Cambria Math" panose="02040503050406030204" charset="0"/>
                      </a:rPr>
                      <m:t>=</m:t>
                    </m:r>
                    <m:sSub>
                      <m:sSubPr>
                        <m:ctrlPr>
                          <a:rPr lang="en-US" altLang="zh-CN" sz="1600" i="1">
                            <a:solidFill>
                              <a:schemeClr val="tx1"/>
                            </a:solidFill>
                            <a:latin typeface="Cambria Math" panose="02040503050406030204" charset="0"/>
                            <a:cs typeface="Cambria Math" panose="02040503050406030204" charset="0"/>
                          </a:rPr>
                        </m:ctrlPr>
                      </m:sSubPr>
                      <m:e>
                        <m:r>
                          <a:rPr lang="en-US" altLang="zh-CN" sz="1600" i="1">
                            <a:solidFill>
                              <a:schemeClr val="tx1"/>
                            </a:solidFill>
                            <a:latin typeface="Cambria Math" panose="02040503050406030204" charset="0"/>
                            <a:cs typeface="Cambria Math" panose="02040503050406030204" charset="0"/>
                          </a:rPr>
                          <m:t>𝑃</m:t>
                        </m:r>
                      </m:e>
                      <m:sub>
                        <m:r>
                          <a:rPr lang="en-US" altLang="zh-CN" sz="1600" i="1">
                            <a:solidFill>
                              <a:schemeClr val="tx1"/>
                            </a:solidFill>
                            <a:latin typeface="Cambria Math" panose="02040503050406030204" charset="0"/>
                            <a:cs typeface="Cambria Math" panose="02040503050406030204" charset="0"/>
                          </a:rPr>
                          <m:t>1</m:t>
                        </m:r>
                      </m:sub>
                    </m:sSub>
                    <m:r>
                      <a:rPr lang="en-US" altLang="zh-CN" sz="1600" i="1">
                        <a:solidFill>
                          <a:schemeClr val="tx1"/>
                        </a:solidFill>
                        <a:latin typeface="Cambria Math" panose="02040503050406030204" charset="0"/>
                        <a:cs typeface="Cambria Math" panose="02040503050406030204" charset="0"/>
                      </a:rPr>
                      <m:t>∗</m:t>
                    </m:r>
                    <m:sSub>
                      <m:sSubPr>
                        <m:ctrlPr>
                          <a:rPr lang="en-US" altLang="zh-CN" sz="1600" i="1">
                            <a:solidFill>
                              <a:schemeClr val="tx1"/>
                            </a:solidFill>
                            <a:latin typeface="Cambria Math" panose="02040503050406030204" charset="0"/>
                            <a:cs typeface="Cambria Math" panose="02040503050406030204" charset="0"/>
                          </a:rPr>
                        </m:ctrlPr>
                      </m:sSubPr>
                      <m:e>
                        <m:r>
                          <a:rPr lang="en-US" altLang="zh-CN" sz="1600" i="1">
                            <a:solidFill>
                              <a:schemeClr val="tx1"/>
                            </a:solidFill>
                            <a:latin typeface="Cambria Math" panose="02040503050406030204" charset="0"/>
                            <a:cs typeface="Cambria Math" panose="02040503050406030204" charset="0"/>
                          </a:rPr>
                          <m:t>𝑃</m:t>
                        </m:r>
                      </m:e>
                      <m:sub>
                        <m:r>
                          <a:rPr lang="en-US" altLang="zh-CN" sz="1600" i="1">
                            <a:solidFill>
                              <a:schemeClr val="tx1"/>
                            </a:solidFill>
                            <a:latin typeface="Cambria Math" panose="02040503050406030204" charset="0"/>
                            <a:cs typeface="Cambria Math" panose="02040503050406030204" charset="0"/>
                          </a:rPr>
                          <m:t>2</m:t>
                        </m:r>
                      </m:sub>
                    </m:sSub>
                    <m:r>
                      <a:rPr lang="en-US" altLang="zh-CN" sz="1600" i="1">
                        <a:solidFill>
                          <a:schemeClr val="tx1"/>
                        </a:solidFill>
                        <a:latin typeface="Cambria Math" panose="02040503050406030204" charset="0"/>
                        <a:cs typeface="Cambria Math" panose="02040503050406030204" charset="0"/>
                      </a:rPr>
                      <m:t>≥</m:t>
                    </m:r>
                    <m:sSubSup>
                      <m:sSubSupPr>
                        <m:ctrlPr>
                          <a:rPr lang="en-US" altLang="zh-CN" sz="1600" i="1">
                            <a:solidFill>
                              <a:schemeClr val="tx1"/>
                            </a:solidFill>
                            <a:latin typeface="Cambria Math" panose="02040503050406030204" charset="0"/>
                            <a:cs typeface="Cambria Math" panose="02040503050406030204" charset="0"/>
                          </a:rPr>
                        </m:ctrlPr>
                      </m:sSubSupPr>
                      <m:e>
                        <m:r>
                          <a:rPr lang="en-US" altLang="zh-CN" sz="1600" i="1">
                            <a:solidFill>
                              <a:schemeClr val="tx1"/>
                            </a:solidFill>
                            <a:latin typeface="Cambria Math" panose="02040503050406030204" charset="0"/>
                            <a:cs typeface="Cambria Math" panose="02040503050406030204" charset="0"/>
                          </a:rPr>
                          <m:t>𝑃</m:t>
                        </m:r>
                      </m:e>
                      <m:sub>
                        <m:r>
                          <a:rPr lang="en-US" altLang="zh-CN" sz="1600" i="1">
                            <a:solidFill>
                              <a:schemeClr val="tx1"/>
                            </a:solidFill>
                            <a:latin typeface="Cambria Math" panose="02040503050406030204" charset="0"/>
                            <a:cs typeface="Cambria Math" panose="02040503050406030204" charset="0"/>
                          </a:rPr>
                          <m:t>1</m:t>
                        </m:r>
                      </m:sub>
                      <m:sup>
                        <m:r>
                          <a:rPr lang="en-US" altLang="zh-CN" sz="1600" i="1">
                            <a:solidFill>
                              <a:schemeClr val="tx1"/>
                            </a:solidFill>
                            <a:latin typeface="Cambria Math" panose="02040503050406030204" charset="0"/>
                            <a:cs typeface="Cambria Math" panose="02040503050406030204" charset="0"/>
                          </a:rPr>
                          <m:t>’</m:t>
                        </m:r>
                      </m:sup>
                    </m:sSubSup>
                  </m:oMath>
                </a14:m>
                <a:r>
                  <a:rPr lang="en-US" altLang="zh-CN" sz="1600" i="1">
                    <a:solidFill>
                      <a:schemeClr val="tx1"/>
                    </a:solidFill>
                    <a:latin typeface="Cambria Math" panose="02040503050406030204" charset="0"/>
                    <a:cs typeface="Cambria Math" panose="02040503050406030204" charset="0"/>
                  </a:rPr>
                  <a:t>p</a:t>
                </a:r>
                <a:endParaRPr lang="en-US" altLang="zh-CN" sz="1600" i="1">
                  <a:solidFill>
                    <a:schemeClr val="tx1"/>
                  </a:solidFill>
                  <a:latin typeface="Cambria Math" panose="02040503050406030204" charset="0"/>
                  <a:cs typeface="Cambria Math" panose="02040503050406030204" charset="0"/>
                </a:endParaRPr>
              </a:p>
            </p:txBody>
          </p:sp>
        </mc:Choice>
        <mc:Fallback>
          <p:sp>
            <p:nvSpPr>
              <p:cNvPr id="46" name="文本框 45"/>
              <p:cNvSpPr txBox="1">
                <a:spLocks noRot="1" noChangeAspect="1" noMove="1" noResize="1" noEditPoints="1" noAdjustHandles="1" noChangeArrowheads="1" noChangeShapeType="1" noTextEdit="1"/>
              </p:cNvSpPr>
              <p:nvPr/>
            </p:nvSpPr>
            <p:spPr>
              <a:xfrm>
                <a:off x="6431216" y="3773424"/>
                <a:ext cx="4788535" cy="1597025"/>
              </a:xfrm>
              <a:prstGeom prst="rect">
                <a:avLst/>
              </a:prstGeom>
              <a:blipFill rotWithShape="1">
                <a:blip r:embed="rId1"/>
                <a:stretch>
                  <a:fillRect l="-12" t="-16" r="12" b="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326708" y="3450590"/>
                <a:ext cx="4932045" cy="1420495"/>
              </a:xfrm>
              <a:prstGeom prst="rect">
                <a:avLst/>
              </a:prstGeom>
              <a:noFill/>
            </p:spPr>
            <p:txBody>
              <a:bodyPr wrap="none" rtlCol="0" anchor="t">
                <a:noAutofit/>
              </a:bodyPr>
              <a:p>
                <a:pPr indent="0" algn="l" fontAlgn="auto">
                  <a:lnSpc>
                    <a:spcPct val="150000"/>
                  </a:lnSpc>
                </a:pPr>
                <a14:m>
                  <m:oMathPara xmlns:m="http://schemas.openxmlformats.org/officeDocument/2006/math">
                    <m:oMathParaPr>
                      <m:jc m:val="left"/>
                    </m:oMathParaPr>
                    <m:oMath xmlns:m="http://schemas.openxmlformats.org/officeDocument/2006/math">
                      <m:r>
                        <a:rPr lang="en-US" altLang="zh-CN" sz="1400" i="1">
                          <a:latin typeface="Cambria Math" panose="02040503050406030204" charset="0"/>
                          <a:cs typeface="Cambria Math" panose="02040503050406030204" charset="0"/>
                        </a:rPr>
                        <m:t> </m:t>
                      </m:r>
                    </m:oMath>
                  </m:oMathPara>
                </a14:m>
                <a:endParaRPr lang="en-US" altLang="zh-CN" sz="1400"/>
              </a:p>
            </p:txBody>
          </p:sp>
        </mc:Choice>
        <mc:Fallback>
          <p:sp>
            <p:nvSpPr>
              <p:cNvPr id="9" name="文本框 8"/>
              <p:cNvSpPr txBox="1">
                <a:spLocks noRot="1" noChangeAspect="1" noMove="1" noResize="1" noEditPoints="1" noAdjustHandles="1" noChangeArrowheads="1" noChangeShapeType="1" noTextEdit="1"/>
              </p:cNvSpPr>
              <p:nvPr/>
            </p:nvSpPr>
            <p:spPr>
              <a:xfrm>
                <a:off x="326708" y="3450590"/>
                <a:ext cx="4932045" cy="1420495"/>
              </a:xfrm>
              <a:prstGeom prst="rect">
                <a:avLst/>
              </a:prstGeom>
              <a:blipFill rotWithShape="1">
                <a:blip r:embed="rId2"/>
                <a:stretch>
                  <a:fillRect l="-6" r="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293370" y="3940810"/>
                <a:ext cx="4064000" cy="655320"/>
              </a:xfrm>
              <a:prstGeom prst="rect">
                <a:avLst/>
              </a:prstGeom>
              <a:noFill/>
            </p:spPr>
            <p:txBody>
              <a:bodyPr wrap="square" rtlCol="0">
                <a:spAutoFit/>
              </a:bodyPr>
              <a:p>
                <a14:m>
                  <m:oMathPara xmlns:m="http://schemas.openxmlformats.org/officeDocument/2006/math">
                    <m:oMathParaPr>
                      <m:jc m:val="left"/>
                    </m:oMathParaPr>
                    <m:oMath xmlns:m="http://schemas.openxmlformats.org/officeDocument/2006/math">
                      <m:sSub>
                        <m:sSubPr>
                          <m:ctrlPr>
                            <a:rPr lang="en-US" altLang="zh-CN" sz="1400" i="1">
                              <a:latin typeface="Cambria Math" panose="02040503050406030204" charset="0"/>
                              <a:cs typeface="Cambria Math" panose="02040503050406030204" charset="0"/>
                            </a:rPr>
                          </m:ctrlPr>
                        </m:sSubPr>
                        <m:e>
                          <m:r>
                            <a:rPr lang="en-US" altLang="zh-CN" sz="1400" i="1">
                              <a:latin typeface="Cambria Math" panose="02040503050406030204" charset="0"/>
                              <a:cs typeface="Cambria Math" panose="02040503050406030204" charset="0"/>
                            </a:rPr>
                            <m:t>ℎ</m:t>
                          </m:r>
                        </m:e>
                        <m:sub>
                          <m:r>
                            <a:rPr lang="en-US" altLang="zh-CN" sz="1400" i="1">
                              <a:latin typeface="Cambria Math" panose="02040503050406030204" charset="0"/>
                              <a:cs typeface="Cambria Math" panose="02040503050406030204" charset="0"/>
                            </a:rPr>
                            <m:t>𝑗</m:t>
                          </m:r>
                        </m:sub>
                      </m:sSub>
                      <m:r>
                        <a:rPr lang="en-US" altLang="zh-CN" sz="1400" i="1">
                          <a:latin typeface="Cambria Math" panose="02040503050406030204" charset="0"/>
                          <a:cs typeface="Cambria Math" panose="02040503050406030204" charset="0"/>
                        </a:rPr>
                        <m:t>≥</m:t>
                      </m:r>
                      <m:d>
                        <m:dPr>
                          <m:begChr m:val="{"/>
                          <m:endChr m:val=""/>
                          <m:ctrlPr>
                            <a:rPr lang="en-US" altLang="zh-CN" sz="1400" i="1">
                              <a:latin typeface="Cambria Math" panose="02040503050406030204" charset="0"/>
                              <a:cs typeface="Cambria Math" panose="02040503050406030204" charset="0"/>
                            </a:rPr>
                          </m:ctrlPr>
                        </m:dPr>
                        <m:e>
                          <m:m>
                            <m:mPr>
                              <m:mcs>
                                <m:mc>
                                  <m:mcPr>
                                    <m:count m:val="1"/>
                                    <m:mcJc m:val="center"/>
                                  </m:mcPr>
                                </m:mc>
                              </m:mcs>
                              <m:ctrlPr>
                                <a:rPr lang="en-US" altLang="zh-CN" sz="1400" i="1">
                                  <a:latin typeface="Cambria Math" panose="02040503050406030204" charset="0"/>
                                  <a:cs typeface="Cambria Math" panose="02040503050406030204" charset="0"/>
                                </a:rPr>
                              </m:ctrlPr>
                            </m:mPr>
                            <m:mr>
                              <m:e>
                                <m:sSubSup>
                                  <m:sSubSupPr>
                                    <m:ctrlPr>
                                      <a:rPr lang="en-US" altLang="zh-CN" sz="1400" i="1">
                                        <a:latin typeface="Cambria Math" panose="02040503050406030204" charset="0"/>
                                        <a:cs typeface="Cambria Math" panose="02040503050406030204" charset="0"/>
                                      </a:rPr>
                                    </m:ctrlPr>
                                  </m:sSubSupPr>
                                  <m:e>
                                    <m:r>
                                      <a:rPr lang="en-US" altLang="zh-CN" sz="1400" i="1">
                                        <a:latin typeface="Cambria Math" panose="02040503050406030204" charset="0"/>
                                        <a:cs typeface="Cambria Math" panose="02040503050406030204" charset="0"/>
                                      </a:rPr>
                                      <m:t>𝐹</m:t>
                                    </m:r>
                                  </m:e>
                                  <m:sub>
                                    <m:sSup>
                                      <m:sSupPr>
                                        <m:ctrlPr>
                                          <a:rPr lang="en-US" altLang="zh-CN" sz="1400" i="1">
                                            <a:solidFill>
                                              <a:srgbClr val="35D949"/>
                                            </a:solidFill>
                                            <a:latin typeface="Cambria Math" panose="02040503050406030204" charset="0"/>
                                            <a:cs typeface="Cambria Math" panose="02040503050406030204" charset="0"/>
                                          </a:rPr>
                                        </m:ctrlPr>
                                      </m:sSupPr>
                                      <m:e>
                                        <m:r>
                                          <a:rPr lang="en-US" altLang="zh-CN" sz="1400" i="1">
                                            <a:solidFill>
                                              <a:srgbClr val="35D949"/>
                                            </a:solidFill>
                                            <a:latin typeface="Cambria Math" panose="02040503050406030204" charset="0"/>
                                            <a:cs typeface="Cambria Math" panose="02040503050406030204" charset="0"/>
                                          </a:rPr>
                                          <m:t>𝑔</m:t>
                                        </m:r>
                                      </m:e>
                                      <m:sup>
                                        <m:r>
                                          <a:rPr lang="en-US" altLang="zh-CN" sz="1400" i="1">
                                            <a:solidFill>
                                              <a:srgbClr val="35D949"/>
                                            </a:solidFill>
                                            <a:latin typeface="Cambria Math" panose="02040503050406030204" charset="0"/>
                                            <a:cs typeface="Cambria Math" panose="02040503050406030204" charset="0"/>
                                          </a:rPr>
                                          <m:t>𝑇</m:t>
                                        </m:r>
                                      </m:sup>
                                    </m:sSup>
                                    <m:sSub>
                                      <m:sSubPr>
                                        <m:ctrlPr>
                                          <a:rPr lang="en-US" altLang="zh-CN" sz="1400" i="1">
                                            <a:solidFill>
                                              <a:srgbClr val="35D949"/>
                                            </a:solidFill>
                                            <a:latin typeface="Cambria Math" panose="02040503050406030204" charset="0"/>
                                            <a:cs typeface="Cambria Math" panose="02040503050406030204" charset="0"/>
                                          </a:rPr>
                                        </m:ctrlPr>
                                      </m:sSubPr>
                                      <m:e>
                                        <m:r>
                                          <a:rPr lang="en-US" altLang="zh-CN" sz="1400" i="1">
                                            <a:solidFill>
                                              <a:srgbClr val="35D949"/>
                                            </a:solidFill>
                                            <a:latin typeface="Cambria Math" panose="02040503050406030204" charset="0"/>
                                            <a:cs typeface="Cambria Math" panose="02040503050406030204" charset="0"/>
                                          </a:rPr>
                                          <m:t>𝑒</m:t>
                                        </m:r>
                                      </m:e>
                                      <m:sub>
                                        <m:r>
                                          <a:rPr lang="en-US" altLang="zh-CN" sz="1400" i="1">
                                            <a:solidFill>
                                              <a:srgbClr val="35D949"/>
                                            </a:solidFill>
                                            <a:latin typeface="Cambria Math" panose="02040503050406030204" charset="0"/>
                                            <a:cs typeface="Cambria Math" panose="02040503050406030204" charset="0"/>
                                          </a:rPr>
                                          <m:t>𝑗</m:t>
                                        </m:r>
                                      </m:sub>
                                    </m:sSub>
                                  </m:sub>
                                  <m:sup>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1</m:t>
                                    </m:r>
                                  </m:sup>
                                </m:sSubSup>
                                <m:r>
                                  <a:rPr lang="en-US" altLang="zh-CN" sz="1400" i="1">
                                    <a:latin typeface="Cambria Math" panose="02040503050406030204" charset="0"/>
                                    <a:cs typeface="Cambria Math" panose="02040503050406030204" charset="0"/>
                                  </a:rPr>
                                  <m:t>(</m:t>
                                </m:r>
                                <m:sSub>
                                  <m:sSubPr>
                                    <m:ctrlPr>
                                      <a:rPr lang="en-US" altLang="zh-CN" sz="1400" i="1">
                                        <a:latin typeface="Cambria Math" panose="02040503050406030204" charset="0"/>
                                        <a:cs typeface="Cambria Math" panose="02040503050406030204" charset="0"/>
                                      </a:rPr>
                                    </m:ctrlPr>
                                  </m:sSubPr>
                                  <m:e>
                                    <m:r>
                                      <a:rPr lang="en-US" altLang="zh-CN" sz="1400" i="1">
                                        <a:latin typeface="Cambria Math" panose="02040503050406030204" charset="0"/>
                                        <a:cs typeface="Cambria Math" panose="02040503050406030204" charset="0"/>
                                      </a:rPr>
                                      <m:t>𝑝</m:t>
                                    </m:r>
                                  </m:e>
                                  <m:sub>
                                    <m:r>
                                      <a:rPr lang="en-US" altLang="zh-CN" sz="1400" i="1">
                                        <a:latin typeface="Cambria Math" panose="02040503050406030204" charset="0"/>
                                        <a:cs typeface="Cambria Math" panose="02040503050406030204" charset="0"/>
                                      </a:rPr>
                                      <m:t>𝑟𝑒𝑓</m:t>
                                    </m:r>
                                  </m:sub>
                                </m:sSub>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𝑗</m:t>
                                </m:r>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1</m:t>
                                </m:r>
                              </m:e>
                            </m:mr>
                            <m:mr>
                              <m:e>
                                <m:sSub>
                                  <m:sSubPr>
                                    <m:ctrlPr>
                                      <a:rPr lang="en-US" altLang="zh-CN" sz="1400" i="1">
                                        <a:latin typeface="Cambria Math" panose="02040503050406030204" charset="0"/>
                                        <a:cs typeface="Cambria Math" panose="02040503050406030204" charset="0"/>
                                      </a:rPr>
                                    </m:ctrlPr>
                                  </m:sSubPr>
                                  <m:e>
                                    <m:r>
                                      <a:rPr lang="en-US" altLang="zh-CN" sz="1400" i="1">
                                        <a:latin typeface="Cambria Math" panose="02040503050406030204" charset="0"/>
                                        <a:cs typeface="Cambria Math" panose="02040503050406030204" charset="0"/>
                                      </a:rPr>
                                      <m:t>ℎ</m:t>
                                    </m:r>
                                  </m:e>
                                  <m:sub>
                                    <m:r>
                                      <a:rPr lang="en-US" altLang="zh-CN" sz="1400" i="1">
                                        <a:latin typeface="Cambria Math" panose="02040503050406030204" charset="0"/>
                                        <a:cs typeface="Cambria Math" panose="02040503050406030204" charset="0"/>
                                      </a:rPr>
                                      <m:t>𝑗</m:t>
                                    </m:r>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1</m:t>
                                    </m:r>
                                  </m:sub>
                                </m:sSub>
                                <m:r>
                                  <a:rPr lang="en-US" sz="1400" i="1">
                                    <a:latin typeface="Cambria Math" panose="02040503050406030204" charset="0"/>
                                  </a:rPr>
                                  <m:t>+</m:t>
                                </m:r>
                                <m:sSup>
                                  <m:sSupPr>
                                    <m:ctrlPr>
                                      <a:rPr lang="en-US" sz="1400" i="1">
                                        <a:latin typeface="Cambria Math" panose="02040503050406030204" charset="0"/>
                                        <a:cs typeface="Cambria Math" panose="02040503050406030204" charset="0"/>
                                      </a:rPr>
                                    </m:ctrlPr>
                                  </m:sSupPr>
                                  <m:e>
                                    <m:r>
                                      <a:rPr lang="en-US" sz="1400" i="1">
                                        <a:latin typeface="Cambria Math" panose="02040503050406030204" charset="0"/>
                                        <a:cs typeface="Cambria Math" panose="02040503050406030204" charset="0"/>
                                      </a:rPr>
                                      <m:t>𝑔</m:t>
                                    </m:r>
                                  </m:e>
                                  <m:sup>
                                    <m:r>
                                      <a:rPr lang="en-US" sz="1400" i="1">
                                        <a:latin typeface="Cambria Math" panose="02040503050406030204" charset="0"/>
                                        <a:cs typeface="Cambria Math" panose="02040503050406030204" charset="0"/>
                                      </a:rPr>
                                      <m:t>𝑇</m:t>
                                    </m:r>
                                  </m:sup>
                                </m:sSup>
                                <m:sSup>
                                  <m:sSupPr>
                                    <m:ctrlPr>
                                      <a:rPr lang="en-US" sz="1400" i="1">
                                        <a:latin typeface="Cambria Math" panose="02040503050406030204" charset="0"/>
                                        <a:cs typeface="Cambria Math" panose="02040503050406030204" charset="0"/>
                                      </a:rPr>
                                    </m:ctrlPr>
                                  </m:sSupPr>
                                  <m:e>
                                    <m:r>
                                      <a:rPr lang="en-US" altLang="zh-CN" sz="1400" i="1">
                                        <a:latin typeface="Cambria Math" panose="02040503050406030204" charset="0"/>
                                        <a:ea typeface="MS Mincho" charset="0"/>
                                        <a:cs typeface="Cambria Math" panose="02040503050406030204" charset="0"/>
                                      </a:rPr>
                                      <m:t>Փ</m:t>
                                    </m:r>
                                  </m:e>
                                  <m:sup>
                                    <m:r>
                                      <a:rPr lang="en-US" sz="1400" i="1">
                                        <a:latin typeface="Cambria Math" panose="02040503050406030204" charset="0"/>
                                        <a:cs typeface="Cambria Math" panose="02040503050406030204" charset="0"/>
                                      </a:rPr>
                                      <m:t>𝑗</m:t>
                                    </m:r>
                                    <m:r>
                                      <a:rPr lang="en-US" sz="1400" i="1">
                                        <a:latin typeface="Cambria Math" panose="02040503050406030204" charset="0"/>
                                        <a:cs typeface="Cambria Math" panose="02040503050406030204" charset="0"/>
                                      </a:rPr>
                                      <m:t>−</m:t>
                                    </m:r>
                                    <m:r>
                                      <a:rPr lang="en-US" sz="1400" i="1">
                                        <a:latin typeface="Cambria Math" panose="02040503050406030204" charset="0"/>
                                        <a:cs typeface="Cambria Math" panose="02040503050406030204" charset="0"/>
                                      </a:rPr>
                                      <m:t>1</m:t>
                                    </m:r>
                                  </m:sup>
                                </m:sSup>
                                <m:sSub>
                                  <m:sSubPr>
                                    <m:ctrlPr>
                                      <a:rPr lang="en-US" sz="1400" i="1">
                                        <a:latin typeface="Cambria Math" panose="02040503050406030204" charset="0"/>
                                        <a:cs typeface="Cambria Math" panose="02040503050406030204" charset="0"/>
                                      </a:rPr>
                                    </m:ctrlPr>
                                  </m:sSubPr>
                                  <m:e>
                                    <m:r>
                                      <a:rPr lang="en-US" sz="1400" i="1">
                                        <a:latin typeface="Cambria Math" panose="02040503050406030204" charset="0"/>
                                        <a:cs typeface="Cambria Math" panose="02040503050406030204" charset="0"/>
                                      </a:rPr>
                                      <m:t>𝑤</m:t>
                                    </m:r>
                                  </m:e>
                                  <m:sub>
                                    <m:r>
                                      <a:rPr lang="en-US" sz="1400" i="1">
                                        <a:latin typeface="Cambria Math" panose="02040503050406030204" charset="0"/>
                                        <a:cs typeface="Cambria Math" panose="02040503050406030204" charset="0"/>
                                      </a:rPr>
                                      <m:t>𝑘</m:t>
                                    </m:r>
                                  </m:sub>
                                </m:sSub>
                                <m:r>
                                  <a:rPr lang="en-US" sz="1400" i="1">
                                    <a:latin typeface="Cambria Math" panose="02040503050406030204" charset="0"/>
                                  </a:rPr>
                                  <m:t>,</m:t>
                                </m:r>
                                <m:r>
                                  <a:rPr lang="en-US" sz="1400" i="1">
                                    <a:latin typeface="Cambria Math" panose="02040503050406030204" charset="0"/>
                                  </a:rPr>
                                  <m:t>𝑗</m:t>
                                </m:r>
                                <m:r>
                                  <a:rPr lang="en-US" sz="1400" i="1">
                                    <a:latin typeface="Cambria Math" panose="02040503050406030204" charset="0"/>
                                    <a:cs typeface="Cambria Math" panose="02040503050406030204" charset="0"/>
                                  </a:rPr>
                                  <m:t>≥</m:t>
                                </m:r>
                                <m:r>
                                  <a:rPr lang="en-US" sz="1400" i="1">
                                    <a:latin typeface="Cambria Math" panose="02040503050406030204" charset="0"/>
                                    <a:cs typeface="Cambria Math" panose="02040503050406030204" charset="0"/>
                                  </a:rPr>
                                  <m:t>2</m:t>
                                </m:r>
                                <m:r>
                                  <a:rPr lang="en-US" sz="1400" i="1">
                                    <a:latin typeface="Cambria Math" panose="02040503050406030204" charset="0"/>
                                  </a:rPr>
                                  <m:t>}</m:t>
                                </m:r>
                              </m:e>
                            </m:mr>
                          </m:m>
                        </m:e>
                      </m:d>
                    </m:oMath>
                  </m:oMathPara>
                </a14:m>
                <a:endParaRPr lang="zh-CN" altLang="en-US" sz="1400"/>
              </a:p>
            </p:txBody>
          </p:sp>
        </mc:Choice>
        <mc:Fallback>
          <p:sp>
            <p:nvSpPr>
              <p:cNvPr id="18" name="文本框 17"/>
              <p:cNvSpPr txBox="1">
                <a:spLocks noRot="1" noChangeAspect="1" noMove="1" noResize="1" noEditPoints="1" noAdjustHandles="1" noChangeArrowheads="1" noChangeShapeType="1" noTextEdit="1"/>
              </p:cNvSpPr>
              <p:nvPr/>
            </p:nvSpPr>
            <p:spPr>
              <a:xfrm>
                <a:off x="293370" y="3940810"/>
                <a:ext cx="4064000" cy="655320"/>
              </a:xfrm>
              <a:prstGeom prst="rect">
                <a:avLst/>
              </a:prstGeom>
              <a:blipFill rotWithShape="1">
                <a:blip r:embed="rId3"/>
                <a:stretch>
                  <a:fillRect/>
                </a:stretch>
              </a:blipFill>
            </p:spPr>
            <p:txBody>
              <a:bodyPr/>
              <a:lstStyle/>
              <a:p>
                <a:r>
                  <a:rPr lang="zh-CN" altLang="en-US">
                    <a:noFill/>
                  </a:rPr>
                  <a:t> </a:t>
                </a:r>
              </a:p>
            </p:txBody>
          </p:sp>
        </mc:Fallback>
      </mc:AlternateContent>
      <p:sp>
        <p:nvSpPr>
          <p:cNvPr id="8" name="圆角矩形 7"/>
          <p:cNvSpPr/>
          <p:nvPr>
            <p:custDataLst>
              <p:tags r:id="rId4"/>
            </p:custDataLst>
          </p:nvPr>
        </p:nvSpPr>
        <p:spPr>
          <a:xfrm>
            <a:off x="86360" y="3483610"/>
            <a:ext cx="5194300" cy="1979930"/>
          </a:xfrm>
          <a:prstGeom prst="round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1800" i="1">
              <a:solidFill>
                <a:schemeClr val="tx1"/>
              </a:solidFill>
              <a:latin typeface="Cambria Math" panose="02040503050406030204" charset="0"/>
              <a:ea typeface="微软雅黑" panose="020B0503020204020204" pitchFamily="34" charset="-122"/>
              <a:cs typeface="Cambria Math" panose="02040503050406030204" charset="0"/>
            </a:endParaRPr>
          </a:p>
        </p:txBody>
      </p:sp>
      <p:sp>
        <p:nvSpPr>
          <p:cNvPr id="10" name="矩形 9"/>
          <p:cNvSpPr/>
          <p:nvPr>
            <p:custDataLst>
              <p:tags r:id="rId5"/>
            </p:custDataLst>
          </p:nvPr>
        </p:nvSpPr>
        <p:spPr>
          <a:xfrm>
            <a:off x="1365250" y="4243070"/>
            <a:ext cx="876935" cy="327660"/>
          </a:xfrm>
          <a:prstGeom prst="rect">
            <a:avLst/>
          </a:prstGeom>
          <a:noFill/>
          <a:ln w="19050">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1" name="直接箭头连接符 10"/>
          <p:cNvCxnSpPr>
            <a:endCxn id="10" idx="2"/>
          </p:cNvCxnSpPr>
          <p:nvPr>
            <p:custDataLst>
              <p:tags r:id="rId6"/>
            </p:custDataLst>
          </p:nvPr>
        </p:nvCxnSpPr>
        <p:spPr>
          <a:xfrm flipH="1" flipV="1">
            <a:off x="1804035" y="4570730"/>
            <a:ext cx="280035" cy="26162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mc:Choice xmlns:a14="http://schemas.microsoft.com/office/drawing/2010/main" Requires="a14">
          <p:sp>
            <p:nvSpPr>
              <p:cNvPr id="12" name="文本框 11"/>
              <p:cNvSpPr txBox="1"/>
              <p:nvPr>
                <p:custDataLst>
                  <p:tags r:id="rId7"/>
                </p:custDataLst>
              </p:nvPr>
            </p:nvSpPr>
            <p:spPr>
              <a:xfrm>
                <a:off x="62865" y="4829810"/>
                <a:ext cx="5220335" cy="346075"/>
              </a:xfrm>
              <a:prstGeom prst="rect">
                <a:avLst/>
              </a:prstGeom>
              <a:noFill/>
            </p:spPr>
            <p:txBody>
              <a:bodyPr wrap="square" rtlCol="0">
                <a:spAutoFit/>
              </a:bodyPr>
              <a:p>
                <a:pPr algn="ctr"/>
                <a:r>
                  <a:rPr lang="en-US" altLang="zh-CN" sz="1600">
                    <a:solidFill>
                      <a:srgbClr val="FF0000"/>
                    </a:solidFill>
                  </a:rPr>
                  <a:t>3σ</a:t>
                </a:r>
                <a:r>
                  <a:rPr lang="zh-CN" altLang="en-US" sz="1600">
                    <a:solidFill>
                      <a:srgbClr val="FF0000"/>
                    </a:solidFill>
                  </a:rPr>
                  <a:t>截断，</a:t>
                </a:r>
                <a14:m>
                  <m:oMath xmlns:m="http://schemas.openxmlformats.org/officeDocument/2006/math">
                    <m:sSub>
                      <m:sSubPr>
                        <m:ctrlPr>
                          <a:rPr lang="en-US" altLang="zh-CN" sz="1600" i="1">
                            <a:solidFill>
                              <a:srgbClr val="FF0000"/>
                            </a:solidFill>
                            <a:latin typeface="Cambria Math" panose="02040503050406030204" charset="0"/>
                            <a:cs typeface="Cambria Math" panose="02040503050406030204" charset="0"/>
                          </a:rPr>
                        </m:ctrlPr>
                      </m:sSubPr>
                      <m:e>
                        <m:r>
                          <a:rPr lang="en-US" altLang="zh-CN" sz="1600" i="1">
                            <a:solidFill>
                              <a:srgbClr val="FF0000"/>
                            </a:solidFill>
                            <a:latin typeface="Cambria Math" panose="02040503050406030204" charset="0"/>
                            <a:cs typeface="Cambria Math" panose="02040503050406030204" charset="0"/>
                          </a:rPr>
                          <m:t>ℎ</m:t>
                        </m:r>
                      </m:e>
                      <m:sub>
                        <m:r>
                          <a:rPr lang="en-US" altLang="zh-CN" sz="1600" i="1">
                            <a:solidFill>
                              <a:srgbClr val="FF0000"/>
                            </a:solidFill>
                            <a:latin typeface="Cambria Math" panose="02040503050406030204" charset="0"/>
                            <a:cs typeface="Cambria Math" panose="02040503050406030204" charset="0"/>
                          </a:rPr>
                          <m:t>𝑗</m:t>
                        </m:r>
                      </m:sub>
                    </m:sSub>
                  </m:oMath>
                </a14:m>
                <a:r>
                  <a:rPr lang="zh-CN" altLang="en-US" sz="1600">
                    <a:solidFill>
                      <a:srgbClr val="FF0000"/>
                    </a:solidFill>
                    <a:latin typeface="Cambria Math" panose="02040503050406030204" charset="0"/>
                    <a:cs typeface="Cambria Math" panose="02040503050406030204" charset="0"/>
                  </a:rPr>
                  <a:t>存在</a:t>
                </a:r>
                <a:r>
                  <a:rPr lang="en-US" altLang="zh-CN" sz="1600">
                    <a:solidFill>
                      <a:srgbClr val="FF0000"/>
                    </a:solidFill>
                    <a:latin typeface="Cambria Math" panose="02040503050406030204" charset="0"/>
                    <a:cs typeface="Cambria Math" panose="02040503050406030204" charset="0"/>
                  </a:rPr>
                  <a:t> </a:t>
                </a:r>
                <a:r>
                  <a:rPr lang="zh-CN" altLang="en-US" sz="1600">
                    <a:solidFill>
                      <a:srgbClr val="FF0000"/>
                    </a:solidFill>
                    <a:latin typeface="Cambria Math" panose="02040503050406030204" charset="0"/>
                    <a:cs typeface="Cambria Math" panose="02040503050406030204" charset="0"/>
                  </a:rPr>
                  <a:t>，</a:t>
                </a:r>
                <a:r>
                  <a:rPr lang="zh-CN" altLang="en-US" sz="1600">
                    <a:solidFill>
                      <a:srgbClr val="FF0000"/>
                    </a:solidFill>
                    <a:latin typeface="Cambria Math" panose="02040503050406030204" charset="0"/>
                    <a:cs typeface="Cambria Math" panose="02040503050406030204" charset="0"/>
                    <a:sym typeface="+mn-ea"/>
                  </a:rPr>
                  <a:t>截断扰动下</a:t>
                </a:r>
                <a:r>
                  <a:rPr lang="zh-CN" altLang="en-US" sz="1600">
                    <a:solidFill>
                      <a:srgbClr val="FF0000"/>
                    </a:solidFill>
                    <a:latin typeface="Cambria Math" panose="02040503050406030204" charset="0"/>
                    <a:cs typeface="Cambria Math" panose="02040503050406030204" charset="0"/>
                  </a:rPr>
                  <a:t>可以保证严格递归可行</a:t>
                </a:r>
                <a:endParaRPr lang="zh-CN" altLang="en-US" sz="1600">
                  <a:solidFill>
                    <a:srgbClr val="FF0000"/>
                  </a:solidFill>
                  <a:latin typeface="Cambria Math" panose="02040503050406030204" charset="0"/>
                  <a:cs typeface="Cambria Math" panose="02040503050406030204" charset="0"/>
                </a:endParaRPr>
              </a:p>
            </p:txBody>
          </p:sp>
        </mc:Choice>
        <mc:Fallback>
          <p:sp>
            <p:nvSpPr>
              <p:cNvPr id="12" name="文本框 11"/>
              <p:cNvSpPr txBox="1">
                <a:spLocks noRot="1" noChangeAspect="1" noMove="1" noResize="1" noEditPoints="1" noAdjustHandles="1" noChangeArrowheads="1" noChangeShapeType="1" noTextEdit="1"/>
              </p:cNvSpPr>
              <p:nvPr>
                <p:custDataLst>
                  <p:tags r:id="rId8"/>
                </p:custDataLst>
              </p:nvPr>
            </p:nvSpPr>
            <p:spPr>
              <a:xfrm>
                <a:off x="62865" y="4829810"/>
                <a:ext cx="5220335" cy="346075"/>
              </a:xfrm>
              <a:prstGeom prst="rect">
                <a:avLst/>
              </a:prstGeom>
              <a:blipFill rotWithShape="1">
                <a:blip r:embed="rId9"/>
                <a:stretch>
                  <a:fillRect/>
                </a:stretch>
              </a:blipFill>
            </p:spPr>
            <p:txBody>
              <a:bodyPr/>
              <a:lstStyle/>
              <a:p>
                <a:r>
                  <a:rPr lang="zh-CN" altLang="en-US">
                    <a:noFill/>
                  </a:rPr>
                  <a:t> </a:t>
                </a:r>
              </a:p>
            </p:txBody>
          </p:sp>
        </mc:Fallback>
      </mc:AlternateContent>
      <p:sp>
        <p:nvSpPr>
          <p:cNvPr id="2" name="文本占位符 1"/>
          <p:cNvSpPr>
            <a:spLocks noGrp="1"/>
          </p:cNvSpPr>
          <p:nvPr>
            <p:ph type="body" idx="1"/>
          </p:nvPr>
        </p:nvSpPr>
        <p:spPr/>
        <p:txBody>
          <a:bodyPr/>
          <a:p>
            <a:pPr algn="l"/>
            <a:r>
              <a:rPr lang="zh-CN" altLang="en-US"/>
              <a:t>基于分布函数的</a:t>
            </a:r>
            <a:r>
              <a:rPr lang="en-US" altLang="zh-CN"/>
              <a:t>SMPC</a:t>
            </a:r>
            <a:r>
              <a:rPr lang="zh-CN" altLang="en-US"/>
              <a:t>在有界扰动下能保证递归可行和渐进稳定，在无界扰动下可以依</a:t>
            </a:r>
            <a:r>
              <a:rPr lang="zh-CN" altLang="en-US"/>
              <a:t>可调概率递归可行和渐进</a:t>
            </a:r>
            <a:r>
              <a:rPr lang="zh-CN" altLang="en-US"/>
              <a:t>稳定</a:t>
            </a:r>
            <a:endParaRPr lang="zh-CN" altLang="en-US"/>
          </a:p>
        </p:txBody>
      </p:sp>
      <p:sp>
        <p:nvSpPr>
          <p:cNvPr id="3" name="文本占位符 2"/>
          <p:cNvSpPr>
            <a:spLocks noGrp="1"/>
          </p:cNvSpPr>
          <p:nvPr>
            <p:ph type="body" idx="13"/>
          </p:nvPr>
        </p:nvSpPr>
        <p:spPr>
          <a:xfrm>
            <a:off x="0" y="670560"/>
            <a:ext cx="6568440" cy="448310"/>
          </a:xfrm>
        </p:spPr>
        <p:txBody>
          <a:bodyPr/>
          <a:p>
            <a:r>
              <a:rPr lang="en-US" altLang="zh-CN">
                <a:sym typeface="+mn-ea"/>
              </a:rPr>
              <a:t>&gt;&gt;&gt;</a:t>
            </a:r>
            <a:r>
              <a:rPr>
                <a:sym typeface="+mn-ea"/>
              </a:rPr>
              <a:t>基于分布函数的随机模型预测控制</a:t>
            </a:r>
            <a:r>
              <a:rPr>
                <a:sym typeface="+mn-ea"/>
              </a:rPr>
              <a:t>性质证明</a:t>
            </a:r>
            <a:endParaRPr>
              <a:sym typeface="+mn-ea"/>
            </a:endParaRPr>
          </a:p>
        </p:txBody>
      </p:sp>
      <p:sp>
        <p:nvSpPr>
          <p:cNvPr id="4" name="文本占位符 3"/>
          <p:cNvSpPr>
            <a:spLocks noGrp="1"/>
          </p:cNvSpPr>
          <p:nvPr>
            <p:ph type="body" idx="14"/>
          </p:nvPr>
        </p:nvSpPr>
        <p:spPr>
          <a:xfrm>
            <a:off x="805180" y="111760"/>
            <a:ext cx="8169275" cy="448310"/>
          </a:xfrm>
        </p:spPr>
        <p:txBody>
          <a:bodyPr/>
          <a:p>
            <a:r>
              <a:rPr>
                <a:sym typeface="+mn-ea"/>
              </a:rPr>
              <a:t>随机模型预测控制解机会约束优化问题（</a:t>
            </a:r>
            <a:r>
              <a:rPr lang="en-US" altLang="zh-CN">
                <a:sym typeface="+mn-ea"/>
              </a:rPr>
              <a:t>4.5</a:t>
            </a:r>
            <a:r>
              <a:rPr>
                <a:sym typeface="+mn-ea"/>
              </a:rPr>
              <a:t>）</a:t>
            </a:r>
            <a:endParaRPr lang="zh-CN" altLang="en-US"/>
          </a:p>
          <a:p>
            <a:endParaRPr lang="zh-CN" altLang="en-US"/>
          </a:p>
        </p:txBody>
      </p:sp>
      <p:cxnSp>
        <p:nvCxnSpPr>
          <p:cNvPr id="13" name="直接箭头连接符 12"/>
          <p:cNvCxnSpPr/>
          <p:nvPr/>
        </p:nvCxnSpPr>
        <p:spPr>
          <a:xfrm>
            <a:off x="5327650" y="4443095"/>
            <a:ext cx="947420" cy="0"/>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44" name="圆角矩形 43"/>
          <p:cNvSpPr/>
          <p:nvPr>
            <p:custDataLst>
              <p:tags r:id="rId10"/>
            </p:custDataLst>
          </p:nvPr>
        </p:nvSpPr>
        <p:spPr>
          <a:xfrm>
            <a:off x="86360" y="1223010"/>
            <a:ext cx="5194300" cy="1979930"/>
          </a:xfrm>
          <a:prstGeom prst="round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1800" i="1">
              <a:solidFill>
                <a:schemeClr val="tx1"/>
              </a:solidFill>
              <a:latin typeface="Cambria Math" panose="02040503050406030204" charset="0"/>
              <a:ea typeface="微软雅黑" panose="020B0503020204020204" pitchFamily="34" charset="-122"/>
              <a:cs typeface="Cambria Math" panose="02040503050406030204" charset="0"/>
            </a:endParaRPr>
          </a:p>
        </p:txBody>
      </p:sp>
      <mc:AlternateContent xmlns:mc="http://schemas.openxmlformats.org/markup-compatibility/2006">
        <mc:Choice xmlns:a14="http://schemas.microsoft.com/office/drawing/2010/main" Requires="a14">
          <p:sp>
            <p:nvSpPr>
              <p:cNvPr id="42" name="文本框 41"/>
              <p:cNvSpPr txBox="1"/>
              <p:nvPr/>
            </p:nvSpPr>
            <p:spPr>
              <a:xfrm>
                <a:off x="360045" y="1350010"/>
                <a:ext cx="4932045" cy="1420495"/>
              </a:xfrm>
              <a:prstGeom prst="rect">
                <a:avLst/>
              </a:prstGeom>
              <a:noFill/>
            </p:spPr>
            <p:txBody>
              <a:bodyPr wrap="none" rtlCol="0" anchor="t">
                <a:noAutofit/>
              </a:bodyPr>
              <a:p>
                <a:pPr indent="0" algn="l" fontAlgn="auto">
                  <a:lnSpc>
                    <a:spcPct val="150000"/>
                  </a:lnSpc>
                </a:pPr>
                <a14:m>
                  <m:oMathPara xmlns:m="http://schemas.openxmlformats.org/officeDocument/2006/math">
                    <m:oMathParaPr>
                      <m:jc m:val="left"/>
                    </m:oMathParaPr>
                    <m:oMath xmlns:m="http://schemas.openxmlformats.org/officeDocument/2006/math">
                      <m:sSub>
                        <m:sSubPr>
                          <m:ctrlPr>
                            <a:rPr lang="en-US" altLang="zh-CN" sz="1400" i="1">
                              <a:latin typeface="Cambria Math" panose="02040503050406030204" charset="0"/>
                              <a:cs typeface="Cambria Math" panose="02040503050406030204" charset="0"/>
                            </a:rPr>
                          </m:ctrlPr>
                        </m:sSubPr>
                        <m:e>
                          <m:r>
                            <a:rPr lang="en-US" altLang="zh-CN" sz="1400" i="1">
                              <a:latin typeface="Cambria Math" panose="02040503050406030204" charset="0"/>
                              <a:cs typeface="Cambria Math" panose="02040503050406030204" charset="0"/>
                            </a:rPr>
                            <m:t>ℎ</m:t>
                          </m:r>
                        </m:e>
                        <m:sub>
                          <m:r>
                            <a:rPr lang="en-US" altLang="zh-CN" sz="1400" i="1">
                              <a:latin typeface="Cambria Math" panose="02040503050406030204" charset="0"/>
                              <a:cs typeface="Cambria Math" panose="02040503050406030204" charset="0"/>
                            </a:rPr>
                            <m:t>𝑗</m:t>
                          </m:r>
                        </m:sub>
                      </m:sSub>
                      <m:r>
                        <a:rPr lang="en-US" altLang="zh-CN" sz="1400" i="1">
                          <a:latin typeface="Cambria Math" panose="02040503050406030204" charset="0"/>
                          <a:cs typeface="Cambria Math" panose="02040503050406030204" charset="0"/>
                        </a:rPr>
                        <m:t>≥</m:t>
                      </m:r>
                      <m:d>
                        <m:dPr>
                          <m:begChr m:val="{"/>
                          <m:endChr m:val=""/>
                          <m:ctrlPr>
                            <a:rPr lang="en-US" altLang="zh-CN" sz="1400" i="1">
                              <a:latin typeface="Cambria Math" panose="02040503050406030204" charset="0"/>
                              <a:cs typeface="Cambria Math" panose="02040503050406030204" charset="0"/>
                            </a:rPr>
                          </m:ctrlPr>
                        </m:dPr>
                        <m:e>
                          <m:m>
                            <m:mPr>
                              <m:mcs>
                                <m:mc>
                                  <m:mcPr>
                                    <m:count m:val="1"/>
                                    <m:mcJc m:val="center"/>
                                  </m:mcPr>
                                </m:mc>
                              </m:mcs>
                              <m:ctrlPr>
                                <a:rPr lang="en-US" altLang="zh-CN" sz="1400" i="1">
                                  <a:latin typeface="Cambria Math" panose="02040503050406030204" charset="0"/>
                                  <a:cs typeface="Cambria Math" panose="02040503050406030204" charset="0"/>
                                </a:rPr>
                              </m:ctrlPr>
                            </m:mPr>
                            <m:mr>
                              <m:e>
                                <m:sSubSup>
                                  <m:sSubSupPr>
                                    <m:ctrlPr>
                                      <a:rPr lang="en-US" altLang="zh-CN" sz="1400" i="1">
                                        <a:latin typeface="Cambria Math" panose="02040503050406030204" charset="0"/>
                                        <a:cs typeface="Cambria Math" panose="02040503050406030204" charset="0"/>
                                      </a:rPr>
                                    </m:ctrlPr>
                                  </m:sSubSupPr>
                                  <m:e>
                                    <m:r>
                                      <a:rPr lang="en-US" altLang="zh-CN" sz="1400" i="1">
                                        <a:latin typeface="Cambria Math" panose="02040503050406030204" charset="0"/>
                                        <a:cs typeface="Cambria Math" panose="02040503050406030204" charset="0"/>
                                      </a:rPr>
                                      <m:t>𝐹</m:t>
                                    </m:r>
                                  </m:e>
                                  <m:sub>
                                    <m:sSup>
                                      <m:sSupPr>
                                        <m:ctrlPr>
                                          <a:rPr lang="en-US" altLang="zh-CN" sz="1400" i="1">
                                            <a:solidFill>
                                              <a:srgbClr val="35D949"/>
                                            </a:solidFill>
                                            <a:latin typeface="Cambria Math" panose="02040503050406030204" charset="0"/>
                                            <a:cs typeface="Cambria Math" panose="02040503050406030204" charset="0"/>
                                          </a:rPr>
                                        </m:ctrlPr>
                                      </m:sSupPr>
                                      <m:e>
                                        <m:r>
                                          <a:rPr lang="en-US" altLang="zh-CN" sz="1400" i="1">
                                            <a:solidFill>
                                              <a:srgbClr val="35D949"/>
                                            </a:solidFill>
                                            <a:latin typeface="Cambria Math" panose="02040503050406030204" charset="0"/>
                                            <a:cs typeface="Cambria Math" panose="02040503050406030204" charset="0"/>
                                          </a:rPr>
                                          <m:t>𝑔</m:t>
                                        </m:r>
                                      </m:e>
                                      <m:sup>
                                        <m:r>
                                          <a:rPr lang="en-US" altLang="zh-CN" sz="1400" i="1">
                                            <a:solidFill>
                                              <a:srgbClr val="35D949"/>
                                            </a:solidFill>
                                            <a:latin typeface="Cambria Math" panose="02040503050406030204" charset="0"/>
                                            <a:cs typeface="Cambria Math" panose="02040503050406030204" charset="0"/>
                                          </a:rPr>
                                          <m:t>𝑇</m:t>
                                        </m:r>
                                      </m:sup>
                                    </m:sSup>
                                    <m:sSub>
                                      <m:sSubPr>
                                        <m:ctrlPr>
                                          <a:rPr lang="en-US" altLang="zh-CN" sz="1400" i="1">
                                            <a:solidFill>
                                              <a:srgbClr val="35D949"/>
                                            </a:solidFill>
                                            <a:latin typeface="Cambria Math" panose="02040503050406030204" charset="0"/>
                                            <a:cs typeface="Cambria Math" panose="02040503050406030204" charset="0"/>
                                          </a:rPr>
                                        </m:ctrlPr>
                                      </m:sSubPr>
                                      <m:e>
                                        <m:r>
                                          <a:rPr lang="en-US" altLang="zh-CN" sz="1400" i="1">
                                            <a:solidFill>
                                              <a:srgbClr val="35D949"/>
                                            </a:solidFill>
                                            <a:latin typeface="Cambria Math" panose="02040503050406030204" charset="0"/>
                                            <a:cs typeface="Cambria Math" panose="02040503050406030204" charset="0"/>
                                          </a:rPr>
                                          <m:t>𝑒</m:t>
                                        </m:r>
                                      </m:e>
                                      <m:sub>
                                        <m:r>
                                          <a:rPr lang="en-US" altLang="zh-CN" sz="1400" i="1">
                                            <a:solidFill>
                                              <a:srgbClr val="35D949"/>
                                            </a:solidFill>
                                            <a:latin typeface="Cambria Math" panose="02040503050406030204" charset="0"/>
                                            <a:cs typeface="Cambria Math" panose="02040503050406030204" charset="0"/>
                                          </a:rPr>
                                          <m:t>𝑗</m:t>
                                        </m:r>
                                      </m:sub>
                                    </m:sSub>
                                  </m:sub>
                                  <m:sup>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1</m:t>
                                    </m:r>
                                  </m:sup>
                                </m:sSubSup>
                                <m:r>
                                  <a:rPr lang="en-US" altLang="zh-CN" sz="1400" i="1">
                                    <a:latin typeface="Cambria Math" panose="02040503050406030204" charset="0"/>
                                    <a:cs typeface="Cambria Math" panose="02040503050406030204" charset="0"/>
                                  </a:rPr>
                                  <m:t>(</m:t>
                                </m:r>
                                <m:sSub>
                                  <m:sSubPr>
                                    <m:ctrlPr>
                                      <a:rPr lang="en-US" altLang="zh-CN" sz="1400" i="1">
                                        <a:latin typeface="Cambria Math" panose="02040503050406030204" charset="0"/>
                                        <a:cs typeface="Cambria Math" panose="02040503050406030204" charset="0"/>
                                      </a:rPr>
                                    </m:ctrlPr>
                                  </m:sSubPr>
                                  <m:e>
                                    <m:r>
                                      <a:rPr lang="en-US" altLang="zh-CN" sz="1400" i="1">
                                        <a:latin typeface="Cambria Math" panose="02040503050406030204" charset="0"/>
                                        <a:cs typeface="Cambria Math" panose="02040503050406030204" charset="0"/>
                                      </a:rPr>
                                      <m:t>𝑝</m:t>
                                    </m:r>
                                  </m:e>
                                  <m:sub>
                                    <m:r>
                                      <a:rPr lang="en-US" altLang="zh-CN" sz="1400" i="1">
                                        <a:latin typeface="Cambria Math" panose="02040503050406030204" charset="0"/>
                                        <a:cs typeface="Cambria Math" panose="02040503050406030204" charset="0"/>
                                      </a:rPr>
                                      <m:t>𝑟𝑒𝑓</m:t>
                                    </m:r>
                                  </m:sub>
                                </m:sSub>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𝑗</m:t>
                                </m:r>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1</m:t>
                                </m:r>
                              </m:e>
                            </m:mr>
                            <m:mr>
                              <m:e>
                                <m:r>
                                  <a:rPr lang="en-US" sz="1400" i="1">
                                    <a:latin typeface="Cambria Math" panose="02040503050406030204" charset="0"/>
                                  </a:rPr>
                                  <m:t>𝑚𝑎𝑥</m:t>
                                </m:r>
                                <m:r>
                                  <a:rPr lang="en-US" sz="1400" i="1">
                                    <a:latin typeface="Cambria Math" panose="02040503050406030204" charset="0"/>
                                  </a:rPr>
                                  <m:t>{</m:t>
                                </m:r>
                                <m:sSubSup>
                                  <m:sSubSupPr>
                                    <m:ctrlPr>
                                      <a:rPr lang="en-US" altLang="zh-CN" sz="1400" i="1">
                                        <a:latin typeface="Cambria Math" panose="02040503050406030204" charset="0"/>
                                        <a:cs typeface="Cambria Math" panose="02040503050406030204" charset="0"/>
                                      </a:rPr>
                                    </m:ctrlPr>
                                  </m:sSubSupPr>
                                  <m:e>
                                    <m:r>
                                      <a:rPr lang="en-US" altLang="zh-CN" sz="1400" i="1">
                                        <a:latin typeface="Cambria Math" panose="02040503050406030204" charset="0"/>
                                        <a:cs typeface="Cambria Math" panose="02040503050406030204" charset="0"/>
                                      </a:rPr>
                                      <m:t>𝐹</m:t>
                                    </m:r>
                                  </m:e>
                                  <m:sub>
                                    <m:sSup>
                                      <m:sSupPr>
                                        <m:ctrlPr>
                                          <a:rPr lang="en-US" altLang="zh-CN" sz="1400" i="1">
                                            <a:solidFill>
                                              <a:srgbClr val="35D949"/>
                                            </a:solidFill>
                                            <a:latin typeface="Cambria Math" panose="02040503050406030204" charset="0"/>
                                            <a:cs typeface="Cambria Math" panose="02040503050406030204" charset="0"/>
                                          </a:rPr>
                                        </m:ctrlPr>
                                      </m:sSupPr>
                                      <m:e>
                                        <m:r>
                                          <a:rPr lang="en-US" altLang="zh-CN" sz="1400" i="1">
                                            <a:solidFill>
                                              <a:srgbClr val="35D949"/>
                                            </a:solidFill>
                                            <a:latin typeface="Cambria Math" panose="02040503050406030204" charset="0"/>
                                            <a:cs typeface="Cambria Math" panose="02040503050406030204" charset="0"/>
                                          </a:rPr>
                                          <m:t>𝑔</m:t>
                                        </m:r>
                                      </m:e>
                                      <m:sup>
                                        <m:r>
                                          <a:rPr lang="en-US" altLang="zh-CN" sz="1400" i="1">
                                            <a:solidFill>
                                              <a:srgbClr val="35D949"/>
                                            </a:solidFill>
                                            <a:latin typeface="Cambria Math" panose="02040503050406030204" charset="0"/>
                                            <a:cs typeface="Cambria Math" panose="02040503050406030204" charset="0"/>
                                          </a:rPr>
                                          <m:t>𝑇</m:t>
                                        </m:r>
                                      </m:sup>
                                    </m:sSup>
                                    <m:sSub>
                                      <m:sSubPr>
                                        <m:ctrlPr>
                                          <a:rPr lang="en-US" altLang="zh-CN" sz="1400" i="1">
                                            <a:solidFill>
                                              <a:srgbClr val="35D949"/>
                                            </a:solidFill>
                                            <a:latin typeface="Cambria Math" panose="02040503050406030204" charset="0"/>
                                            <a:cs typeface="Cambria Math" panose="02040503050406030204" charset="0"/>
                                          </a:rPr>
                                        </m:ctrlPr>
                                      </m:sSubPr>
                                      <m:e>
                                        <m:r>
                                          <a:rPr lang="en-US" altLang="zh-CN" sz="1400" i="1">
                                            <a:solidFill>
                                              <a:srgbClr val="35D949"/>
                                            </a:solidFill>
                                            <a:latin typeface="Cambria Math" panose="02040503050406030204" charset="0"/>
                                            <a:cs typeface="Cambria Math" panose="02040503050406030204" charset="0"/>
                                          </a:rPr>
                                          <m:t>𝑒</m:t>
                                        </m:r>
                                      </m:e>
                                      <m:sub>
                                        <m:r>
                                          <a:rPr lang="en-US" altLang="zh-CN" sz="1400" i="1">
                                            <a:solidFill>
                                              <a:srgbClr val="35D949"/>
                                            </a:solidFill>
                                            <a:latin typeface="Cambria Math" panose="02040503050406030204" charset="0"/>
                                            <a:cs typeface="Cambria Math" panose="02040503050406030204" charset="0"/>
                                          </a:rPr>
                                          <m:t>𝑗</m:t>
                                        </m:r>
                                      </m:sub>
                                    </m:sSub>
                                  </m:sub>
                                  <m:sup>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1</m:t>
                                    </m:r>
                                  </m:sup>
                                </m:sSubSup>
                                <m:r>
                                  <a:rPr lang="en-US" altLang="zh-CN" sz="1400" i="1">
                                    <a:latin typeface="Cambria Math" panose="02040503050406030204" charset="0"/>
                                    <a:cs typeface="Cambria Math" panose="02040503050406030204" charset="0"/>
                                  </a:rPr>
                                  <m:t>(</m:t>
                                </m:r>
                                <m:sSub>
                                  <m:sSubPr>
                                    <m:ctrlPr>
                                      <a:rPr lang="en-US" altLang="zh-CN" sz="1400" i="1">
                                        <a:latin typeface="Cambria Math" panose="02040503050406030204" charset="0"/>
                                        <a:cs typeface="Cambria Math" panose="02040503050406030204" charset="0"/>
                                      </a:rPr>
                                    </m:ctrlPr>
                                  </m:sSubPr>
                                  <m:e>
                                    <m:r>
                                      <a:rPr lang="en-US" altLang="zh-CN" sz="1400" i="1">
                                        <a:latin typeface="Cambria Math" panose="02040503050406030204" charset="0"/>
                                        <a:cs typeface="Cambria Math" panose="02040503050406030204" charset="0"/>
                                      </a:rPr>
                                      <m:t>𝑝</m:t>
                                    </m:r>
                                  </m:e>
                                  <m:sub>
                                    <m:r>
                                      <a:rPr lang="en-US" altLang="zh-CN" sz="1400" i="1">
                                        <a:latin typeface="Cambria Math" panose="02040503050406030204" charset="0"/>
                                        <a:cs typeface="Cambria Math" panose="02040503050406030204" charset="0"/>
                                      </a:rPr>
                                      <m:t>𝑟𝑒𝑓</m:t>
                                    </m:r>
                                  </m:sub>
                                </m:sSub>
                                <m:r>
                                  <a:rPr lang="en-US" altLang="zh-CN" sz="1400" i="1">
                                    <a:latin typeface="Cambria Math" panose="02040503050406030204" charset="0"/>
                                    <a:cs typeface="Cambria Math" panose="02040503050406030204" charset="0"/>
                                  </a:rPr>
                                  <m:t>),</m:t>
                                </m:r>
                                <m:sSub>
                                  <m:sSubPr>
                                    <m:ctrlPr>
                                      <a:rPr lang="en-US" altLang="zh-CN" sz="1400" i="1">
                                        <a:latin typeface="Cambria Math" panose="02040503050406030204" charset="0"/>
                                        <a:cs typeface="Cambria Math" panose="02040503050406030204" charset="0"/>
                                      </a:rPr>
                                    </m:ctrlPr>
                                  </m:sSubPr>
                                  <m:e>
                                    <m:r>
                                      <a:rPr lang="en-US" altLang="zh-CN" sz="1400" i="1">
                                        <a:latin typeface="Cambria Math" panose="02040503050406030204" charset="0"/>
                                        <a:cs typeface="Cambria Math" panose="02040503050406030204" charset="0"/>
                                      </a:rPr>
                                      <m:t>ℎ</m:t>
                                    </m:r>
                                  </m:e>
                                  <m:sub>
                                    <m:r>
                                      <a:rPr lang="en-US" altLang="zh-CN" sz="1400" i="1">
                                        <a:latin typeface="Cambria Math" panose="02040503050406030204" charset="0"/>
                                        <a:cs typeface="Cambria Math" panose="02040503050406030204" charset="0"/>
                                      </a:rPr>
                                      <m:t>𝑗</m:t>
                                    </m:r>
                                    <m:r>
                                      <a:rPr lang="en-US" altLang="zh-CN" sz="1400" i="1">
                                        <a:latin typeface="Cambria Math" panose="02040503050406030204" charset="0"/>
                                        <a:cs typeface="Cambria Math" panose="02040503050406030204" charset="0"/>
                                      </a:rPr>
                                      <m:t>−</m:t>
                                    </m:r>
                                    <m:r>
                                      <a:rPr lang="en-US" altLang="zh-CN" sz="1400" i="1">
                                        <a:latin typeface="Cambria Math" panose="02040503050406030204" charset="0"/>
                                        <a:cs typeface="Cambria Math" panose="02040503050406030204" charset="0"/>
                                      </a:rPr>
                                      <m:t>1</m:t>
                                    </m:r>
                                  </m:sub>
                                </m:sSub>
                                <m:r>
                                  <a:rPr lang="en-US" sz="1400" i="1">
                                    <a:latin typeface="Cambria Math" panose="02040503050406030204" charset="0"/>
                                  </a:rPr>
                                  <m:t>+</m:t>
                                </m:r>
                                <m:sSup>
                                  <m:sSupPr>
                                    <m:ctrlPr>
                                      <a:rPr lang="en-US" sz="1400" i="1">
                                        <a:latin typeface="Cambria Math" panose="02040503050406030204" charset="0"/>
                                        <a:cs typeface="Cambria Math" panose="02040503050406030204" charset="0"/>
                                      </a:rPr>
                                    </m:ctrlPr>
                                  </m:sSupPr>
                                  <m:e>
                                    <m:r>
                                      <a:rPr lang="en-US" sz="1400" i="1">
                                        <a:latin typeface="Cambria Math" panose="02040503050406030204" charset="0"/>
                                        <a:cs typeface="Cambria Math" panose="02040503050406030204" charset="0"/>
                                      </a:rPr>
                                      <m:t>𝑔</m:t>
                                    </m:r>
                                  </m:e>
                                  <m:sup>
                                    <m:r>
                                      <a:rPr lang="en-US" sz="1400" i="1">
                                        <a:latin typeface="Cambria Math" panose="02040503050406030204" charset="0"/>
                                        <a:cs typeface="Cambria Math" panose="02040503050406030204" charset="0"/>
                                      </a:rPr>
                                      <m:t>𝑇</m:t>
                                    </m:r>
                                  </m:sup>
                                </m:sSup>
                                <m:sSup>
                                  <m:sSupPr>
                                    <m:ctrlPr>
                                      <a:rPr lang="en-US" sz="1400" i="1">
                                        <a:latin typeface="Cambria Math" panose="02040503050406030204" charset="0"/>
                                        <a:cs typeface="Cambria Math" panose="02040503050406030204" charset="0"/>
                                      </a:rPr>
                                    </m:ctrlPr>
                                  </m:sSupPr>
                                  <m:e>
                                    <m:r>
                                      <a:rPr lang="en-US" altLang="zh-CN" sz="1400" i="1">
                                        <a:latin typeface="Cambria Math" panose="02040503050406030204" charset="0"/>
                                        <a:ea typeface="MS Mincho" charset="0"/>
                                        <a:cs typeface="Cambria Math" panose="02040503050406030204" charset="0"/>
                                      </a:rPr>
                                      <m:t>Փ</m:t>
                                    </m:r>
                                  </m:e>
                                  <m:sup>
                                    <m:r>
                                      <a:rPr lang="en-US" sz="1400" i="1">
                                        <a:latin typeface="Cambria Math" panose="02040503050406030204" charset="0"/>
                                        <a:cs typeface="Cambria Math" panose="02040503050406030204" charset="0"/>
                                      </a:rPr>
                                      <m:t>𝑗</m:t>
                                    </m:r>
                                    <m:r>
                                      <a:rPr lang="en-US" sz="1400" i="1">
                                        <a:latin typeface="Cambria Math" panose="02040503050406030204" charset="0"/>
                                        <a:cs typeface="Cambria Math" panose="02040503050406030204" charset="0"/>
                                      </a:rPr>
                                      <m:t>−</m:t>
                                    </m:r>
                                    <m:r>
                                      <a:rPr lang="en-US" sz="1400" i="1">
                                        <a:latin typeface="Cambria Math" panose="02040503050406030204" charset="0"/>
                                        <a:cs typeface="Cambria Math" panose="02040503050406030204" charset="0"/>
                                      </a:rPr>
                                      <m:t>1</m:t>
                                    </m:r>
                                  </m:sup>
                                </m:sSup>
                                <m:sSub>
                                  <m:sSubPr>
                                    <m:ctrlPr>
                                      <a:rPr lang="en-US" sz="1400" i="1">
                                        <a:latin typeface="Cambria Math" panose="02040503050406030204" charset="0"/>
                                        <a:cs typeface="Cambria Math" panose="02040503050406030204" charset="0"/>
                                      </a:rPr>
                                    </m:ctrlPr>
                                  </m:sSubPr>
                                  <m:e>
                                    <m:r>
                                      <a:rPr lang="en-US" sz="1400" i="1">
                                        <a:latin typeface="Cambria Math" panose="02040503050406030204" charset="0"/>
                                        <a:cs typeface="Cambria Math" panose="02040503050406030204" charset="0"/>
                                      </a:rPr>
                                      <m:t>𝑤</m:t>
                                    </m:r>
                                  </m:e>
                                  <m:sub>
                                    <m:r>
                                      <a:rPr lang="en-US" sz="1400" i="1">
                                        <a:latin typeface="Cambria Math" panose="02040503050406030204" charset="0"/>
                                        <a:cs typeface="Cambria Math" panose="02040503050406030204" charset="0"/>
                                      </a:rPr>
                                      <m:t>𝑘</m:t>
                                    </m:r>
                                  </m:sub>
                                </m:sSub>
                                <m:r>
                                  <a:rPr lang="en-US" sz="1400" i="1">
                                    <a:latin typeface="Cambria Math" panose="02040503050406030204" charset="0"/>
                                  </a:rPr>
                                  <m:t>,</m:t>
                                </m:r>
                                <m:r>
                                  <a:rPr lang="en-US" sz="1400" i="1">
                                    <a:latin typeface="Cambria Math" panose="02040503050406030204" charset="0"/>
                                  </a:rPr>
                                  <m:t>𝑗</m:t>
                                </m:r>
                                <m:r>
                                  <a:rPr lang="en-US" sz="1400" i="1">
                                    <a:latin typeface="Cambria Math" panose="02040503050406030204" charset="0"/>
                                    <a:cs typeface="Cambria Math" panose="02040503050406030204" charset="0"/>
                                  </a:rPr>
                                  <m:t>≥</m:t>
                                </m:r>
                                <m:r>
                                  <a:rPr lang="en-US" sz="1400" i="1">
                                    <a:latin typeface="Cambria Math" panose="02040503050406030204" charset="0"/>
                                    <a:cs typeface="Cambria Math" panose="02040503050406030204" charset="0"/>
                                  </a:rPr>
                                  <m:t>2</m:t>
                                </m:r>
                                <m:r>
                                  <a:rPr lang="en-US" sz="1400" i="1">
                                    <a:latin typeface="Cambria Math" panose="02040503050406030204" charset="0"/>
                                  </a:rPr>
                                  <m:t>}</m:t>
                                </m:r>
                              </m:e>
                            </m:mr>
                          </m:m>
                        </m:e>
                      </m:d>
                      <m:r>
                        <a:rPr lang="en-US" altLang="zh-CN" sz="1400" i="1">
                          <a:latin typeface="Cambria Math" panose="02040503050406030204" charset="0"/>
                          <a:cs typeface="Cambria Math" panose="02040503050406030204" charset="0"/>
                        </a:rPr>
                        <m:t> </m:t>
                      </m:r>
                    </m:oMath>
                  </m:oMathPara>
                </a14:m>
                <a:endParaRPr lang="en-US" altLang="zh-CN" sz="1400"/>
              </a:p>
            </p:txBody>
          </p:sp>
        </mc:Choice>
        <mc:Fallback>
          <p:sp>
            <p:nvSpPr>
              <p:cNvPr id="42" name="文本框 41"/>
              <p:cNvSpPr txBox="1">
                <a:spLocks noRot="1" noChangeAspect="1" noMove="1" noResize="1" noEditPoints="1" noAdjustHandles="1" noChangeArrowheads="1" noChangeShapeType="1" noTextEdit="1"/>
              </p:cNvSpPr>
              <p:nvPr/>
            </p:nvSpPr>
            <p:spPr>
              <a:xfrm>
                <a:off x="360045" y="1350010"/>
                <a:ext cx="4932045" cy="1420495"/>
              </a:xfrm>
              <a:prstGeom prst="rect">
                <a:avLst/>
              </a:prstGeom>
              <a:blipFill rotWithShape="1">
                <a:blip r:embed="rId11"/>
                <a:stretch>
                  <a:fillRect/>
                </a:stretch>
              </a:blipFill>
            </p:spPr>
            <p:txBody>
              <a:bodyPr/>
              <a:lstStyle/>
              <a:p>
                <a:r>
                  <a:rPr lang="zh-CN" altLang="en-US">
                    <a:noFill/>
                  </a:rPr>
                  <a:t> </a:t>
                </a:r>
              </a:p>
            </p:txBody>
          </p:sp>
        </mc:Fallback>
      </mc:AlternateContent>
      <p:sp>
        <p:nvSpPr>
          <p:cNvPr id="33" name="文本框 32"/>
          <p:cNvSpPr txBox="1"/>
          <p:nvPr>
            <p:custDataLst>
              <p:tags r:id="rId12"/>
            </p:custDataLst>
          </p:nvPr>
        </p:nvSpPr>
        <p:spPr>
          <a:xfrm>
            <a:off x="3970655" y="1593850"/>
            <a:ext cx="1409065" cy="337185"/>
          </a:xfrm>
          <a:prstGeom prst="rect">
            <a:avLst/>
          </a:prstGeom>
          <a:noFill/>
        </p:spPr>
        <p:txBody>
          <a:bodyPr wrap="square" rtlCol="0">
            <a:spAutoFit/>
          </a:bodyPr>
          <a:p>
            <a:pPr algn="r"/>
            <a:r>
              <a:rPr lang="zh-CN" altLang="en-US" sz="1600"/>
              <a:t>约束满足要求</a:t>
            </a:r>
            <a:endParaRPr lang="zh-CN" altLang="en-US" sz="1600"/>
          </a:p>
        </p:txBody>
      </p:sp>
      <p:sp>
        <p:nvSpPr>
          <p:cNvPr id="34" name="文本框 33"/>
          <p:cNvSpPr txBox="1"/>
          <p:nvPr>
            <p:custDataLst>
              <p:tags r:id="rId13"/>
            </p:custDataLst>
          </p:nvPr>
        </p:nvSpPr>
        <p:spPr>
          <a:xfrm>
            <a:off x="3907155" y="1987550"/>
            <a:ext cx="1472565" cy="337185"/>
          </a:xfrm>
          <a:prstGeom prst="rect">
            <a:avLst/>
          </a:prstGeom>
          <a:noFill/>
        </p:spPr>
        <p:txBody>
          <a:bodyPr wrap="square" rtlCol="0">
            <a:spAutoFit/>
          </a:bodyPr>
          <a:p>
            <a:pPr algn="r"/>
            <a:r>
              <a:rPr lang="zh-CN" altLang="en-US" sz="1600"/>
              <a:t>递归可行要求</a:t>
            </a:r>
            <a:endParaRPr lang="zh-CN" altLang="en-US" sz="1600"/>
          </a:p>
        </p:txBody>
      </p:sp>
      <p:sp>
        <p:nvSpPr>
          <p:cNvPr id="5" name="矩形 4"/>
          <p:cNvSpPr/>
          <p:nvPr>
            <p:custDataLst>
              <p:tags r:id="rId14"/>
            </p:custDataLst>
          </p:nvPr>
        </p:nvSpPr>
        <p:spPr>
          <a:xfrm>
            <a:off x="2778125" y="1967230"/>
            <a:ext cx="838835" cy="327660"/>
          </a:xfrm>
          <a:prstGeom prst="rect">
            <a:avLst/>
          </a:prstGeom>
          <a:noFill/>
          <a:ln w="19050">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6" name="直接箭头连接符 5"/>
          <p:cNvCxnSpPr/>
          <p:nvPr>
            <p:custDataLst>
              <p:tags r:id="rId15"/>
            </p:custDataLst>
          </p:nvPr>
        </p:nvCxnSpPr>
        <p:spPr>
          <a:xfrm flipV="1">
            <a:off x="3470910" y="2279650"/>
            <a:ext cx="38100" cy="259080"/>
          </a:xfrm>
          <a:prstGeom prst="straightConnector1">
            <a:avLst/>
          </a:prstGeom>
          <a:ln w="19050">
            <a:solidFill>
              <a:srgbClr val="FF0000"/>
            </a:solidFill>
            <a:tailEnd type="arrow"/>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mc:Choice xmlns:a14="http://schemas.microsoft.com/office/drawing/2010/main" Requires="a14">
          <p:sp>
            <p:nvSpPr>
              <p:cNvPr id="7" name="文本框 6"/>
              <p:cNvSpPr txBox="1"/>
              <p:nvPr>
                <p:custDataLst>
                  <p:tags r:id="rId16"/>
                </p:custDataLst>
              </p:nvPr>
            </p:nvSpPr>
            <p:spPr>
              <a:xfrm>
                <a:off x="49530" y="2531110"/>
                <a:ext cx="5463540" cy="346075"/>
              </a:xfrm>
              <a:prstGeom prst="rect">
                <a:avLst/>
              </a:prstGeom>
              <a:noFill/>
              <a:ln w="28575" cmpd="sng">
                <a:noFill/>
                <a:prstDash val="solid"/>
              </a:ln>
            </p:spPr>
            <p:txBody>
              <a:bodyPr wrap="square" rtlCol="0">
                <a:spAutoFit/>
              </a:bodyPr>
              <a:p>
                <a:pPr algn="ctr"/>
                <a:r>
                  <a:rPr lang="zh-CN" altLang="en-US" sz="1600">
                    <a:solidFill>
                      <a:srgbClr val="FF0000"/>
                    </a:solidFill>
                  </a:rPr>
                  <a:t>无界，</a:t>
                </a:r>
                <a14:m>
                  <m:oMath xmlns:m="http://schemas.openxmlformats.org/officeDocument/2006/math">
                    <m:sSub>
                      <m:sSubPr>
                        <m:ctrlPr>
                          <a:rPr lang="en-US" altLang="zh-CN" sz="1600" i="1">
                            <a:solidFill>
                              <a:srgbClr val="FF0000"/>
                            </a:solidFill>
                            <a:latin typeface="Cambria Math" panose="02040503050406030204" charset="0"/>
                            <a:cs typeface="Cambria Math" panose="02040503050406030204" charset="0"/>
                          </a:rPr>
                        </m:ctrlPr>
                      </m:sSubPr>
                      <m:e>
                        <m:r>
                          <a:rPr lang="en-US" altLang="zh-CN" sz="1600" i="1">
                            <a:solidFill>
                              <a:srgbClr val="FF0000"/>
                            </a:solidFill>
                            <a:latin typeface="Cambria Math" panose="02040503050406030204" charset="0"/>
                            <a:cs typeface="Cambria Math" panose="02040503050406030204" charset="0"/>
                          </a:rPr>
                          <m:t>ℎ</m:t>
                        </m:r>
                      </m:e>
                      <m:sub>
                        <m:r>
                          <a:rPr lang="en-US" altLang="zh-CN" sz="1600" i="1">
                            <a:solidFill>
                              <a:srgbClr val="FF0000"/>
                            </a:solidFill>
                            <a:latin typeface="Cambria Math" panose="02040503050406030204" charset="0"/>
                            <a:cs typeface="Cambria Math" panose="02040503050406030204" charset="0"/>
                          </a:rPr>
                          <m:t>𝑗</m:t>
                        </m:r>
                      </m:sub>
                    </m:sSub>
                  </m:oMath>
                </a14:m>
                <a:r>
                  <a:rPr lang="zh-CN" altLang="en-US" sz="1600">
                    <a:solidFill>
                      <a:srgbClr val="FF0000"/>
                    </a:solidFill>
                    <a:latin typeface="Cambria Math" panose="02040503050406030204" charset="0"/>
                    <a:cs typeface="Cambria Math" panose="02040503050406030204" charset="0"/>
                  </a:rPr>
                  <a:t>不存在，无界扰动下无法保证严格递归可行</a:t>
                </a:r>
                <a:endParaRPr lang="zh-CN" altLang="en-US" sz="1600">
                  <a:solidFill>
                    <a:srgbClr val="FF0000"/>
                  </a:solidFill>
                  <a:latin typeface="Cambria Math" panose="02040503050406030204" charset="0"/>
                  <a:cs typeface="Cambria Math" panose="02040503050406030204" charset="0"/>
                </a:endParaRPr>
              </a:p>
            </p:txBody>
          </p:sp>
        </mc:Choice>
        <mc:Fallback>
          <p:sp>
            <p:nvSpPr>
              <p:cNvPr id="7" name="文本框 6"/>
              <p:cNvSpPr txBox="1">
                <a:spLocks noRot="1" noChangeAspect="1" noMove="1" noResize="1" noEditPoints="1" noAdjustHandles="1" noChangeArrowheads="1" noChangeShapeType="1" noTextEdit="1"/>
              </p:cNvSpPr>
              <p:nvPr>
                <p:custDataLst>
                  <p:tags r:id="rId17"/>
                </p:custDataLst>
              </p:nvPr>
            </p:nvSpPr>
            <p:spPr>
              <a:xfrm>
                <a:off x="49530" y="2531110"/>
                <a:ext cx="5463540" cy="346075"/>
              </a:xfrm>
              <a:prstGeom prst="rect">
                <a:avLst/>
              </a:prstGeom>
              <a:blipFill rotWithShape="1">
                <a:blip r:embed="rId18"/>
                <a:stretch>
                  <a:fillRect/>
                </a:stretch>
              </a:blipFill>
              <a:ln w="28575" cmpd="sng">
                <a:noFill/>
                <a:prstDash val="solid"/>
              </a:ln>
            </p:spPr>
            <p:txBody>
              <a:bodyPr/>
              <a:lstStyle/>
              <a:p>
                <a:r>
                  <a:rPr lang="zh-CN" altLang="en-US">
                    <a:noFill/>
                  </a:rPr>
                  <a:t> </a:t>
                </a:r>
              </a:p>
            </p:txBody>
          </p:sp>
        </mc:Fallback>
      </mc:AlternateContent>
      <p:sp>
        <p:nvSpPr>
          <p:cNvPr id="14" name="圆角矩形 13"/>
          <p:cNvSpPr/>
          <p:nvPr>
            <p:custDataLst>
              <p:tags r:id="rId19"/>
            </p:custDataLst>
          </p:nvPr>
        </p:nvSpPr>
        <p:spPr>
          <a:xfrm>
            <a:off x="100330" y="1111250"/>
            <a:ext cx="1333500" cy="6096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无界</a:t>
            </a:r>
            <a:r>
              <a:rPr lang="zh-CN" altLang="en-US"/>
              <a:t>高斯</a:t>
            </a:r>
            <a:endParaRPr lang="zh-CN" altLang="en-US"/>
          </a:p>
        </p:txBody>
      </p:sp>
      <p:sp>
        <p:nvSpPr>
          <p:cNvPr id="16" name="圆角矩形 15"/>
          <p:cNvSpPr/>
          <p:nvPr>
            <p:custDataLst>
              <p:tags r:id="rId20"/>
            </p:custDataLst>
          </p:nvPr>
        </p:nvSpPr>
        <p:spPr>
          <a:xfrm>
            <a:off x="74930" y="3211830"/>
            <a:ext cx="1333500" cy="6096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截断</a:t>
            </a:r>
            <a:r>
              <a:rPr lang="zh-CN" altLang="en-US"/>
              <a:t>高斯</a:t>
            </a:r>
            <a:endParaRPr lang="zh-CN" altLang="en-US"/>
          </a:p>
        </p:txBody>
      </p:sp>
      <p:sp>
        <p:nvSpPr>
          <p:cNvPr id="19" name="圆角矩形 18"/>
          <p:cNvSpPr/>
          <p:nvPr>
            <p:custDataLst>
              <p:tags r:id="rId21"/>
            </p:custDataLst>
          </p:nvPr>
        </p:nvSpPr>
        <p:spPr>
          <a:xfrm>
            <a:off x="6330950" y="3211830"/>
            <a:ext cx="1333500" cy="6096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无界</a:t>
            </a:r>
            <a:r>
              <a:rPr lang="zh-CN" altLang="en-US"/>
              <a:t>高斯</a:t>
            </a:r>
            <a:endParaRPr lang="zh-CN" altLang="en-US"/>
          </a:p>
        </p:txBody>
      </p:sp>
      <p:pic>
        <p:nvPicPr>
          <p:cNvPr id="25" name="图片 24"/>
          <p:cNvPicPr>
            <a:picLocks noChangeAspect="1"/>
          </p:cNvPicPr>
          <p:nvPr/>
        </p:nvPicPr>
        <p:blipFill>
          <a:blip r:embed="rId22">
            <a:clrChange>
              <a:clrFrom>
                <a:srgbClr val="FFFFFF">
                  <a:alpha val="100000"/>
                </a:srgbClr>
              </a:clrFrom>
              <a:clrTo>
                <a:srgbClr val="FFFFFF">
                  <a:alpha val="100000"/>
                  <a:alpha val="0"/>
                </a:srgbClr>
              </a:clrTo>
            </a:clrChange>
          </a:blip>
          <a:stretch>
            <a:fillRect/>
          </a:stretch>
        </p:blipFill>
        <p:spPr>
          <a:xfrm>
            <a:off x="3107055" y="4204970"/>
            <a:ext cx="1924050" cy="352425"/>
          </a:xfrm>
          <a:prstGeom prst="rect">
            <a:avLst/>
          </a:prstGeom>
          <a:ln w="19050">
            <a:solidFill>
              <a:srgbClr val="FF0000"/>
            </a:solidFill>
            <a:prstDash val="dash"/>
          </a:ln>
        </p:spPr>
      </p:pic>
      <p:sp>
        <p:nvSpPr>
          <p:cNvPr id="27" name="圆角矩形 26"/>
          <p:cNvSpPr/>
          <p:nvPr>
            <p:custDataLst>
              <p:tags r:id="rId23"/>
            </p:custDataLst>
          </p:nvPr>
        </p:nvSpPr>
        <p:spPr>
          <a:xfrm>
            <a:off x="6353810" y="1111250"/>
            <a:ext cx="1333500" cy="6096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有限时域</a:t>
            </a:r>
            <a:r>
              <a:rPr lang="zh-CN" altLang="en-US"/>
              <a:t>转化</a:t>
            </a:r>
            <a:endParaRPr lang="zh-CN" altLang="en-US"/>
          </a:p>
        </p:txBody>
      </p:sp>
      <p:sp>
        <p:nvSpPr>
          <p:cNvPr id="28" name="圆角矩形 27"/>
          <p:cNvSpPr/>
          <p:nvPr/>
        </p:nvSpPr>
        <p:spPr>
          <a:xfrm>
            <a:off x="6326505" y="1222940"/>
            <a:ext cx="4883785" cy="1980000"/>
          </a:xfrm>
          <a:prstGeom prst="round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30" name="文本框 29"/>
              <p:cNvSpPr txBox="1"/>
              <p:nvPr/>
            </p:nvSpPr>
            <p:spPr>
              <a:xfrm>
                <a:off x="6583616" y="1769364"/>
                <a:ext cx="4230370" cy="1316990"/>
              </a:xfrm>
              <a:prstGeom prst="rect">
                <a:avLst/>
              </a:prstGeom>
              <a:noFill/>
            </p:spPr>
            <p:txBody>
              <a:bodyPr wrap="none" rtlCol="0" anchor="t">
                <a:spAutoFit/>
              </a:bodyPr>
              <a:p>
                <a:pPr algn="l"/>
                <a14:m>
                  <m:oMathPara xmlns:m="http://schemas.openxmlformats.org/officeDocument/2006/math">
                    <m:oMathParaPr>
                      <m:jc m:val="left"/>
                    </m:oMathParaPr>
                    <m:oMath xmlns:m="http://schemas.openxmlformats.org/officeDocument/2006/math">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𝑔</m:t>
                          </m:r>
                        </m:e>
                        <m:sup>
                          <m:r>
                            <a:rPr lang="en-US" altLang="zh-CN" i="1">
                              <a:latin typeface="Cambria Math" panose="02040503050406030204" charset="0"/>
                              <a:cs typeface="Cambria Math" panose="02040503050406030204" charset="0"/>
                            </a:rPr>
                            <m:t>𝑇</m:t>
                          </m:r>
                        </m:sup>
                      </m:sSup>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𝑧</m:t>
                          </m:r>
                        </m:e>
                        <m:sub>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ℎ</m:t>
                          </m:r>
                        </m:e>
                        <m:sub>
                          <m:r>
                            <a:rPr lang="en-US" altLang="zh-CN" i="1">
                              <a:latin typeface="Cambria Math" panose="02040503050406030204" charset="0"/>
                              <a:cs typeface="Cambria Math" panose="02040503050406030204" charset="0"/>
                            </a:rPr>
                            <m:t>𝑗</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𝑁</m:t>
                      </m:r>
                    </m:oMath>
                  </m:oMathPara>
                </a14:m>
                <a:endParaRPr lang="en-US" altLang="zh-CN" i="1">
                  <a:latin typeface="Cambria Math" panose="02040503050406030204" charset="0"/>
                  <a:cs typeface="Cambria Math" panose="02040503050406030204" charset="0"/>
                </a:endParaRPr>
              </a:p>
              <a:p>
                <a:pPr algn="l"/>
                <a14:m>
                  <m:oMathPara xmlns:m="http://schemas.openxmlformats.org/officeDocument/2006/math">
                    <m:oMathParaPr>
                      <m:jc m:val="left"/>
                    </m:oMathParaPr>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𝑧</m:t>
                          </m:r>
                        </m:e>
                        <m:sub>
                          <m:r>
                            <a:rPr lang="en-US" altLang="zh-CN" i="1">
                              <a:latin typeface="Cambria Math" panose="02040503050406030204" charset="0"/>
                              <a:cs typeface="Cambria Math" panose="02040503050406030204" charset="0"/>
                            </a:rPr>
                            <m:t>𝑁</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sub>
                      </m:sSub>
                      <m:sSub>
                        <m:sSubPr>
                          <m:ctrlPr>
                            <a:rPr lang="en-US" altLang="zh-CN" i="1">
                              <a:solidFill>
                                <a:srgbClr val="FF0000"/>
                              </a:solidFill>
                              <a:latin typeface="Cambria Math" panose="02040503050406030204" charset="0"/>
                              <a:cs typeface="Cambria Math" panose="02040503050406030204" charset="0"/>
                            </a:rPr>
                          </m:ctrlPr>
                        </m:sSubPr>
                        <m:e>
                          <m:r>
                            <a:rPr lang="en-US" altLang="zh-CN" i="1">
                              <a:solidFill>
                                <a:srgbClr val="FF0000"/>
                              </a:solidFill>
                              <a:latin typeface="Cambria Math" panose="02040503050406030204" charset="0"/>
                              <a:cs typeface="Cambria Math" panose="02040503050406030204" charset="0"/>
                            </a:rPr>
                            <m:t>𝑆</m:t>
                          </m:r>
                        </m:e>
                        <m:sub>
                          <m:acc>
                            <m:accPr>
                              <m:ctrlPr>
                                <a:rPr lang="en-US" altLang="zh-CN" i="1">
                                  <a:solidFill>
                                    <a:srgbClr val="FF0000"/>
                                  </a:solidFill>
                                  <a:latin typeface="Cambria Math" panose="02040503050406030204" charset="0"/>
                                  <a:cs typeface="Cambria Math" panose="02040503050406030204" charset="0"/>
                                </a:rPr>
                              </m:ctrlPr>
                            </m:accPr>
                            <m:e>
                              <m:r>
                                <a:rPr lang="en-US" altLang="zh-CN" i="1">
                                  <a:solidFill>
                                    <a:srgbClr val="FF0000"/>
                                  </a:solidFill>
                                  <a:latin typeface="Cambria Math" panose="02040503050406030204" charset="0"/>
                                  <a:cs typeface="Cambria Math" panose="02040503050406030204" charset="0"/>
                                </a:rPr>
                                <m:t>𝑁</m:t>
                              </m:r>
                            </m:e>
                          </m:acc>
                        </m:sub>
                      </m:sSub>
                    </m:oMath>
                  </m:oMathPara>
                </a14:m>
                <a:endParaRPr lang="en-US" altLang="zh-CN" i="1">
                  <a:latin typeface="Cambria Math" panose="02040503050406030204" charset="0"/>
                  <a:cs typeface="Cambria Math" panose="02040503050406030204" charset="0"/>
                </a:endParaRPr>
              </a:p>
              <a:p>
                <a:pPr algn="l"/>
                <a14:m>
                  <m:oMathPara xmlns:m="http://schemas.openxmlformats.org/officeDocument/2006/math">
                    <m:oMathParaPr>
                      <m:jc m:val="left"/>
                    </m:oMathParaPr>
                    <m:oMath xmlns:m="http://schemas.openxmlformats.org/officeDocument/2006/math">
                      <m:sSub>
                        <m:sSubPr>
                          <m:ctrlPr>
                            <a:rPr lang="en-US" altLang="zh-CN" i="1">
                              <a:solidFill>
                                <a:srgbClr val="FF0000"/>
                              </a:solidFill>
                              <a:latin typeface="Cambria Math" panose="02040503050406030204" charset="0"/>
                              <a:cs typeface="Cambria Math" panose="02040503050406030204" charset="0"/>
                            </a:rPr>
                          </m:ctrlPr>
                        </m:sSubPr>
                        <m:e>
                          <m:r>
                            <a:rPr lang="en-US" altLang="zh-CN" i="1">
                              <a:solidFill>
                                <a:srgbClr val="FF0000"/>
                              </a:solidFill>
                              <a:latin typeface="Cambria Math" panose="02040503050406030204" charset="0"/>
                              <a:cs typeface="Cambria Math" panose="02040503050406030204" charset="0"/>
                            </a:rPr>
                            <m:t>𝑆</m:t>
                          </m:r>
                        </m:e>
                        <m:sub>
                          <m:acc>
                            <m:accPr>
                              <m:ctrlPr>
                                <a:rPr lang="en-US" altLang="zh-CN" i="1">
                                  <a:solidFill>
                                    <a:srgbClr val="FF0000"/>
                                  </a:solidFill>
                                  <a:latin typeface="Cambria Math" panose="02040503050406030204" charset="0"/>
                                  <a:cs typeface="Cambria Math" panose="02040503050406030204" charset="0"/>
                                </a:rPr>
                              </m:ctrlPr>
                            </m:accPr>
                            <m:e>
                              <m:r>
                                <a:rPr lang="en-US" altLang="zh-CN" i="1">
                                  <a:solidFill>
                                    <a:srgbClr val="FF0000"/>
                                  </a:solidFill>
                                  <a:latin typeface="Cambria Math" panose="02040503050406030204" charset="0"/>
                                  <a:cs typeface="Cambria Math" panose="02040503050406030204" charset="0"/>
                                </a:rPr>
                                <m:t>𝑁</m:t>
                              </m:r>
                            </m:e>
                          </m:acc>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𝑧</m:t>
                          </m:r>
                        </m:e>
                        <m:sub>
                          <m:r>
                            <a:rPr lang="en-US" altLang="zh-CN" i="1">
                              <a:latin typeface="Cambria Math" panose="02040503050406030204" charset="0"/>
                              <a:cs typeface="Cambria Math" panose="02040503050406030204" charset="0"/>
                            </a:rPr>
                            <m:t>𝑁</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𝑔</m:t>
                          </m:r>
                        </m:e>
                        <m:sup>
                          <m:r>
                            <a:rPr lang="en-US" altLang="zh-CN" i="1">
                              <a:latin typeface="Cambria Math" panose="02040503050406030204" charset="0"/>
                              <a:cs typeface="Cambria Math" panose="02040503050406030204" charset="0"/>
                            </a:rPr>
                            <m:t>𝑇</m:t>
                          </m:r>
                        </m:sup>
                      </m:sSup>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ea typeface="MS Mincho" charset="0"/>
                              <a:cs typeface="Cambria Math" panose="02040503050406030204" charset="0"/>
                            </a:rPr>
                            <m:t>Փ</m:t>
                          </m:r>
                        </m:e>
                        <m:sup>
                          <m:r>
                            <a:rPr lang="en-US" altLang="zh-CN" i="1">
                              <a:latin typeface="Cambria Math" panose="02040503050406030204" charset="0"/>
                              <a:cs typeface="Cambria Math" panose="02040503050406030204" charset="0"/>
                            </a:rPr>
                            <m:t>𝑟</m:t>
                          </m:r>
                        </m:sup>
                      </m:sSup>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𝑧</m:t>
                          </m:r>
                        </m:e>
                        <m:sub>
                          <m:r>
                            <a:rPr lang="en-US" altLang="zh-CN" i="1">
                              <a:latin typeface="Cambria Math" panose="02040503050406030204" charset="0"/>
                              <a:cs typeface="Cambria Math" panose="02040503050406030204" charset="0"/>
                            </a:rPr>
                            <m:t>𝑁</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ℎ</m:t>
                          </m:r>
                        </m:e>
                        <m:sub>
                          <m:r>
                            <a:rPr lang="en-US" altLang="zh-CN" i="1">
                              <a:latin typeface="Cambria Math" panose="02040503050406030204" charset="0"/>
                              <a:cs typeface="Cambria Math" panose="02040503050406030204" charset="0"/>
                            </a:rPr>
                            <m:t>𝑁</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𝑟</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acc>
                        <m:accPr>
                          <m:ctrlPr>
                            <a:rPr lang="en-US" altLang="zh-CN" i="1">
                              <a:latin typeface="Cambria Math" panose="02040503050406030204" charset="0"/>
                              <a:cs typeface="Cambria Math" panose="02040503050406030204" charset="0"/>
                            </a:rPr>
                          </m:ctrlPr>
                        </m:accPr>
                        <m:e>
                          <m:r>
                            <a:rPr lang="en-US" altLang="zh-CN" i="1">
                              <a:latin typeface="Cambria Math" panose="02040503050406030204" charset="0"/>
                              <a:cs typeface="Cambria Math" panose="02040503050406030204" charset="0"/>
                            </a:rPr>
                            <m:t>𝑁</m:t>
                          </m:r>
                        </m:e>
                      </m:acc>
                      <m:r>
                        <a:rPr lang="en-US" altLang="zh-CN" i="1">
                          <a:latin typeface="Cambria Math" panose="02040503050406030204" charset="0"/>
                          <a:cs typeface="Cambria Math" panose="02040503050406030204" charset="0"/>
                        </a:rPr>
                        <m:t>,</m:t>
                      </m:r>
                    </m:oMath>
                  </m:oMathPara>
                </a14:m>
                <a:endParaRPr lang="en-US" altLang="zh-CN" i="1">
                  <a:latin typeface="Cambria Math" panose="02040503050406030204" charset="0"/>
                  <a:cs typeface="Cambria Math" panose="02040503050406030204" charset="0"/>
                </a:endParaRPr>
              </a:p>
              <a:p>
                <a:pPr algn="l"/>
                <a14:m>
                  <m:oMathPara xmlns:m="http://schemas.openxmlformats.org/officeDocument/2006/math">
                    <m:oMathParaPr>
                      <m:jc m:val="left"/>
                    </m:oMathParaPr>
                    <m:oMath xmlns:m="http://schemas.openxmlformats.org/officeDocument/2006/math">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𝑔</m:t>
                          </m:r>
                        </m:e>
                        <m:sup>
                          <m:acc>
                            <m:accPr>
                              <m:ctrlPr>
                                <a:rPr lang="en-US" altLang="zh-CN" i="1">
                                  <a:latin typeface="Cambria Math" panose="02040503050406030204" charset="0"/>
                                  <a:cs typeface="Cambria Math" panose="02040503050406030204" charset="0"/>
                                </a:rPr>
                              </m:ctrlPr>
                            </m:accPr>
                            <m:e>
                              <m:r>
                                <a:rPr lang="en-US" altLang="zh-CN" i="1">
                                  <a:latin typeface="Cambria Math" panose="02040503050406030204" charset="0"/>
                                  <a:cs typeface="Cambria Math" panose="02040503050406030204" charset="0"/>
                                </a:rPr>
                                <m:t>𝑁</m:t>
                              </m:r>
                            </m:e>
                          </m:acc>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𝑗</m:t>
                          </m:r>
                        </m:sup>
                      </m:sSup>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ea typeface="MS Mincho" charset="0"/>
                              <a:cs typeface="Cambria Math" panose="02040503050406030204" charset="0"/>
                            </a:rPr>
                            <m:t>Փ</m:t>
                          </m:r>
                        </m:e>
                        <m:sup>
                          <m:r>
                            <a:rPr lang="en-US" altLang="zh-CN" i="1">
                              <a:latin typeface="Cambria Math" panose="02040503050406030204" charset="0"/>
                              <a:cs typeface="Cambria Math" panose="02040503050406030204" charset="0"/>
                            </a:rPr>
                            <m:t>𝑟</m:t>
                          </m:r>
                        </m:sup>
                      </m:sSup>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𝑧</m:t>
                          </m:r>
                        </m:e>
                        <m:sub>
                          <m:r>
                            <a:rPr lang="en-US" altLang="zh-CN" i="1">
                              <a:latin typeface="Cambria Math" panose="02040503050406030204" charset="0"/>
                              <a:cs typeface="Cambria Math" panose="02040503050406030204" charset="0"/>
                            </a:rPr>
                            <m:t>𝑁</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𝑘</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ℎ</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ℎ</m:t>
                          </m:r>
                        </m:e>
                        <m:sub>
                          <m:r>
                            <a:rPr lang="en-US" altLang="zh-CN" i="1">
                              <a:latin typeface="Cambria Math" panose="02040503050406030204" charset="0"/>
                              <a:cs typeface="Cambria Math" panose="02040503050406030204" charset="0"/>
                            </a:rPr>
                            <m:t>∞</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𝑗</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𝑛</m:t>
                          </m:r>
                        </m:e>
                        <m:sup>
                          <m:r>
                            <a:rPr lang="en-US" altLang="zh-CN" i="1">
                              <a:latin typeface="Cambria Math" panose="02040503050406030204" charset="0"/>
                              <a:cs typeface="Cambria Math" panose="02040503050406030204" charset="0"/>
                            </a:rPr>
                            <m:t>∗</m:t>
                          </m:r>
                        </m:sup>
                      </m:sSup>
                      <m:r>
                        <a:rPr lang="en-US" altLang="zh-CN" i="1">
                          <a:latin typeface="Cambria Math" panose="02040503050406030204" charset="0"/>
                          <a:cs typeface="Cambria Math" panose="02040503050406030204" charset="0"/>
                        </a:rPr>
                        <m:t>}</m:t>
                      </m:r>
                    </m:oMath>
                  </m:oMathPara>
                </a14:m>
                <a:endParaRPr lang="zh-CN" altLang="en-US"/>
              </a:p>
            </p:txBody>
          </p:sp>
        </mc:Choice>
        <mc:Fallback>
          <p:sp>
            <p:nvSpPr>
              <p:cNvPr id="30" name="文本框 29"/>
              <p:cNvSpPr txBox="1">
                <a:spLocks noRot="1" noChangeAspect="1" noMove="1" noResize="1" noEditPoints="1" noAdjustHandles="1" noChangeArrowheads="1" noChangeShapeType="1" noTextEdit="1"/>
              </p:cNvSpPr>
              <p:nvPr/>
            </p:nvSpPr>
            <p:spPr>
              <a:xfrm>
                <a:off x="6583616" y="1769364"/>
                <a:ext cx="4230370" cy="1316990"/>
              </a:xfrm>
              <a:prstGeom prst="rect">
                <a:avLst/>
              </a:prstGeom>
              <a:blipFill rotWithShape="1">
                <a:blip r:embed="rId24"/>
                <a:stretch>
                  <a:fillRect l="-13" t="-19" r="13" b="19"/>
                </a:stretch>
              </a:blipFill>
            </p:spPr>
            <p:txBody>
              <a:bodyPr/>
              <a:lstStyle/>
              <a:p>
                <a:r>
                  <a:rPr lang="zh-CN" altLang="en-US">
                    <a:noFill/>
                  </a:rPr>
                  <a:t> </a:t>
                </a:r>
              </a:p>
            </p:txBody>
          </p:sp>
        </mc:Fallback>
      </mc:AlternateContent>
      <p:cxnSp>
        <p:nvCxnSpPr>
          <p:cNvPr id="31" name="直接箭头连接符 30"/>
          <p:cNvCxnSpPr/>
          <p:nvPr/>
        </p:nvCxnSpPr>
        <p:spPr>
          <a:xfrm flipH="1">
            <a:off x="9696450" y="1304290"/>
            <a:ext cx="441960" cy="495300"/>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32" name="文本框 31"/>
          <p:cNvSpPr txBox="1"/>
          <p:nvPr/>
        </p:nvSpPr>
        <p:spPr>
          <a:xfrm>
            <a:off x="9734550" y="930910"/>
            <a:ext cx="1242060" cy="368300"/>
          </a:xfrm>
          <a:prstGeom prst="rect">
            <a:avLst/>
          </a:prstGeom>
          <a:noFill/>
        </p:spPr>
        <p:txBody>
          <a:bodyPr wrap="square" rtlCol="0">
            <a:spAutoFit/>
          </a:bodyPr>
          <a:p>
            <a:r>
              <a:rPr lang="zh-CN" altLang="en-US"/>
              <a:t>有限时域</a:t>
            </a:r>
            <a:endParaRPr lang="zh-CN" altLang="en-US"/>
          </a:p>
        </p:txBody>
      </p:sp>
      <p:cxnSp>
        <p:nvCxnSpPr>
          <p:cNvPr id="35" name="直接箭头连接符 34"/>
          <p:cNvCxnSpPr/>
          <p:nvPr/>
        </p:nvCxnSpPr>
        <p:spPr>
          <a:xfrm flipH="1">
            <a:off x="7468235" y="2089150"/>
            <a:ext cx="3317875" cy="198120"/>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36" name="文本框 35"/>
          <p:cNvSpPr txBox="1"/>
          <p:nvPr/>
        </p:nvSpPr>
        <p:spPr>
          <a:xfrm>
            <a:off x="10806430" y="1888490"/>
            <a:ext cx="1242060" cy="368300"/>
          </a:xfrm>
          <a:prstGeom prst="rect">
            <a:avLst/>
          </a:prstGeom>
          <a:noFill/>
        </p:spPr>
        <p:txBody>
          <a:bodyPr wrap="square" rtlCol="0">
            <a:spAutoFit/>
          </a:bodyPr>
          <a:p>
            <a:r>
              <a:rPr lang="zh-CN" altLang="en-US"/>
              <a:t>终端</a:t>
            </a:r>
            <a:r>
              <a:rPr lang="zh-CN" altLang="en-US"/>
              <a:t>约束</a:t>
            </a:r>
            <a:endParaRPr lang="zh-CN" altLang="en-US"/>
          </a:p>
        </p:txBody>
      </p:sp>
      <p:sp>
        <p:nvSpPr>
          <p:cNvPr id="38" name="矩形 37"/>
          <p:cNvSpPr/>
          <p:nvPr/>
        </p:nvSpPr>
        <p:spPr>
          <a:xfrm>
            <a:off x="6546850" y="4070350"/>
            <a:ext cx="4570730" cy="563880"/>
          </a:xfrm>
          <a:prstGeom prst="rect">
            <a:avLst/>
          </a:prstGeom>
          <a:noFill/>
          <a:ln w="19050">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矩形 38"/>
          <p:cNvSpPr/>
          <p:nvPr/>
        </p:nvSpPr>
        <p:spPr>
          <a:xfrm>
            <a:off x="6475095" y="4685030"/>
            <a:ext cx="3688080" cy="395605"/>
          </a:xfrm>
          <a:prstGeom prst="rect">
            <a:avLst/>
          </a:prstGeom>
          <a:noFill/>
          <a:ln w="19050">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40" name="直接箭头连接符 39"/>
          <p:cNvCxnSpPr>
            <a:endCxn id="38" idx="3"/>
          </p:cNvCxnSpPr>
          <p:nvPr/>
        </p:nvCxnSpPr>
        <p:spPr>
          <a:xfrm flipH="1">
            <a:off x="11117580" y="4180840"/>
            <a:ext cx="396240" cy="171450"/>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41" name="直接箭头连接符 40"/>
          <p:cNvCxnSpPr/>
          <p:nvPr/>
        </p:nvCxnSpPr>
        <p:spPr>
          <a:xfrm flipH="1" flipV="1">
            <a:off x="10239375" y="4841240"/>
            <a:ext cx="596900" cy="6350"/>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43" name="文本框 42"/>
          <p:cNvSpPr txBox="1"/>
          <p:nvPr/>
        </p:nvSpPr>
        <p:spPr>
          <a:xfrm>
            <a:off x="10981690" y="3696970"/>
            <a:ext cx="1149985" cy="368300"/>
          </a:xfrm>
          <a:prstGeom prst="rect">
            <a:avLst/>
          </a:prstGeom>
          <a:noFill/>
        </p:spPr>
        <p:txBody>
          <a:bodyPr wrap="square" rtlCol="0">
            <a:spAutoFit/>
          </a:bodyPr>
          <a:p>
            <a:r>
              <a:rPr lang="zh-CN" altLang="en-US"/>
              <a:t>时域约束</a:t>
            </a:r>
            <a:endParaRPr lang="zh-CN" altLang="en-US"/>
          </a:p>
        </p:txBody>
      </p:sp>
      <p:sp>
        <p:nvSpPr>
          <p:cNvPr id="45" name="文本框 44"/>
          <p:cNvSpPr txBox="1"/>
          <p:nvPr/>
        </p:nvSpPr>
        <p:spPr>
          <a:xfrm>
            <a:off x="10849610" y="4639310"/>
            <a:ext cx="1149985" cy="368300"/>
          </a:xfrm>
          <a:prstGeom prst="rect">
            <a:avLst/>
          </a:prstGeom>
          <a:noFill/>
        </p:spPr>
        <p:txBody>
          <a:bodyPr wrap="square" rtlCol="0">
            <a:spAutoFit/>
          </a:bodyPr>
          <a:p>
            <a:r>
              <a:rPr lang="zh-CN" altLang="en-US"/>
              <a:t>终端</a:t>
            </a:r>
            <a:r>
              <a:rPr lang="zh-CN" altLang="en-US"/>
              <a:t>约束</a:t>
            </a:r>
            <a:endParaRPr lang="zh-CN" altLang="en-US"/>
          </a:p>
        </p:txBody>
      </p:sp>
      <p:sp>
        <p:nvSpPr>
          <p:cNvPr id="47" name="文本框 46"/>
          <p:cNvSpPr txBox="1"/>
          <p:nvPr/>
        </p:nvSpPr>
        <p:spPr>
          <a:xfrm>
            <a:off x="5200650" y="4017010"/>
            <a:ext cx="4064000" cy="368300"/>
          </a:xfrm>
          <a:prstGeom prst="rect">
            <a:avLst/>
          </a:prstGeom>
          <a:noFill/>
        </p:spPr>
        <p:txBody>
          <a:bodyPr wrap="square" rtlCol="0">
            <a:spAutoFit/>
          </a:bodyPr>
          <a:p>
            <a:r>
              <a:rPr lang="zh-CN" altLang="en-US"/>
              <a:t>相同</a:t>
            </a:r>
            <a:r>
              <a:rPr lang="zh-CN" altLang="en-US"/>
              <a:t>处理</a:t>
            </a:r>
            <a:endParaRPr lang="zh-CN" altLang="en-US"/>
          </a:p>
        </p:txBody>
      </p:sp>
      <p:cxnSp>
        <p:nvCxnSpPr>
          <p:cNvPr id="48" name="直接箭头连接符 47"/>
          <p:cNvCxnSpPr/>
          <p:nvPr/>
        </p:nvCxnSpPr>
        <p:spPr>
          <a:xfrm flipV="1">
            <a:off x="4850130" y="2378710"/>
            <a:ext cx="1531620" cy="1295400"/>
          </a:xfrm>
          <a:prstGeom prst="straightConnector1">
            <a:avLst/>
          </a:prstGeom>
          <a:ln w="19050">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49" name="文本框 48"/>
          <p:cNvSpPr txBox="1"/>
          <p:nvPr/>
        </p:nvSpPr>
        <p:spPr>
          <a:xfrm>
            <a:off x="4156710" y="3084830"/>
            <a:ext cx="1160780" cy="368300"/>
          </a:xfrm>
          <a:prstGeom prst="rect">
            <a:avLst/>
          </a:prstGeom>
          <a:noFill/>
        </p:spPr>
        <p:txBody>
          <a:bodyPr wrap="square" rtlCol="0">
            <a:spAutoFit/>
          </a:bodyPr>
          <a:p>
            <a:r>
              <a:rPr lang="zh-CN" altLang="en-US"/>
              <a:t>问题</a:t>
            </a:r>
            <a:r>
              <a:rPr lang="zh-CN" altLang="en-US"/>
              <a:t>转化</a:t>
            </a:r>
            <a:endParaRPr lang="zh-CN" altLang="en-US"/>
          </a:p>
        </p:txBody>
      </p:sp>
      <p:sp>
        <p:nvSpPr>
          <p:cNvPr id="50" name="灯片编号占位符 49"/>
          <p:cNvSpPr>
            <a:spLocks noGrp="1"/>
          </p:cNvSpPr>
          <p:nvPr>
            <p:ph type="sldNum" sz="quarter" idx="12"/>
          </p:nvPr>
        </p:nvSpPr>
        <p:spPr/>
        <p:txBody>
          <a:bodyPr/>
          <a:p>
            <a:pPr>
              <a:defRPr/>
            </a:pPr>
            <a:fld id="{AC6C5647-07D8-4AFC-B347-73DA68F3AADD}" type="slidenum">
              <a:rPr lang="zh-CN" altLang="en-US"/>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a:xfrm>
            <a:off x="495300" y="5801995"/>
            <a:ext cx="11122660" cy="356235"/>
          </a:xfrm>
        </p:spPr>
        <p:txBody>
          <a:bodyPr/>
          <a:p>
            <a:r>
              <a:rPr lang="zh-CN" altLang="en-US"/>
              <a:t>与</a:t>
            </a:r>
            <a:r>
              <a:rPr lang="en-US" altLang="zh-CN"/>
              <a:t>STMPC</a:t>
            </a:r>
            <a:r>
              <a:rPr lang="zh-CN" altLang="en-US"/>
              <a:t>相比，基于分布函数的</a:t>
            </a:r>
            <a:r>
              <a:rPr lang="en-US" altLang="zh-CN"/>
              <a:t>SMPC</a:t>
            </a:r>
            <a:r>
              <a:rPr lang="zh-CN" altLang="en-US"/>
              <a:t>有更少的偏差</a:t>
            </a:r>
            <a:r>
              <a:rPr lang="zh-CN" altLang="en-US"/>
              <a:t>因素、降低了算法</a:t>
            </a:r>
            <a:r>
              <a:rPr lang="zh-CN" altLang="en-US"/>
              <a:t>保守性</a:t>
            </a:r>
            <a:endParaRPr lang="zh-CN" altLang="en-US"/>
          </a:p>
        </p:txBody>
      </p:sp>
      <p:sp>
        <p:nvSpPr>
          <p:cNvPr id="3" name="文本占位符 2"/>
          <p:cNvSpPr>
            <a:spLocks noGrp="1"/>
          </p:cNvSpPr>
          <p:nvPr>
            <p:ph type="body" idx="13"/>
          </p:nvPr>
        </p:nvSpPr>
        <p:spPr>
          <a:xfrm>
            <a:off x="0" y="670560"/>
            <a:ext cx="7788275" cy="448310"/>
          </a:xfrm>
        </p:spPr>
        <p:txBody>
          <a:bodyPr/>
          <a:p>
            <a:r>
              <a:rPr lang="en-US" altLang="zh-CN">
                <a:sym typeface="+mn-ea"/>
              </a:rPr>
              <a:t>&gt;&gt;&gt;</a:t>
            </a:r>
            <a:r>
              <a:rPr>
                <a:sym typeface="+mn-ea"/>
              </a:rPr>
              <a:t>基于分布函数的随机模型预测</a:t>
            </a:r>
            <a:r>
              <a:rPr>
                <a:sym typeface="+mn-ea"/>
              </a:rPr>
              <a:t>低保守性证明</a:t>
            </a:r>
            <a:endParaRPr>
              <a:sym typeface="+mn-ea"/>
            </a:endParaRPr>
          </a:p>
          <a:p>
            <a:endParaRPr lang="zh-CN" altLang="en-US"/>
          </a:p>
        </p:txBody>
      </p:sp>
      <p:sp>
        <p:nvSpPr>
          <p:cNvPr id="4" name="文本占位符 3"/>
          <p:cNvSpPr>
            <a:spLocks noGrp="1"/>
          </p:cNvSpPr>
          <p:nvPr>
            <p:ph type="body" idx="14"/>
          </p:nvPr>
        </p:nvSpPr>
        <p:spPr>
          <a:xfrm>
            <a:off x="805180" y="111760"/>
            <a:ext cx="9891395" cy="448310"/>
          </a:xfrm>
        </p:spPr>
        <p:txBody>
          <a:bodyPr/>
          <a:p>
            <a:r>
              <a:rPr>
                <a:sym typeface="+mn-ea"/>
              </a:rPr>
              <a:t>随机模型预测控制解机会约束优化问题（</a:t>
            </a:r>
            <a:r>
              <a:rPr lang="en-US" altLang="zh-CN">
                <a:sym typeface="+mn-ea"/>
              </a:rPr>
              <a:t>4.5</a:t>
            </a:r>
            <a:r>
              <a:rPr>
                <a:sym typeface="+mn-ea"/>
              </a:rPr>
              <a:t>）</a:t>
            </a:r>
            <a:endParaRPr lang="zh-CN" altLang="en-US"/>
          </a:p>
        </p:txBody>
      </p:sp>
      <mc:AlternateContent xmlns:mc="http://schemas.openxmlformats.org/markup-compatibility/2006" xmlns:a14="http://schemas.microsoft.com/office/drawing/2010/main">
        <mc:Choice Requires="a14">
          <p:graphicFrame>
            <p:nvGraphicFramePr>
              <p:cNvPr id="6" name="表格 5"/>
              <p:cNvGraphicFramePr/>
              <p:nvPr/>
            </p:nvGraphicFramePr>
            <p:xfrm>
              <a:off x="303530" y="1691640"/>
              <a:ext cx="11203940" cy="2804160"/>
            </p:xfrm>
            <a:graphic>
              <a:graphicData uri="http://schemas.openxmlformats.org/drawingml/2006/table">
                <a:tbl>
                  <a:tblPr firstRow="1" bandRow="1">
                    <a:tableStyleId>{5C22544A-7EE6-4342-B048-85BDC9FD1C3A}</a:tableStyleId>
                  </a:tblPr>
                  <a:tblGrid>
                    <a:gridCol w="1607185"/>
                    <a:gridCol w="1881505"/>
                    <a:gridCol w="7715250"/>
                  </a:tblGrid>
                  <a:tr h="381000">
                    <a:tc>
                      <a:txBody>
                        <a:bodyPr/>
                        <a:p>
                          <a:pPr algn="ctr">
                            <a:buNone/>
                          </a:pPr>
                          <a:r>
                            <a:rPr lang="zh-CN" altLang="en-US"/>
                            <a:t>偏差</a:t>
                          </a:r>
                          <a:r>
                            <a:rPr lang="zh-CN" altLang="en-US"/>
                            <a:t>编号</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75000"/>
                          </a:schemeClr>
                        </a:solidFill>
                      </a:tcPr>
                    </a:tc>
                    <a:tc>
                      <a:txBody>
                        <a:bodyPr/>
                        <a:p>
                          <a:pPr algn="ctr">
                            <a:buNone/>
                          </a:pPr>
                          <a:r>
                            <a:rPr lang="zh-CN" altLang="en-US"/>
                            <a:t>偏差</a:t>
                          </a:r>
                          <a:r>
                            <a:rPr lang="zh-CN" altLang="en-US"/>
                            <a:t>原因</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75000"/>
                          </a:schemeClr>
                        </a:solidFill>
                      </a:tcPr>
                    </a:tc>
                    <a:tc>
                      <a:txBody>
                        <a:bodyPr/>
                        <a:p>
                          <a:pPr algn="ctr">
                            <a:buNone/>
                          </a:pPr>
                          <a:r>
                            <a:rPr lang="zh-CN" altLang="en-US"/>
                            <a:t>偏差</a:t>
                          </a:r>
                          <a:r>
                            <a:rPr lang="zh-CN" altLang="en-US"/>
                            <a:t>表达式</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75000"/>
                          </a:schemeClr>
                        </a:solidFill>
                      </a:tcPr>
                    </a:tc>
                  </a:tr>
                  <a:tr h="381000">
                    <a:tc>
                      <a:txBody>
                        <a:bodyPr/>
                        <a:p>
                          <a:pPr algn="l">
                            <a:buClrTx/>
                            <a:buSzTx/>
                            <a:buFontTx/>
                            <a:buNone/>
                          </a:pPr>
                          <a14:m>
                            <m:oMathPara xmlns:m="http://schemas.openxmlformats.org/officeDocument/2006/math">
                              <m:oMathParaPr>
                                <m:jc m:val="centerGroup"/>
                              </m:oMathParaPr>
                              <m:oMath xmlns:m="http://schemas.openxmlformats.org/officeDocument/2006/math">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1</m:t>
                                    </m:r>
                                  </m:sub>
                                </m:sSub>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𝑟𝑒𝑓</m:t>
                                    </m:r>
                                  </m:sub>
                                </m:sSub>
                                <m:r>
                                  <a:rPr lang="en-US" altLang="zh-CN" sz="1800" i="1">
                                    <a:latin typeface="Cambria Math" panose="02040503050406030204" charset="0"/>
                                    <a:cs typeface="Cambria Math" panose="02040503050406030204" charset="0"/>
                                  </a:rPr>
                                  <m:t>)</m:t>
                                </m:r>
                              </m:oMath>
                            </m:oMathPara>
                          </a14:m>
                          <a:endParaRPr lang="en-US" altLang="zh-CN" i="1">
                            <a:latin typeface="Cambria Math" panose="02040503050406030204" charset="0"/>
                            <a:cs typeface="Cambria Math" panose="020405030504060302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a:t>无</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a:t>0</a:t>
                          </a:r>
                          <a:endParaRPr lang="en-US" alt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p>
                          <a:pPr>
                            <a:buNone/>
                          </a:pPr>
                          <a14:m>
                            <m:oMathPara xmlns:m="http://schemas.openxmlformats.org/officeDocument/2006/math">
                              <m:oMathParaPr>
                                <m:jc m:val="centerGroup"/>
                              </m:oMathParaPr>
                              <m:oMath xmlns:m="http://schemas.openxmlformats.org/officeDocument/2006/math">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2</m:t>
                                    </m:r>
                                  </m:sub>
                                </m:sSub>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1</m:t>
                                    </m:r>
                                  </m:sub>
                                </m:sSub>
                                <m:r>
                                  <a:rPr lang="en-US" altLang="zh-CN" sz="1800" i="1">
                                    <a:latin typeface="Cambria Math" panose="02040503050406030204" charset="0"/>
                                    <a:cs typeface="Cambria Math" panose="02040503050406030204" charset="0"/>
                                  </a:rPr>
                                  <m:t>)</m:t>
                                </m:r>
                              </m:oMath>
                            </m:oMathPara>
                          </a14:m>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a:t>无</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14:m>
                            <m:oMathPara xmlns:m="http://schemas.openxmlformats.org/officeDocument/2006/math">
                              <m:oMathParaPr>
                                <m:jc m:val="centerGroup"/>
                              </m:oMathParaPr>
                              <m:oMath xmlns:m="http://schemas.openxmlformats.org/officeDocument/2006/math">
                                <m:r>
                                  <a:rPr lang="en-US" altLang="zh-CN" sz="1800" i="1">
                                    <a:latin typeface="Cambria Math" panose="02040503050406030204" charset="0"/>
                                    <a:cs typeface="Cambria Math" panose="02040503050406030204" charset="0"/>
                                  </a:rPr>
                                  <m:t>0</m:t>
                                </m:r>
                              </m:oMath>
                            </m:oMathPara>
                          </a14:m>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p>
                          <a:pPr>
                            <a:buNone/>
                          </a:pPr>
                          <a14:m>
                            <m:oMathPara xmlns:m="http://schemas.openxmlformats.org/officeDocument/2006/math">
                              <m:oMathParaPr>
                                <m:jc m:val="centerGroup"/>
                              </m:oMathParaPr>
                              <m:oMath xmlns:m="http://schemas.openxmlformats.org/officeDocument/2006/math">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3</m:t>
                                    </m:r>
                                  </m:sub>
                                </m:sSub>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2</m:t>
                                    </m:r>
                                  </m:sub>
                                </m:sSub>
                                <m:r>
                                  <a:rPr lang="en-US" altLang="zh-CN" sz="1800" i="1">
                                    <a:latin typeface="Cambria Math" panose="02040503050406030204" charset="0"/>
                                    <a:cs typeface="Cambria Math" panose="02040503050406030204" charset="0"/>
                                  </a:rPr>
                                  <m:t>)</m:t>
                                </m:r>
                              </m:oMath>
                            </m:oMathPara>
                          </a14:m>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a:t>无</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14:m>
                            <m:oMathPara xmlns:m="http://schemas.openxmlformats.org/officeDocument/2006/math">
                              <m:oMathParaPr>
                                <m:jc m:val="centerGroup"/>
                              </m:oMathParaPr>
                              <m:oMath xmlns:m="http://schemas.openxmlformats.org/officeDocument/2006/math">
                                <m:r>
                                  <a:rPr lang="en-US" altLang="zh-CN" sz="1800" i="1">
                                    <a:latin typeface="Cambria Math" panose="02040503050406030204" charset="0"/>
                                    <a:cs typeface="Cambria Math" panose="02040503050406030204" charset="0"/>
                                  </a:rPr>
                                  <m:t>0</m:t>
                                </m:r>
                              </m:oMath>
                            </m:oMathPara>
                          </a14:m>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p>
                          <a:pPr>
                            <a:buNone/>
                          </a:pPr>
                          <a14:m>
                            <m:oMathPara xmlns:m="http://schemas.openxmlformats.org/officeDocument/2006/math">
                              <m:oMathParaPr>
                                <m:jc m:val="centerGroup"/>
                              </m:oMathParaPr>
                              <m:oMath xmlns:m="http://schemas.openxmlformats.org/officeDocument/2006/math">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4</m:t>
                                    </m:r>
                                  </m:sub>
                                </m:sSub>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3</m:t>
                                    </m:r>
                                  </m:sub>
                                </m:sSub>
                                <m:r>
                                  <a:rPr lang="en-US" altLang="zh-CN" sz="1800" i="1">
                                    <a:latin typeface="Cambria Math" panose="02040503050406030204" charset="0"/>
                                    <a:cs typeface="Cambria Math" panose="02040503050406030204" charset="0"/>
                                  </a:rPr>
                                  <m:t>)</m:t>
                                </m:r>
                              </m:oMath>
                            </m:oMathPara>
                          </a14:m>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a:t>约束收紧</a:t>
                          </a:r>
                          <a:endParaRPr lang="zh-CN" altLang="en-US"/>
                        </a:p>
                        <a:p>
                          <a:pPr algn="ctr">
                            <a:buNone/>
                          </a:pPr>
                          <a:r>
                            <a:rPr lang="zh-CN" altLang="en-US"/>
                            <a:t>（性质保证</a:t>
                          </a:r>
                          <a:r>
                            <a:rPr lang="zh-CN" altLang="en-US"/>
                            <a:t>需要）</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14:m>
                            <m:oMathPara xmlns:m="http://schemas.openxmlformats.org/officeDocument/2006/math">
                              <m:oMathParaPr>
                                <m:jc m:val="centerGroup"/>
                              </m:oMathParaPr>
                              <m:oMath xmlns:m="http://schemas.openxmlformats.org/officeDocument/2006/math">
                                <m:sSub>
                                  <m:sSubPr>
                                    <m:ctrlPr>
                                      <a:rPr lang="en-US" altLang="zh-CN" sz="1800" i="1">
                                        <a:solidFill>
                                          <a:schemeClr val="tx1"/>
                                        </a:solidFill>
                                        <a:latin typeface="Cambria Math" panose="02040503050406030204" charset="0"/>
                                        <a:cs typeface="Cambria Math" panose="02040503050406030204" charset="0"/>
                                      </a:rPr>
                                    </m:ctrlPr>
                                  </m:sSubPr>
                                  <m:e>
                                    <m:r>
                                      <a:rPr lang="en-US" altLang="zh-CN" sz="1800" i="1">
                                        <a:solidFill>
                                          <a:schemeClr val="tx1"/>
                                        </a:solidFill>
                                        <a:latin typeface="Cambria Math" panose="02040503050406030204" charset="0"/>
                                        <a:cs typeface="Cambria Math" panose="02040503050406030204" charset="0"/>
                                      </a:rPr>
                                      <m:t>𝐹</m:t>
                                    </m:r>
                                  </m:e>
                                  <m:sub>
                                    <m:r>
                                      <a:rPr lang="en-US" altLang="zh-CN" sz="1800" i="1">
                                        <a:solidFill>
                                          <a:schemeClr val="tx1"/>
                                        </a:solidFill>
                                        <a:latin typeface="Cambria Math" panose="02040503050406030204" charset="0"/>
                                        <a:cs typeface="Cambria Math" panose="02040503050406030204" charset="0"/>
                                      </a:rPr>
                                      <m:t>|</m:t>
                                    </m:r>
                                    <m:sSup>
                                      <m:sSupPr>
                                        <m:ctrlPr>
                                          <a:rPr lang="en-US" altLang="zh-CN" sz="1800" i="1">
                                            <a:solidFill>
                                              <a:schemeClr val="tx1"/>
                                            </a:solidFill>
                                            <a:latin typeface="Cambria Math" panose="02040503050406030204" charset="0"/>
                                            <a:cs typeface="Cambria Math" panose="02040503050406030204" charset="0"/>
                                          </a:rPr>
                                        </m:ctrlPr>
                                      </m:sSupPr>
                                      <m:e>
                                        <m:r>
                                          <a:rPr lang="en-US" altLang="zh-CN" sz="1800" i="1">
                                            <a:solidFill>
                                              <a:schemeClr val="tx1"/>
                                            </a:solidFill>
                                            <a:latin typeface="Cambria Math" panose="02040503050406030204" charset="0"/>
                                            <a:cs typeface="Cambria Math" panose="02040503050406030204" charset="0"/>
                                          </a:rPr>
                                          <m:t>𝑔</m:t>
                                        </m:r>
                                      </m:e>
                                      <m:sup>
                                        <m:r>
                                          <a:rPr lang="en-US" altLang="zh-CN" sz="1800" i="1">
                                            <a:solidFill>
                                              <a:schemeClr val="tx1"/>
                                            </a:solidFill>
                                            <a:latin typeface="Cambria Math" panose="02040503050406030204" charset="0"/>
                                            <a:cs typeface="Cambria Math" panose="02040503050406030204" charset="0"/>
                                          </a:rPr>
                                          <m:t>𝑇</m:t>
                                        </m:r>
                                      </m:sup>
                                    </m:sSup>
                                    <m:r>
                                      <a:rPr lang="en-US" altLang="zh-CN" sz="1800" i="1">
                                        <a:solidFill>
                                          <a:schemeClr val="tx1"/>
                                        </a:solidFill>
                                        <a:latin typeface="Cambria Math" panose="02040503050406030204" charset="0"/>
                                        <a:cs typeface="Cambria Math" panose="02040503050406030204" charset="0"/>
                                      </a:rPr>
                                      <m:t>𝑒</m:t>
                                    </m:r>
                                    <m:r>
                                      <a:rPr lang="en-US" altLang="zh-CN" sz="1800" i="1">
                                        <a:solidFill>
                                          <a:schemeClr val="tx1"/>
                                        </a:solidFill>
                                        <a:latin typeface="Cambria Math" panose="02040503050406030204" charset="0"/>
                                        <a:cs typeface="Cambria Math" panose="02040503050406030204" charset="0"/>
                                      </a:rPr>
                                      <m:t>|</m:t>
                                    </m:r>
                                  </m:sub>
                                </m:sSub>
                                <m:r>
                                  <a:rPr lang="en-US" altLang="zh-CN" sz="1800" i="1">
                                    <a:latin typeface="Cambria Math" panose="02040503050406030204" charset="0"/>
                                    <a:cs typeface="Cambria Math" panose="02040503050406030204" charset="0"/>
                                  </a:rPr>
                                  <m:t>(</m:t>
                                </m:r>
                                <m:func>
                                  <m:funcPr>
                                    <m:ctrlPr>
                                      <a:rPr lang="en-US" altLang="zh-CN" sz="1800" i="1">
                                        <a:latin typeface="Cambria Math" panose="02040503050406030204" charset="0"/>
                                        <a:cs typeface="Cambria Math" panose="02040503050406030204" charset="0"/>
                                      </a:rPr>
                                    </m:ctrlPr>
                                  </m:funcPr>
                                  <m:fName>
                                    <m:limLow>
                                      <m:limLowPr>
                                        <m:ctrlPr>
                                          <a:rPr lang="en-US" altLang="zh-CN" sz="1800">
                                            <a:latin typeface="Cambria Math" panose="02040503050406030204" charset="0"/>
                                            <a:cs typeface="Cambria Math" panose="02040503050406030204" charset="0"/>
                                          </a:rPr>
                                        </m:ctrlPr>
                                      </m:limLowPr>
                                      <m:e>
                                        <m:r>
                                          <m:rPr>
                                            <m:sty m:val="p"/>
                                          </m:rPr>
                                          <a:rPr lang="en-US" altLang="zh-CN" sz="1800">
                                            <a:latin typeface="Cambria Math" panose="02040503050406030204" charset="0"/>
                                            <a:cs typeface="Cambria Math" panose="02040503050406030204" charset="0"/>
                                          </a:rPr>
                                          <m:t>max</m:t>
                                        </m:r>
                                      </m:e>
                                      <m:lim>
                                        <m:r>
                                          <a:rPr lang="en-US" altLang="zh-CN" sz="1800" i="1">
                                            <a:latin typeface="Cambria Math" panose="02040503050406030204" charset="0"/>
                                            <a:cs typeface="Cambria Math" panose="02040503050406030204" charset="0"/>
                                          </a:rPr>
                                          <m:t>𝑗</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1</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𝑖</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1</m:t>
                                        </m:r>
                                      </m:lim>
                                    </m:limLow>
                                  </m:fName>
                                  <m:e>
                                    <m:r>
                                      <a:rPr lang="en-US" altLang="zh-CN" sz="1800" i="1">
                                        <a:latin typeface="Cambria Math" panose="02040503050406030204" charset="0"/>
                                        <a:cs typeface="Cambria Math" panose="02040503050406030204" charset="0"/>
                                      </a:rPr>
                                      <m:t>{</m:t>
                                    </m:r>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𝑏</m:t>
                                        </m:r>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𝜋</m:t>
                                            </m:r>
                                          </m:e>
                                          <m:sub>
                                            <m:r>
                                              <a:rPr lang="en-US" altLang="zh-CN" sz="1800" i="1">
                                                <a:latin typeface="Cambria Math" panose="02040503050406030204" charset="0"/>
                                                <a:cs typeface="Cambria Math" panose="02040503050406030204" charset="0"/>
                                              </a:rPr>
                                              <m:t>𝑖</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𝑗</m:t>
                                            </m:r>
                                          </m:sub>
                                        </m:sSub>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𝑟𝑒𝑓</m:t>
                                            </m:r>
                                          </m:sub>
                                        </m:sSub>
                                        <m:r>
                                          <a:rPr lang="en-US" altLang="zh-CN" sz="1800" i="1">
                                            <a:latin typeface="Cambria Math" panose="02040503050406030204" charset="0"/>
                                            <a:cs typeface="Cambria Math" panose="02040503050406030204" charset="0"/>
                                          </a:rPr>
                                          <m:t>)</m:t>
                                        </m:r>
                                      </m:e>
                                      <m:sup>
                                        <m:box>
                                          <m:boxPr>
                                            <m:noBreak m:val="on"/>
                                            <m:ctrlPr>
                                              <a:rPr lang="en-US" altLang="zh-CN" sz="1800" i="1">
                                                <a:latin typeface="Cambria Math" panose="02040503050406030204" charset="0"/>
                                                <a:cs typeface="Cambria Math" panose="02040503050406030204" charset="0"/>
                                              </a:rPr>
                                            </m:ctrlPr>
                                          </m:boxPr>
                                          <m:e>
                                            <m:argPr>
                                              <m:argSz m:val="-1"/>
                                            </m:argPr>
                                            <m:f>
                                              <m:fPr>
                                                <m:ctrlPr>
                                                  <a:rPr lang="en-US" altLang="zh-CN" sz="1800" i="1">
                                                    <a:latin typeface="Cambria Math" panose="02040503050406030204" charset="0"/>
                                                    <a:cs typeface="Cambria Math" panose="02040503050406030204" charset="0"/>
                                                  </a:rPr>
                                                </m:ctrlPr>
                                              </m:fPr>
                                              <m:num>
                                                <m:r>
                                                  <a:rPr lang="en-US" altLang="zh-CN" sz="1800" i="1">
                                                    <a:latin typeface="Cambria Math" panose="02040503050406030204" charset="0"/>
                                                    <a:cs typeface="Cambria Math" panose="02040503050406030204" charset="0"/>
                                                  </a:rPr>
                                                  <m:t>1</m:t>
                                                </m:r>
                                              </m:num>
                                              <m:den>
                                                <m:r>
                                                  <a:rPr lang="en-US" altLang="zh-CN" sz="1800" i="1">
                                                    <a:latin typeface="Cambria Math" panose="02040503050406030204" charset="0"/>
                                                    <a:cs typeface="Cambria Math" panose="02040503050406030204" charset="0"/>
                                                  </a:rPr>
                                                  <m:t>2</m:t>
                                                </m:r>
                                              </m:den>
                                            </m:f>
                                          </m:e>
                                        </m:box>
                                      </m:sup>
                                    </m:sSup>
                                    <m:rad>
                                      <m:radPr>
                                        <m:degHide m:val="on"/>
                                        <m:ctrlPr>
                                          <a:rPr lang="en-US" altLang="zh-CN" sz="1800" i="1">
                                            <a:latin typeface="Cambria Math" panose="02040503050406030204" charset="0"/>
                                            <a:cs typeface="Cambria Math" panose="02040503050406030204" charset="0"/>
                                          </a:rPr>
                                        </m:ctrlPr>
                                      </m:radPr>
                                      <m:deg/>
                                      <m:e>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𝑔</m:t>
                                            </m:r>
                                          </m:e>
                                          <m:sup>
                                            <m:r>
                                              <a:rPr lang="en-US" altLang="zh-CN" sz="1800" i="1">
                                                <a:latin typeface="Cambria Math" panose="02040503050406030204" charset="0"/>
                                                <a:cs typeface="Cambria Math" panose="02040503050406030204" charset="0"/>
                                              </a:rPr>
                                              <m:t>𝑇</m:t>
                                            </m:r>
                                          </m:sup>
                                        </m:sSup>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𝑉</m:t>
                                            </m:r>
                                          </m:e>
                                          <m:sup>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1</m:t>
                                            </m:r>
                                          </m:sup>
                                        </m:sSup>
                                        <m:r>
                                          <a:rPr lang="en-US" altLang="zh-CN" sz="1800" i="1">
                                            <a:latin typeface="Cambria Math" panose="02040503050406030204" charset="0"/>
                                            <a:cs typeface="Cambria Math" panose="02040503050406030204" charset="0"/>
                                          </a:rPr>
                                          <m:t>𝑔</m:t>
                                        </m:r>
                                      </m:e>
                                    </m:rad>
                                    <m:r>
                                      <a:rPr lang="en-US" altLang="zh-CN" sz="1800" i="1">
                                        <a:latin typeface="Cambria Math" panose="02040503050406030204" charset="0"/>
                                        <a:cs typeface="Cambria Math" panose="02040503050406030204" charset="0"/>
                                      </a:rPr>
                                      <m:t>}</m:t>
                                    </m:r>
                                  </m:e>
                                </m:func>
                                <m:r>
                                  <a:rPr lang="en-US" altLang="zh-CN" sz="1800" i="1">
                                    <a:latin typeface="Cambria Math" panose="02040503050406030204" charset="0"/>
                                    <a:cs typeface="Cambria Math" panose="02040503050406030204" charset="0"/>
                                  </a:rPr>
                                  <m:t>)−</m:t>
                                </m:r>
                                <m:sSub>
                                  <m:sSubPr>
                                    <m:ctrlPr>
                                      <a:rPr lang="en-US" altLang="zh-CN" sz="1800" i="1">
                                        <a:solidFill>
                                          <a:schemeClr val="tx1"/>
                                        </a:solidFill>
                                        <a:latin typeface="Cambria Math" panose="02040503050406030204" charset="0"/>
                                        <a:cs typeface="Cambria Math" panose="02040503050406030204" charset="0"/>
                                      </a:rPr>
                                    </m:ctrlPr>
                                  </m:sSubPr>
                                  <m:e>
                                    <m:r>
                                      <a:rPr lang="en-US" altLang="zh-CN" sz="1800" i="1">
                                        <a:solidFill>
                                          <a:schemeClr val="tx1"/>
                                        </a:solidFill>
                                        <a:latin typeface="Cambria Math" panose="02040503050406030204" charset="0"/>
                                        <a:cs typeface="Cambria Math" panose="02040503050406030204" charset="0"/>
                                      </a:rPr>
                                      <m:t>𝐹</m:t>
                                    </m:r>
                                  </m:e>
                                  <m:sub>
                                    <m:r>
                                      <a:rPr lang="en-US" altLang="zh-CN" sz="1800" i="1">
                                        <a:solidFill>
                                          <a:schemeClr val="tx1"/>
                                        </a:solidFill>
                                        <a:latin typeface="Cambria Math" panose="02040503050406030204" charset="0"/>
                                        <a:cs typeface="Cambria Math" panose="02040503050406030204" charset="0"/>
                                      </a:rPr>
                                      <m:t>|</m:t>
                                    </m:r>
                                    <m:sSup>
                                      <m:sSupPr>
                                        <m:ctrlPr>
                                          <a:rPr lang="en-US" altLang="zh-CN" sz="1800" i="1">
                                            <a:solidFill>
                                              <a:schemeClr val="tx1"/>
                                            </a:solidFill>
                                            <a:latin typeface="Cambria Math" panose="02040503050406030204" charset="0"/>
                                            <a:cs typeface="Cambria Math" panose="02040503050406030204" charset="0"/>
                                          </a:rPr>
                                        </m:ctrlPr>
                                      </m:sSupPr>
                                      <m:e>
                                        <m:r>
                                          <a:rPr lang="en-US" altLang="zh-CN" sz="1800" i="1">
                                            <a:solidFill>
                                              <a:schemeClr val="tx1"/>
                                            </a:solidFill>
                                            <a:latin typeface="Cambria Math" panose="02040503050406030204" charset="0"/>
                                            <a:cs typeface="Cambria Math" panose="02040503050406030204" charset="0"/>
                                          </a:rPr>
                                          <m:t>𝑔</m:t>
                                        </m:r>
                                      </m:e>
                                      <m:sup>
                                        <m:r>
                                          <a:rPr lang="en-US" altLang="zh-CN" sz="1800" i="1">
                                            <a:solidFill>
                                              <a:schemeClr val="tx1"/>
                                            </a:solidFill>
                                            <a:latin typeface="Cambria Math" panose="02040503050406030204" charset="0"/>
                                            <a:cs typeface="Cambria Math" panose="02040503050406030204" charset="0"/>
                                          </a:rPr>
                                          <m:t>𝑇</m:t>
                                        </m:r>
                                      </m:sup>
                                    </m:sSup>
                                    <m:r>
                                      <a:rPr lang="en-US" altLang="zh-CN" sz="1800" i="1">
                                        <a:solidFill>
                                          <a:schemeClr val="tx1"/>
                                        </a:solidFill>
                                        <a:latin typeface="Cambria Math" panose="02040503050406030204" charset="0"/>
                                        <a:cs typeface="Cambria Math" panose="02040503050406030204" charset="0"/>
                                      </a:rPr>
                                      <m:t>𝑒</m:t>
                                    </m:r>
                                    <m:r>
                                      <a:rPr lang="en-US" altLang="zh-CN" sz="1800" i="1">
                                        <a:solidFill>
                                          <a:schemeClr val="tx1"/>
                                        </a:solidFill>
                                        <a:latin typeface="Cambria Math" panose="02040503050406030204" charset="0"/>
                                        <a:cs typeface="Cambria Math" panose="02040503050406030204" charset="0"/>
                                      </a:rPr>
                                      <m:t>|</m:t>
                                    </m:r>
                                  </m:sub>
                                </m:sSub>
                                <m:r>
                                  <a:rPr lang="en-US" altLang="zh-CN" sz="1800" i="1">
                                    <a:latin typeface="Cambria Math" panose="02040503050406030204" charset="0"/>
                                    <a:cs typeface="Cambria Math" panose="02040503050406030204" charset="0"/>
                                  </a:rPr>
                                  <m:t>(</m:t>
                                </m:r>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𝑏</m:t>
                                    </m:r>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𝜋</m:t>
                                        </m:r>
                                      </m:e>
                                      <m:sub>
                                        <m:r>
                                          <a:rPr lang="en-US" altLang="zh-CN" sz="1800" i="1">
                                            <a:latin typeface="Cambria Math" panose="02040503050406030204" charset="0"/>
                                            <a:cs typeface="Cambria Math" panose="02040503050406030204" charset="0"/>
                                          </a:rPr>
                                          <m:t>𝑖</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𝑖</m:t>
                                        </m:r>
                                      </m:sub>
                                    </m:sSub>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𝑟𝑒𝑓</m:t>
                                        </m:r>
                                      </m:sub>
                                    </m:sSub>
                                    <m:r>
                                      <a:rPr lang="en-US" altLang="zh-CN" sz="1800" i="1">
                                        <a:latin typeface="Cambria Math" panose="02040503050406030204" charset="0"/>
                                        <a:cs typeface="Cambria Math" panose="02040503050406030204" charset="0"/>
                                      </a:rPr>
                                      <m:t>)</m:t>
                                    </m:r>
                                  </m:e>
                                  <m:sup>
                                    <m:box>
                                      <m:boxPr>
                                        <m:noBreak m:val="on"/>
                                        <m:ctrlPr>
                                          <a:rPr lang="en-US" altLang="zh-CN" sz="1800" i="1">
                                            <a:latin typeface="Cambria Math" panose="02040503050406030204" charset="0"/>
                                            <a:cs typeface="Cambria Math" panose="02040503050406030204" charset="0"/>
                                          </a:rPr>
                                        </m:ctrlPr>
                                      </m:boxPr>
                                      <m:e>
                                        <m:argPr>
                                          <m:argSz m:val="-1"/>
                                        </m:argPr>
                                        <m:f>
                                          <m:fPr>
                                            <m:ctrlPr>
                                              <a:rPr lang="en-US" altLang="zh-CN" sz="1800" i="1">
                                                <a:latin typeface="Cambria Math" panose="02040503050406030204" charset="0"/>
                                                <a:cs typeface="Cambria Math" panose="02040503050406030204" charset="0"/>
                                              </a:rPr>
                                            </m:ctrlPr>
                                          </m:fPr>
                                          <m:num>
                                            <m:r>
                                              <a:rPr lang="en-US" altLang="zh-CN" sz="1800" i="1">
                                                <a:latin typeface="Cambria Math" panose="02040503050406030204" charset="0"/>
                                                <a:cs typeface="Cambria Math" panose="02040503050406030204" charset="0"/>
                                              </a:rPr>
                                              <m:t>1</m:t>
                                            </m:r>
                                          </m:num>
                                          <m:den>
                                            <m:r>
                                              <a:rPr lang="en-US" altLang="zh-CN" sz="1800" i="1">
                                                <a:latin typeface="Cambria Math" panose="02040503050406030204" charset="0"/>
                                                <a:cs typeface="Cambria Math" panose="02040503050406030204" charset="0"/>
                                              </a:rPr>
                                              <m:t>2</m:t>
                                            </m:r>
                                          </m:den>
                                        </m:f>
                                      </m:e>
                                    </m:box>
                                  </m:sup>
                                </m:sSup>
                                <m:rad>
                                  <m:radPr>
                                    <m:degHide m:val="on"/>
                                    <m:ctrlPr>
                                      <a:rPr lang="en-US" altLang="zh-CN" sz="1800" i="1">
                                        <a:latin typeface="Cambria Math" panose="02040503050406030204" charset="0"/>
                                        <a:cs typeface="Cambria Math" panose="02040503050406030204" charset="0"/>
                                      </a:rPr>
                                    </m:ctrlPr>
                                  </m:radPr>
                                  <m:deg/>
                                  <m:e>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𝑔</m:t>
                                        </m:r>
                                      </m:e>
                                      <m:sup>
                                        <m:r>
                                          <a:rPr lang="en-US" altLang="zh-CN" sz="1800" i="1">
                                            <a:latin typeface="Cambria Math" panose="02040503050406030204" charset="0"/>
                                            <a:cs typeface="Cambria Math" panose="02040503050406030204" charset="0"/>
                                          </a:rPr>
                                          <m:t>𝑇</m:t>
                                        </m:r>
                                      </m:sup>
                                    </m:sSup>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𝑉</m:t>
                                        </m:r>
                                      </m:e>
                                      <m:sup>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1</m:t>
                                        </m:r>
                                      </m:sup>
                                    </m:sSup>
                                    <m:r>
                                      <a:rPr lang="en-US" altLang="zh-CN" sz="1800" i="1">
                                        <a:latin typeface="Cambria Math" panose="02040503050406030204" charset="0"/>
                                        <a:cs typeface="Cambria Math" panose="02040503050406030204" charset="0"/>
                                      </a:rPr>
                                      <m:t>𝑔</m:t>
                                    </m:r>
                                  </m:e>
                                </m:rad>
                                <m:r>
                                  <a:rPr lang="en-US" altLang="zh-CN" sz="1800" i="1">
                                    <a:latin typeface="Cambria Math" panose="02040503050406030204" charset="0"/>
                                    <a:cs typeface="Cambria Math" panose="02040503050406030204" charset="0"/>
                                  </a:rPr>
                                  <m:t>)</m:t>
                                </m:r>
                              </m:oMath>
                            </m:oMathPara>
                          </a14:m>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502920">
                    <a:tc>
                      <a:txBody>
                        <a:bodyPr/>
                        <a:p>
                          <a:pPr>
                            <a:buNone/>
                          </a:pPr>
                          <a14:m>
                            <m:oMathPara xmlns:m="http://schemas.openxmlformats.org/officeDocument/2006/math">
                              <m:oMathParaPr>
                                <m:jc m:val="centerGroup"/>
                              </m:oMathParaPr>
                              <m:oMath xmlns:m="http://schemas.openxmlformats.org/officeDocument/2006/math">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5</m:t>
                                    </m:r>
                                  </m:sub>
                                </m:sSub>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4</m:t>
                                    </m:r>
                                  </m:sub>
                                </m:sSub>
                                <m:r>
                                  <a:rPr lang="en-US" altLang="zh-CN" sz="1800" i="1">
                                    <a:latin typeface="Cambria Math" panose="02040503050406030204" charset="0"/>
                                    <a:cs typeface="Cambria Math" panose="02040503050406030204" charset="0"/>
                                  </a:rPr>
                                  <m:t>)</m:t>
                                </m:r>
                              </m:oMath>
                            </m:oMathPara>
                          </a14:m>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a:t>确定性约束</a:t>
                          </a:r>
                          <a:endParaRPr lang="zh-CN" altLang="en-US"/>
                        </a:p>
                        <a:p>
                          <a:pPr algn="ctr">
                            <a:buNone/>
                          </a:pPr>
                          <a:r>
                            <a:rPr lang="zh-CN" altLang="en-US"/>
                            <a:t>实际满足</a:t>
                          </a:r>
                          <a:r>
                            <a:rPr lang="zh-CN" altLang="en-US"/>
                            <a:t>情况</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buNone/>
                          </a:pPr>
                          <a14:m>
                            <m:oMathPara xmlns:m="http://schemas.openxmlformats.org/officeDocument/2006/math">
                              <m:oMathParaPr>
                                <m:jc m:val="centerGroup"/>
                              </m:oMathParaPr>
                              <m:oMath xmlns:m="http://schemas.openxmlformats.org/officeDocument/2006/math">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1</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𝑃𝑟</m:t>
                                </m:r>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𝑒𝑞𝑢𝑎𝑙</m:t>
                                </m:r>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𝐹</m:t>
                                    </m:r>
                                  </m:e>
                                  <m:sub>
                                    <m:r>
                                      <a:rPr lang="en-US" altLang="zh-CN" sz="1800" i="1">
                                        <a:latin typeface="Cambria Math" panose="02040503050406030204" charset="0"/>
                                        <a:cs typeface="Cambria Math" panose="02040503050406030204" charset="0"/>
                                      </a:rPr>
                                      <m:t>|</m:t>
                                    </m:r>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𝑔</m:t>
                                        </m:r>
                                      </m:e>
                                      <m:sup>
                                        <m:r>
                                          <a:rPr lang="en-US" altLang="zh-CN" sz="1800" i="1">
                                            <a:latin typeface="Cambria Math" panose="02040503050406030204" charset="0"/>
                                            <a:cs typeface="Cambria Math" panose="02040503050406030204" charset="0"/>
                                          </a:rPr>
                                          <m:t>𝑇</m:t>
                                        </m:r>
                                      </m:sup>
                                    </m:sSup>
                                    <m:r>
                                      <a:rPr lang="en-US" altLang="zh-CN" sz="1800" i="1">
                                        <a:latin typeface="Cambria Math" panose="02040503050406030204" charset="0"/>
                                        <a:cs typeface="Cambria Math" panose="02040503050406030204" charset="0"/>
                                      </a:rPr>
                                      <m:t>𝑒</m:t>
                                    </m:r>
                                    <m:r>
                                      <a:rPr lang="en-US" altLang="zh-CN" sz="1800" i="1">
                                        <a:latin typeface="Cambria Math" panose="02040503050406030204" charset="0"/>
                                        <a:cs typeface="Cambria Math" panose="02040503050406030204" charset="0"/>
                                      </a:rPr>
                                      <m:t>|</m:t>
                                    </m:r>
                                  </m:sub>
                                </m:sSub>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ℎ</m:t>
                                </m:r>
                                <m:r>
                                  <a:rPr lang="en-US" altLang="zh-CN" sz="1800" i="1">
                                    <a:latin typeface="Cambria Math" panose="02040503050406030204" charset="0"/>
                                    <a:cs typeface="Cambria Math" panose="02040503050406030204" charset="0"/>
                                  </a:rPr>
                                  <m:t>−</m:t>
                                </m:r>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𝑔</m:t>
                                    </m:r>
                                  </m:e>
                                  <m:sup>
                                    <m:r>
                                      <a:rPr lang="en-US" altLang="zh-CN" sz="1800" i="1">
                                        <a:latin typeface="Cambria Math" panose="02040503050406030204" charset="0"/>
                                        <a:cs typeface="Cambria Math" panose="02040503050406030204" charset="0"/>
                                      </a:rPr>
                                      <m:t>𝑇</m:t>
                                    </m:r>
                                  </m:sup>
                                </m:sSup>
                                <m:r>
                                  <a:rPr lang="en-US" altLang="zh-CN" sz="1800" i="1">
                                    <a:latin typeface="Cambria Math" panose="02040503050406030204" charset="0"/>
                                    <a:cs typeface="Cambria Math" panose="02040503050406030204" charset="0"/>
                                  </a:rPr>
                                  <m:t>𝑧</m:t>
                                </m:r>
                                <m:r>
                                  <a:rPr lang="en-US" altLang="zh-CN" sz="1800" i="1">
                                    <a:latin typeface="Cambria Math" panose="02040503050406030204" charset="0"/>
                                    <a:cs typeface="Cambria Math" panose="02040503050406030204" charset="0"/>
                                  </a:rPr>
                                  <m:t>)]−</m:t>
                                </m:r>
                                <m:sSub>
                                  <m:sSubPr>
                                    <m:ctrlPr>
                                      <a:rPr lang="en-US" altLang="zh-CN" sz="1800" i="1">
                                        <a:solidFill>
                                          <a:schemeClr val="tx1"/>
                                        </a:solidFill>
                                        <a:latin typeface="Cambria Math" panose="02040503050406030204" charset="0"/>
                                        <a:cs typeface="Cambria Math" panose="02040503050406030204" charset="0"/>
                                      </a:rPr>
                                    </m:ctrlPr>
                                  </m:sSubPr>
                                  <m:e>
                                    <m:r>
                                      <a:rPr lang="en-US" altLang="zh-CN" sz="1800" i="1">
                                        <a:solidFill>
                                          <a:schemeClr val="tx1"/>
                                        </a:solidFill>
                                        <a:latin typeface="Cambria Math" panose="02040503050406030204" charset="0"/>
                                        <a:cs typeface="Cambria Math" panose="02040503050406030204" charset="0"/>
                                      </a:rPr>
                                      <m:t>𝐹</m:t>
                                    </m:r>
                                  </m:e>
                                  <m:sub>
                                    <m:r>
                                      <a:rPr lang="en-US" altLang="zh-CN" sz="1800" i="1">
                                        <a:solidFill>
                                          <a:schemeClr val="tx1"/>
                                        </a:solidFill>
                                        <a:latin typeface="Cambria Math" panose="02040503050406030204" charset="0"/>
                                        <a:cs typeface="Cambria Math" panose="02040503050406030204" charset="0"/>
                                      </a:rPr>
                                      <m:t>|</m:t>
                                    </m:r>
                                    <m:sSup>
                                      <m:sSupPr>
                                        <m:ctrlPr>
                                          <a:rPr lang="en-US" altLang="zh-CN" sz="1800" i="1">
                                            <a:solidFill>
                                              <a:schemeClr val="tx1"/>
                                            </a:solidFill>
                                            <a:latin typeface="Cambria Math" panose="02040503050406030204" charset="0"/>
                                            <a:cs typeface="Cambria Math" panose="02040503050406030204" charset="0"/>
                                          </a:rPr>
                                        </m:ctrlPr>
                                      </m:sSupPr>
                                      <m:e>
                                        <m:r>
                                          <a:rPr lang="en-US" altLang="zh-CN" sz="1800" i="1">
                                            <a:solidFill>
                                              <a:schemeClr val="tx1"/>
                                            </a:solidFill>
                                            <a:latin typeface="Cambria Math" panose="02040503050406030204" charset="0"/>
                                            <a:cs typeface="Cambria Math" panose="02040503050406030204" charset="0"/>
                                          </a:rPr>
                                          <m:t>𝑔</m:t>
                                        </m:r>
                                      </m:e>
                                      <m:sup>
                                        <m:r>
                                          <a:rPr lang="en-US" altLang="zh-CN" sz="1800" i="1">
                                            <a:solidFill>
                                              <a:schemeClr val="tx1"/>
                                            </a:solidFill>
                                            <a:latin typeface="Cambria Math" panose="02040503050406030204" charset="0"/>
                                            <a:cs typeface="Cambria Math" panose="02040503050406030204" charset="0"/>
                                          </a:rPr>
                                          <m:t>𝑇</m:t>
                                        </m:r>
                                      </m:sup>
                                    </m:sSup>
                                    <m:r>
                                      <a:rPr lang="en-US" altLang="zh-CN" sz="1800" i="1">
                                        <a:solidFill>
                                          <a:schemeClr val="tx1"/>
                                        </a:solidFill>
                                        <a:latin typeface="Cambria Math" panose="02040503050406030204" charset="0"/>
                                        <a:cs typeface="Cambria Math" panose="02040503050406030204" charset="0"/>
                                      </a:rPr>
                                      <m:t>𝑒</m:t>
                                    </m:r>
                                    <m:r>
                                      <a:rPr lang="en-US" altLang="zh-CN" sz="1800" i="1">
                                        <a:solidFill>
                                          <a:schemeClr val="tx1"/>
                                        </a:solidFill>
                                        <a:latin typeface="Cambria Math" panose="02040503050406030204" charset="0"/>
                                        <a:cs typeface="Cambria Math" panose="02040503050406030204" charset="0"/>
                                      </a:rPr>
                                      <m:t>|</m:t>
                                    </m:r>
                                  </m:sub>
                                </m:sSub>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ℎ</m:t>
                                </m:r>
                                <m:r>
                                  <a:rPr lang="en-US" altLang="zh-CN" sz="1800" i="1">
                                    <a:latin typeface="Cambria Math" panose="02040503050406030204" charset="0"/>
                                    <a:cs typeface="Cambria Math" panose="02040503050406030204" charset="0"/>
                                  </a:rPr>
                                  <m:t>−</m:t>
                                </m:r>
                                <m:sSup>
                                  <m:sSupPr>
                                    <m:ctrlPr>
                                      <a:rPr lang="en-US" altLang="zh-CN" sz="1800" i="1">
                                        <a:latin typeface="Cambria Math" panose="02040503050406030204" charset="0"/>
                                        <a:cs typeface="Cambria Math" panose="02040503050406030204" charset="0"/>
                                      </a:rPr>
                                    </m:ctrlPr>
                                  </m:sSupPr>
                                  <m:e>
                                    <m:sSub>
                                      <m:sSubPr>
                                        <m:ctrlPr>
                                          <a:rPr lang="en-US" altLang="zh-CN" sz="1800" i="1">
                                            <a:latin typeface="Cambria Math" panose="02040503050406030204" charset="0"/>
                                            <a:cs typeface="Cambria Math" panose="02040503050406030204" charset="0"/>
                                          </a:rPr>
                                        </m:ctrlPr>
                                      </m:sSubPr>
                                      <m:e>
                                        <m:acc>
                                          <m:accPr>
                                            <m:chr m:val="̅"/>
                                            <m:ctrlPr>
                                              <a:rPr lang="en-US" altLang="zh-CN" sz="1800" i="1">
                                                <a:latin typeface="Cambria Math" panose="02040503050406030204" charset="0"/>
                                                <a:cs typeface="Cambria Math" panose="02040503050406030204" charset="0"/>
                                              </a:rPr>
                                            </m:ctrlPr>
                                          </m:accPr>
                                          <m:e>
                                            <m:r>
                                              <a:rPr lang="en-US" altLang="zh-CN" sz="1800" i="1">
                                                <a:latin typeface="Cambria Math" panose="02040503050406030204" charset="0"/>
                                                <a:cs typeface="Cambria Math" panose="02040503050406030204" charset="0"/>
                                              </a:rPr>
                                              <m:t>𝑏</m:t>
                                            </m:r>
                                          </m:e>
                                        </m:acc>
                                      </m:e>
                                      <m:sub>
                                        <m:r>
                                          <a:rPr lang="en-US" altLang="zh-CN" sz="1800" i="1">
                                            <a:latin typeface="Cambria Math" panose="02040503050406030204" charset="0"/>
                                            <a:cs typeface="Cambria Math" panose="02040503050406030204" charset="0"/>
                                          </a:rPr>
                                          <m:t>𝑖</m:t>
                                        </m:r>
                                      </m:sub>
                                    </m:sSub>
                                    <m:r>
                                      <a:rPr lang="en-US" altLang="zh-CN" sz="1800" i="1">
                                        <a:latin typeface="Cambria Math" panose="02040503050406030204" charset="0"/>
                                        <a:cs typeface="Cambria Math" panose="02040503050406030204" charset="0"/>
                                      </a:rPr>
                                      <m:t>(</m:t>
                                    </m:r>
                                    <m:sSub>
                                      <m:sSubPr>
                                        <m:ctrlPr>
                                          <a:rPr lang="en-US" altLang="zh-CN" sz="1800" i="1">
                                            <a:latin typeface="Cambria Math" panose="02040503050406030204" charset="0"/>
                                            <a:cs typeface="Cambria Math" panose="02040503050406030204" charset="0"/>
                                          </a:rPr>
                                        </m:ctrlPr>
                                      </m:sSubPr>
                                      <m:e>
                                        <m:r>
                                          <a:rPr lang="en-US" altLang="zh-CN" sz="1800" i="1">
                                            <a:latin typeface="Cambria Math" panose="02040503050406030204" charset="0"/>
                                            <a:cs typeface="Cambria Math" panose="02040503050406030204" charset="0"/>
                                          </a:rPr>
                                          <m:t>𝑞</m:t>
                                        </m:r>
                                      </m:e>
                                      <m:sub>
                                        <m:r>
                                          <a:rPr lang="en-US" altLang="zh-CN" sz="1800" i="1">
                                            <a:latin typeface="Cambria Math" panose="02040503050406030204" charset="0"/>
                                            <a:cs typeface="Cambria Math" panose="02040503050406030204" charset="0"/>
                                          </a:rPr>
                                          <m:t>𝑟𝑒𝑓</m:t>
                                        </m:r>
                                      </m:sub>
                                    </m:sSub>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𝜀</m:t>
                                    </m:r>
                                    <m:r>
                                      <a:rPr lang="en-US" altLang="zh-CN" sz="1800" i="1">
                                        <a:latin typeface="Cambria Math" panose="02040503050406030204" charset="0"/>
                                        <a:cs typeface="Cambria Math" panose="02040503050406030204" charset="0"/>
                                      </a:rPr>
                                      <m:t>))</m:t>
                                    </m:r>
                                  </m:e>
                                  <m:sup>
                                    <m:box>
                                      <m:boxPr>
                                        <m:noBreak m:val="on"/>
                                        <m:ctrlPr>
                                          <a:rPr lang="en-US" altLang="zh-CN" sz="1800" i="1">
                                            <a:latin typeface="Cambria Math" panose="02040503050406030204" charset="0"/>
                                            <a:cs typeface="Cambria Math" panose="02040503050406030204" charset="0"/>
                                          </a:rPr>
                                        </m:ctrlPr>
                                      </m:boxPr>
                                      <m:e>
                                        <m:argPr>
                                          <m:argSz m:val="-1"/>
                                        </m:argPr>
                                        <m:f>
                                          <m:fPr>
                                            <m:ctrlPr>
                                              <a:rPr lang="en-US" altLang="zh-CN" sz="1800" i="1">
                                                <a:latin typeface="Cambria Math" panose="02040503050406030204" charset="0"/>
                                                <a:cs typeface="Cambria Math" panose="02040503050406030204" charset="0"/>
                                              </a:rPr>
                                            </m:ctrlPr>
                                          </m:fPr>
                                          <m:num>
                                            <m:r>
                                              <a:rPr lang="en-US" altLang="zh-CN" sz="1800" i="1">
                                                <a:latin typeface="Cambria Math" panose="02040503050406030204" charset="0"/>
                                                <a:cs typeface="Cambria Math" panose="02040503050406030204" charset="0"/>
                                              </a:rPr>
                                              <m:t>1</m:t>
                                            </m:r>
                                          </m:num>
                                          <m:den>
                                            <m:r>
                                              <a:rPr lang="en-US" altLang="zh-CN" sz="1800" i="1">
                                                <a:latin typeface="Cambria Math" panose="02040503050406030204" charset="0"/>
                                                <a:cs typeface="Cambria Math" panose="02040503050406030204" charset="0"/>
                                              </a:rPr>
                                              <m:t>2</m:t>
                                            </m:r>
                                          </m:den>
                                        </m:f>
                                      </m:e>
                                    </m:box>
                                  </m:sup>
                                </m:sSup>
                                <m:rad>
                                  <m:radPr>
                                    <m:degHide m:val="on"/>
                                    <m:ctrlPr>
                                      <a:rPr lang="en-US" altLang="zh-CN" sz="1800" i="1">
                                        <a:latin typeface="Cambria Math" panose="02040503050406030204" charset="0"/>
                                        <a:cs typeface="Cambria Math" panose="02040503050406030204" charset="0"/>
                                      </a:rPr>
                                    </m:ctrlPr>
                                  </m:radPr>
                                  <m:deg/>
                                  <m:e>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𝑔</m:t>
                                        </m:r>
                                      </m:e>
                                      <m:sup>
                                        <m:r>
                                          <a:rPr lang="en-US" altLang="zh-CN" sz="1800" i="1">
                                            <a:latin typeface="Cambria Math" panose="02040503050406030204" charset="0"/>
                                            <a:cs typeface="Cambria Math" panose="02040503050406030204" charset="0"/>
                                          </a:rPr>
                                          <m:t>𝑇</m:t>
                                        </m:r>
                                      </m:sup>
                                    </m:sSup>
                                    <m:sSup>
                                      <m:sSupPr>
                                        <m:ctrlPr>
                                          <a:rPr lang="en-US" altLang="zh-CN" sz="1800" i="1">
                                            <a:latin typeface="Cambria Math" panose="02040503050406030204" charset="0"/>
                                            <a:cs typeface="Cambria Math" panose="02040503050406030204" charset="0"/>
                                          </a:rPr>
                                        </m:ctrlPr>
                                      </m:sSupPr>
                                      <m:e>
                                        <m:r>
                                          <a:rPr lang="en-US" altLang="zh-CN" sz="1800" i="1">
                                            <a:latin typeface="Cambria Math" panose="02040503050406030204" charset="0"/>
                                            <a:cs typeface="Cambria Math" panose="02040503050406030204" charset="0"/>
                                          </a:rPr>
                                          <m:t>𝑉</m:t>
                                        </m:r>
                                      </m:e>
                                      <m:sup>
                                        <m:r>
                                          <a:rPr lang="en-US" altLang="zh-CN" sz="1800" i="1">
                                            <a:latin typeface="Cambria Math" panose="02040503050406030204" charset="0"/>
                                            <a:cs typeface="Cambria Math" panose="02040503050406030204" charset="0"/>
                                          </a:rPr>
                                          <m:t>−</m:t>
                                        </m:r>
                                        <m:r>
                                          <a:rPr lang="en-US" altLang="zh-CN" sz="1800" i="1">
                                            <a:latin typeface="Cambria Math" panose="02040503050406030204" charset="0"/>
                                            <a:cs typeface="Cambria Math" panose="02040503050406030204" charset="0"/>
                                          </a:rPr>
                                          <m:t>1</m:t>
                                        </m:r>
                                      </m:sup>
                                    </m:sSup>
                                    <m:r>
                                      <a:rPr lang="en-US" altLang="zh-CN" sz="1800" i="1">
                                        <a:latin typeface="Cambria Math" panose="02040503050406030204" charset="0"/>
                                        <a:cs typeface="Cambria Math" panose="02040503050406030204" charset="0"/>
                                      </a:rPr>
                                      <m:t>𝑔</m:t>
                                    </m:r>
                                  </m:e>
                                </m:rad>
                              </m:oMath>
                            </m:oMathPara>
                          </a14:m>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mc:Choice>
        <mc:Fallback xmlns="">
          <p:graphicFrame>
            <p:nvGraphicFramePr>
              <p:cNvPr id="6" name="表格 5"/>
              <p:cNvGraphicFramePr/>
              <p:nvPr/>
            </p:nvGraphicFramePr>
            <p:xfrm>
              <a:off x="303530" y="1691640"/>
              <a:ext cx="11203940" cy="2804160"/>
            </p:xfrm>
            <a:graphic>
              <a:graphicData uri="http://schemas.openxmlformats.org/drawingml/2006/table">
                <a:tbl>
                  <a:tblPr firstRow="1" bandRow="1">
                    <a:tableStyleId>{5C22544A-7EE6-4342-B048-85BDC9FD1C3A}</a:tableStyleId>
                  </a:tblPr>
                  <a:tblGrid>
                    <a:gridCol w="1607185"/>
                    <a:gridCol w="1881505"/>
                    <a:gridCol w="7715250"/>
                  </a:tblGrid>
                  <a:tr h="381000">
                    <a:tc>
                      <a:txBody>
                        <a:bodyPr/>
                        <a:p>
                          <a:pPr algn="ctr">
                            <a:buNone/>
                          </a:pPr>
                          <a:r>
                            <a:rPr lang="zh-CN" altLang="en-US"/>
                            <a:t>偏差</a:t>
                          </a:r>
                          <a:r>
                            <a:rPr lang="zh-CN" altLang="en-US"/>
                            <a:t>编号</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75000"/>
                          </a:schemeClr>
                        </a:solidFill>
                      </a:tcPr>
                    </a:tc>
                    <a:tc>
                      <a:txBody>
                        <a:bodyPr/>
                        <a:p>
                          <a:pPr algn="ctr">
                            <a:buNone/>
                          </a:pPr>
                          <a:r>
                            <a:rPr lang="zh-CN" altLang="en-US"/>
                            <a:t>偏差</a:t>
                          </a:r>
                          <a:r>
                            <a:rPr lang="zh-CN" altLang="en-US"/>
                            <a:t>原因</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75000"/>
                          </a:schemeClr>
                        </a:solidFill>
                      </a:tcPr>
                    </a:tc>
                    <a:tc>
                      <a:txBody>
                        <a:bodyPr/>
                        <a:p>
                          <a:pPr algn="ctr">
                            <a:buNone/>
                          </a:pPr>
                          <a:r>
                            <a:rPr lang="zh-CN" altLang="en-US"/>
                            <a:t>偏差</a:t>
                          </a:r>
                          <a:r>
                            <a:rPr lang="zh-CN" altLang="en-US"/>
                            <a:t>表达式</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75000"/>
                          </a:schemeClr>
                        </a:solidFill>
                      </a:tcPr>
                    </a:tc>
                  </a:tr>
                  <a:tr h="381000">
                    <a:tc>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1"/>
                        </a:blipFill>
                      </a:tcPr>
                    </a:tc>
                    <a:tc>
                      <a:txBody>
                        <a:bodyPr/>
                        <a:p>
                          <a:pPr algn="ctr">
                            <a:buNone/>
                          </a:pPr>
                          <a:r>
                            <a:rPr lang="zh-CN" altLang="en-US"/>
                            <a:t>无</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a:t>0</a:t>
                          </a:r>
                          <a:endParaRPr lang="en-US" alt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1"/>
                        </a:blipFill>
                      </a:tcPr>
                    </a:tc>
                    <a:tc>
                      <a:txBody>
                        <a:bodyPr/>
                        <a:p>
                          <a:pPr algn="ctr">
                            <a:buNone/>
                          </a:pPr>
                          <a:r>
                            <a:rPr lang="zh-CN" altLang="en-US"/>
                            <a:t>无</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1"/>
                        </a:blipFill>
                      </a:tcPr>
                    </a:tc>
                  </a:tr>
                  <a:tr h="381000">
                    <a:tc>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1"/>
                        </a:blipFill>
                      </a:tcPr>
                    </a:tc>
                    <a:tc>
                      <a:txBody>
                        <a:bodyPr/>
                        <a:p>
                          <a:pPr algn="ctr">
                            <a:buNone/>
                          </a:pPr>
                          <a:r>
                            <a:rPr lang="zh-CN" altLang="en-US"/>
                            <a:t>无</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1"/>
                        </a:blipFill>
                      </a:tcPr>
                    </a:tc>
                  </a:tr>
                  <a:tr h="640080">
                    <a:tc>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1"/>
                        </a:blipFill>
                      </a:tcPr>
                    </a:tc>
                    <a:tc>
                      <a:txBody>
                        <a:bodyPr/>
                        <a:p>
                          <a:pPr algn="ctr">
                            <a:buNone/>
                          </a:pPr>
                          <a:r>
                            <a:rPr lang="zh-CN" altLang="en-US"/>
                            <a:t>约束收紧</a:t>
                          </a:r>
                          <a:endParaRPr lang="zh-CN" altLang="en-US"/>
                        </a:p>
                        <a:p>
                          <a:pPr algn="ctr">
                            <a:buNone/>
                          </a:pPr>
                          <a:r>
                            <a:rPr lang="zh-CN" altLang="en-US"/>
                            <a:t>（性质保证</a:t>
                          </a:r>
                          <a:r>
                            <a:rPr lang="zh-CN" altLang="en-US"/>
                            <a:t>需要）</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1"/>
                        </a:blipFill>
                      </a:tcPr>
                    </a:tc>
                  </a:tr>
                  <a:tr h="640080">
                    <a:tc>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1"/>
                        </a:blipFill>
                      </a:tcPr>
                    </a:tc>
                    <a:tc>
                      <a:txBody>
                        <a:bodyPr/>
                        <a:p>
                          <a:pPr algn="ctr">
                            <a:buNone/>
                          </a:pPr>
                          <a:r>
                            <a:rPr lang="zh-CN" altLang="en-US"/>
                            <a:t>确定性约束</a:t>
                          </a:r>
                          <a:endParaRPr lang="zh-CN" altLang="en-US"/>
                        </a:p>
                        <a:p>
                          <a:pPr algn="ctr">
                            <a:buNone/>
                          </a:pPr>
                          <a:r>
                            <a:rPr lang="zh-CN" altLang="en-US"/>
                            <a:t>实际满足</a:t>
                          </a:r>
                          <a:r>
                            <a:rPr lang="zh-CN" altLang="en-US"/>
                            <a:t>情况</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1"/>
                        </a:blipFill>
                      </a:tcPr>
                    </a:tc>
                  </a:tr>
                </a:tbl>
              </a:graphicData>
            </a:graphic>
          </p:graphicFrame>
        </mc:Fallback>
      </mc:AlternateContent>
      <p:sp>
        <p:nvSpPr>
          <p:cNvPr id="5" name="矩形 4"/>
          <p:cNvSpPr/>
          <p:nvPr/>
        </p:nvSpPr>
        <p:spPr>
          <a:xfrm>
            <a:off x="110490" y="2386330"/>
            <a:ext cx="11711940" cy="861060"/>
          </a:xfrm>
          <a:prstGeom prst="rect">
            <a:avLst/>
          </a:prstGeom>
          <a:noFill/>
          <a:ln w="19050">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灯片编号占位符 6"/>
          <p:cNvSpPr>
            <a:spLocks noGrp="1"/>
          </p:cNvSpPr>
          <p:nvPr>
            <p:ph type="sldNum" sz="quarter" idx="12"/>
          </p:nvPr>
        </p:nvSpPr>
        <p:spPr/>
        <p:txBody>
          <a:bodyPr/>
          <a:p>
            <a:pPr>
              <a:defRPr/>
            </a:pPr>
            <a:fld id="{AC6C5647-07D8-4AFC-B347-73DA68F3AADD}" type="slidenum">
              <a:rPr lang="zh-CN" altLang="en-US"/>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a:xfrm>
            <a:off x="100330" y="6274435"/>
            <a:ext cx="10515600" cy="356235"/>
          </a:xfrm>
        </p:spPr>
        <p:txBody>
          <a:bodyPr/>
          <a:p>
            <a:pPr algn="l"/>
            <a:r>
              <a:rPr lang="zh-CN" altLang="en-US"/>
              <a:t>与对比方法相比，本文方法具有更大的可行域，对应更低的</a:t>
            </a:r>
            <a:r>
              <a:rPr lang="zh-CN" altLang="en-US"/>
              <a:t>保守性</a:t>
            </a:r>
            <a:endParaRPr lang="zh-CN" altLang="en-US"/>
          </a:p>
        </p:txBody>
      </p:sp>
      <p:sp>
        <p:nvSpPr>
          <p:cNvPr id="3" name="文本占位符 2"/>
          <p:cNvSpPr>
            <a:spLocks noGrp="1"/>
          </p:cNvSpPr>
          <p:nvPr>
            <p:ph type="body" idx="13"/>
          </p:nvPr>
        </p:nvSpPr>
        <p:spPr/>
        <p:txBody>
          <a:bodyPr/>
          <a:p>
            <a:r>
              <a:rPr lang="en-US" altLang="zh-CN"/>
              <a:t>&gt;&gt;&gt;</a:t>
            </a:r>
            <a:r>
              <a:t>实验</a:t>
            </a:r>
            <a:r>
              <a:t>结果</a:t>
            </a:r>
          </a:p>
        </p:txBody>
      </p:sp>
      <p:sp>
        <p:nvSpPr>
          <p:cNvPr id="4" name="文本占位符 3"/>
          <p:cNvSpPr>
            <a:spLocks noGrp="1"/>
          </p:cNvSpPr>
          <p:nvPr>
            <p:ph type="body" idx="14"/>
          </p:nvPr>
        </p:nvSpPr>
        <p:spPr>
          <a:xfrm>
            <a:off x="805180" y="111760"/>
            <a:ext cx="8900160" cy="448310"/>
          </a:xfrm>
        </p:spPr>
        <p:txBody>
          <a:bodyPr/>
          <a:p>
            <a:r>
              <a:rPr>
                <a:sym typeface="+mn-ea"/>
              </a:rPr>
              <a:t>随机模型预测控制解机会约束优化问题（</a:t>
            </a:r>
            <a:r>
              <a:rPr lang="en-US" altLang="zh-CN">
                <a:sym typeface="+mn-ea"/>
              </a:rPr>
              <a:t>4.6</a:t>
            </a:r>
            <a:r>
              <a:rPr>
                <a:sym typeface="+mn-ea"/>
              </a:rPr>
              <a:t>）</a:t>
            </a:r>
            <a:endParaRPr lang="zh-CN" altLang="en-US"/>
          </a:p>
          <a:p>
            <a:endParaRPr lang="zh-CN" altLang="en-US"/>
          </a:p>
        </p:txBody>
      </p:sp>
      <p:sp>
        <p:nvSpPr>
          <p:cNvPr id="5" name="灯片编号占位符 4"/>
          <p:cNvSpPr>
            <a:spLocks noGrp="1"/>
          </p:cNvSpPr>
          <p:nvPr>
            <p:ph type="sldNum" sz="quarter" idx="12"/>
          </p:nvPr>
        </p:nvSpPr>
        <p:spPr/>
        <p:txBody>
          <a:bodyPr/>
          <a:p>
            <a:pPr>
              <a:defRPr/>
            </a:pPr>
            <a:fld id="{AC6C5647-07D8-4AFC-B347-73DA68F3AADD}" type="slidenum">
              <a:rPr lang="zh-CN" altLang="en-US"/>
            </a:fld>
            <a:endParaRPr lang="zh-CN" altLang="en-US"/>
          </a:p>
        </p:txBody>
      </p:sp>
      <p:pic>
        <p:nvPicPr>
          <p:cNvPr id="6" name="图片 5"/>
          <p:cNvPicPr>
            <a:picLocks noChangeAspect="1"/>
          </p:cNvPicPr>
          <p:nvPr/>
        </p:nvPicPr>
        <p:blipFill>
          <a:blip r:embed="rId1"/>
          <a:stretch>
            <a:fillRect/>
          </a:stretch>
        </p:blipFill>
        <p:spPr>
          <a:xfrm>
            <a:off x="140335" y="1600200"/>
            <a:ext cx="4961890" cy="1940560"/>
          </a:xfrm>
          <a:prstGeom prst="rect">
            <a:avLst/>
          </a:prstGeom>
        </p:spPr>
      </p:pic>
      <p:pic>
        <p:nvPicPr>
          <p:cNvPr id="7" name="图片 6"/>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7032625" y="728345"/>
            <a:ext cx="4226560" cy="3331845"/>
          </a:xfrm>
          <a:prstGeom prst="rect">
            <a:avLst/>
          </a:prstGeom>
        </p:spPr>
      </p:pic>
      <p:grpSp>
        <p:nvGrpSpPr>
          <p:cNvPr id="8" name="组合 7"/>
          <p:cNvGrpSpPr/>
          <p:nvPr/>
        </p:nvGrpSpPr>
        <p:grpSpPr>
          <a:xfrm>
            <a:off x="-30480" y="4221480"/>
            <a:ext cx="4424680" cy="1574165"/>
            <a:chOff x="397" y="6360"/>
            <a:chExt cx="6968" cy="2479"/>
          </a:xfrm>
        </p:grpSpPr>
        <p:pic>
          <p:nvPicPr>
            <p:cNvPr id="9" name="图片 8"/>
            <p:cNvPicPr>
              <a:picLocks noChangeAspect="1"/>
            </p:cNvPicPr>
            <p:nvPr/>
          </p:nvPicPr>
          <p:blipFill>
            <a:blip r:embed="rId3"/>
            <a:stretch>
              <a:fillRect/>
            </a:stretch>
          </p:blipFill>
          <p:spPr>
            <a:xfrm>
              <a:off x="397" y="6360"/>
              <a:ext cx="6969" cy="1623"/>
            </a:xfrm>
            <a:prstGeom prst="rect">
              <a:avLst/>
            </a:prstGeom>
          </p:spPr>
        </p:pic>
        <p:pic>
          <p:nvPicPr>
            <p:cNvPr id="11" name="图片 10"/>
            <p:cNvPicPr>
              <a:picLocks noChangeAspect="1"/>
            </p:cNvPicPr>
            <p:nvPr/>
          </p:nvPicPr>
          <p:blipFill>
            <a:blip r:embed="rId4"/>
            <a:stretch>
              <a:fillRect/>
            </a:stretch>
          </p:blipFill>
          <p:spPr>
            <a:xfrm>
              <a:off x="971" y="8077"/>
              <a:ext cx="4963" cy="763"/>
            </a:xfrm>
            <a:prstGeom prst="rect">
              <a:avLst/>
            </a:prstGeom>
          </p:spPr>
        </p:pic>
      </p:grpSp>
      <p:grpSp>
        <p:nvGrpSpPr>
          <p:cNvPr id="13" name="组合 12"/>
          <p:cNvGrpSpPr/>
          <p:nvPr/>
        </p:nvGrpSpPr>
        <p:grpSpPr>
          <a:xfrm>
            <a:off x="5911215" y="3945255"/>
            <a:ext cx="5500370" cy="2353310"/>
            <a:chOff x="10537" y="6266"/>
            <a:chExt cx="8662" cy="3706"/>
          </a:xfrm>
        </p:grpSpPr>
        <p:pic>
          <p:nvPicPr>
            <p:cNvPr id="16" name="图片 15"/>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10537" y="6266"/>
              <a:ext cx="8663" cy="3707"/>
            </a:xfrm>
            <a:prstGeom prst="rect">
              <a:avLst/>
            </a:prstGeom>
          </p:spPr>
        </p:pic>
        <p:graphicFrame>
          <p:nvGraphicFramePr>
            <p:cNvPr id="18" name="对象 17">
              <a:hlinkClick r:id="" action="ppaction://ole?verb="/>
            </p:cNvPr>
            <p:cNvGraphicFramePr>
              <a:graphicFrameLocks noChangeAspect="1"/>
            </p:cNvGraphicFramePr>
            <p:nvPr/>
          </p:nvGraphicFramePr>
          <p:xfrm>
            <a:off x="17152" y="6360"/>
            <a:ext cx="700" cy="279"/>
          </p:xfrm>
          <a:graphic>
            <a:graphicData uri="http://schemas.openxmlformats.org/presentationml/2006/ole">
              <mc:AlternateContent xmlns:mc="http://schemas.openxmlformats.org/markup-compatibility/2006">
                <mc:Choice xmlns:v="urn:schemas-microsoft-com:vml" Requires="v">
                  <p:oleObj spid="_x0000_s22" name="" r:id="rId6" imgW="444500" imgH="177165" progId="Equation.KSEE3">
                    <p:embed/>
                  </p:oleObj>
                </mc:Choice>
                <mc:Fallback>
                  <p:oleObj name="" r:id="rId6" imgW="444500" imgH="177165" progId="Equation.KSEE3">
                    <p:embed/>
                    <p:pic>
                      <p:nvPicPr>
                        <p:cNvPr id="0" name="图片 1025"/>
                        <p:cNvPicPr/>
                        <p:nvPr/>
                      </p:nvPicPr>
                      <p:blipFill>
                        <a:blip r:embed="rId7"/>
                        <a:stretch>
                          <a:fillRect/>
                        </a:stretch>
                      </p:blipFill>
                      <p:spPr>
                        <a:xfrm>
                          <a:off x="17152" y="6360"/>
                          <a:ext cx="700" cy="279"/>
                        </a:xfrm>
                        <a:prstGeom prst="rect">
                          <a:avLst/>
                        </a:prstGeom>
                      </p:spPr>
                    </p:pic>
                  </p:oleObj>
                </mc:Fallback>
              </mc:AlternateContent>
            </a:graphicData>
          </a:graphic>
        </p:graphicFrame>
      </p:grpSp>
      <p:sp>
        <p:nvSpPr>
          <p:cNvPr id="10" name="矩形 9"/>
          <p:cNvSpPr/>
          <p:nvPr/>
        </p:nvSpPr>
        <p:spPr>
          <a:xfrm>
            <a:off x="10647045" y="4572635"/>
            <a:ext cx="601980" cy="1577340"/>
          </a:xfrm>
          <a:prstGeom prst="rect">
            <a:avLst/>
          </a:prstGeom>
          <a:noFill/>
          <a:ln w="190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171450" y="3712210"/>
            <a:ext cx="4064000" cy="368300"/>
          </a:xfrm>
          <a:prstGeom prst="rect">
            <a:avLst/>
          </a:prstGeom>
          <a:noFill/>
        </p:spPr>
        <p:txBody>
          <a:bodyPr wrap="square" rtlCol="0">
            <a:spAutoFit/>
          </a:bodyPr>
          <a:p>
            <a:r>
              <a:rPr lang="en-US" altLang="zh-CN"/>
              <a:t>MPC</a:t>
            </a:r>
            <a:r>
              <a:rPr lang="zh-CN" altLang="en-US"/>
              <a:t>形式问题</a:t>
            </a:r>
            <a:endParaRPr lang="zh-CN" altLang="en-US"/>
          </a:p>
        </p:txBody>
      </p:sp>
      <p:sp>
        <p:nvSpPr>
          <p:cNvPr id="17" name="文本框 16"/>
          <p:cNvSpPr txBox="1"/>
          <p:nvPr/>
        </p:nvSpPr>
        <p:spPr>
          <a:xfrm>
            <a:off x="133350" y="1266190"/>
            <a:ext cx="4064000" cy="368300"/>
          </a:xfrm>
          <a:prstGeom prst="rect">
            <a:avLst/>
          </a:prstGeom>
          <a:noFill/>
        </p:spPr>
        <p:txBody>
          <a:bodyPr wrap="square" rtlCol="0">
            <a:spAutoFit/>
          </a:bodyPr>
          <a:p>
            <a:r>
              <a:rPr lang="zh-CN" altLang="en-US"/>
              <a:t>问题</a:t>
            </a:r>
            <a:r>
              <a:rPr lang="zh-CN" altLang="en-US"/>
              <a:t>参数</a:t>
            </a: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a:p>
            <a:pPr algn="l"/>
            <a:r>
              <a:rPr lang="zh-CN" altLang="en-US"/>
              <a:t>系统性推进了</a:t>
            </a:r>
            <a:r>
              <a:rPr lang="en-US" altLang="zh-CN"/>
              <a:t> PWANN-CBF</a:t>
            </a:r>
            <a:r>
              <a:rPr lang="zh-CN" altLang="en-US"/>
              <a:t>、</a:t>
            </a:r>
            <a:r>
              <a:rPr lang="en-US" altLang="zh-CN"/>
              <a:t>RL-CCOP </a:t>
            </a:r>
            <a:r>
              <a:rPr lang="zh-CN" altLang="en-US"/>
              <a:t>与</a:t>
            </a:r>
            <a:r>
              <a:rPr lang="en-US" altLang="zh-CN"/>
              <a:t> SMPC-CCOP </a:t>
            </a:r>
            <a:r>
              <a:rPr lang="zh-CN" altLang="en-US"/>
              <a:t>三类方法在</a:t>
            </a:r>
            <a:r>
              <a:rPr lang="zh-CN" altLang="en-US"/>
              <a:t>求解效率、机会约束处理与理论保证方面的统一提升</a:t>
            </a:r>
            <a:endParaRPr lang="zh-CN" altLang="en-US"/>
          </a:p>
        </p:txBody>
      </p:sp>
      <p:sp>
        <p:nvSpPr>
          <p:cNvPr id="4" name="文本占位符 3"/>
          <p:cNvSpPr>
            <a:spLocks noGrp="1"/>
          </p:cNvSpPr>
          <p:nvPr>
            <p:ph type="body" idx="14"/>
          </p:nvPr>
        </p:nvSpPr>
        <p:spPr>
          <a:xfrm>
            <a:off x="805180" y="111760"/>
            <a:ext cx="9700260" cy="448310"/>
          </a:xfrm>
        </p:spPr>
        <p:txBody>
          <a:bodyPr/>
          <a:p>
            <a:r>
              <a:rPr>
                <a:sym typeface="+mn-ea"/>
              </a:rPr>
              <a:t>总结（</a:t>
            </a:r>
            <a:r>
              <a:rPr lang="en-US" altLang="zh-CN">
                <a:sym typeface="+mn-ea"/>
              </a:rPr>
              <a:t>5</a:t>
            </a:r>
            <a:r>
              <a:rPr>
                <a:sym typeface="+mn-ea"/>
              </a:rPr>
              <a:t>）</a:t>
            </a:r>
            <a:endParaRPr lang="zh-CN" altLang="en-US"/>
          </a:p>
          <a:p>
            <a:endParaRPr lang="zh-CN" altLang="en-US"/>
          </a:p>
        </p:txBody>
      </p:sp>
      <p:sp>
        <p:nvSpPr>
          <p:cNvPr id="6" name="文本框 5"/>
          <p:cNvSpPr txBox="1"/>
          <p:nvPr/>
        </p:nvSpPr>
        <p:spPr>
          <a:xfrm>
            <a:off x="-13970" y="4287520"/>
            <a:ext cx="12205970" cy="423545"/>
          </a:xfrm>
          <a:prstGeom prst="rect">
            <a:avLst/>
          </a:prstGeom>
          <a:noFill/>
        </p:spPr>
        <p:txBody>
          <a:bodyPr wrap="square" rtlCol="0">
            <a:spAutoFit/>
          </a:bodyPr>
          <a:p>
            <a:pPr algn="l">
              <a:lnSpc>
                <a:spcPct val="90000"/>
              </a:lnSpc>
              <a:spcBef>
                <a:spcPts val="1000"/>
              </a:spcBef>
              <a:buClrTx/>
              <a:buSzTx/>
              <a:buFontTx/>
            </a:pPr>
            <a:endParaRPr lang="zh-CN" altLang="en-US" sz="2400" b="1">
              <a:solidFill>
                <a:srgbClr val="4E67C8"/>
              </a:solidFill>
              <a:latin typeface="+mj-lt"/>
              <a:ea typeface="+mj-ea"/>
              <a:cs typeface="+mj-cs"/>
            </a:endParaRPr>
          </a:p>
        </p:txBody>
      </p:sp>
      <p:sp>
        <p:nvSpPr>
          <p:cNvPr id="7" name="灯片编号占位符 6"/>
          <p:cNvSpPr>
            <a:spLocks noGrp="1"/>
          </p:cNvSpPr>
          <p:nvPr>
            <p:ph type="sldNum" sz="quarter" idx="12"/>
          </p:nvPr>
        </p:nvSpPr>
        <p:spPr/>
        <p:txBody>
          <a:bodyPr/>
          <a:p>
            <a:pPr>
              <a:defRPr/>
            </a:pPr>
            <a:fld id="{AC6C5647-07D8-4AFC-B347-73DA68F3AADD}" type="slidenum">
              <a:rPr lang="zh-CN" altLang="en-US"/>
            </a:fld>
            <a:endParaRPr lang="zh-CN" altLang="en-US"/>
          </a:p>
        </p:txBody>
      </p:sp>
      <p:sp>
        <p:nvSpPr>
          <p:cNvPr id="9" name="文本占位符 2"/>
          <p:cNvSpPr>
            <a:spLocks noGrp="1"/>
          </p:cNvSpPr>
          <p:nvPr/>
        </p:nvSpPr>
        <p:spPr>
          <a:xfrm>
            <a:off x="0" y="670560"/>
            <a:ext cx="8664575" cy="448310"/>
          </a:xfrm>
          <a:prstGeom prst="rect">
            <a:avLst/>
          </a:prstGeom>
        </p:spPr>
        <p:txBody>
          <a:bodyPr/>
          <a:lstStyle>
            <a:lvl1pPr marL="0" marR="0" lvl="0" indent="0" algn="l" rtl="0" eaLnBrk="0" fontAlgn="base" latinLnBrk="0" hangingPunct="0">
              <a:lnSpc>
                <a:spcPct val="90000"/>
              </a:lnSpc>
              <a:spcBef>
                <a:spcPts val="1000"/>
              </a:spcBef>
              <a:spcAft>
                <a:spcPct val="0"/>
              </a:spcAft>
              <a:buClrTx/>
              <a:buSzTx/>
              <a:buFontTx/>
              <a:buNone/>
              <a:defRPr kumimoji="0" lang="zh-CN" altLang="en-US" sz="2400" b="1" i="0" u="none" strike="noStrike" kern="1200" cap="none" spc="0" normalizeH="0" baseline="0" noProof="1">
                <a:solidFill>
                  <a:srgbClr val="4E67C8"/>
                </a:solidFill>
                <a:latin typeface="+mj-lt"/>
                <a:ea typeface="+mj-ea"/>
                <a:cs typeface="+mj-cs"/>
              </a:defRPr>
            </a:lvl1pPr>
            <a:lvl2pPr marL="457200" indent="0" algn="l" rtl="0" eaLnBrk="0" fontAlgn="base" hangingPunct="0">
              <a:lnSpc>
                <a:spcPct val="90000"/>
              </a:lnSpc>
              <a:spcBef>
                <a:spcPts val="500"/>
              </a:spcBef>
              <a:spcAft>
                <a:spcPct val="0"/>
              </a:spcAft>
              <a:buFont typeface="Arial" panose="020B0604020202020204" pitchFamily="34" charset="0"/>
              <a:buNone/>
              <a:defRPr sz="2000" kern="1200">
                <a:solidFill>
                  <a:schemeClr val="tx1">
                    <a:tint val="75000"/>
                  </a:schemeClr>
                </a:solidFill>
                <a:latin typeface="+mn-lt"/>
                <a:ea typeface="+mn-ea"/>
                <a:cs typeface="+mn-cs"/>
              </a:defRPr>
            </a:lvl2pPr>
            <a:lvl3pPr marL="914400" indent="0" algn="l" rtl="0" eaLnBrk="0" fontAlgn="base" hangingPunct="0">
              <a:lnSpc>
                <a:spcPct val="90000"/>
              </a:lnSpc>
              <a:spcBef>
                <a:spcPts val="500"/>
              </a:spcBef>
              <a:spcAft>
                <a:spcPct val="0"/>
              </a:spcAft>
              <a:buFont typeface="Arial" panose="020B0604020202020204" pitchFamily="34" charset="0"/>
              <a:buNone/>
              <a:defRPr sz="1800" kern="1200">
                <a:solidFill>
                  <a:schemeClr val="tx1">
                    <a:tint val="75000"/>
                  </a:schemeClr>
                </a:solidFill>
                <a:latin typeface="+mn-lt"/>
                <a:ea typeface="+mn-ea"/>
                <a:cs typeface="+mn-cs"/>
              </a:defRPr>
            </a:lvl3pPr>
            <a:lvl4pPr marL="1371600" indent="0" algn="l" rtl="0" eaLnBrk="0" fontAlgn="base" hangingPunct="0">
              <a:lnSpc>
                <a:spcPct val="90000"/>
              </a:lnSpc>
              <a:spcBef>
                <a:spcPts val="500"/>
              </a:spcBef>
              <a:spcAft>
                <a:spcPct val="0"/>
              </a:spcAft>
              <a:buFont typeface="Arial" panose="020B0604020202020204" pitchFamily="34" charset="0"/>
              <a:buNone/>
              <a:defRPr sz="1600" kern="1200">
                <a:solidFill>
                  <a:schemeClr val="tx1">
                    <a:tint val="75000"/>
                  </a:schemeClr>
                </a:solidFill>
                <a:latin typeface="+mn-lt"/>
                <a:ea typeface="+mn-ea"/>
                <a:cs typeface="+mn-cs"/>
              </a:defRPr>
            </a:lvl4pPr>
            <a:lvl5pPr marL="1828800" indent="0" algn="l" rtl="0" eaLnBrk="0" fontAlgn="base" hangingPunct="0">
              <a:lnSpc>
                <a:spcPct val="90000"/>
              </a:lnSpc>
              <a:spcBef>
                <a:spcPts val="500"/>
              </a:spcBef>
              <a:spcAft>
                <a:spcPct val="0"/>
              </a:spcAft>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altLang="zh-CN"/>
              <a:t>&gt;&gt;&gt;</a:t>
            </a:r>
            <a:r>
              <a:t>研究成果及其局限性，以及未来可延伸</a:t>
            </a:r>
            <a:r>
              <a:t>方向</a:t>
            </a:r>
          </a:p>
        </p:txBody>
      </p:sp>
      <p:graphicFrame>
        <p:nvGraphicFramePr>
          <p:cNvPr id="10" name="表格 9"/>
          <p:cNvGraphicFramePr/>
          <p:nvPr/>
        </p:nvGraphicFramePr>
        <p:xfrm>
          <a:off x="668020" y="1636395"/>
          <a:ext cx="10855960" cy="3566160"/>
        </p:xfrm>
        <a:graphic>
          <a:graphicData uri="http://schemas.openxmlformats.org/drawingml/2006/table">
            <a:tbl>
              <a:tblPr firstRow="1" bandRow="1">
                <a:tableStyleId>{5C22544A-7EE6-4342-B048-85BDC9FD1C3A}</a:tableStyleId>
              </a:tblPr>
              <a:tblGrid>
                <a:gridCol w="1490345"/>
                <a:gridCol w="3443605"/>
                <a:gridCol w="2477770"/>
                <a:gridCol w="3444240"/>
              </a:tblGrid>
              <a:tr h="609600">
                <a:tc>
                  <a:txBody>
                    <a:bodyPr/>
                    <a:p>
                      <a:pPr algn="ctr">
                        <a:lnSpc>
                          <a:spcPct val="170000"/>
                        </a:lnSpc>
                        <a:buNone/>
                      </a:pPr>
                      <a:r>
                        <a:rPr lang="zh-CN" altLang="en-US"/>
                        <a:t>安全控制</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75000"/>
                      </a:schemeClr>
                    </a:solidFill>
                  </a:tcPr>
                </a:tc>
                <a:tc>
                  <a:txBody>
                    <a:bodyPr/>
                    <a:p>
                      <a:pPr algn="ctr">
                        <a:buNone/>
                      </a:pPr>
                      <a:r>
                        <a:rPr lang="zh-CN" altLang="en-US" sz="1800">
                          <a:sym typeface="+mn-ea"/>
                        </a:rPr>
                        <a:t>第二章</a:t>
                      </a:r>
                      <a:r>
                        <a:rPr lang="en-US" altLang="zh-CN" sz="1800">
                          <a:sym typeface="+mn-ea"/>
                        </a:rPr>
                        <a:t>PWANN+CBF</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chemeClr val="bg1">
                        <a:lumMod val="75000"/>
                      </a:schemeClr>
                    </a:solidFill>
                  </a:tcPr>
                </a:tc>
                <a:tc>
                  <a:txBody>
                    <a:bodyPr/>
                    <a:p>
                      <a:pPr algn="ctr">
                        <a:buNone/>
                      </a:pPr>
                      <a:r>
                        <a:rPr lang="zh-CN" altLang="en-US" sz="1800">
                          <a:sym typeface="+mn-ea"/>
                        </a:rPr>
                        <a:t>第三章</a:t>
                      </a:r>
                      <a:endParaRPr lang="zh-CN" altLang="en-US" sz="1800">
                        <a:sym typeface="+mn-ea"/>
                      </a:endParaRPr>
                    </a:p>
                    <a:p>
                      <a:pPr algn="ctr">
                        <a:buNone/>
                      </a:pPr>
                      <a:r>
                        <a:rPr lang="en-US" altLang="zh-CN" sz="1800">
                          <a:sym typeface="+mn-ea"/>
                        </a:rPr>
                        <a:t>CCOP+RL</a:t>
                      </a:r>
                      <a:endParaRPr lang="en-US" alt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chemeClr val="bg1">
                        <a:lumMod val="75000"/>
                      </a:schemeClr>
                    </a:solidFill>
                  </a:tcPr>
                </a:tc>
                <a:tc>
                  <a:txBody>
                    <a:bodyPr/>
                    <a:p>
                      <a:pPr algn="ctr">
                        <a:buNone/>
                      </a:pPr>
                      <a:r>
                        <a:rPr lang="zh-CN" altLang="en-US" sz="1800">
                          <a:sym typeface="+mn-ea"/>
                        </a:rPr>
                        <a:t>第四章</a:t>
                      </a:r>
                      <a:endParaRPr lang="zh-CN" altLang="en-US" sz="1800">
                        <a:sym typeface="+mn-ea"/>
                      </a:endParaRPr>
                    </a:p>
                    <a:p>
                      <a:pPr algn="ctr">
                        <a:buNone/>
                      </a:pPr>
                      <a:r>
                        <a:rPr lang="en-US" altLang="zh-CN" sz="1800">
                          <a:sym typeface="+mn-ea"/>
                        </a:rPr>
                        <a:t>CCOP+MPC</a:t>
                      </a:r>
                      <a:endParaRPr lang="zh-CN" alt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chemeClr val="bg1">
                        <a:lumMod val="75000"/>
                      </a:schemeClr>
                    </a:solidFill>
                  </a:tcPr>
                </a:tc>
              </a:tr>
              <a:tr h="1143000">
                <a:tc>
                  <a:txBody>
                    <a:bodyPr/>
                    <a:p>
                      <a:pPr algn="ctr">
                        <a:buClrTx/>
                        <a:buSzTx/>
                        <a:buFontTx/>
                        <a:buNone/>
                      </a:pPr>
                      <a:r>
                        <a:rPr lang="en-US" altLang="zh-CN" sz="1800" b="1">
                          <a:solidFill>
                            <a:schemeClr val="lt1"/>
                          </a:solidFill>
                          <a:sym typeface="+mn-ea"/>
                        </a:rPr>
                        <a:t>成果</a:t>
                      </a:r>
                      <a:endParaRPr lang="en-US" altLang="zh-CN" b="1">
                        <a:solidFill>
                          <a:schemeClr val="lt1"/>
                        </a:solidFill>
                      </a:endParaRPr>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solidFill>
                      <a:srgbClr val="BFBFBF"/>
                    </a:solidFill>
                  </a:tcPr>
                </a:tc>
                <a:tc>
                  <a:txBody>
                    <a:bodyPr/>
                    <a:p>
                      <a:pPr algn="l">
                        <a:buNone/>
                      </a:pPr>
                      <a:r>
                        <a:rPr lang="zh-CN" altLang="en-US" sz="1800">
                          <a:solidFill>
                            <a:srgbClr val="FF0000"/>
                          </a:solidFill>
                          <a:sym typeface="+mn-ea"/>
                        </a:rPr>
                        <a:t>高维时间复杂度比传统方法更低；</a:t>
                      </a:r>
                      <a:endParaRPr lang="zh-CN" altLang="en-US" sz="1800">
                        <a:solidFill>
                          <a:srgbClr val="FF0000"/>
                        </a:solidFill>
                        <a:sym typeface="+mn-ea"/>
                      </a:endParaRPr>
                    </a:p>
                    <a:p>
                      <a:pPr algn="l">
                        <a:buNone/>
                      </a:pPr>
                      <a:r>
                        <a:rPr lang="zh-CN" altLang="en-US" sz="1800">
                          <a:solidFill>
                            <a:srgbClr val="FF0000"/>
                          </a:solidFill>
                          <a:sym typeface="+mn-ea"/>
                        </a:rPr>
                        <a:t>限制比固定控制律学习方法更少</a:t>
                      </a:r>
                      <a:endParaRPr lang="zh-CN" altLang="en-US" sz="1800">
                        <a:solidFill>
                          <a:srgbClr val="FF0000"/>
                        </a:solidFill>
                        <a:sym typeface="+mn-ea"/>
                      </a:endParaRPr>
                    </a:p>
                    <a:p>
                      <a:pPr algn="l">
                        <a:buNone/>
                      </a:pPr>
                      <a:r>
                        <a:rPr lang="zh-CN" altLang="en-US" sz="1800">
                          <a:sym typeface="+mn-ea"/>
                        </a:rPr>
                        <a:t>的</a:t>
                      </a:r>
                      <a:r>
                        <a:rPr lang="zh-CN" altLang="en-US" sz="1800">
                          <a:solidFill>
                            <a:srgbClr val="FF0000"/>
                          </a:solidFill>
                          <a:sym typeface="+mn-ea"/>
                        </a:rPr>
                        <a:t>PWANN-CBF</a:t>
                      </a:r>
                      <a:r>
                        <a:rPr lang="zh-CN" altLang="en-US" sz="1800">
                          <a:sym typeface="+mn-ea"/>
                        </a:rPr>
                        <a:t>方法</a:t>
                      </a:r>
                      <a:endParaRPr lang="zh-CN" altLang="en-US"/>
                    </a:p>
                  </a:txBody>
                  <a:tcPr>
                    <a:lnL w="12700">
                      <a:solidFill>
                        <a:schemeClr val="tx1"/>
                      </a:solidFill>
                      <a:prstDash val="solid"/>
                    </a:lnL>
                    <a:lnR w="12700" cmpd="sng">
                      <a:solidFill>
                        <a:schemeClr val="tx1"/>
                      </a:solidFill>
                      <a:prstDash val="solid"/>
                    </a:lnR>
                    <a:lnT w="12700">
                      <a:solidFill>
                        <a:schemeClr val="tx1"/>
                      </a:solidFill>
                      <a:prstDash val="solid"/>
                    </a:lnT>
                    <a:lnB w="12700" cmpd="sng">
                      <a:solidFill>
                        <a:schemeClr val="tx1"/>
                      </a:solidFill>
                      <a:prstDash val="solid"/>
                    </a:lnB>
                    <a:solidFill>
                      <a:schemeClr val="bg1"/>
                    </a:solidFill>
                  </a:tcPr>
                </a:tc>
                <a:tc>
                  <a:txBody>
                    <a:bodyPr/>
                    <a:p>
                      <a:pPr algn="ctr">
                        <a:buNone/>
                      </a:pPr>
                      <a:r>
                        <a:rPr lang="zh-CN" altLang="en-US">
                          <a:solidFill>
                            <a:srgbClr val="FF0000"/>
                          </a:solidFill>
                        </a:rPr>
                        <a:t>收敛性更好、约束满足效果更稳定的 RL–CCOP </a:t>
                      </a:r>
                      <a:r>
                        <a:rPr lang="zh-CN" altLang="en-US"/>
                        <a:t>求解框架</a:t>
                      </a:r>
                      <a:endParaRPr lang="zh-CN" altLang="en-US"/>
                    </a:p>
                  </a:txBody>
                  <a:tcPr anchor="ctr" anchorCtr="0">
                    <a:lnL w="12700" cmpd="sng">
                      <a:solidFill>
                        <a:schemeClr val="tx1"/>
                      </a:solidFill>
                      <a:prstDash val="solid"/>
                    </a:lnL>
                    <a:lnR w="12700" cmpd="sng">
                      <a:solidFill>
                        <a:schemeClr val="tx1"/>
                      </a:solidFill>
                      <a:prstDash val="solid"/>
                    </a:lnR>
                    <a:lnT w="12700">
                      <a:solidFill>
                        <a:schemeClr val="tx1"/>
                      </a:solidFill>
                      <a:prstDash val="solid"/>
                    </a:lnT>
                    <a:lnB w="12700" cmpd="sng">
                      <a:solidFill>
                        <a:schemeClr val="tx1"/>
                      </a:solidFill>
                      <a:prstDash val="solid"/>
                    </a:lnB>
                    <a:solidFill>
                      <a:schemeClr val="bg1"/>
                    </a:solidFill>
                  </a:tcPr>
                </a:tc>
                <a:tc>
                  <a:txBody>
                    <a:bodyPr/>
                    <a:p>
                      <a:pPr algn="l">
                        <a:buNone/>
                      </a:pPr>
                      <a:r>
                        <a:rPr lang="zh-CN" altLang="en-US" sz="1800">
                          <a:solidFill>
                            <a:srgbClr val="FF0000"/>
                          </a:solidFill>
                          <a:sym typeface="+mn-ea"/>
                        </a:rPr>
                        <a:t>综合考虑了控制效果和理论保证；并降低了保守性</a:t>
                      </a:r>
                      <a:endParaRPr lang="zh-CN" altLang="en-US" sz="1800"/>
                    </a:p>
                    <a:p>
                      <a:pPr algn="l">
                        <a:buNone/>
                      </a:pPr>
                      <a:r>
                        <a:rPr lang="zh-CN" altLang="en-US" sz="1800">
                          <a:sym typeface="+mn-ea"/>
                        </a:rPr>
                        <a:t>的求解</a:t>
                      </a:r>
                      <a:r>
                        <a:rPr lang="zh-CN" altLang="en-US" sz="1800">
                          <a:solidFill>
                            <a:srgbClr val="FF0000"/>
                          </a:solidFill>
                          <a:sym typeface="+mn-ea"/>
                        </a:rPr>
                        <a:t>SMPC-CCOP</a:t>
                      </a:r>
                      <a:r>
                        <a:rPr lang="zh-CN" altLang="en-US" sz="1800">
                          <a:sym typeface="+mn-ea"/>
                        </a:rPr>
                        <a:t>框架</a:t>
                      </a:r>
                      <a:endParaRPr lang="zh-CN" altLang="en-US"/>
                    </a:p>
                  </a:txBody>
                  <a:tcPr anchor="ctr" anchorCtr="0">
                    <a:lnL w="12700" cmpd="sng">
                      <a:solidFill>
                        <a:schemeClr val="tx1"/>
                      </a:solidFill>
                      <a:prstDash val="solid"/>
                    </a:lnL>
                    <a:lnR w="12700">
                      <a:solidFill>
                        <a:schemeClr val="tx1"/>
                      </a:solidFill>
                      <a:prstDash val="solid"/>
                    </a:lnR>
                    <a:lnT w="12700">
                      <a:solidFill>
                        <a:schemeClr val="tx1"/>
                      </a:solidFill>
                      <a:prstDash val="solid"/>
                    </a:lnT>
                    <a:lnB w="12700" cmpd="sng">
                      <a:solidFill>
                        <a:schemeClr val="tx1"/>
                      </a:solidFill>
                      <a:prstDash val="solid"/>
                    </a:lnB>
                    <a:solidFill>
                      <a:schemeClr val="bg1"/>
                    </a:solidFill>
                  </a:tcPr>
                </a:tc>
              </a:tr>
              <a:tr h="1143000">
                <a:tc>
                  <a:txBody>
                    <a:bodyPr/>
                    <a:p>
                      <a:pPr algn="ctr">
                        <a:buClrTx/>
                        <a:buSzTx/>
                        <a:buFontTx/>
                        <a:buNone/>
                      </a:pPr>
                      <a:r>
                        <a:rPr lang="en-US" altLang="zh-CN" sz="1800" b="1">
                          <a:solidFill>
                            <a:schemeClr val="lt1"/>
                          </a:solidFill>
                          <a:sym typeface="+mn-ea"/>
                        </a:rPr>
                        <a:t>局限性</a:t>
                      </a:r>
                      <a:endParaRPr lang="en-US" altLang="zh-CN" b="1">
                        <a:solidFill>
                          <a:schemeClr val="lt1"/>
                        </a:solidFill>
                      </a:endParaRPr>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solidFill>
                      <a:srgbClr val="BFBFBF"/>
                    </a:solidFill>
                  </a:tcPr>
                </a:tc>
                <a:tc>
                  <a:txBody>
                    <a:bodyPr/>
                    <a:p>
                      <a:pPr algn="ctr">
                        <a:buNone/>
                      </a:pPr>
                      <a:r>
                        <a:rPr lang="zh-CN" altLang="en-US" sz="1800">
                          <a:sym typeface="+mn-ea"/>
                        </a:rPr>
                        <a:t>基于确定性系统模型</a:t>
                      </a:r>
                      <a:endParaRPr lang="zh-CN" altLang="en-US">
                        <a:solidFill>
                          <a:srgbClr val="FF0000"/>
                        </a:solidFill>
                      </a:endParaRPr>
                    </a:p>
                  </a:txBody>
                  <a:tcPr anchor="ctr" anchorCtr="0">
                    <a:lnL w="12700">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chemeClr val="bg1"/>
                    </a:solidFill>
                  </a:tcPr>
                </a:tc>
                <a:tc>
                  <a:txBody>
                    <a:bodyPr/>
                    <a:p>
                      <a:pPr algn="ctr">
                        <a:buNone/>
                      </a:pPr>
                      <a:r>
                        <a:rPr lang="zh-CN" altLang="en-US" sz="1800">
                          <a:sym typeface="+mn-ea"/>
                        </a:rPr>
                        <a:t>假设扰动已知有界</a:t>
                      </a:r>
                      <a:endParaRPr lang="zh-CN" altLang="en-US" sz="1800">
                        <a:sym typeface="+mn-ea"/>
                      </a:endParaRPr>
                    </a:p>
                    <a:p>
                      <a:pPr algn="ctr">
                        <a:buNone/>
                      </a:pPr>
                      <a:r>
                        <a:rPr lang="zh-CN" altLang="en-US">
                          <a:solidFill>
                            <a:schemeClr val="tx1"/>
                          </a:solidFill>
                        </a:rPr>
                        <a:t>可解释性不强</a:t>
                      </a:r>
                      <a:endParaRPr lang="zh-CN" altLang="en-US">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chemeClr val="bg1"/>
                    </a:solidFill>
                  </a:tcPr>
                </a:tc>
                <a:tc>
                  <a:txBody>
                    <a:bodyPr/>
                    <a:p>
                      <a:pPr algn="ctr">
                        <a:buNone/>
                      </a:pPr>
                      <a:r>
                        <a:rPr lang="zh-CN" altLang="en-US" sz="1800">
                          <a:sym typeface="+mn-ea"/>
                        </a:rPr>
                        <a:t>假设扰动为已知或者可统计获取的高斯分布</a:t>
                      </a:r>
                      <a:endParaRPr lang="zh-CN" altLang="en-US"/>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a:solidFill>
                        <a:schemeClr val="tx1"/>
                      </a:solidFill>
                      <a:prstDash val="solid"/>
                    </a:lnB>
                    <a:solidFill>
                      <a:schemeClr val="bg1"/>
                    </a:solidFill>
                  </a:tcPr>
                </a:tc>
              </a:tr>
              <a:tr h="381000">
                <a:tc>
                  <a:txBody>
                    <a:bodyPr/>
                    <a:p>
                      <a:pPr algn="ctr">
                        <a:buClrTx/>
                        <a:buSzTx/>
                        <a:buFontTx/>
                        <a:buNone/>
                      </a:pPr>
                      <a:r>
                        <a:rPr lang="en-US" altLang="zh-CN" sz="1800" b="1">
                          <a:solidFill>
                            <a:schemeClr val="lt1"/>
                          </a:solidFill>
                          <a:sym typeface="+mn-ea"/>
                        </a:rPr>
                        <a:t>未来工作</a:t>
                      </a:r>
                      <a:endParaRPr lang="en-US" altLang="zh-CN" sz="1800" b="1">
                        <a:solidFill>
                          <a:schemeClr val="lt1"/>
                        </a:solidFill>
                      </a:endParaRPr>
                    </a:p>
                    <a:p>
                      <a:pPr algn="ctr">
                        <a:buClrTx/>
                        <a:buSzTx/>
                        <a:buFontTx/>
                        <a:buNone/>
                      </a:pPr>
                      <a:endParaRPr lang="en-US" altLang="zh-CN" b="1">
                        <a:solidFill>
                          <a:schemeClr val="lt1"/>
                        </a:solidFill>
                      </a:endParaRPr>
                    </a:p>
                  </a:txBody>
                  <a:tcPr>
                    <a:lnL w="12700" cmpd="sng">
                      <a:solidFill>
                        <a:schemeClr val="tx1"/>
                      </a:solidFill>
                      <a:prstDash val="solid"/>
                    </a:lnL>
                    <a:lnR w="12700">
                      <a:solidFill>
                        <a:schemeClr val="tx1"/>
                      </a:solidFill>
                      <a:prstDash val="solid"/>
                    </a:lnR>
                    <a:lnB w="12700" cmpd="sng">
                      <a:solidFill>
                        <a:schemeClr val="tx1"/>
                      </a:solidFill>
                      <a:prstDash val="solid"/>
                    </a:lnB>
                    <a:solidFill>
                      <a:srgbClr val="BFBFBF"/>
                    </a:solidFill>
                  </a:tcPr>
                </a:tc>
                <a:tc gridSpan="3">
                  <a:txBody>
                    <a:bodyPr/>
                    <a:p>
                      <a:pPr algn="ctr">
                        <a:buNone/>
                      </a:pPr>
                      <a:r>
                        <a:rPr lang="zh-CN" altLang="en-US" sz="1800">
                          <a:sym typeface="+mn-ea"/>
                        </a:rPr>
                        <a:t>研究随机系统框架下的</a:t>
                      </a:r>
                      <a:r>
                        <a:rPr lang="en-US" altLang="zh-CN" sz="1800">
                          <a:sym typeface="+mn-ea"/>
                        </a:rPr>
                        <a:t>PWANN+CBF</a:t>
                      </a:r>
                      <a:r>
                        <a:rPr lang="zh-CN" altLang="en-US" sz="1800">
                          <a:sym typeface="+mn-ea"/>
                        </a:rPr>
                        <a:t>获取方法（问题</a:t>
                      </a:r>
                      <a:r>
                        <a:rPr lang="zh-CN" altLang="en-US" sz="1800">
                          <a:sym typeface="+mn-ea"/>
                        </a:rPr>
                        <a:t>定义）</a:t>
                      </a:r>
                      <a:endParaRPr lang="zh-CN" altLang="en-US" sz="1800">
                        <a:sym typeface="+mn-ea"/>
                      </a:endParaRPr>
                    </a:p>
                    <a:p>
                      <a:pPr algn="ctr">
                        <a:buNone/>
                      </a:pPr>
                      <a:r>
                        <a:rPr lang="zh-CN" altLang="en-US" sz="1800">
                          <a:sym typeface="+mn-ea"/>
                        </a:rPr>
                        <a:t>及其与随机系统控制方法（问题解决）在结构和性质方面的推导与融合，可能更好的</a:t>
                      </a:r>
                      <a:r>
                        <a:rPr lang="zh-CN" altLang="en-US" sz="1800">
                          <a:sym typeface="+mn-ea"/>
                        </a:rPr>
                        <a:t>结论。</a:t>
                      </a:r>
                      <a:endParaRPr lang="zh-CN" altLang="en-US" sz="1800">
                        <a:sym typeface="+mn-ea"/>
                      </a:endParaRPr>
                    </a:p>
                  </a:txBody>
                  <a:tcPr>
                    <a:lnL w="12700">
                      <a:solidFill>
                        <a:schemeClr val="tx1"/>
                      </a:solidFill>
                      <a:prstDash val="solid"/>
                    </a:lnL>
                    <a:lnR w="12700">
                      <a:solidFill>
                        <a:schemeClr val="tx1"/>
                      </a:solidFill>
                      <a:prstDash val="solid"/>
                    </a:lnR>
                    <a:lnB w="12700">
                      <a:solidFill>
                        <a:schemeClr val="tx1"/>
                      </a:solidFill>
                      <a:prstDash val="solid"/>
                    </a:lnB>
                    <a:solidFill>
                      <a:schemeClr val="bg1"/>
                    </a:solidFill>
                  </a:tcPr>
                </a:tc>
                <a:tc hMerge="1">
                  <a:tcPr>
                    <a:lnL w="12700" cmpd="sng">
                      <a:solidFill>
                        <a:schemeClr val="tx1"/>
                      </a:solidFill>
                      <a:prstDash val="solid"/>
                    </a:lnL>
                    <a:lnR w="12700" cmpd="sng">
                      <a:solidFill>
                        <a:schemeClr val="tx1"/>
                      </a:solidFill>
                      <a:prstDash val="solid"/>
                    </a:lnR>
                    <a:lnB w="12700">
                      <a:solidFill>
                        <a:schemeClr val="tx1"/>
                      </a:solidFill>
                      <a:prstDash val="solid"/>
                    </a:lnB>
                    <a:solidFill>
                      <a:schemeClr val="bg1"/>
                    </a:solidFill>
                  </a:tcPr>
                </a:tc>
                <a:tc hMerge="1">
                  <a:tcPr>
                    <a:lnL w="12700" cmpd="sng">
                      <a:solidFill>
                        <a:schemeClr val="tx1"/>
                      </a:solidFill>
                      <a:prstDash val="solid"/>
                    </a:lnL>
                    <a:lnR w="12700">
                      <a:solidFill>
                        <a:schemeClr val="tx1"/>
                      </a:solidFill>
                      <a:prstDash val="solid"/>
                    </a:lnR>
                    <a:lnB w="12700">
                      <a:solidFill>
                        <a:schemeClr val="tx1"/>
                      </a:solidFill>
                      <a:prstDash val="solid"/>
                    </a:lnB>
                    <a:solidFill>
                      <a:schemeClr val="bg1"/>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a:p>
            <a:endParaRPr lang="zh-CN" altLang="en-US"/>
          </a:p>
        </p:txBody>
      </p:sp>
      <p:sp>
        <p:nvSpPr>
          <p:cNvPr id="3" name="文本占位符 2"/>
          <p:cNvSpPr>
            <a:spLocks noGrp="1"/>
          </p:cNvSpPr>
          <p:nvPr>
            <p:ph type="body" idx="13"/>
          </p:nvPr>
        </p:nvSpPr>
        <p:spPr/>
        <p:txBody>
          <a:bodyPr/>
          <a:p>
            <a:endParaRPr lang="zh-CN" altLang="en-US"/>
          </a:p>
        </p:txBody>
      </p:sp>
      <p:sp>
        <p:nvSpPr>
          <p:cNvPr id="4" name="文本占位符 3"/>
          <p:cNvSpPr>
            <a:spLocks noGrp="1"/>
          </p:cNvSpPr>
          <p:nvPr>
            <p:ph type="body" idx="14"/>
          </p:nvPr>
        </p:nvSpPr>
        <p:spPr/>
        <p:txBody>
          <a:bodyPr/>
          <a:p>
            <a:r>
              <a:rPr lang="zh-CN" altLang="en-US"/>
              <a:t>攻读硕士学位期间取得创新性成果</a:t>
            </a:r>
            <a:endParaRPr lang="zh-CN" altLang="en-US"/>
          </a:p>
        </p:txBody>
      </p:sp>
      <p:sp>
        <p:nvSpPr>
          <p:cNvPr id="5" name="文本框 4"/>
          <p:cNvSpPr txBox="1"/>
          <p:nvPr/>
        </p:nvSpPr>
        <p:spPr>
          <a:xfrm>
            <a:off x="219710" y="1308100"/>
            <a:ext cx="11820525" cy="922020"/>
          </a:xfrm>
          <a:prstGeom prst="rect">
            <a:avLst/>
          </a:prstGeom>
          <a:noFill/>
        </p:spPr>
        <p:txBody>
          <a:bodyPr wrap="square" rtlCol="0" anchor="t">
            <a:spAutoFit/>
          </a:bodyPr>
          <a:p>
            <a:r>
              <a:rPr lang="en-US" altLang="zh-CN"/>
              <a:t>[1] J. Zhao and J. Xu, ”Probabilistically Recursively Feasible Stochastic MPC with Low Conservatism under Unbounded Disturbance,” 2025 40th Youth Academic Annual Conference of Chinese Association of Automation (YAC), Zhengzhou, China, 2025, pp. 1857-1862, doi: 10.1109/YAC66630.2025.11149855.</a:t>
            </a:r>
            <a:endParaRPr lang="en-US" altLang="zh-CN"/>
          </a:p>
        </p:txBody>
      </p:sp>
      <p:sp>
        <p:nvSpPr>
          <p:cNvPr id="6" name="灯片编号占位符 5"/>
          <p:cNvSpPr>
            <a:spLocks noGrp="1"/>
          </p:cNvSpPr>
          <p:nvPr>
            <p:ph type="sldNum" sz="quarter" idx="12"/>
          </p:nvPr>
        </p:nvSpPr>
        <p:spPr/>
        <p:txBody>
          <a:bodyPr/>
          <a:p>
            <a:pPr>
              <a:defRPr/>
            </a:pPr>
            <a:fld id="{AC6C5647-07D8-4AFC-B347-73DA68F3AADD}" type="slidenum">
              <a:rPr lang="zh-CN" altLang="en-US"/>
            </a:fld>
            <a:endParaRPr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图片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26188" y="5200650"/>
            <a:ext cx="5865812"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2" name="文本框 62"/>
          <p:cNvSpPr txBox="1">
            <a:spLocks noChangeArrowheads="1"/>
          </p:cNvSpPr>
          <p:nvPr/>
        </p:nvSpPr>
        <p:spPr bwMode="auto">
          <a:xfrm>
            <a:off x="2947988" y="2606358"/>
            <a:ext cx="6888480" cy="110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algn="ctr" eaLnBrk="1" hangingPunct="1">
              <a:lnSpc>
                <a:spcPct val="100000"/>
              </a:lnSpc>
              <a:spcBef>
                <a:spcPct val="0"/>
              </a:spcBef>
              <a:buFontTx/>
              <a:buNone/>
            </a:pPr>
            <a:r>
              <a:rPr lang="zh-CN" altLang="en-US" sz="6600" b="1">
                <a:solidFill>
                  <a:srgbClr val="4B649F"/>
                </a:solidFill>
              </a:rPr>
              <a:t>感谢老师们的</a:t>
            </a:r>
            <a:r>
              <a:rPr lang="zh-CN" altLang="en-US" sz="6600" b="1">
                <a:solidFill>
                  <a:srgbClr val="4B649F"/>
                </a:solidFill>
              </a:rPr>
              <a:t>倾听</a:t>
            </a:r>
            <a:endParaRPr lang="zh-CN" altLang="en-US" sz="6600" b="1">
              <a:solidFill>
                <a:srgbClr val="4B649F"/>
              </a:solidFill>
            </a:endParaRPr>
          </a:p>
        </p:txBody>
      </p:sp>
      <p:grpSp>
        <p:nvGrpSpPr>
          <p:cNvPr id="50183" name="组合 1026"/>
          <p:cNvGrpSpPr/>
          <p:nvPr/>
        </p:nvGrpSpPr>
        <p:grpSpPr bwMode="auto">
          <a:xfrm>
            <a:off x="4264660" y="3891915"/>
            <a:ext cx="315913" cy="317500"/>
            <a:chOff x="2724480" y="3856218"/>
            <a:chExt cx="317004" cy="317004"/>
          </a:xfrm>
        </p:grpSpPr>
        <p:sp>
          <p:nvSpPr>
            <p:cNvPr id="1024" name="椭圆 1023"/>
            <p:cNvSpPr/>
            <p:nvPr/>
          </p:nvSpPr>
          <p:spPr>
            <a:xfrm>
              <a:off x="2724480" y="3856218"/>
              <a:ext cx="317004" cy="317004"/>
            </a:xfrm>
            <a:prstGeom prst="ellipse">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03" name="KSO_Shape"/>
            <p:cNvSpPr/>
            <p:nvPr/>
          </p:nvSpPr>
          <p:spPr bwMode="auto">
            <a:xfrm>
              <a:off x="2799351" y="3908524"/>
              <a:ext cx="167263" cy="212393"/>
            </a:xfrm>
            <a:custGeom>
              <a:avLst/>
              <a:gdLst>
                <a:gd name="T0" fmla="*/ 646796 w 5367"/>
                <a:gd name="T1" fmla="*/ 843536 h 6897"/>
                <a:gd name="T2" fmla="*/ 520861 w 5367"/>
                <a:gd name="T3" fmla="*/ 880824 h 6897"/>
                <a:gd name="T4" fmla="*/ 403764 w 5367"/>
                <a:gd name="T5" fmla="*/ 946285 h 6897"/>
                <a:gd name="T6" fmla="*/ 297714 w 5367"/>
                <a:gd name="T7" fmla="*/ 1036605 h 6897"/>
                <a:gd name="T8" fmla="*/ 204644 w 5367"/>
                <a:gd name="T9" fmla="*/ 1149850 h 6897"/>
                <a:gd name="T10" fmla="*/ 126487 w 5367"/>
                <a:gd name="T11" fmla="*/ 1282429 h 6897"/>
                <a:gd name="T12" fmla="*/ 65729 w 5367"/>
                <a:gd name="T13" fmla="*/ 1432134 h 6897"/>
                <a:gd name="T14" fmla="*/ 23475 w 5367"/>
                <a:gd name="T15" fmla="*/ 1595648 h 6897"/>
                <a:gd name="T16" fmla="*/ 2209 w 5367"/>
                <a:gd name="T17" fmla="*/ 1771316 h 6897"/>
                <a:gd name="T18" fmla="*/ 1481389 w 5367"/>
                <a:gd name="T19" fmla="*/ 1905000 h 6897"/>
                <a:gd name="T20" fmla="*/ 1480009 w 5367"/>
                <a:gd name="T21" fmla="*/ 1771316 h 6897"/>
                <a:gd name="T22" fmla="*/ 1459020 w 5367"/>
                <a:gd name="T23" fmla="*/ 1595648 h 6897"/>
                <a:gd name="T24" fmla="*/ 1417041 w 5367"/>
                <a:gd name="T25" fmla="*/ 1432134 h 6897"/>
                <a:gd name="T26" fmla="*/ 1355731 w 5367"/>
                <a:gd name="T27" fmla="*/ 1282429 h 6897"/>
                <a:gd name="T28" fmla="*/ 1277850 w 5367"/>
                <a:gd name="T29" fmla="*/ 1149850 h 6897"/>
                <a:gd name="T30" fmla="*/ 1184780 w 5367"/>
                <a:gd name="T31" fmla="*/ 1036605 h 6897"/>
                <a:gd name="T32" fmla="*/ 1078730 w 5367"/>
                <a:gd name="T33" fmla="*/ 946285 h 6897"/>
                <a:gd name="T34" fmla="*/ 961633 w 5367"/>
                <a:gd name="T35" fmla="*/ 880824 h 6897"/>
                <a:gd name="T36" fmla="*/ 835422 w 5367"/>
                <a:gd name="T37" fmla="*/ 843536 h 6897"/>
                <a:gd name="T38" fmla="*/ 747875 w 5367"/>
                <a:gd name="T39" fmla="*/ 731120 h 6897"/>
                <a:gd name="T40" fmla="*/ 805043 w 5367"/>
                <a:gd name="T41" fmla="*/ 726701 h 6897"/>
                <a:gd name="T42" fmla="*/ 868286 w 5367"/>
                <a:gd name="T43" fmla="*/ 711786 h 6897"/>
                <a:gd name="T44" fmla="*/ 926559 w 5367"/>
                <a:gd name="T45" fmla="*/ 686927 h 6897"/>
                <a:gd name="T46" fmla="*/ 979032 w 5367"/>
                <a:gd name="T47" fmla="*/ 653230 h 6897"/>
                <a:gd name="T48" fmla="*/ 1024876 w 5367"/>
                <a:gd name="T49" fmla="*/ 611246 h 6897"/>
                <a:gd name="T50" fmla="*/ 1063264 w 5367"/>
                <a:gd name="T51" fmla="*/ 562358 h 6897"/>
                <a:gd name="T52" fmla="*/ 1092815 w 5367"/>
                <a:gd name="T53" fmla="*/ 507945 h 6897"/>
                <a:gd name="T54" fmla="*/ 1112699 w 5367"/>
                <a:gd name="T55" fmla="*/ 448008 h 6897"/>
                <a:gd name="T56" fmla="*/ 1121813 w 5367"/>
                <a:gd name="T57" fmla="*/ 384204 h 6897"/>
                <a:gd name="T58" fmla="*/ 1120432 w 5367"/>
                <a:gd name="T59" fmla="*/ 328134 h 6897"/>
                <a:gd name="T60" fmla="*/ 1108004 w 5367"/>
                <a:gd name="T61" fmla="*/ 265711 h 6897"/>
                <a:gd name="T62" fmla="*/ 1085358 w 5367"/>
                <a:gd name="T63" fmla="*/ 207155 h 6897"/>
                <a:gd name="T64" fmla="*/ 1053322 w 5367"/>
                <a:gd name="T65" fmla="*/ 153847 h 6897"/>
                <a:gd name="T66" fmla="*/ 1012725 w 5367"/>
                <a:gd name="T67" fmla="*/ 107168 h 6897"/>
                <a:gd name="T68" fmla="*/ 964671 w 5367"/>
                <a:gd name="T69" fmla="*/ 67395 h 6897"/>
                <a:gd name="T70" fmla="*/ 910541 w 5367"/>
                <a:gd name="T71" fmla="*/ 36183 h 6897"/>
                <a:gd name="T72" fmla="*/ 850335 w 5367"/>
                <a:gd name="T73" fmla="*/ 14087 h 6897"/>
                <a:gd name="T74" fmla="*/ 786263 w 5367"/>
                <a:gd name="T75" fmla="*/ 1933 h 6897"/>
                <a:gd name="T76" fmla="*/ 728819 w 5367"/>
                <a:gd name="T77" fmla="*/ 276 h 6897"/>
                <a:gd name="T78" fmla="*/ 663366 w 5367"/>
                <a:gd name="T79" fmla="*/ 9391 h 6897"/>
                <a:gd name="T80" fmla="*/ 602332 w 5367"/>
                <a:gd name="T81" fmla="*/ 28726 h 6897"/>
                <a:gd name="T82" fmla="*/ 546545 w 5367"/>
                <a:gd name="T83" fmla="*/ 57451 h 6897"/>
                <a:gd name="T84" fmla="*/ 496282 w 5367"/>
                <a:gd name="T85" fmla="*/ 95015 h 6897"/>
                <a:gd name="T86" fmla="*/ 453751 w 5367"/>
                <a:gd name="T87" fmla="*/ 139761 h 6897"/>
                <a:gd name="T88" fmla="*/ 418954 w 5367"/>
                <a:gd name="T89" fmla="*/ 191411 h 6897"/>
                <a:gd name="T90" fmla="*/ 393546 w 5367"/>
                <a:gd name="T91" fmla="*/ 248310 h 6897"/>
                <a:gd name="T92" fmla="*/ 378356 w 5367"/>
                <a:gd name="T93" fmla="*/ 309628 h 6897"/>
                <a:gd name="T94" fmla="*/ 373938 w 5367"/>
                <a:gd name="T95" fmla="*/ 365698 h 6897"/>
                <a:gd name="T96" fmla="*/ 380013 w 5367"/>
                <a:gd name="T97" fmla="*/ 430054 h 6897"/>
                <a:gd name="T98" fmla="*/ 396584 w 5367"/>
                <a:gd name="T99" fmla="*/ 491096 h 6897"/>
                <a:gd name="T100" fmla="*/ 423372 w 5367"/>
                <a:gd name="T101" fmla="*/ 547719 h 6897"/>
                <a:gd name="T102" fmla="*/ 459551 w 5367"/>
                <a:gd name="T103" fmla="*/ 597988 h 6897"/>
                <a:gd name="T104" fmla="*/ 503186 w 5367"/>
                <a:gd name="T105" fmla="*/ 641905 h 6897"/>
                <a:gd name="T106" fmla="*/ 554278 w 5367"/>
                <a:gd name="T107" fmla="*/ 678088 h 6897"/>
                <a:gd name="T108" fmla="*/ 610894 w 5367"/>
                <a:gd name="T109" fmla="*/ 705709 h 6897"/>
                <a:gd name="T110" fmla="*/ 672756 w 5367"/>
                <a:gd name="T111" fmla="*/ 723662 h 6897"/>
                <a:gd name="T112" fmla="*/ 738209 w 5367"/>
                <a:gd name="T113" fmla="*/ 730844 h 689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5367" h="6897">
                  <a:moveTo>
                    <a:pt x="2684" y="3025"/>
                  </a:moveTo>
                  <a:lnTo>
                    <a:pt x="2684" y="3025"/>
                  </a:lnTo>
                  <a:lnTo>
                    <a:pt x="2615" y="3026"/>
                  </a:lnTo>
                  <a:lnTo>
                    <a:pt x="2545" y="3029"/>
                  </a:lnTo>
                  <a:lnTo>
                    <a:pt x="2478" y="3035"/>
                  </a:lnTo>
                  <a:lnTo>
                    <a:pt x="2409" y="3043"/>
                  </a:lnTo>
                  <a:lnTo>
                    <a:pt x="2342" y="3054"/>
                  </a:lnTo>
                  <a:lnTo>
                    <a:pt x="2275" y="3066"/>
                  </a:lnTo>
                  <a:lnTo>
                    <a:pt x="2209" y="3081"/>
                  </a:lnTo>
                  <a:lnTo>
                    <a:pt x="2143" y="3099"/>
                  </a:lnTo>
                  <a:lnTo>
                    <a:pt x="2077" y="3118"/>
                  </a:lnTo>
                  <a:lnTo>
                    <a:pt x="2013" y="3140"/>
                  </a:lnTo>
                  <a:lnTo>
                    <a:pt x="1949" y="3163"/>
                  </a:lnTo>
                  <a:lnTo>
                    <a:pt x="1886" y="3189"/>
                  </a:lnTo>
                  <a:lnTo>
                    <a:pt x="1823" y="3217"/>
                  </a:lnTo>
                  <a:lnTo>
                    <a:pt x="1761" y="3247"/>
                  </a:lnTo>
                  <a:lnTo>
                    <a:pt x="1700" y="3279"/>
                  </a:lnTo>
                  <a:lnTo>
                    <a:pt x="1639" y="3313"/>
                  </a:lnTo>
                  <a:lnTo>
                    <a:pt x="1579" y="3349"/>
                  </a:lnTo>
                  <a:lnTo>
                    <a:pt x="1521" y="3386"/>
                  </a:lnTo>
                  <a:lnTo>
                    <a:pt x="1462" y="3426"/>
                  </a:lnTo>
                  <a:lnTo>
                    <a:pt x="1405" y="3468"/>
                  </a:lnTo>
                  <a:lnTo>
                    <a:pt x="1348" y="3511"/>
                  </a:lnTo>
                  <a:lnTo>
                    <a:pt x="1293" y="3556"/>
                  </a:lnTo>
                  <a:lnTo>
                    <a:pt x="1237" y="3603"/>
                  </a:lnTo>
                  <a:lnTo>
                    <a:pt x="1183" y="3651"/>
                  </a:lnTo>
                  <a:lnTo>
                    <a:pt x="1131" y="3702"/>
                  </a:lnTo>
                  <a:lnTo>
                    <a:pt x="1078" y="3753"/>
                  </a:lnTo>
                  <a:lnTo>
                    <a:pt x="1027" y="3807"/>
                  </a:lnTo>
                  <a:lnTo>
                    <a:pt x="976" y="3863"/>
                  </a:lnTo>
                  <a:lnTo>
                    <a:pt x="927" y="3920"/>
                  </a:lnTo>
                  <a:lnTo>
                    <a:pt x="880" y="3978"/>
                  </a:lnTo>
                  <a:lnTo>
                    <a:pt x="833" y="4038"/>
                  </a:lnTo>
                  <a:lnTo>
                    <a:pt x="786" y="4100"/>
                  </a:lnTo>
                  <a:lnTo>
                    <a:pt x="741" y="4163"/>
                  </a:lnTo>
                  <a:lnTo>
                    <a:pt x="698" y="4227"/>
                  </a:lnTo>
                  <a:lnTo>
                    <a:pt x="655" y="4293"/>
                  </a:lnTo>
                  <a:lnTo>
                    <a:pt x="613" y="4361"/>
                  </a:lnTo>
                  <a:lnTo>
                    <a:pt x="573" y="4429"/>
                  </a:lnTo>
                  <a:lnTo>
                    <a:pt x="533" y="4499"/>
                  </a:lnTo>
                  <a:lnTo>
                    <a:pt x="495" y="4570"/>
                  </a:lnTo>
                  <a:lnTo>
                    <a:pt x="458" y="4643"/>
                  </a:lnTo>
                  <a:lnTo>
                    <a:pt x="423" y="4717"/>
                  </a:lnTo>
                  <a:lnTo>
                    <a:pt x="388" y="4791"/>
                  </a:lnTo>
                  <a:lnTo>
                    <a:pt x="356" y="4868"/>
                  </a:lnTo>
                  <a:lnTo>
                    <a:pt x="324" y="4945"/>
                  </a:lnTo>
                  <a:lnTo>
                    <a:pt x="294" y="5024"/>
                  </a:lnTo>
                  <a:lnTo>
                    <a:pt x="265" y="5104"/>
                  </a:lnTo>
                  <a:lnTo>
                    <a:pt x="238" y="5185"/>
                  </a:lnTo>
                  <a:lnTo>
                    <a:pt x="211" y="5266"/>
                  </a:lnTo>
                  <a:lnTo>
                    <a:pt x="186" y="5349"/>
                  </a:lnTo>
                  <a:lnTo>
                    <a:pt x="163" y="5433"/>
                  </a:lnTo>
                  <a:lnTo>
                    <a:pt x="141" y="5518"/>
                  </a:lnTo>
                  <a:lnTo>
                    <a:pt x="121" y="5603"/>
                  </a:lnTo>
                  <a:lnTo>
                    <a:pt x="102" y="5690"/>
                  </a:lnTo>
                  <a:lnTo>
                    <a:pt x="85" y="5777"/>
                  </a:lnTo>
                  <a:lnTo>
                    <a:pt x="69" y="5866"/>
                  </a:lnTo>
                  <a:lnTo>
                    <a:pt x="54" y="5955"/>
                  </a:lnTo>
                  <a:lnTo>
                    <a:pt x="42" y="6045"/>
                  </a:lnTo>
                  <a:lnTo>
                    <a:pt x="31" y="6136"/>
                  </a:lnTo>
                  <a:lnTo>
                    <a:pt x="22" y="6227"/>
                  </a:lnTo>
                  <a:lnTo>
                    <a:pt x="14" y="6319"/>
                  </a:lnTo>
                  <a:lnTo>
                    <a:pt x="8" y="6413"/>
                  </a:lnTo>
                  <a:lnTo>
                    <a:pt x="4" y="6506"/>
                  </a:lnTo>
                  <a:lnTo>
                    <a:pt x="1" y="6600"/>
                  </a:lnTo>
                  <a:lnTo>
                    <a:pt x="0" y="6695"/>
                  </a:lnTo>
                  <a:lnTo>
                    <a:pt x="1" y="6796"/>
                  </a:lnTo>
                  <a:lnTo>
                    <a:pt x="5" y="6897"/>
                  </a:lnTo>
                  <a:lnTo>
                    <a:pt x="5364" y="6897"/>
                  </a:lnTo>
                  <a:lnTo>
                    <a:pt x="5366" y="6796"/>
                  </a:lnTo>
                  <a:lnTo>
                    <a:pt x="5367" y="6695"/>
                  </a:lnTo>
                  <a:lnTo>
                    <a:pt x="5367" y="6600"/>
                  </a:lnTo>
                  <a:lnTo>
                    <a:pt x="5364" y="6506"/>
                  </a:lnTo>
                  <a:lnTo>
                    <a:pt x="5359" y="6413"/>
                  </a:lnTo>
                  <a:lnTo>
                    <a:pt x="5353" y="6319"/>
                  </a:lnTo>
                  <a:lnTo>
                    <a:pt x="5346" y="6227"/>
                  </a:lnTo>
                  <a:lnTo>
                    <a:pt x="5337" y="6136"/>
                  </a:lnTo>
                  <a:lnTo>
                    <a:pt x="5325" y="6045"/>
                  </a:lnTo>
                  <a:lnTo>
                    <a:pt x="5313" y="5955"/>
                  </a:lnTo>
                  <a:lnTo>
                    <a:pt x="5298" y="5866"/>
                  </a:lnTo>
                  <a:lnTo>
                    <a:pt x="5283" y="5777"/>
                  </a:lnTo>
                  <a:lnTo>
                    <a:pt x="5266" y="5690"/>
                  </a:lnTo>
                  <a:lnTo>
                    <a:pt x="5247" y="5603"/>
                  </a:lnTo>
                  <a:lnTo>
                    <a:pt x="5226" y="5518"/>
                  </a:lnTo>
                  <a:lnTo>
                    <a:pt x="5205" y="5433"/>
                  </a:lnTo>
                  <a:lnTo>
                    <a:pt x="5181" y="5349"/>
                  </a:lnTo>
                  <a:lnTo>
                    <a:pt x="5157" y="5266"/>
                  </a:lnTo>
                  <a:lnTo>
                    <a:pt x="5131" y="5185"/>
                  </a:lnTo>
                  <a:lnTo>
                    <a:pt x="5103" y="5104"/>
                  </a:lnTo>
                  <a:lnTo>
                    <a:pt x="5073" y="5024"/>
                  </a:lnTo>
                  <a:lnTo>
                    <a:pt x="5043" y="4945"/>
                  </a:lnTo>
                  <a:lnTo>
                    <a:pt x="5012" y="4868"/>
                  </a:lnTo>
                  <a:lnTo>
                    <a:pt x="4979" y="4791"/>
                  </a:lnTo>
                  <a:lnTo>
                    <a:pt x="4945" y="4717"/>
                  </a:lnTo>
                  <a:lnTo>
                    <a:pt x="4909" y="4643"/>
                  </a:lnTo>
                  <a:lnTo>
                    <a:pt x="4872" y="4570"/>
                  </a:lnTo>
                  <a:lnTo>
                    <a:pt x="4834" y="4499"/>
                  </a:lnTo>
                  <a:lnTo>
                    <a:pt x="4796" y="4429"/>
                  </a:lnTo>
                  <a:lnTo>
                    <a:pt x="4755" y="4361"/>
                  </a:lnTo>
                  <a:lnTo>
                    <a:pt x="4713" y="4293"/>
                  </a:lnTo>
                  <a:lnTo>
                    <a:pt x="4671" y="4227"/>
                  </a:lnTo>
                  <a:lnTo>
                    <a:pt x="4627" y="4163"/>
                  </a:lnTo>
                  <a:lnTo>
                    <a:pt x="4582" y="4100"/>
                  </a:lnTo>
                  <a:lnTo>
                    <a:pt x="4536" y="4038"/>
                  </a:lnTo>
                  <a:lnTo>
                    <a:pt x="4489" y="3978"/>
                  </a:lnTo>
                  <a:lnTo>
                    <a:pt x="4440" y="3920"/>
                  </a:lnTo>
                  <a:lnTo>
                    <a:pt x="4391" y="3863"/>
                  </a:lnTo>
                  <a:lnTo>
                    <a:pt x="4340" y="3807"/>
                  </a:lnTo>
                  <a:lnTo>
                    <a:pt x="4290" y="3753"/>
                  </a:lnTo>
                  <a:lnTo>
                    <a:pt x="4238" y="3702"/>
                  </a:lnTo>
                  <a:lnTo>
                    <a:pt x="4184" y="3651"/>
                  </a:lnTo>
                  <a:lnTo>
                    <a:pt x="4130" y="3603"/>
                  </a:lnTo>
                  <a:lnTo>
                    <a:pt x="4076" y="3556"/>
                  </a:lnTo>
                  <a:lnTo>
                    <a:pt x="4020" y="3511"/>
                  </a:lnTo>
                  <a:lnTo>
                    <a:pt x="3963" y="3468"/>
                  </a:lnTo>
                  <a:lnTo>
                    <a:pt x="3906" y="3426"/>
                  </a:lnTo>
                  <a:lnTo>
                    <a:pt x="3848" y="3386"/>
                  </a:lnTo>
                  <a:lnTo>
                    <a:pt x="3788" y="3349"/>
                  </a:lnTo>
                  <a:lnTo>
                    <a:pt x="3728" y="3313"/>
                  </a:lnTo>
                  <a:lnTo>
                    <a:pt x="3668" y="3279"/>
                  </a:lnTo>
                  <a:lnTo>
                    <a:pt x="3607" y="3247"/>
                  </a:lnTo>
                  <a:lnTo>
                    <a:pt x="3545" y="3217"/>
                  </a:lnTo>
                  <a:lnTo>
                    <a:pt x="3482" y="3189"/>
                  </a:lnTo>
                  <a:lnTo>
                    <a:pt x="3419" y="3163"/>
                  </a:lnTo>
                  <a:lnTo>
                    <a:pt x="3355" y="3140"/>
                  </a:lnTo>
                  <a:lnTo>
                    <a:pt x="3290" y="3118"/>
                  </a:lnTo>
                  <a:lnTo>
                    <a:pt x="3225" y="3099"/>
                  </a:lnTo>
                  <a:lnTo>
                    <a:pt x="3159" y="3081"/>
                  </a:lnTo>
                  <a:lnTo>
                    <a:pt x="3093" y="3066"/>
                  </a:lnTo>
                  <a:lnTo>
                    <a:pt x="3025" y="3054"/>
                  </a:lnTo>
                  <a:lnTo>
                    <a:pt x="2958" y="3043"/>
                  </a:lnTo>
                  <a:lnTo>
                    <a:pt x="2891" y="3035"/>
                  </a:lnTo>
                  <a:lnTo>
                    <a:pt x="2822" y="3029"/>
                  </a:lnTo>
                  <a:lnTo>
                    <a:pt x="2753" y="3026"/>
                  </a:lnTo>
                  <a:lnTo>
                    <a:pt x="2684" y="3025"/>
                  </a:lnTo>
                  <a:close/>
                  <a:moveTo>
                    <a:pt x="2708" y="2647"/>
                  </a:moveTo>
                  <a:lnTo>
                    <a:pt x="2708" y="2647"/>
                  </a:lnTo>
                  <a:lnTo>
                    <a:pt x="2743" y="2646"/>
                  </a:lnTo>
                  <a:lnTo>
                    <a:pt x="2778" y="2645"/>
                  </a:lnTo>
                  <a:lnTo>
                    <a:pt x="2813" y="2643"/>
                  </a:lnTo>
                  <a:lnTo>
                    <a:pt x="2847" y="2640"/>
                  </a:lnTo>
                  <a:lnTo>
                    <a:pt x="2882" y="2636"/>
                  </a:lnTo>
                  <a:lnTo>
                    <a:pt x="2915" y="2631"/>
                  </a:lnTo>
                  <a:lnTo>
                    <a:pt x="2949" y="2626"/>
                  </a:lnTo>
                  <a:lnTo>
                    <a:pt x="2982" y="2620"/>
                  </a:lnTo>
                  <a:lnTo>
                    <a:pt x="3014" y="2613"/>
                  </a:lnTo>
                  <a:lnTo>
                    <a:pt x="3047" y="2605"/>
                  </a:lnTo>
                  <a:lnTo>
                    <a:pt x="3079" y="2596"/>
                  </a:lnTo>
                  <a:lnTo>
                    <a:pt x="3112" y="2587"/>
                  </a:lnTo>
                  <a:lnTo>
                    <a:pt x="3144" y="2577"/>
                  </a:lnTo>
                  <a:lnTo>
                    <a:pt x="3175" y="2566"/>
                  </a:lnTo>
                  <a:lnTo>
                    <a:pt x="3205" y="2555"/>
                  </a:lnTo>
                  <a:lnTo>
                    <a:pt x="3236" y="2542"/>
                  </a:lnTo>
                  <a:lnTo>
                    <a:pt x="3266" y="2530"/>
                  </a:lnTo>
                  <a:lnTo>
                    <a:pt x="3297" y="2517"/>
                  </a:lnTo>
                  <a:lnTo>
                    <a:pt x="3326" y="2502"/>
                  </a:lnTo>
                  <a:lnTo>
                    <a:pt x="3355" y="2487"/>
                  </a:lnTo>
                  <a:lnTo>
                    <a:pt x="3383" y="2472"/>
                  </a:lnTo>
                  <a:lnTo>
                    <a:pt x="3411" y="2455"/>
                  </a:lnTo>
                  <a:lnTo>
                    <a:pt x="3439" y="2438"/>
                  </a:lnTo>
                  <a:lnTo>
                    <a:pt x="3466" y="2421"/>
                  </a:lnTo>
                  <a:lnTo>
                    <a:pt x="3493" y="2403"/>
                  </a:lnTo>
                  <a:lnTo>
                    <a:pt x="3519" y="2384"/>
                  </a:lnTo>
                  <a:lnTo>
                    <a:pt x="3545" y="2365"/>
                  </a:lnTo>
                  <a:lnTo>
                    <a:pt x="3571" y="2345"/>
                  </a:lnTo>
                  <a:lnTo>
                    <a:pt x="3596" y="2324"/>
                  </a:lnTo>
                  <a:lnTo>
                    <a:pt x="3619" y="2303"/>
                  </a:lnTo>
                  <a:lnTo>
                    <a:pt x="3643" y="2282"/>
                  </a:lnTo>
                  <a:lnTo>
                    <a:pt x="3667" y="2259"/>
                  </a:lnTo>
                  <a:lnTo>
                    <a:pt x="3689" y="2237"/>
                  </a:lnTo>
                  <a:lnTo>
                    <a:pt x="3711" y="2213"/>
                  </a:lnTo>
                  <a:lnTo>
                    <a:pt x="3733" y="2189"/>
                  </a:lnTo>
                  <a:lnTo>
                    <a:pt x="3754" y="2165"/>
                  </a:lnTo>
                  <a:lnTo>
                    <a:pt x="3774" y="2140"/>
                  </a:lnTo>
                  <a:lnTo>
                    <a:pt x="3795" y="2115"/>
                  </a:lnTo>
                  <a:lnTo>
                    <a:pt x="3814" y="2089"/>
                  </a:lnTo>
                  <a:lnTo>
                    <a:pt x="3832" y="2063"/>
                  </a:lnTo>
                  <a:lnTo>
                    <a:pt x="3850" y="2036"/>
                  </a:lnTo>
                  <a:lnTo>
                    <a:pt x="3868" y="2010"/>
                  </a:lnTo>
                  <a:lnTo>
                    <a:pt x="3884" y="1983"/>
                  </a:lnTo>
                  <a:lnTo>
                    <a:pt x="3900" y="1954"/>
                  </a:lnTo>
                  <a:lnTo>
                    <a:pt x="3915" y="1925"/>
                  </a:lnTo>
                  <a:lnTo>
                    <a:pt x="3930" y="1897"/>
                  </a:lnTo>
                  <a:lnTo>
                    <a:pt x="3944" y="1868"/>
                  </a:lnTo>
                  <a:lnTo>
                    <a:pt x="3957" y="1839"/>
                  </a:lnTo>
                  <a:lnTo>
                    <a:pt x="3970" y="1808"/>
                  </a:lnTo>
                  <a:lnTo>
                    <a:pt x="3981" y="1778"/>
                  </a:lnTo>
                  <a:lnTo>
                    <a:pt x="3993" y="1748"/>
                  </a:lnTo>
                  <a:lnTo>
                    <a:pt x="4003" y="1717"/>
                  </a:lnTo>
                  <a:lnTo>
                    <a:pt x="4012" y="1686"/>
                  </a:lnTo>
                  <a:lnTo>
                    <a:pt x="4021" y="1654"/>
                  </a:lnTo>
                  <a:lnTo>
                    <a:pt x="4029" y="1622"/>
                  </a:lnTo>
                  <a:lnTo>
                    <a:pt x="4036" y="1590"/>
                  </a:lnTo>
                  <a:lnTo>
                    <a:pt x="4042" y="1557"/>
                  </a:lnTo>
                  <a:lnTo>
                    <a:pt x="4048" y="1525"/>
                  </a:lnTo>
                  <a:lnTo>
                    <a:pt x="4052" y="1492"/>
                  </a:lnTo>
                  <a:lnTo>
                    <a:pt x="4057" y="1459"/>
                  </a:lnTo>
                  <a:lnTo>
                    <a:pt x="4060" y="1425"/>
                  </a:lnTo>
                  <a:lnTo>
                    <a:pt x="4062" y="1391"/>
                  </a:lnTo>
                  <a:lnTo>
                    <a:pt x="4063" y="1357"/>
                  </a:lnTo>
                  <a:lnTo>
                    <a:pt x="4063" y="1324"/>
                  </a:lnTo>
                  <a:lnTo>
                    <a:pt x="4063" y="1289"/>
                  </a:lnTo>
                  <a:lnTo>
                    <a:pt x="4062" y="1255"/>
                  </a:lnTo>
                  <a:lnTo>
                    <a:pt x="4060" y="1221"/>
                  </a:lnTo>
                  <a:lnTo>
                    <a:pt x="4057" y="1188"/>
                  </a:lnTo>
                  <a:lnTo>
                    <a:pt x="4052" y="1155"/>
                  </a:lnTo>
                  <a:lnTo>
                    <a:pt x="4048" y="1121"/>
                  </a:lnTo>
                  <a:lnTo>
                    <a:pt x="4042" y="1089"/>
                  </a:lnTo>
                  <a:lnTo>
                    <a:pt x="4036" y="1057"/>
                  </a:lnTo>
                  <a:lnTo>
                    <a:pt x="4029" y="1025"/>
                  </a:lnTo>
                  <a:lnTo>
                    <a:pt x="4021" y="993"/>
                  </a:lnTo>
                  <a:lnTo>
                    <a:pt x="4012" y="962"/>
                  </a:lnTo>
                  <a:lnTo>
                    <a:pt x="4003" y="930"/>
                  </a:lnTo>
                  <a:lnTo>
                    <a:pt x="3993" y="899"/>
                  </a:lnTo>
                  <a:lnTo>
                    <a:pt x="3981" y="868"/>
                  </a:lnTo>
                  <a:lnTo>
                    <a:pt x="3970" y="838"/>
                  </a:lnTo>
                  <a:lnTo>
                    <a:pt x="3957" y="809"/>
                  </a:lnTo>
                  <a:lnTo>
                    <a:pt x="3944" y="778"/>
                  </a:lnTo>
                  <a:lnTo>
                    <a:pt x="3930" y="750"/>
                  </a:lnTo>
                  <a:lnTo>
                    <a:pt x="3915" y="721"/>
                  </a:lnTo>
                  <a:lnTo>
                    <a:pt x="3900" y="693"/>
                  </a:lnTo>
                  <a:lnTo>
                    <a:pt x="3884" y="665"/>
                  </a:lnTo>
                  <a:lnTo>
                    <a:pt x="3868" y="638"/>
                  </a:lnTo>
                  <a:lnTo>
                    <a:pt x="3850" y="610"/>
                  </a:lnTo>
                  <a:lnTo>
                    <a:pt x="3832" y="584"/>
                  </a:lnTo>
                  <a:lnTo>
                    <a:pt x="3814" y="557"/>
                  </a:lnTo>
                  <a:lnTo>
                    <a:pt x="3795" y="532"/>
                  </a:lnTo>
                  <a:lnTo>
                    <a:pt x="3774" y="506"/>
                  </a:lnTo>
                  <a:lnTo>
                    <a:pt x="3754" y="481"/>
                  </a:lnTo>
                  <a:lnTo>
                    <a:pt x="3733" y="458"/>
                  </a:lnTo>
                  <a:lnTo>
                    <a:pt x="3711" y="433"/>
                  </a:lnTo>
                  <a:lnTo>
                    <a:pt x="3689" y="411"/>
                  </a:lnTo>
                  <a:lnTo>
                    <a:pt x="3667" y="388"/>
                  </a:lnTo>
                  <a:lnTo>
                    <a:pt x="3643" y="366"/>
                  </a:lnTo>
                  <a:lnTo>
                    <a:pt x="3619" y="344"/>
                  </a:lnTo>
                  <a:lnTo>
                    <a:pt x="3596" y="323"/>
                  </a:lnTo>
                  <a:lnTo>
                    <a:pt x="3571" y="303"/>
                  </a:lnTo>
                  <a:lnTo>
                    <a:pt x="3545" y="282"/>
                  </a:lnTo>
                  <a:lnTo>
                    <a:pt x="3519" y="263"/>
                  </a:lnTo>
                  <a:lnTo>
                    <a:pt x="3493" y="244"/>
                  </a:lnTo>
                  <a:lnTo>
                    <a:pt x="3466" y="226"/>
                  </a:lnTo>
                  <a:lnTo>
                    <a:pt x="3439" y="208"/>
                  </a:lnTo>
                  <a:lnTo>
                    <a:pt x="3411" y="191"/>
                  </a:lnTo>
                  <a:lnTo>
                    <a:pt x="3383" y="176"/>
                  </a:lnTo>
                  <a:lnTo>
                    <a:pt x="3355" y="160"/>
                  </a:lnTo>
                  <a:lnTo>
                    <a:pt x="3326" y="145"/>
                  </a:lnTo>
                  <a:lnTo>
                    <a:pt x="3297" y="131"/>
                  </a:lnTo>
                  <a:lnTo>
                    <a:pt x="3266" y="117"/>
                  </a:lnTo>
                  <a:lnTo>
                    <a:pt x="3236" y="104"/>
                  </a:lnTo>
                  <a:lnTo>
                    <a:pt x="3205" y="92"/>
                  </a:lnTo>
                  <a:lnTo>
                    <a:pt x="3175" y="80"/>
                  </a:lnTo>
                  <a:lnTo>
                    <a:pt x="3144" y="70"/>
                  </a:lnTo>
                  <a:lnTo>
                    <a:pt x="3112" y="60"/>
                  </a:lnTo>
                  <a:lnTo>
                    <a:pt x="3079" y="51"/>
                  </a:lnTo>
                  <a:lnTo>
                    <a:pt x="3047" y="42"/>
                  </a:lnTo>
                  <a:lnTo>
                    <a:pt x="3014" y="34"/>
                  </a:lnTo>
                  <a:lnTo>
                    <a:pt x="2982" y="27"/>
                  </a:lnTo>
                  <a:lnTo>
                    <a:pt x="2949" y="20"/>
                  </a:lnTo>
                  <a:lnTo>
                    <a:pt x="2915" y="15"/>
                  </a:lnTo>
                  <a:lnTo>
                    <a:pt x="2882" y="10"/>
                  </a:lnTo>
                  <a:lnTo>
                    <a:pt x="2847" y="7"/>
                  </a:lnTo>
                  <a:lnTo>
                    <a:pt x="2813" y="4"/>
                  </a:lnTo>
                  <a:lnTo>
                    <a:pt x="2778" y="1"/>
                  </a:lnTo>
                  <a:lnTo>
                    <a:pt x="2743" y="0"/>
                  </a:lnTo>
                  <a:lnTo>
                    <a:pt x="2708" y="0"/>
                  </a:lnTo>
                  <a:lnTo>
                    <a:pt x="2673" y="0"/>
                  </a:lnTo>
                  <a:lnTo>
                    <a:pt x="2639" y="1"/>
                  </a:lnTo>
                  <a:lnTo>
                    <a:pt x="2605" y="4"/>
                  </a:lnTo>
                  <a:lnTo>
                    <a:pt x="2570" y="7"/>
                  </a:lnTo>
                  <a:lnTo>
                    <a:pt x="2536" y="10"/>
                  </a:lnTo>
                  <a:lnTo>
                    <a:pt x="2503" y="15"/>
                  </a:lnTo>
                  <a:lnTo>
                    <a:pt x="2469" y="20"/>
                  </a:lnTo>
                  <a:lnTo>
                    <a:pt x="2436" y="27"/>
                  </a:lnTo>
                  <a:lnTo>
                    <a:pt x="2402" y="34"/>
                  </a:lnTo>
                  <a:lnTo>
                    <a:pt x="2370" y="42"/>
                  </a:lnTo>
                  <a:lnTo>
                    <a:pt x="2338" y="51"/>
                  </a:lnTo>
                  <a:lnTo>
                    <a:pt x="2306" y="60"/>
                  </a:lnTo>
                  <a:lnTo>
                    <a:pt x="2274" y="70"/>
                  </a:lnTo>
                  <a:lnTo>
                    <a:pt x="2243" y="80"/>
                  </a:lnTo>
                  <a:lnTo>
                    <a:pt x="2212" y="92"/>
                  </a:lnTo>
                  <a:lnTo>
                    <a:pt x="2181" y="104"/>
                  </a:lnTo>
                  <a:lnTo>
                    <a:pt x="2152" y="117"/>
                  </a:lnTo>
                  <a:lnTo>
                    <a:pt x="2121" y="131"/>
                  </a:lnTo>
                  <a:lnTo>
                    <a:pt x="2092" y="145"/>
                  </a:lnTo>
                  <a:lnTo>
                    <a:pt x="2063" y="160"/>
                  </a:lnTo>
                  <a:lnTo>
                    <a:pt x="2035" y="176"/>
                  </a:lnTo>
                  <a:lnTo>
                    <a:pt x="2007" y="191"/>
                  </a:lnTo>
                  <a:lnTo>
                    <a:pt x="1979" y="208"/>
                  </a:lnTo>
                  <a:lnTo>
                    <a:pt x="1952" y="226"/>
                  </a:lnTo>
                  <a:lnTo>
                    <a:pt x="1925" y="244"/>
                  </a:lnTo>
                  <a:lnTo>
                    <a:pt x="1899" y="263"/>
                  </a:lnTo>
                  <a:lnTo>
                    <a:pt x="1873" y="282"/>
                  </a:lnTo>
                  <a:lnTo>
                    <a:pt x="1847" y="303"/>
                  </a:lnTo>
                  <a:lnTo>
                    <a:pt x="1822" y="323"/>
                  </a:lnTo>
                  <a:lnTo>
                    <a:pt x="1797" y="344"/>
                  </a:lnTo>
                  <a:lnTo>
                    <a:pt x="1774" y="366"/>
                  </a:lnTo>
                  <a:lnTo>
                    <a:pt x="1751" y="388"/>
                  </a:lnTo>
                  <a:lnTo>
                    <a:pt x="1728" y="411"/>
                  </a:lnTo>
                  <a:lnTo>
                    <a:pt x="1706" y="433"/>
                  </a:lnTo>
                  <a:lnTo>
                    <a:pt x="1685" y="458"/>
                  </a:lnTo>
                  <a:lnTo>
                    <a:pt x="1664" y="481"/>
                  </a:lnTo>
                  <a:lnTo>
                    <a:pt x="1643" y="506"/>
                  </a:lnTo>
                  <a:lnTo>
                    <a:pt x="1623" y="532"/>
                  </a:lnTo>
                  <a:lnTo>
                    <a:pt x="1604" y="557"/>
                  </a:lnTo>
                  <a:lnTo>
                    <a:pt x="1586" y="584"/>
                  </a:lnTo>
                  <a:lnTo>
                    <a:pt x="1568" y="610"/>
                  </a:lnTo>
                  <a:lnTo>
                    <a:pt x="1550" y="638"/>
                  </a:lnTo>
                  <a:lnTo>
                    <a:pt x="1533" y="665"/>
                  </a:lnTo>
                  <a:lnTo>
                    <a:pt x="1517" y="693"/>
                  </a:lnTo>
                  <a:lnTo>
                    <a:pt x="1503" y="721"/>
                  </a:lnTo>
                  <a:lnTo>
                    <a:pt x="1488" y="750"/>
                  </a:lnTo>
                  <a:lnTo>
                    <a:pt x="1474" y="778"/>
                  </a:lnTo>
                  <a:lnTo>
                    <a:pt x="1461" y="809"/>
                  </a:lnTo>
                  <a:lnTo>
                    <a:pt x="1448" y="838"/>
                  </a:lnTo>
                  <a:lnTo>
                    <a:pt x="1436" y="868"/>
                  </a:lnTo>
                  <a:lnTo>
                    <a:pt x="1425" y="899"/>
                  </a:lnTo>
                  <a:lnTo>
                    <a:pt x="1415" y="930"/>
                  </a:lnTo>
                  <a:lnTo>
                    <a:pt x="1406" y="962"/>
                  </a:lnTo>
                  <a:lnTo>
                    <a:pt x="1397" y="993"/>
                  </a:lnTo>
                  <a:lnTo>
                    <a:pt x="1389" y="1025"/>
                  </a:lnTo>
                  <a:lnTo>
                    <a:pt x="1381" y="1057"/>
                  </a:lnTo>
                  <a:lnTo>
                    <a:pt x="1376" y="1089"/>
                  </a:lnTo>
                  <a:lnTo>
                    <a:pt x="1370" y="1121"/>
                  </a:lnTo>
                  <a:lnTo>
                    <a:pt x="1366" y="1155"/>
                  </a:lnTo>
                  <a:lnTo>
                    <a:pt x="1361" y="1188"/>
                  </a:lnTo>
                  <a:lnTo>
                    <a:pt x="1358" y="1221"/>
                  </a:lnTo>
                  <a:lnTo>
                    <a:pt x="1355" y="1255"/>
                  </a:lnTo>
                  <a:lnTo>
                    <a:pt x="1354" y="1289"/>
                  </a:lnTo>
                  <a:lnTo>
                    <a:pt x="1354" y="1324"/>
                  </a:lnTo>
                  <a:lnTo>
                    <a:pt x="1354" y="1357"/>
                  </a:lnTo>
                  <a:lnTo>
                    <a:pt x="1355" y="1391"/>
                  </a:lnTo>
                  <a:lnTo>
                    <a:pt x="1358" y="1425"/>
                  </a:lnTo>
                  <a:lnTo>
                    <a:pt x="1361" y="1459"/>
                  </a:lnTo>
                  <a:lnTo>
                    <a:pt x="1366" y="1492"/>
                  </a:lnTo>
                  <a:lnTo>
                    <a:pt x="1370" y="1525"/>
                  </a:lnTo>
                  <a:lnTo>
                    <a:pt x="1376" y="1557"/>
                  </a:lnTo>
                  <a:lnTo>
                    <a:pt x="1381" y="1590"/>
                  </a:lnTo>
                  <a:lnTo>
                    <a:pt x="1389" y="1622"/>
                  </a:lnTo>
                  <a:lnTo>
                    <a:pt x="1397" y="1654"/>
                  </a:lnTo>
                  <a:lnTo>
                    <a:pt x="1406" y="1686"/>
                  </a:lnTo>
                  <a:lnTo>
                    <a:pt x="1415" y="1717"/>
                  </a:lnTo>
                  <a:lnTo>
                    <a:pt x="1425" y="1748"/>
                  </a:lnTo>
                  <a:lnTo>
                    <a:pt x="1436" y="1778"/>
                  </a:lnTo>
                  <a:lnTo>
                    <a:pt x="1448" y="1808"/>
                  </a:lnTo>
                  <a:lnTo>
                    <a:pt x="1461" y="1839"/>
                  </a:lnTo>
                  <a:lnTo>
                    <a:pt x="1474" y="1868"/>
                  </a:lnTo>
                  <a:lnTo>
                    <a:pt x="1488" y="1897"/>
                  </a:lnTo>
                  <a:lnTo>
                    <a:pt x="1503" y="1925"/>
                  </a:lnTo>
                  <a:lnTo>
                    <a:pt x="1517" y="1954"/>
                  </a:lnTo>
                  <a:lnTo>
                    <a:pt x="1533" y="1983"/>
                  </a:lnTo>
                  <a:lnTo>
                    <a:pt x="1550" y="2010"/>
                  </a:lnTo>
                  <a:lnTo>
                    <a:pt x="1568" y="2036"/>
                  </a:lnTo>
                  <a:lnTo>
                    <a:pt x="1586" y="2063"/>
                  </a:lnTo>
                  <a:lnTo>
                    <a:pt x="1604" y="2089"/>
                  </a:lnTo>
                  <a:lnTo>
                    <a:pt x="1623" y="2115"/>
                  </a:lnTo>
                  <a:lnTo>
                    <a:pt x="1643" y="2140"/>
                  </a:lnTo>
                  <a:lnTo>
                    <a:pt x="1664" y="2165"/>
                  </a:lnTo>
                  <a:lnTo>
                    <a:pt x="1685" y="2189"/>
                  </a:lnTo>
                  <a:lnTo>
                    <a:pt x="1706" y="2213"/>
                  </a:lnTo>
                  <a:lnTo>
                    <a:pt x="1728" y="2237"/>
                  </a:lnTo>
                  <a:lnTo>
                    <a:pt x="1751" y="2259"/>
                  </a:lnTo>
                  <a:lnTo>
                    <a:pt x="1774" y="2282"/>
                  </a:lnTo>
                  <a:lnTo>
                    <a:pt x="1797" y="2303"/>
                  </a:lnTo>
                  <a:lnTo>
                    <a:pt x="1822" y="2324"/>
                  </a:lnTo>
                  <a:lnTo>
                    <a:pt x="1847" y="2345"/>
                  </a:lnTo>
                  <a:lnTo>
                    <a:pt x="1873" y="2365"/>
                  </a:lnTo>
                  <a:lnTo>
                    <a:pt x="1899" y="2384"/>
                  </a:lnTo>
                  <a:lnTo>
                    <a:pt x="1925" y="2403"/>
                  </a:lnTo>
                  <a:lnTo>
                    <a:pt x="1952" y="2421"/>
                  </a:lnTo>
                  <a:lnTo>
                    <a:pt x="1979" y="2438"/>
                  </a:lnTo>
                  <a:lnTo>
                    <a:pt x="2007" y="2455"/>
                  </a:lnTo>
                  <a:lnTo>
                    <a:pt x="2035" y="2472"/>
                  </a:lnTo>
                  <a:lnTo>
                    <a:pt x="2063" y="2487"/>
                  </a:lnTo>
                  <a:lnTo>
                    <a:pt x="2092" y="2502"/>
                  </a:lnTo>
                  <a:lnTo>
                    <a:pt x="2121" y="2517"/>
                  </a:lnTo>
                  <a:lnTo>
                    <a:pt x="2152" y="2530"/>
                  </a:lnTo>
                  <a:lnTo>
                    <a:pt x="2181" y="2542"/>
                  </a:lnTo>
                  <a:lnTo>
                    <a:pt x="2212" y="2555"/>
                  </a:lnTo>
                  <a:lnTo>
                    <a:pt x="2243" y="2566"/>
                  </a:lnTo>
                  <a:lnTo>
                    <a:pt x="2274" y="2577"/>
                  </a:lnTo>
                  <a:lnTo>
                    <a:pt x="2306" y="2587"/>
                  </a:lnTo>
                  <a:lnTo>
                    <a:pt x="2338" y="2596"/>
                  </a:lnTo>
                  <a:lnTo>
                    <a:pt x="2370" y="2605"/>
                  </a:lnTo>
                  <a:lnTo>
                    <a:pt x="2402" y="2613"/>
                  </a:lnTo>
                  <a:lnTo>
                    <a:pt x="2436" y="2620"/>
                  </a:lnTo>
                  <a:lnTo>
                    <a:pt x="2469" y="2626"/>
                  </a:lnTo>
                  <a:lnTo>
                    <a:pt x="2503" y="2631"/>
                  </a:lnTo>
                  <a:lnTo>
                    <a:pt x="2536" y="2636"/>
                  </a:lnTo>
                  <a:lnTo>
                    <a:pt x="2570" y="2640"/>
                  </a:lnTo>
                  <a:lnTo>
                    <a:pt x="2605" y="2643"/>
                  </a:lnTo>
                  <a:lnTo>
                    <a:pt x="2639" y="2645"/>
                  </a:lnTo>
                  <a:lnTo>
                    <a:pt x="2673" y="2646"/>
                  </a:lnTo>
                  <a:lnTo>
                    <a:pt x="2708" y="2647"/>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noProof="1">
                <a:solidFill>
                  <a:srgbClr val="FFFFFF"/>
                </a:solidFill>
              </a:endParaRPr>
            </a:p>
          </p:txBody>
        </p:sp>
      </p:grpSp>
      <p:grpSp>
        <p:nvGrpSpPr>
          <p:cNvPr id="50184" name="组合 1025"/>
          <p:cNvGrpSpPr/>
          <p:nvPr/>
        </p:nvGrpSpPr>
        <p:grpSpPr bwMode="auto">
          <a:xfrm>
            <a:off x="6793548" y="3891915"/>
            <a:ext cx="315912" cy="317500"/>
            <a:chOff x="5253802" y="3856218"/>
            <a:chExt cx="317004" cy="317004"/>
          </a:xfrm>
        </p:grpSpPr>
        <p:sp>
          <p:nvSpPr>
            <p:cNvPr id="104" name="椭圆 103"/>
            <p:cNvSpPr/>
            <p:nvPr/>
          </p:nvSpPr>
          <p:spPr>
            <a:xfrm>
              <a:off x="5253802" y="3856218"/>
              <a:ext cx="317004" cy="317004"/>
            </a:xfrm>
            <a:prstGeom prst="ellipse">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06" name="KSO_Shape"/>
            <p:cNvSpPr/>
            <p:nvPr/>
          </p:nvSpPr>
          <p:spPr bwMode="auto">
            <a:xfrm>
              <a:off x="5309556" y="3908524"/>
              <a:ext cx="205496" cy="193372"/>
            </a:xfrm>
            <a:custGeom>
              <a:avLst/>
              <a:gdLst/>
              <a:ahLst/>
              <a:cxnLst/>
              <a:rect l="0" t="0" r="r" b="b"/>
              <a:pathLst>
                <a:path w="1917701" h="1819275">
                  <a:moveTo>
                    <a:pt x="711992" y="795933"/>
                  </a:moveTo>
                  <a:lnTo>
                    <a:pt x="722042" y="796197"/>
                  </a:lnTo>
                  <a:lnTo>
                    <a:pt x="731828" y="796462"/>
                  </a:lnTo>
                  <a:lnTo>
                    <a:pt x="742143" y="796991"/>
                  </a:lnTo>
                  <a:lnTo>
                    <a:pt x="751929" y="797784"/>
                  </a:lnTo>
                  <a:lnTo>
                    <a:pt x="761979" y="798577"/>
                  </a:lnTo>
                  <a:lnTo>
                    <a:pt x="771765" y="799635"/>
                  </a:lnTo>
                  <a:lnTo>
                    <a:pt x="781551" y="800957"/>
                  </a:lnTo>
                  <a:lnTo>
                    <a:pt x="791337" y="802544"/>
                  </a:lnTo>
                  <a:lnTo>
                    <a:pt x="800858" y="804130"/>
                  </a:lnTo>
                  <a:lnTo>
                    <a:pt x="810644" y="805981"/>
                  </a:lnTo>
                  <a:lnTo>
                    <a:pt x="820166" y="807832"/>
                  </a:lnTo>
                  <a:lnTo>
                    <a:pt x="829687" y="810212"/>
                  </a:lnTo>
                  <a:lnTo>
                    <a:pt x="839473" y="812592"/>
                  </a:lnTo>
                  <a:lnTo>
                    <a:pt x="848994" y="814972"/>
                  </a:lnTo>
                  <a:lnTo>
                    <a:pt x="858252" y="817616"/>
                  </a:lnTo>
                  <a:lnTo>
                    <a:pt x="867773" y="820525"/>
                  </a:lnTo>
                  <a:lnTo>
                    <a:pt x="886551" y="826871"/>
                  </a:lnTo>
                  <a:lnTo>
                    <a:pt x="905065" y="833746"/>
                  </a:lnTo>
                  <a:lnTo>
                    <a:pt x="923315" y="841415"/>
                  </a:lnTo>
                  <a:lnTo>
                    <a:pt x="941300" y="849612"/>
                  </a:lnTo>
                  <a:lnTo>
                    <a:pt x="959284" y="858603"/>
                  </a:lnTo>
                  <a:lnTo>
                    <a:pt x="976740" y="868122"/>
                  </a:lnTo>
                  <a:lnTo>
                    <a:pt x="993932" y="878170"/>
                  </a:lnTo>
                  <a:lnTo>
                    <a:pt x="1011123" y="889012"/>
                  </a:lnTo>
                  <a:lnTo>
                    <a:pt x="1003189" y="891392"/>
                  </a:lnTo>
                  <a:lnTo>
                    <a:pt x="995254" y="893772"/>
                  </a:lnTo>
                  <a:lnTo>
                    <a:pt x="987055" y="896416"/>
                  </a:lnTo>
                  <a:lnTo>
                    <a:pt x="979121" y="899325"/>
                  </a:lnTo>
                  <a:lnTo>
                    <a:pt x="971186" y="902762"/>
                  </a:lnTo>
                  <a:lnTo>
                    <a:pt x="962987" y="905936"/>
                  </a:lnTo>
                  <a:lnTo>
                    <a:pt x="955053" y="909638"/>
                  </a:lnTo>
                  <a:lnTo>
                    <a:pt x="947383" y="913604"/>
                  </a:lnTo>
                  <a:lnTo>
                    <a:pt x="939448" y="917835"/>
                  </a:lnTo>
                  <a:lnTo>
                    <a:pt x="932043" y="922066"/>
                  </a:lnTo>
                  <a:lnTo>
                    <a:pt x="924637" y="926826"/>
                  </a:lnTo>
                  <a:lnTo>
                    <a:pt x="917231" y="931850"/>
                  </a:lnTo>
                  <a:lnTo>
                    <a:pt x="910090" y="936874"/>
                  </a:lnTo>
                  <a:lnTo>
                    <a:pt x="902949" y="942427"/>
                  </a:lnTo>
                  <a:lnTo>
                    <a:pt x="896073" y="948509"/>
                  </a:lnTo>
                  <a:lnTo>
                    <a:pt x="889461" y="954326"/>
                  </a:lnTo>
                  <a:lnTo>
                    <a:pt x="883113" y="960937"/>
                  </a:lnTo>
                  <a:lnTo>
                    <a:pt x="877030" y="967812"/>
                  </a:lnTo>
                  <a:lnTo>
                    <a:pt x="871211" y="974952"/>
                  </a:lnTo>
                  <a:lnTo>
                    <a:pt x="865393" y="982356"/>
                  </a:lnTo>
                  <a:lnTo>
                    <a:pt x="859838" y="990024"/>
                  </a:lnTo>
                  <a:lnTo>
                    <a:pt x="854813" y="998486"/>
                  </a:lnTo>
                  <a:lnTo>
                    <a:pt x="850052" y="1006683"/>
                  </a:lnTo>
                  <a:lnTo>
                    <a:pt x="845556" y="1015674"/>
                  </a:lnTo>
                  <a:lnTo>
                    <a:pt x="841324" y="1025193"/>
                  </a:lnTo>
                  <a:lnTo>
                    <a:pt x="837886" y="1034713"/>
                  </a:lnTo>
                  <a:lnTo>
                    <a:pt x="834183" y="1044761"/>
                  </a:lnTo>
                  <a:lnTo>
                    <a:pt x="831274" y="1055074"/>
                  </a:lnTo>
                  <a:lnTo>
                    <a:pt x="828629" y="1066180"/>
                  </a:lnTo>
                  <a:lnTo>
                    <a:pt x="826249" y="1077550"/>
                  </a:lnTo>
                  <a:lnTo>
                    <a:pt x="824398" y="1089185"/>
                  </a:lnTo>
                  <a:lnTo>
                    <a:pt x="823340" y="1101349"/>
                  </a:lnTo>
                  <a:lnTo>
                    <a:pt x="822017" y="1115893"/>
                  </a:lnTo>
                  <a:lnTo>
                    <a:pt x="821488" y="1129907"/>
                  </a:lnTo>
                  <a:lnTo>
                    <a:pt x="821488" y="1143129"/>
                  </a:lnTo>
                  <a:lnTo>
                    <a:pt x="821753" y="1156086"/>
                  </a:lnTo>
                  <a:lnTo>
                    <a:pt x="822546" y="1168514"/>
                  </a:lnTo>
                  <a:lnTo>
                    <a:pt x="824133" y="1180413"/>
                  </a:lnTo>
                  <a:lnTo>
                    <a:pt x="825984" y="1192048"/>
                  </a:lnTo>
                  <a:lnTo>
                    <a:pt x="828100" y="1203154"/>
                  </a:lnTo>
                  <a:lnTo>
                    <a:pt x="830745" y="1213731"/>
                  </a:lnTo>
                  <a:lnTo>
                    <a:pt x="833654" y="1224044"/>
                  </a:lnTo>
                  <a:lnTo>
                    <a:pt x="836828" y="1233828"/>
                  </a:lnTo>
                  <a:lnTo>
                    <a:pt x="840531" y="1243348"/>
                  </a:lnTo>
                  <a:lnTo>
                    <a:pt x="844763" y="1252338"/>
                  </a:lnTo>
                  <a:lnTo>
                    <a:pt x="848994" y="1260800"/>
                  </a:lnTo>
                  <a:lnTo>
                    <a:pt x="853491" y="1269262"/>
                  </a:lnTo>
                  <a:lnTo>
                    <a:pt x="858516" y="1276930"/>
                  </a:lnTo>
                  <a:lnTo>
                    <a:pt x="863806" y="1284334"/>
                  </a:lnTo>
                  <a:lnTo>
                    <a:pt x="869360" y="1291474"/>
                  </a:lnTo>
                  <a:lnTo>
                    <a:pt x="874914" y="1298349"/>
                  </a:lnTo>
                  <a:lnTo>
                    <a:pt x="880997" y="1304960"/>
                  </a:lnTo>
                  <a:lnTo>
                    <a:pt x="887080" y="1311042"/>
                  </a:lnTo>
                  <a:lnTo>
                    <a:pt x="893428" y="1316859"/>
                  </a:lnTo>
                  <a:lnTo>
                    <a:pt x="900040" y="1322412"/>
                  </a:lnTo>
                  <a:lnTo>
                    <a:pt x="906652" y="1327436"/>
                  </a:lnTo>
                  <a:lnTo>
                    <a:pt x="913264" y="1332196"/>
                  </a:lnTo>
                  <a:lnTo>
                    <a:pt x="920405" y="1336956"/>
                  </a:lnTo>
                  <a:lnTo>
                    <a:pt x="927546" y="1341187"/>
                  </a:lnTo>
                  <a:lnTo>
                    <a:pt x="934687" y="1345417"/>
                  </a:lnTo>
                  <a:lnTo>
                    <a:pt x="941828" y="1349119"/>
                  </a:lnTo>
                  <a:lnTo>
                    <a:pt x="949234" y="1352821"/>
                  </a:lnTo>
                  <a:lnTo>
                    <a:pt x="956904" y="1355995"/>
                  </a:lnTo>
                  <a:lnTo>
                    <a:pt x="964310" y="1358903"/>
                  </a:lnTo>
                  <a:lnTo>
                    <a:pt x="971715" y="1361812"/>
                  </a:lnTo>
                  <a:lnTo>
                    <a:pt x="979121" y="1364456"/>
                  </a:lnTo>
                  <a:lnTo>
                    <a:pt x="986526" y="1366836"/>
                  </a:lnTo>
                  <a:lnTo>
                    <a:pt x="993932" y="1368952"/>
                  </a:lnTo>
                  <a:lnTo>
                    <a:pt x="1008479" y="1372654"/>
                  </a:lnTo>
                  <a:lnTo>
                    <a:pt x="1023025" y="1375562"/>
                  </a:lnTo>
                  <a:lnTo>
                    <a:pt x="1037043" y="1378471"/>
                  </a:lnTo>
                  <a:lnTo>
                    <a:pt x="1050532" y="1380058"/>
                  </a:lnTo>
                  <a:lnTo>
                    <a:pt x="1063227" y="1381380"/>
                  </a:lnTo>
                  <a:lnTo>
                    <a:pt x="1075129" y="1382438"/>
                  </a:lnTo>
                  <a:lnTo>
                    <a:pt x="1086237" y="1382702"/>
                  </a:lnTo>
                  <a:lnTo>
                    <a:pt x="1096287" y="1383231"/>
                  </a:lnTo>
                  <a:lnTo>
                    <a:pt x="1105015" y="1383495"/>
                  </a:lnTo>
                  <a:lnTo>
                    <a:pt x="1112421" y="1383231"/>
                  </a:lnTo>
                  <a:lnTo>
                    <a:pt x="1122736" y="1382702"/>
                  </a:lnTo>
                  <a:lnTo>
                    <a:pt x="1126703" y="1382438"/>
                  </a:lnTo>
                  <a:lnTo>
                    <a:pt x="1126703" y="1394337"/>
                  </a:lnTo>
                  <a:lnTo>
                    <a:pt x="1126968" y="1406236"/>
                  </a:lnTo>
                  <a:lnTo>
                    <a:pt x="1127232" y="1417607"/>
                  </a:lnTo>
                  <a:lnTo>
                    <a:pt x="1128025" y="1428977"/>
                  </a:lnTo>
                  <a:lnTo>
                    <a:pt x="1129083" y="1439554"/>
                  </a:lnTo>
                  <a:lnTo>
                    <a:pt x="1130141" y="1450131"/>
                  </a:lnTo>
                  <a:lnTo>
                    <a:pt x="1131728" y="1460444"/>
                  </a:lnTo>
                  <a:lnTo>
                    <a:pt x="1133580" y="1470228"/>
                  </a:lnTo>
                  <a:lnTo>
                    <a:pt x="1135431" y="1480012"/>
                  </a:lnTo>
                  <a:lnTo>
                    <a:pt x="1137547" y="1489267"/>
                  </a:lnTo>
                  <a:lnTo>
                    <a:pt x="1139927" y="1498522"/>
                  </a:lnTo>
                  <a:lnTo>
                    <a:pt x="1142572" y="1507513"/>
                  </a:lnTo>
                  <a:lnTo>
                    <a:pt x="1145481" y="1515710"/>
                  </a:lnTo>
                  <a:lnTo>
                    <a:pt x="1148391" y="1524172"/>
                  </a:lnTo>
                  <a:lnTo>
                    <a:pt x="1151564" y="1532105"/>
                  </a:lnTo>
                  <a:lnTo>
                    <a:pt x="1155003" y="1539773"/>
                  </a:lnTo>
                  <a:lnTo>
                    <a:pt x="1158441" y="1547442"/>
                  </a:lnTo>
                  <a:lnTo>
                    <a:pt x="1162408" y="1554581"/>
                  </a:lnTo>
                  <a:lnTo>
                    <a:pt x="1166111" y="1561721"/>
                  </a:lnTo>
                  <a:lnTo>
                    <a:pt x="1170078" y="1568596"/>
                  </a:lnTo>
                  <a:lnTo>
                    <a:pt x="1174575" y="1575207"/>
                  </a:lnTo>
                  <a:lnTo>
                    <a:pt x="1178806" y="1581553"/>
                  </a:lnTo>
                  <a:lnTo>
                    <a:pt x="1183038" y="1587370"/>
                  </a:lnTo>
                  <a:lnTo>
                    <a:pt x="1187799" y="1593452"/>
                  </a:lnTo>
                  <a:lnTo>
                    <a:pt x="1192560" y="1599005"/>
                  </a:lnTo>
                  <a:lnTo>
                    <a:pt x="1197320" y="1604558"/>
                  </a:lnTo>
                  <a:lnTo>
                    <a:pt x="1202346" y="1609582"/>
                  </a:lnTo>
                  <a:lnTo>
                    <a:pt x="1207635" y="1614607"/>
                  </a:lnTo>
                  <a:lnTo>
                    <a:pt x="1212660" y="1619366"/>
                  </a:lnTo>
                  <a:lnTo>
                    <a:pt x="1217950" y="1624126"/>
                  </a:lnTo>
                  <a:lnTo>
                    <a:pt x="1223240" y="1628357"/>
                  </a:lnTo>
                  <a:lnTo>
                    <a:pt x="1229058" y="1632852"/>
                  </a:lnTo>
                  <a:lnTo>
                    <a:pt x="1234348" y="1636819"/>
                  </a:lnTo>
                  <a:lnTo>
                    <a:pt x="1239902" y="1640521"/>
                  </a:lnTo>
                  <a:lnTo>
                    <a:pt x="1245721" y="1644487"/>
                  </a:lnTo>
                  <a:lnTo>
                    <a:pt x="1251540" y="1647660"/>
                  </a:lnTo>
                  <a:lnTo>
                    <a:pt x="1263177" y="1654271"/>
                  </a:lnTo>
                  <a:lnTo>
                    <a:pt x="1274814" y="1660353"/>
                  </a:lnTo>
                  <a:lnTo>
                    <a:pt x="1286716" y="1665377"/>
                  </a:lnTo>
                  <a:lnTo>
                    <a:pt x="1298882" y="1670137"/>
                  </a:lnTo>
                  <a:lnTo>
                    <a:pt x="1310784" y="1673839"/>
                  </a:lnTo>
                  <a:lnTo>
                    <a:pt x="1322686" y="1677541"/>
                  </a:lnTo>
                  <a:lnTo>
                    <a:pt x="1334588" y="1680714"/>
                  </a:lnTo>
                  <a:lnTo>
                    <a:pt x="1346225" y="1683094"/>
                  </a:lnTo>
                  <a:lnTo>
                    <a:pt x="1357862" y="1685474"/>
                  </a:lnTo>
                  <a:lnTo>
                    <a:pt x="1368971" y="1687325"/>
                  </a:lnTo>
                  <a:lnTo>
                    <a:pt x="1380079" y="1688382"/>
                  </a:lnTo>
                  <a:lnTo>
                    <a:pt x="1390658" y="1689705"/>
                  </a:lnTo>
                  <a:lnTo>
                    <a:pt x="1401238" y="1690498"/>
                  </a:lnTo>
                  <a:lnTo>
                    <a:pt x="1411024" y="1690762"/>
                  </a:lnTo>
                  <a:lnTo>
                    <a:pt x="1411817" y="1709537"/>
                  </a:lnTo>
                  <a:lnTo>
                    <a:pt x="1412346" y="1728311"/>
                  </a:lnTo>
                  <a:lnTo>
                    <a:pt x="1412875" y="1747086"/>
                  </a:lnTo>
                  <a:lnTo>
                    <a:pt x="1412875" y="1766125"/>
                  </a:lnTo>
                  <a:lnTo>
                    <a:pt x="1412346" y="1792832"/>
                  </a:lnTo>
                  <a:lnTo>
                    <a:pt x="1411553" y="1819275"/>
                  </a:lnTo>
                  <a:lnTo>
                    <a:pt x="793" y="1811078"/>
                  </a:lnTo>
                  <a:lnTo>
                    <a:pt x="264" y="1784635"/>
                  </a:lnTo>
                  <a:lnTo>
                    <a:pt x="0" y="1757928"/>
                  </a:lnTo>
                  <a:lnTo>
                    <a:pt x="529" y="1733071"/>
                  </a:lnTo>
                  <a:lnTo>
                    <a:pt x="1058" y="1708215"/>
                  </a:lnTo>
                  <a:lnTo>
                    <a:pt x="2645" y="1683623"/>
                  </a:lnTo>
                  <a:lnTo>
                    <a:pt x="4232" y="1659031"/>
                  </a:lnTo>
                  <a:lnTo>
                    <a:pt x="6612" y="1634968"/>
                  </a:lnTo>
                  <a:lnTo>
                    <a:pt x="8992" y="1610905"/>
                  </a:lnTo>
                  <a:lnTo>
                    <a:pt x="12166" y="1587106"/>
                  </a:lnTo>
                  <a:lnTo>
                    <a:pt x="15340" y="1563307"/>
                  </a:lnTo>
                  <a:lnTo>
                    <a:pt x="19307" y="1539773"/>
                  </a:lnTo>
                  <a:lnTo>
                    <a:pt x="23804" y="1516503"/>
                  </a:lnTo>
                  <a:lnTo>
                    <a:pt x="28300" y="1493762"/>
                  </a:lnTo>
                  <a:lnTo>
                    <a:pt x="33590" y="1470757"/>
                  </a:lnTo>
                  <a:lnTo>
                    <a:pt x="38879" y="1448280"/>
                  </a:lnTo>
                  <a:lnTo>
                    <a:pt x="44962" y="1425804"/>
                  </a:lnTo>
                  <a:lnTo>
                    <a:pt x="51045" y="1403856"/>
                  </a:lnTo>
                  <a:lnTo>
                    <a:pt x="57658" y="1382173"/>
                  </a:lnTo>
                  <a:lnTo>
                    <a:pt x="64799" y="1360754"/>
                  </a:lnTo>
                  <a:lnTo>
                    <a:pt x="72204" y="1339336"/>
                  </a:lnTo>
                  <a:lnTo>
                    <a:pt x="79874" y="1318710"/>
                  </a:lnTo>
                  <a:lnTo>
                    <a:pt x="88073" y="1298085"/>
                  </a:lnTo>
                  <a:lnTo>
                    <a:pt x="96272" y="1277459"/>
                  </a:lnTo>
                  <a:lnTo>
                    <a:pt x="105265" y="1257627"/>
                  </a:lnTo>
                  <a:lnTo>
                    <a:pt x="114522" y="1238059"/>
                  </a:lnTo>
                  <a:lnTo>
                    <a:pt x="123779" y="1218491"/>
                  </a:lnTo>
                  <a:lnTo>
                    <a:pt x="133565" y="1199452"/>
                  </a:lnTo>
                  <a:lnTo>
                    <a:pt x="143615" y="1180678"/>
                  </a:lnTo>
                  <a:lnTo>
                    <a:pt x="153930" y="1162432"/>
                  </a:lnTo>
                  <a:lnTo>
                    <a:pt x="165038" y="1144451"/>
                  </a:lnTo>
                  <a:lnTo>
                    <a:pt x="176147" y="1126734"/>
                  </a:lnTo>
                  <a:lnTo>
                    <a:pt x="187255" y="1109546"/>
                  </a:lnTo>
                  <a:lnTo>
                    <a:pt x="198892" y="1092623"/>
                  </a:lnTo>
                  <a:lnTo>
                    <a:pt x="210794" y="1075964"/>
                  </a:lnTo>
                  <a:lnTo>
                    <a:pt x="222960" y="1059834"/>
                  </a:lnTo>
                  <a:lnTo>
                    <a:pt x="235391" y="1044232"/>
                  </a:lnTo>
                  <a:lnTo>
                    <a:pt x="248351" y="1028895"/>
                  </a:lnTo>
                  <a:lnTo>
                    <a:pt x="261310" y="1013823"/>
                  </a:lnTo>
                  <a:lnTo>
                    <a:pt x="274799" y="999544"/>
                  </a:lnTo>
                  <a:lnTo>
                    <a:pt x="288288" y="985529"/>
                  </a:lnTo>
                  <a:lnTo>
                    <a:pt x="302041" y="971779"/>
                  </a:lnTo>
                  <a:lnTo>
                    <a:pt x="316059" y="958557"/>
                  </a:lnTo>
                  <a:lnTo>
                    <a:pt x="330341" y="946129"/>
                  </a:lnTo>
                  <a:lnTo>
                    <a:pt x="344888" y="933965"/>
                  </a:lnTo>
                  <a:lnTo>
                    <a:pt x="359963" y="922066"/>
                  </a:lnTo>
                  <a:lnTo>
                    <a:pt x="374774" y="910695"/>
                  </a:lnTo>
                  <a:lnTo>
                    <a:pt x="389850" y="899589"/>
                  </a:lnTo>
                  <a:lnTo>
                    <a:pt x="405454" y="889541"/>
                  </a:lnTo>
                  <a:lnTo>
                    <a:pt x="420794" y="879757"/>
                  </a:lnTo>
                  <a:lnTo>
                    <a:pt x="436664" y="870238"/>
                  </a:lnTo>
                  <a:lnTo>
                    <a:pt x="452533" y="861511"/>
                  </a:lnTo>
                  <a:lnTo>
                    <a:pt x="468666" y="853314"/>
                  </a:lnTo>
                  <a:lnTo>
                    <a:pt x="485064" y="845646"/>
                  </a:lnTo>
                  <a:lnTo>
                    <a:pt x="501727" y="838242"/>
                  </a:lnTo>
                  <a:lnTo>
                    <a:pt x="518389" y="831631"/>
                  </a:lnTo>
                  <a:lnTo>
                    <a:pt x="535316" y="825285"/>
                  </a:lnTo>
                  <a:lnTo>
                    <a:pt x="552243" y="819732"/>
                  </a:lnTo>
                  <a:lnTo>
                    <a:pt x="569435" y="814972"/>
                  </a:lnTo>
                  <a:lnTo>
                    <a:pt x="586891" y="810477"/>
                  </a:lnTo>
                  <a:lnTo>
                    <a:pt x="604347" y="806510"/>
                  </a:lnTo>
                  <a:lnTo>
                    <a:pt x="622067" y="803337"/>
                  </a:lnTo>
                  <a:lnTo>
                    <a:pt x="639787" y="800693"/>
                  </a:lnTo>
                  <a:lnTo>
                    <a:pt x="657508" y="798577"/>
                  </a:lnTo>
                  <a:lnTo>
                    <a:pt x="675757" y="796991"/>
                  </a:lnTo>
                  <a:lnTo>
                    <a:pt x="693742" y="796197"/>
                  </a:lnTo>
                  <a:lnTo>
                    <a:pt x="711992" y="795933"/>
                  </a:lnTo>
                  <a:close/>
                  <a:moveTo>
                    <a:pt x="1463280" y="660400"/>
                  </a:moveTo>
                  <a:lnTo>
                    <a:pt x="1469893" y="660400"/>
                  </a:lnTo>
                  <a:lnTo>
                    <a:pt x="1477034" y="660665"/>
                  </a:lnTo>
                  <a:lnTo>
                    <a:pt x="1483912" y="660929"/>
                  </a:lnTo>
                  <a:lnTo>
                    <a:pt x="1490789" y="661988"/>
                  </a:lnTo>
                  <a:lnTo>
                    <a:pt x="1497666" y="663046"/>
                  </a:lnTo>
                  <a:lnTo>
                    <a:pt x="1504279" y="664898"/>
                  </a:lnTo>
                  <a:lnTo>
                    <a:pt x="1510891" y="666750"/>
                  </a:lnTo>
                  <a:lnTo>
                    <a:pt x="1516975" y="668867"/>
                  </a:lnTo>
                  <a:lnTo>
                    <a:pt x="1523323" y="671248"/>
                  </a:lnTo>
                  <a:lnTo>
                    <a:pt x="1529142" y="673894"/>
                  </a:lnTo>
                  <a:lnTo>
                    <a:pt x="1535226" y="676804"/>
                  </a:lnTo>
                  <a:lnTo>
                    <a:pt x="1540780" y="679979"/>
                  </a:lnTo>
                  <a:lnTo>
                    <a:pt x="1546599" y="683683"/>
                  </a:lnTo>
                  <a:lnTo>
                    <a:pt x="1551625" y="687123"/>
                  </a:lnTo>
                  <a:lnTo>
                    <a:pt x="1556915" y="691356"/>
                  </a:lnTo>
                  <a:lnTo>
                    <a:pt x="1561676" y="695590"/>
                  </a:lnTo>
                  <a:lnTo>
                    <a:pt x="1566437" y="700088"/>
                  </a:lnTo>
                  <a:lnTo>
                    <a:pt x="1570934" y="704850"/>
                  </a:lnTo>
                  <a:lnTo>
                    <a:pt x="1575431" y="709613"/>
                  </a:lnTo>
                  <a:lnTo>
                    <a:pt x="1579134" y="714640"/>
                  </a:lnTo>
                  <a:lnTo>
                    <a:pt x="1583101" y="719931"/>
                  </a:lnTo>
                  <a:lnTo>
                    <a:pt x="1586540" y="725223"/>
                  </a:lnTo>
                  <a:lnTo>
                    <a:pt x="1589978" y="731044"/>
                  </a:lnTo>
                  <a:lnTo>
                    <a:pt x="1592888" y="736600"/>
                  </a:lnTo>
                  <a:lnTo>
                    <a:pt x="1595533" y="742685"/>
                  </a:lnTo>
                  <a:lnTo>
                    <a:pt x="1597914" y="748771"/>
                  </a:lnTo>
                  <a:lnTo>
                    <a:pt x="1600030" y="754856"/>
                  </a:lnTo>
                  <a:lnTo>
                    <a:pt x="1601881" y="761206"/>
                  </a:lnTo>
                  <a:lnTo>
                    <a:pt x="1603204" y="767556"/>
                  </a:lnTo>
                  <a:lnTo>
                    <a:pt x="1604526" y="774435"/>
                  </a:lnTo>
                  <a:lnTo>
                    <a:pt x="1605320" y="781050"/>
                  </a:lnTo>
                  <a:lnTo>
                    <a:pt x="1605584" y="787665"/>
                  </a:lnTo>
                  <a:lnTo>
                    <a:pt x="1605849" y="794544"/>
                  </a:lnTo>
                  <a:lnTo>
                    <a:pt x="1604791" y="967581"/>
                  </a:lnTo>
                  <a:lnTo>
                    <a:pt x="1781745" y="968375"/>
                  </a:lnTo>
                  <a:lnTo>
                    <a:pt x="1788887" y="968640"/>
                  </a:lnTo>
                  <a:lnTo>
                    <a:pt x="1795764" y="969169"/>
                  </a:lnTo>
                  <a:lnTo>
                    <a:pt x="1802641" y="970227"/>
                  </a:lnTo>
                  <a:lnTo>
                    <a:pt x="1809518" y="971285"/>
                  </a:lnTo>
                  <a:lnTo>
                    <a:pt x="1815866" y="972873"/>
                  </a:lnTo>
                  <a:lnTo>
                    <a:pt x="1822479" y="974725"/>
                  </a:lnTo>
                  <a:lnTo>
                    <a:pt x="1828827" y="977106"/>
                  </a:lnTo>
                  <a:lnTo>
                    <a:pt x="1834911" y="979488"/>
                  </a:lnTo>
                  <a:lnTo>
                    <a:pt x="1840994" y="982133"/>
                  </a:lnTo>
                  <a:lnTo>
                    <a:pt x="1846813" y="985044"/>
                  </a:lnTo>
                  <a:lnTo>
                    <a:pt x="1852633" y="988219"/>
                  </a:lnTo>
                  <a:lnTo>
                    <a:pt x="1857923" y="991923"/>
                  </a:lnTo>
                  <a:lnTo>
                    <a:pt x="1863213" y="995363"/>
                  </a:lnTo>
                  <a:lnTo>
                    <a:pt x="1868503" y="999596"/>
                  </a:lnTo>
                  <a:lnTo>
                    <a:pt x="1873264" y="1003829"/>
                  </a:lnTo>
                  <a:lnTo>
                    <a:pt x="1878025" y="1008327"/>
                  </a:lnTo>
                  <a:lnTo>
                    <a:pt x="1882522" y="1012825"/>
                  </a:lnTo>
                  <a:lnTo>
                    <a:pt x="1886754" y="1017852"/>
                  </a:lnTo>
                  <a:lnTo>
                    <a:pt x="1890986" y="1022879"/>
                  </a:lnTo>
                  <a:lnTo>
                    <a:pt x="1894689" y="1027906"/>
                  </a:lnTo>
                  <a:lnTo>
                    <a:pt x="1898128" y="1033463"/>
                  </a:lnTo>
                  <a:lnTo>
                    <a:pt x="1901302" y="1039283"/>
                  </a:lnTo>
                  <a:lnTo>
                    <a:pt x="1904211" y="1044840"/>
                  </a:lnTo>
                  <a:lnTo>
                    <a:pt x="1907385" y="1050660"/>
                  </a:lnTo>
                  <a:lnTo>
                    <a:pt x="1909766" y="1056746"/>
                  </a:lnTo>
                  <a:lnTo>
                    <a:pt x="1911882" y="1063096"/>
                  </a:lnTo>
                  <a:lnTo>
                    <a:pt x="1913469" y="1069181"/>
                  </a:lnTo>
                  <a:lnTo>
                    <a:pt x="1915056" y="1075796"/>
                  </a:lnTo>
                  <a:lnTo>
                    <a:pt x="1916114" y="1082410"/>
                  </a:lnTo>
                  <a:lnTo>
                    <a:pt x="1916908" y="1089290"/>
                  </a:lnTo>
                  <a:lnTo>
                    <a:pt x="1917436" y="1095640"/>
                  </a:lnTo>
                  <a:lnTo>
                    <a:pt x="1917701" y="1102783"/>
                  </a:lnTo>
                  <a:lnTo>
                    <a:pt x="1917436" y="1109663"/>
                  </a:lnTo>
                  <a:lnTo>
                    <a:pt x="1916908" y="1116277"/>
                  </a:lnTo>
                  <a:lnTo>
                    <a:pt x="1915849" y="1123156"/>
                  </a:lnTo>
                  <a:lnTo>
                    <a:pt x="1914791" y="1129506"/>
                  </a:lnTo>
                  <a:lnTo>
                    <a:pt x="1913204" y="1136121"/>
                  </a:lnTo>
                  <a:lnTo>
                    <a:pt x="1911088" y="1142471"/>
                  </a:lnTo>
                  <a:lnTo>
                    <a:pt x="1908972" y="1148556"/>
                  </a:lnTo>
                  <a:lnTo>
                    <a:pt x="1906592" y="1154642"/>
                  </a:lnTo>
                  <a:lnTo>
                    <a:pt x="1903682" y="1160463"/>
                  </a:lnTo>
                  <a:lnTo>
                    <a:pt x="1900773" y="1166283"/>
                  </a:lnTo>
                  <a:lnTo>
                    <a:pt x="1897599" y="1171840"/>
                  </a:lnTo>
                  <a:lnTo>
                    <a:pt x="1893896" y="1177131"/>
                  </a:lnTo>
                  <a:lnTo>
                    <a:pt x="1889928" y="1182158"/>
                  </a:lnTo>
                  <a:lnTo>
                    <a:pt x="1885960" y="1187450"/>
                  </a:lnTo>
                  <a:lnTo>
                    <a:pt x="1881728" y="1192213"/>
                  </a:lnTo>
                  <a:lnTo>
                    <a:pt x="1876967" y="1196975"/>
                  </a:lnTo>
                  <a:lnTo>
                    <a:pt x="1872206" y="1201208"/>
                  </a:lnTo>
                  <a:lnTo>
                    <a:pt x="1867445" y="1205442"/>
                  </a:lnTo>
                  <a:lnTo>
                    <a:pt x="1862155" y="1209411"/>
                  </a:lnTo>
                  <a:lnTo>
                    <a:pt x="1856600" y="1212850"/>
                  </a:lnTo>
                  <a:lnTo>
                    <a:pt x="1851046" y="1216554"/>
                  </a:lnTo>
                  <a:lnTo>
                    <a:pt x="1845491" y="1219465"/>
                  </a:lnTo>
                  <a:lnTo>
                    <a:pt x="1839407" y="1222375"/>
                  </a:lnTo>
                  <a:lnTo>
                    <a:pt x="1833588" y="1225021"/>
                  </a:lnTo>
                  <a:lnTo>
                    <a:pt x="1827240" y="1227402"/>
                  </a:lnTo>
                  <a:lnTo>
                    <a:pt x="1821156" y="1229519"/>
                  </a:lnTo>
                  <a:lnTo>
                    <a:pt x="1814544" y="1231371"/>
                  </a:lnTo>
                  <a:lnTo>
                    <a:pt x="1807931" y="1232958"/>
                  </a:lnTo>
                  <a:lnTo>
                    <a:pt x="1801054" y="1234017"/>
                  </a:lnTo>
                  <a:lnTo>
                    <a:pt x="1794177" y="1234546"/>
                  </a:lnTo>
                  <a:lnTo>
                    <a:pt x="1787300" y="1235340"/>
                  </a:lnTo>
                  <a:lnTo>
                    <a:pt x="1780158" y="1235340"/>
                  </a:lnTo>
                  <a:lnTo>
                    <a:pt x="1603204" y="1234281"/>
                  </a:lnTo>
                  <a:lnTo>
                    <a:pt x="1602410" y="1407319"/>
                  </a:lnTo>
                  <a:lnTo>
                    <a:pt x="1602146" y="1413933"/>
                  </a:lnTo>
                  <a:lnTo>
                    <a:pt x="1601617" y="1420813"/>
                  </a:lnTo>
                  <a:lnTo>
                    <a:pt x="1600559" y="1427692"/>
                  </a:lnTo>
                  <a:lnTo>
                    <a:pt x="1599501" y="1434306"/>
                  </a:lnTo>
                  <a:lnTo>
                    <a:pt x="1597914" y="1440392"/>
                  </a:lnTo>
                  <a:lnTo>
                    <a:pt x="1595798" y="1446742"/>
                  </a:lnTo>
                  <a:lnTo>
                    <a:pt x="1593682" y="1453092"/>
                  </a:lnTo>
                  <a:lnTo>
                    <a:pt x="1591301" y="1459177"/>
                  </a:lnTo>
                  <a:lnTo>
                    <a:pt x="1588656" y="1464998"/>
                  </a:lnTo>
                  <a:lnTo>
                    <a:pt x="1585482" y="1470819"/>
                  </a:lnTo>
                  <a:lnTo>
                    <a:pt x="1582043" y="1476111"/>
                  </a:lnTo>
                  <a:lnTo>
                    <a:pt x="1578605" y="1481931"/>
                  </a:lnTo>
                  <a:lnTo>
                    <a:pt x="1574637" y="1486958"/>
                  </a:lnTo>
                  <a:lnTo>
                    <a:pt x="1570670" y="1491986"/>
                  </a:lnTo>
                  <a:lnTo>
                    <a:pt x="1566437" y="1496748"/>
                  </a:lnTo>
                  <a:lnTo>
                    <a:pt x="1561941" y="1501511"/>
                  </a:lnTo>
                  <a:lnTo>
                    <a:pt x="1557180" y="1505744"/>
                  </a:lnTo>
                  <a:lnTo>
                    <a:pt x="1552154" y="1509713"/>
                  </a:lnTo>
                  <a:lnTo>
                    <a:pt x="1546864" y="1513946"/>
                  </a:lnTo>
                  <a:lnTo>
                    <a:pt x="1541309" y="1517650"/>
                  </a:lnTo>
                  <a:lnTo>
                    <a:pt x="1536019" y="1521090"/>
                  </a:lnTo>
                  <a:lnTo>
                    <a:pt x="1530200" y="1524000"/>
                  </a:lnTo>
                  <a:lnTo>
                    <a:pt x="1524381" y="1527175"/>
                  </a:lnTo>
                  <a:lnTo>
                    <a:pt x="1518297" y="1529821"/>
                  </a:lnTo>
                  <a:lnTo>
                    <a:pt x="1511949" y="1532202"/>
                  </a:lnTo>
                  <a:lnTo>
                    <a:pt x="1505601" y="1534319"/>
                  </a:lnTo>
                  <a:lnTo>
                    <a:pt x="1499253" y="1535906"/>
                  </a:lnTo>
                  <a:lnTo>
                    <a:pt x="1492640" y="1537494"/>
                  </a:lnTo>
                  <a:lnTo>
                    <a:pt x="1485763" y="1538288"/>
                  </a:lnTo>
                  <a:lnTo>
                    <a:pt x="1478886" y="1539346"/>
                  </a:lnTo>
                  <a:lnTo>
                    <a:pt x="1472009" y="1539875"/>
                  </a:lnTo>
                  <a:lnTo>
                    <a:pt x="1464867" y="1539875"/>
                  </a:lnTo>
                  <a:lnTo>
                    <a:pt x="1458255" y="1539611"/>
                  </a:lnTo>
                  <a:lnTo>
                    <a:pt x="1451113" y="1539346"/>
                  </a:lnTo>
                  <a:lnTo>
                    <a:pt x="1444236" y="1538288"/>
                  </a:lnTo>
                  <a:lnTo>
                    <a:pt x="1437623" y="1536965"/>
                  </a:lnTo>
                  <a:lnTo>
                    <a:pt x="1431010" y="1535377"/>
                  </a:lnTo>
                  <a:lnTo>
                    <a:pt x="1424398" y="1533525"/>
                  </a:lnTo>
                  <a:lnTo>
                    <a:pt x="1418314" y="1531673"/>
                  </a:lnTo>
                  <a:lnTo>
                    <a:pt x="1411966" y="1529292"/>
                  </a:lnTo>
                  <a:lnTo>
                    <a:pt x="1406147" y="1526381"/>
                  </a:lnTo>
                  <a:lnTo>
                    <a:pt x="1400063" y="1523471"/>
                  </a:lnTo>
                  <a:lnTo>
                    <a:pt x="1394509" y="1520296"/>
                  </a:lnTo>
                  <a:lnTo>
                    <a:pt x="1388690" y="1516592"/>
                  </a:lnTo>
                  <a:lnTo>
                    <a:pt x="1383399" y="1512888"/>
                  </a:lnTo>
                  <a:lnTo>
                    <a:pt x="1378374" y="1508919"/>
                  </a:lnTo>
                  <a:lnTo>
                    <a:pt x="1373348" y="1504686"/>
                  </a:lnTo>
                  <a:lnTo>
                    <a:pt x="1368852" y="1500188"/>
                  </a:lnTo>
                  <a:lnTo>
                    <a:pt x="1364355" y="1495425"/>
                  </a:lnTo>
                  <a:lnTo>
                    <a:pt x="1359858" y="1490663"/>
                  </a:lnTo>
                  <a:lnTo>
                    <a:pt x="1356155" y="1485636"/>
                  </a:lnTo>
                  <a:lnTo>
                    <a:pt x="1352188" y="1480344"/>
                  </a:lnTo>
                  <a:lnTo>
                    <a:pt x="1348749" y="1475052"/>
                  </a:lnTo>
                  <a:lnTo>
                    <a:pt x="1345311" y="1469496"/>
                  </a:lnTo>
                  <a:lnTo>
                    <a:pt x="1342401" y="1463675"/>
                  </a:lnTo>
                  <a:lnTo>
                    <a:pt x="1339756" y="1457854"/>
                  </a:lnTo>
                  <a:lnTo>
                    <a:pt x="1337375" y="1451504"/>
                  </a:lnTo>
                  <a:lnTo>
                    <a:pt x="1335259" y="1445154"/>
                  </a:lnTo>
                  <a:lnTo>
                    <a:pt x="1333408" y="1439069"/>
                  </a:lnTo>
                  <a:lnTo>
                    <a:pt x="1332085" y="1432454"/>
                  </a:lnTo>
                  <a:lnTo>
                    <a:pt x="1330763" y="1425840"/>
                  </a:lnTo>
                  <a:lnTo>
                    <a:pt x="1329969" y="1419490"/>
                  </a:lnTo>
                  <a:lnTo>
                    <a:pt x="1329440" y="1412611"/>
                  </a:lnTo>
                  <a:lnTo>
                    <a:pt x="1329440" y="1405731"/>
                  </a:lnTo>
                  <a:lnTo>
                    <a:pt x="1330234" y="1232958"/>
                  </a:lnTo>
                  <a:lnTo>
                    <a:pt x="1153279" y="1231636"/>
                  </a:lnTo>
                  <a:lnTo>
                    <a:pt x="1146402" y="1231371"/>
                  </a:lnTo>
                  <a:lnTo>
                    <a:pt x="1139525" y="1231106"/>
                  </a:lnTo>
                  <a:lnTo>
                    <a:pt x="1132648" y="1230048"/>
                  </a:lnTo>
                  <a:lnTo>
                    <a:pt x="1125771" y="1228990"/>
                  </a:lnTo>
                  <a:lnTo>
                    <a:pt x="1119423" y="1227138"/>
                  </a:lnTo>
                  <a:lnTo>
                    <a:pt x="1112810" y="1225286"/>
                  </a:lnTo>
                  <a:lnTo>
                    <a:pt x="1106462" y="1223433"/>
                  </a:lnTo>
                  <a:lnTo>
                    <a:pt x="1100378" y="1221052"/>
                  </a:lnTo>
                  <a:lnTo>
                    <a:pt x="1094295" y="1218406"/>
                  </a:lnTo>
                  <a:lnTo>
                    <a:pt x="1088476" y="1215231"/>
                  </a:lnTo>
                  <a:lnTo>
                    <a:pt x="1082656" y="1212056"/>
                  </a:lnTo>
                  <a:lnTo>
                    <a:pt x="1077102" y="1208352"/>
                  </a:lnTo>
                  <a:lnTo>
                    <a:pt x="1071812" y="1204648"/>
                  </a:lnTo>
                  <a:lnTo>
                    <a:pt x="1066786" y="1200679"/>
                  </a:lnTo>
                  <a:lnTo>
                    <a:pt x="1062025" y="1196446"/>
                  </a:lnTo>
                  <a:lnTo>
                    <a:pt x="1057264" y="1192213"/>
                  </a:lnTo>
                  <a:lnTo>
                    <a:pt x="1052767" y="1187450"/>
                  </a:lnTo>
                  <a:lnTo>
                    <a:pt x="1048271" y="1182688"/>
                  </a:lnTo>
                  <a:lnTo>
                    <a:pt x="1044303" y="1177396"/>
                  </a:lnTo>
                  <a:lnTo>
                    <a:pt x="1040600" y="1172104"/>
                  </a:lnTo>
                  <a:lnTo>
                    <a:pt x="1036897" y="1166813"/>
                  </a:lnTo>
                  <a:lnTo>
                    <a:pt x="1033723" y="1161256"/>
                  </a:lnTo>
                  <a:lnTo>
                    <a:pt x="1030549" y="1155435"/>
                  </a:lnTo>
                  <a:lnTo>
                    <a:pt x="1027904" y="1149615"/>
                  </a:lnTo>
                  <a:lnTo>
                    <a:pt x="1025523" y="1143265"/>
                  </a:lnTo>
                  <a:lnTo>
                    <a:pt x="1023407" y="1137444"/>
                  </a:lnTo>
                  <a:lnTo>
                    <a:pt x="1021820" y="1130829"/>
                  </a:lnTo>
                  <a:lnTo>
                    <a:pt x="1020233" y="1124215"/>
                  </a:lnTo>
                  <a:lnTo>
                    <a:pt x="1019175" y="1117600"/>
                  </a:lnTo>
                  <a:lnTo>
                    <a:pt x="1018117" y="1111250"/>
                  </a:lnTo>
                  <a:lnTo>
                    <a:pt x="1017853" y="1104371"/>
                  </a:lnTo>
                  <a:lnTo>
                    <a:pt x="1017588" y="1097492"/>
                  </a:lnTo>
                  <a:lnTo>
                    <a:pt x="1017853" y="1090613"/>
                  </a:lnTo>
                  <a:lnTo>
                    <a:pt x="1018382" y="1083733"/>
                  </a:lnTo>
                  <a:lnTo>
                    <a:pt x="1019440" y="1077383"/>
                  </a:lnTo>
                  <a:lnTo>
                    <a:pt x="1020498" y="1070769"/>
                  </a:lnTo>
                  <a:lnTo>
                    <a:pt x="1022085" y="1064154"/>
                  </a:lnTo>
                  <a:lnTo>
                    <a:pt x="1024201" y="1057804"/>
                  </a:lnTo>
                  <a:lnTo>
                    <a:pt x="1026317" y="1051719"/>
                  </a:lnTo>
                  <a:lnTo>
                    <a:pt x="1028697" y="1045633"/>
                  </a:lnTo>
                  <a:lnTo>
                    <a:pt x="1031607" y="1039813"/>
                  </a:lnTo>
                  <a:lnTo>
                    <a:pt x="1034516" y="1033992"/>
                  </a:lnTo>
                  <a:lnTo>
                    <a:pt x="1037690" y="1028435"/>
                  </a:lnTo>
                  <a:lnTo>
                    <a:pt x="1041394" y="1023144"/>
                  </a:lnTo>
                  <a:lnTo>
                    <a:pt x="1045361" y="1017852"/>
                  </a:lnTo>
                  <a:lnTo>
                    <a:pt x="1049329" y="1012825"/>
                  </a:lnTo>
                  <a:lnTo>
                    <a:pt x="1053561" y="1008063"/>
                  </a:lnTo>
                  <a:lnTo>
                    <a:pt x="1058057" y="1003565"/>
                  </a:lnTo>
                  <a:lnTo>
                    <a:pt x="1062818" y="999067"/>
                  </a:lnTo>
                  <a:lnTo>
                    <a:pt x="1067844" y="994833"/>
                  </a:lnTo>
                  <a:lnTo>
                    <a:pt x="1073134" y="990865"/>
                  </a:lnTo>
                  <a:lnTo>
                    <a:pt x="1078689" y="987160"/>
                  </a:lnTo>
                  <a:lnTo>
                    <a:pt x="1083979" y="983721"/>
                  </a:lnTo>
                  <a:lnTo>
                    <a:pt x="1089798" y="980546"/>
                  </a:lnTo>
                  <a:lnTo>
                    <a:pt x="1095617" y="977635"/>
                  </a:lnTo>
                  <a:lnTo>
                    <a:pt x="1101701" y="975254"/>
                  </a:lnTo>
                  <a:lnTo>
                    <a:pt x="1108049" y="972873"/>
                  </a:lnTo>
                  <a:lnTo>
                    <a:pt x="1114133" y="970756"/>
                  </a:lnTo>
                  <a:lnTo>
                    <a:pt x="1120745" y="968904"/>
                  </a:lnTo>
                  <a:lnTo>
                    <a:pt x="1127358" y="967581"/>
                  </a:lnTo>
                  <a:lnTo>
                    <a:pt x="1134235" y="966258"/>
                  </a:lnTo>
                  <a:lnTo>
                    <a:pt x="1141112" y="965465"/>
                  </a:lnTo>
                  <a:lnTo>
                    <a:pt x="1147989" y="965200"/>
                  </a:lnTo>
                  <a:lnTo>
                    <a:pt x="1155131" y="964935"/>
                  </a:lnTo>
                  <a:lnTo>
                    <a:pt x="1332085" y="965994"/>
                  </a:lnTo>
                  <a:lnTo>
                    <a:pt x="1332879" y="793221"/>
                  </a:lnTo>
                  <a:lnTo>
                    <a:pt x="1333143" y="786342"/>
                  </a:lnTo>
                  <a:lnTo>
                    <a:pt x="1333672" y="779463"/>
                  </a:lnTo>
                  <a:lnTo>
                    <a:pt x="1334730" y="772583"/>
                  </a:lnTo>
                  <a:lnTo>
                    <a:pt x="1335788" y="765969"/>
                  </a:lnTo>
                  <a:lnTo>
                    <a:pt x="1337375" y="759883"/>
                  </a:lnTo>
                  <a:lnTo>
                    <a:pt x="1339227" y="753269"/>
                  </a:lnTo>
                  <a:lnTo>
                    <a:pt x="1341608" y="747448"/>
                  </a:lnTo>
                  <a:lnTo>
                    <a:pt x="1343988" y="741098"/>
                  </a:lnTo>
                  <a:lnTo>
                    <a:pt x="1346633" y="735013"/>
                  </a:lnTo>
                  <a:lnTo>
                    <a:pt x="1349807" y="729456"/>
                  </a:lnTo>
                  <a:lnTo>
                    <a:pt x="1353246" y="723900"/>
                  </a:lnTo>
                  <a:lnTo>
                    <a:pt x="1356684" y="718344"/>
                  </a:lnTo>
                  <a:lnTo>
                    <a:pt x="1360652" y="713317"/>
                  </a:lnTo>
                  <a:lnTo>
                    <a:pt x="1364355" y="708290"/>
                  </a:lnTo>
                  <a:lnTo>
                    <a:pt x="1368852" y="703527"/>
                  </a:lnTo>
                  <a:lnTo>
                    <a:pt x="1373348" y="698765"/>
                  </a:lnTo>
                  <a:lnTo>
                    <a:pt x="1378109" y="694267"/>
                  </a:lnTo>
                  <a:lnTo>
                    <a:pt x="1383135" y="690298"/>
                  </a:lnTo>
                  <a:lnTo>
                    <a:pt x="1388161" y="686329"/>
                  </a:lnTo>
                  <a:lnTo>
                    <a:pt x="1393451" y="682890"/>
                  </a:lnTo>
                  <a:lnTo>
                    <a:pt x="1399270" y="679186"/>
                  </a:lnTo>
                  <a:lnTo>
                    <a:pt x="1404824" y="676275"/>
                  </a:lnTo>
                  <a:lnTo>
                    <a:pt x="1410908" y="673365"/>
                  </a:lnTo>
                  <a:lnTo>
                    <a:pt x="1416992" y="670454"/>
                  </a:lnTo>
                  <a:lnTo>
                    <a:pt x="1423075" y="668073"/>
                  </a:lnTo>
                  <a:lnTo>
                    <a:pt x="1429688" y="666221"/>
                  </a:lnTo>
                  <a:lnTo>
                    <a:pt x="1436036" y="664369"/>
                  </a:lnTo>
                  <a:lnTo>
                    <a:pt x="1442649" y="662781"/>
                  </a:lnTo>
                  <a:lnTo>
                    <a:pt x="1449261" y="661988"/>
                  </a:lnTo>
                  <a:lnTo>
                    <a:pt x="1456138" y="660929"/>
                  </a:lnTo>
                  <a:lnTo>
                    <a:pt x="1463280" y="660400"/>
                  </a:lnTo>
                  <a:close/>
                  <a:moveTo>
                    <a:pt x="714108" y="0"/>
                  </a:moveTo>
                  <a:lnTo>
                    <a:pt x="723364" y="0"/>
                  </a:lnTo>
                  <a:lnTo>
                    <a:pt x="732621" y="264"/>
                  </a:lnTo>
                  <a:lnTo>
                    <a:pt x="741349" y="529"/>
                  </a:lnTo>
                  <a:lnTo>
                    <a:pt x="750606" y="1058"/>
                  </a:lnTo>
                  <a:lnTo>
                    <a:pt x="759599" y="2115"/>
                  </a:lnTo>
                  <a:lnTo>
                    <a:pt x="768591" y="3173"/>
                  </a:lnTo>
                  <a:lnTo>
                    <a:pt x="777319" y="4495"/>
                  </a:lnTo>
                  <a:lnTo>
                    <a:pt x="786312" y="5817"/>
                  </a:lnTo>
                  <a:lnTo>
                    <a:pt x="795040" y="7404"/>
                  </a:lnTo>
                  <a:lnTo>
                    <a:pt x="803503" y="9520"/>
                  </a:lnTo>
                  <a:lnTo>
                    <a:pt x="812231" y="11635"/>
                  </a:lnTo>
                  <a:lnTo>
                    <a:pt x="820959" y="14015"/>
                  </a:lnTo>
                  <a:lnTo>
                    <a:pt x="829158" y="16395"/>
                  </a:lnTo>
                  <a:lnTo>
                    <a:pt x="837622" y="19039"/>
                  </a:lnTo>
                  <a:lnTo>
                    <a:pt x="845821" y="21948"/>
                  </a:lnTo>
                  <a:lnTo>
                    <a:pt x="853755" y="24856"/>
                  </a:lnTo>
                  <a:lnTo>
                    <a:pt x="861954" y="28294"/>
                  </a:lnTo>
                  <a:lnTo>
                    <a:pt x="869889" y="31732"/>
                  </a:lnTo>
                  <a:lnTo>
                    <a:pt x="877559" y="35434"/>
                  </a:lnTo>
                  <a:lnTo>
                    <a:pt x="885493" y="39136"/>
                  </a:lnTo>
                  <a:lnTo>
                    <a:pt x="892899" y="43102"/>
                  </a:lnTo>
                  <a:lnTo>
                    <a:pt x="900569" y="47333"/>
                  </a:lnTo>
                  <a:lnTo>
                    <a:pt x="907710" y="51299"/>
                  </a:lnTo>
                  <a:lnTo>
                    <a:pt x="915116" y="56059"/>
                  </a:lnTo>
                  <a:lnTo>
                    <a:pt x="922257" y="60554"/>
                  </a:lnTo>
                  <a:lnTo>
                    <a:pt x="929398" y="65314"/>
                  </a:lnTo>
                  <a:lnTo>
                    <a:pt x="936274" y="70338"/>
                  </a:lnTo>
                  <a:lnTo>
                    <a:pt x="943151" y="75362"/>
                  </a:lnTo>
                  <a:lnTo>
                    <a:pt x="949763" y="80915"/>
                  </a:lnTo>
                  <a:lnTo>
                    <a:pt x="956111" y="86204"/>
                  </a:lnTo>
                  <a:lnTo>
                    <a:pt x="962458" y="91757"/>
                  </a:lnTo>
                  <a:lnTo>
                    <a:pt x="968806" y="97575"/>
                  </a:lnTo>
                  <a:lnTo>
                    <a:pt x="974889" y="103392"/>
                  </a:lnTo>
                  <a:lnTo>
                    <a:pt x="980972" y="109474"/>
                  </a:lnTo>
                  <a:lnTo>
                    <a:pt x="986526" y="115556"/>
                  </a:lnTo>
                  <a:lnTo>
                    <a:pt x="992080" y="121902"/>
                  </a:lnTo>
                  <a:lnTo>
                    <a:pt x="997635" y="128513"/>
                  </a:lnTo>
                  <a:lnTo>
                    <a:pt x="1002924" y="134859"/>
                  </a:lnTo>
                  <a:lnTo>
                    <a:pt x="1008214" y="141470"/>
                  </a:lnTo>
                  <a:lnTo>
                    <a:pt x="1013239" y="148345"/>
                  </a:lnTo>
                  <a:lnTo>
                    <a:pt x="1018000" y="155220"/>
                  </a:lnTo>
                  <a:lnTo>
                    <a:pt x="1022761" y="162360"/>
                  </a:lnTo>
                  <a:lnTo>
                    <a:pt x="1027257" y="169499"/>
                  </a:lnTo>
                  <a:lnTo>
                    <a:pt x="1031489" y="176903"/>
                  </a:lnTo>
                  <a:lnTo>
                    <a:pt x="1035720" y="184043"/>
                  </a:lnTo>
                  <a:lnTo>
                    <a:pt x="1039688" y="191711"/>
                  </a:lnTo>
                  <a:lnTo>
                    <a:pt x="1043655" y="199115"/>
                  </a:lnTo>
                  <a:lnTo>
                    <a:pt x="1047093" y="206784"/>
                  </a:lnTo>
                  <a:lnTo>
                    <a:pt x="1050532" y="214717"/>
                  </a:lnTo>
                  <a:lnTo>
                    <a:pt x="1053705" y="222650"/>
                  </a:lnTo>
                  <a:lnTo>
                    <a:pt x="1057144" y="230318"/>
                  </a:lnTo>
                  <a:lnTo>
                    <a:pt x="1059788" y="238780"/>
                  </a:lnTo>
                  <a:lnTo>
                    <a:pt x="1062433" y="246713"/>
                  </a:lnTo>
                  <a:lnTo>
                    <a:pt x="1064814" y="255175"/>
                  </a:lnTo>
                  <a:lnTo>
                    <a:pt x="1067194" y="263372"/>
                  </a:lnTo>
                  <a:lnTo>
                    <a:pt x="1069310" y="271834"/>
                  </a:lnTo>
                  <a:lnTo>
                    <a:pt x="1070897" y="280031"/>
                  </a:lnTo>
                  <a:lnTo>
                    <a:pt x="1072484" y="288757"/>
                  </a:lnTo>
                  <a:lnTo>
                    <a:pt x="1074071" y="297219"/>
                  </a:lnTo>
                  <a:lnTo>
                    <a:pt x="1075129" y="305945"/>
                  </a:lnTo>
                  <a:lnTo>
                    <a:pt x="1076186" y="314936"/>
                  </a:lnTo>
                  <a:lnTo>
                    <a:pt x="1076980" y="323397"/>
                  </a:lnTo>
                  <a:lnTo>
                    <a:pt x="1077509" y="332388"/>
                  </a:lnTo>
                  <a:lnTo>
                    <a:pt x="1077773" y="341379"/>
                  </a:lnTo>
                  <a:lnTo>
                    <a:pt x="1077773" y="350369"/>
                  </a:lnTo>
                  <a:lnTo>
                    <a:pt x="1077509" y="359360"/>
                  </a:lnTo>
                  <a:lnTo>
                    <a:pt x="1077244" y="368350"/>
                  </a:lnTo>
                  <a:lnTo>
                    <a:pt x="1076716" y="377341"/>
                  </a:lnTo>
                  <a:lnTo>
                    <a:pt x="1075658" y="385803"/>
                  </a:lnTo>
                  <a:lnTo>
                    <a:pt x="1074600" y="394793"/>
                  </a:lnTo>
                  <a:lnTo>
                    <a:pt x="1073277" y="403519"/>
                  </a:lnTo>
                  <a:lnTo>
                    <a:pt x="1071955" y="411981"/>
                  </a:lnTo>
                  <a:lnTo>
                    <a:pt x="1070103" y="420707"/>
                  </a:lnTo>
                  <a:lnTo>
                    <a:pt x="1068252" y="428905"/>
                  </a:lnTo>
                  <a:lnTo>
                    <a:pt x="1065872" y="437366"/>
                  </a:lnTo>
                  <a:lnTo>
                    <a:pt x="1063756" y="445564"/>
                  </a:lnTo>
                  <a:lnTo>
                    <a:pt x="1061111" y="454026"/>
                  </a:lnTo>
                  <a:lnTo>
                    <a:pt x="1058466" y="461958"/>
                  </a:lnTo>
                  <a:lnTo>
                    <a:pt x="1055557" y="469891"/>
                  </a:lnTo>
                  <a:lnTo>
                    <a:pt x="1052383" y="478089"/>
                  </a:lnTo>
                  <a:lnTo>
                    <a:pt x="1048945" y="485757"/>
                  </a:lnTo>
                  <a:lnTo>
                    <a:pt x="1045506" y="493426"/>
                  </a:lnTo>
                  <a:lnTo>
                    <a:pt x="1041804" y="501358"/>
                  </a:lnTo>
                  <a:lnTo>
                    <a:pt x="1038101" y="508762"/>
                  </a:lnTo>
                  <a:lnTo>
                    <a:pt x="1033869" y="516166"/>
                  </a:lnTo>
                  <a:lnTo>
                    <a:pt x="1029637" y="523570"/>
                  </a:lnTo>
                  <a:lnTo>
                    <a:pt x="1025141" y="530710"/>
                  </a:lnTo>
                  <a:lnTo>
                    <a:pt x="1020380" y="537850"/>
                  </a:lnTo>
                  <a:lnTo>
                    <a:pt x="1015620" y="544725"/>
                  </a:lnTo>
                  <a:lnTo>
                    <a:pt x="1010859" y="551864"/>
                  </a:lnTo>
                  <a:lnTo>
                    <a:pt x="1005834" y="558211"/>
                  </a:lnTo>
                  <a:lnTo>
                    <a:pt x="1000544" y="564821"/>
                  </a:lnTo>
                  <a:lnTo>
                    <a:pt x="995254" y="571432"/>
                  </a:lnTo>
                  <a:lnTo>
                    <a:pt x="989436" y="578043"/>
                  </a:lnTo>
                  <a:lnTo>
                    <a:pt x="983882" y="584125"/>
                  </a:lnTo>
                  <a:lnTo>
                    <a:pt x="977798" y="590207"/>
                  </a:lnTo>
                  <a:lnTo>
                    <a:pt x="971980" y="596024"/>
                  </a:lnTo>
                  <a:lnTo>
                    <a:pt x="965632" y="601842"/>
                  </a:lnTo>
                  <a:lnTo>
                    <a:pt x="959549" y="607659"/>
                  </a:lnTo>
                  <a:lnTo>
                    <a:pt x="953201" y="612948"/>
                  </a:lnTo>
                  <a:lnTo>
                    <a:pt x="946325" y="618501"/>
                  </a:lnTo>
                  <a:lnTo>
                    <a:pt x="939713" y="623789"/>
                  </a:lnTo>
                  <a:lnTo>
                    <a:pt x="933100" y="628813"/>
                  </a:lnTo>
                  <a:lnTo>
                    <a:pt x="926224" y="633573"/>
                  </a:lnTo>
                  <a:lnTo>
                    <a:pt x="919083" y="638333"/>
                  </a:lnTo>
                  <a:lnTo>
                    <a:pt x="911942" y="642828"/>
                  </a:lnTo>
                  <a:lnTo>
                    <a:pt x="904536" y="647323"/>
                  </a:lnTo>
                  <a:lnTo>
                    <a:pt x="897131" y="651290"/>
                  </a:lnTo>
                  <a:lnTo>
                    <a:pt x="889461" y="655521"/>
                  </a:lnTo>
                  <a:lnTo>
                    <a:pt x="881791" y="659487"/>
                  </a:lnTo>
                  <a:lnTo>
                    <a:pt x="874120" y="663189"/>
                  </a:lnTo>
                  <a:lnTo>
                    <a:pt x="866186" y="666627"/>
                  </a:lnTo>
                  <a:lnTo>
                    <a:pt x="857987" y="670064"/>
                  </a:lnTo>
                  <a:lnTo>
                    <a:pt x="850052" y="672973"/>
                  </a:lnTo>
                  <a:lnTo>
                    <a:pt x="841853" y="676146"/>
                  </a:lnTo>
                  <a:lnTo>
                    <a:pt x="833654" y="679055"/>
                  </a:lnTo>
                  <a:lnTo>
                    <a:pt x="825455" y="681699"/>
                  </a:lnTo>
                  <a:lnTo>
                    <a:pt x="816992" y="684079"/>
                  </a:lnTo>
                  <a:lnTo>
                    <a:pt x="808264" y="686195"/>
                  </a:lnTo>
                  <a:lnTo>
                    <a:pt x="799800" y="688310"/>
                  </a:lnTo>
                  <a:lnTo>
                    <a:pt x="791072" y="690161"/>
                  </a:lnTo>
                  <a:lnTo>
                    <a:pt x="782609" y="691483"/>
                  </a:lnTo>
                  <a:lnTo>
                    <a:pt x="773616" y="693070"/>
                  </a:lnTo>
                  <a:lnTo>
                    <a:pt x="764624" y="694128"/>
                  </a:lnTo>
                  <a:lnTo>
                    <a:pt x="755632" y="695185"/>
                  </a:lnTo>
                  <a:lnTo>
                    <a:pt x="746639" y="695714"/>
                  </a:lnTo>
                  <a:lnTo>
                    <a:pt x="737647" y="696243"/>
                  </a:lnTo>
                  <a:lnTo>
                    <a:pt x="728390" y="696507"/>
                  </a:lnTo>
                  <a:lnTo>
                    <a:pt x="719133" y="696507"/>
                  </a:lnTo>
                  <a:lnTo>
                    <a:pt x="709876" y="696507"/>
                  </a:lnTo>
                  <a:lnTo>
                    <a:pt x="700883" y="695979"/>
                  </a:lnTo>
                  <a:lnTo>
                    <a:pt x="691891" y="695450"/>
                  </a:lnTo>
                  <a:lnTo>
                    <a:pt x="682898" y="694392"/>
                  </a:lnTo>
                  <a:lnTo>
                    <a:pt x="673906" y="693599"/>
                  </a:lnTo>
                  <a:lnTo>
                    <a:pt x="664913" y="692541"/>
                  </a:lnTo>
                  <a:lnTo>
                    <a:pt x="656186" y="690954"/>
                  </a:lnTo>
                  <a:lnTo>
                    <a:pt x="647458" y="689103"/>
                  </a:lnTo>
                  <a:lnTo>
                    <a:pt x="638730" y="687252"/>
                  </a:lnTo>
                  <a:lnTo>
                    <a:pt x="630266" y="684872"/>
                  </a:lnTo>
                  <a:lnTo>
                    <a:pt x="621538" y="683021"/>
                  </a:lnTo>
                  <a:lnTo>
                    <a:pt x="613339" y="680113"/>
                  </a:lnTo>
                  <a:lnTo>
                    <a:pt x="604876" y="677468"/>
                  </a:lnTo>
                  <a:lnTo>
                    <a:pt x="596676" y="674824"/>
                  </a:lnTo>
                  <a:lnTo>
                    <a:pt x="588478" y="671651"/>
                  </a:lnTo>
                  <a:lnTo>
                    <a:pt x="580543" y="668213"/>
                  </a:lnTo>
                  <a:lnTo>
                    <a:pt x="572873" y="665040"/>
                  </a:lnTo>
                  <a:lnTo>
                    <a:pt x="564674" y="661603"/>
                  </a:lnTo>
                  <a:lnTo>
                    <a:pt x="557004" y="657636"/>
                  </a:lnTo>
                  <a:lnTo>
                    <a:pt x="549598" y="653405"/>
                  </a:lnTo>
                  <a:lnTo>
                    <a:pt x="541928" y="649439"/>
                  </a:lnTo>
                  <a:lnTo>
                    <a:pt x="534787" y="645208"/>
                  </a:lnTo>
                  <a:lnTo>
                    <a:pt x="527382" y="640713"/>
                  </a:lnTo>
                  <a:lnTo>
                    <a:pt x="520241" y="635953"/>
                  </a:lnTo>
                  <a:lnTo>
                    <a:pt x="513364" y="631193"/>
                  </a:lnTo>
                  <a:lnTo>
                    <a:pt x="506223" y="626169"/>
                  </a:lnTo>
                  <a:lnTo>
                    <a:pt x="499611" y="621145"/>
                  </a:lnTo>
                  <a:lnTo>
                    <a:pt x="492734" y="615592"/>
                  </a:lnTo>
                  <a:lnTo>
                    <a:pt x="486122" y="610303"/>
                  </a:lnTo>
                  <a:lnTo>
                    <a:pt x="480039" y="604750"/>
                  </a:lnTo>
                  <a:lnTo>
                    <a:pt x="473691" y="598933"/>
                  </a:lnTo>
                  <a:lnTo>
                    <a:pt x="467873" y="593115"/>
                  </a:lnTo>
                  <a:lnTo>
                    <a:pt x="461790" y="587298"/>
                  </a:lnTo>
                  <a:lnTo>
                    <a:pt x="455971" y="580952"/>
                  </a:lnTo>
                  <a:lnTo>
                    <a:pt x="450152" y="574605"/>
                  </a:lnTo>
                  <a:lnTo>
                    <a:pt x="444863" y="568523"/>
                  </a:lnTo>
                  <a:lnTo>
                    <a:pt x="439573" y="561913"/>
                  </a:lnTo>
                  <a:lnTo>
                    <a:pt x="434283" y="555038"/>
                  </a:lnTo>
                  <a:lnTo>
                    <a:pt x="429258" y="548162"/>
                  </a:lnTo>
                  <a:lnTo>
                    <a:pt x="424497" y="541287"/>
                  </a:lnTo>
                  <a:lnTo>
                    <a:pt x="419737" y="534148"/>
                  </a:lnTo>
                  <a:lnTo>
                    <a:pt x="415240" y="527008"/>
                  </a:lnTo>
                  <a:lnTo>
                    <a:pt x="411009" y="519868"/>
                  </a:lnTo>
                  <a:lnTo>
                    <a:pt x="406777" y="512464"/>
                  </a:lnTo>
                  <a:lnTo>
                    <a:pt x="402545" y="505060"/>
                  </a:lnTo>
                  <a:lnTo>
                    <a:pt x="398842" y="497392"/>
                  </a:lnTo>
                  <a:lnTo>
                    <a:pt x="395140" y="489988"/>
                  </a:lnTo>
                  <a:lnTo>
                    <a:pt x="391966" y="481791"/>
                  </a:lnTo>
                  <a:lnTo>
                    <a:pt x="388792" y="474122"/>
                  </a:lnTo>
                  <a:lnTo>
                    <a:pt x="385618" y="466189"/>
                  </a:lnTo>
                  <a:lnTo>
                    <a:pt x="382709" y="458256"/>
                  </a:lnTo>
                  <a:lnTo>
                    <a:pt x="380064" y="449795"/>
                  </a:lnTo>
                  <a:lnTo>
                    <a:pt x="377684" y="441862"/>
                  </a:lnTo>
                  <a:lnTo>
                    <a:pt x="375303" y="433400"/>
                  </a:lnTo>
                  <a:lnTo>
                    <a:pt x="373187" y="425203"/>
                  </a:lnTo>
                  <a:lnTo>
                    <a:pt x="371336" y="416477"/>
                  </a:lnTo>
                  <a:lnTo>
                    <a:pt x="370014" y="407750"/>
                  </a:lnTo>
                  <a:lnTo>
                    <a:pt x="368427" y="399289"/>
                  </a:lnTo>
                  <a:lnTo>
                    <a:pt x="367369" y="390562"/>
                  </a:lnTo>
                  <a:lnTo>
                    <a:pt x="366311" y="382101"/>
                  </a:lnTo>
                  <a:lnTo>
                    <a:pt x="365517" y="373110"/>
                  </a:lnTo>
                  <a:lnTo>
                    <a:pt x="364988" y="364120"/>
                  </a:lnTo>
                  <a:lnTo>
                    <a:pt x="364724" y="355129"/>
                  </a:lnTo>
                  <a:lnTo>
                    <a:pt x="364724" y="346403"/>
                  </a:lnTo>
                  <a:lnTo>
                    <a:pt x="364988" y="337412"/>
                  </a:lnTo>
                  <a:lnTo>
                    <a:pt x="365253" y="328422"/>
                  </a:lnTo>
                  <a:lnTo>
                    <a:pt x="365782" y="319695"/>
                  </a:lnTo>
                  <a:lnTo>
                    <a:pt x="366575" y="310705"/>
                  </a:lnTo>
                  <a:lnTo>
                    <a:pt x="367898" y="301979"/>
                  </a:lnTo>
                  <a:lnTo>
                    <a:pt x="368956" y="292988"/>
                  </a:lnTo>
                  <a:lnTo>
                    <a:pt x="370542" y="284791"/>
                  </a:lnTo>
                  <a:lnTo>
                    <a:pt x="372394" y="276064"/>
                  </a:lnTo>
                  <a:lnTo>
                    <a:pt x="374245" y="267603"/>
                  </a:lnTo>
                  <a:lnTo>
                    <a:pt x="376626" y="259141"/>
                  </a:lnTo>
                  <a:lnTo>
                    <a:pt x="378477" y="250944"/>
                  </a:lnTo>
                  <a:lnTo>
                    <a:pt x="381386" y="242746"/>
                  </a:lnTo>
                  <a:lnTo>
                    <a:pt x="384031" y="234549"/>
                  </a:lnTo>
                  <a:lnTo>
                    <a:pt x="386940" y="226616"/>
                  </a:lnTo>
                  <a:lnTo>
                    <a:pt x="390114" y="218683"/>
                  </a:lnTo>
                  <a:lnTo>
                    <a:pt x="393553" y="210750"/>
                  </a:lnTo>
                  <a:lnTo>
                    <a:pt x="396991" y="203082"/>
                  </a:lnTo>
                  <a:lnTo>
                    <a:pt x="400694" y="195678"/>
                  </a:lnTo>
                  <a:lnTo>
                    <a:pt x="404396" y="187745"/>
                  </a:lnTo>
                  <a:lnTo>
                    <a:pt x="408628" y="180341"/>
                  </a:lnTo>
                  <a:lnTo>
                    <a:pt x="412860" y="173201"/>
                  </a:lnTo>
                  <a:lnTo>
                    <a:pt x="417356" y="165797"/>
                  </a:lnTo>
                  <a:lnTo>
                    <a:pt x="422117" y="158658"/>
                  </a:lnTo>
                  <a:lnTo>
                    <a:pt x="426878" y="151783"/>
                  </a:lnTo>
                  <a:lnTo>
                    <a:pt x="431638" y="144907"/>
                  </a:lnTo>
                  <a:lnTo>
                    <a:pt x="436664" y="138297"/>
                  </a:lnTo>
                  <a:lnTo>
                    <a:pt x="441953" y="131686"/>
                  </a:lnTo>
                  <a:lnTo>
                    <a:pt x="447243" y="125075"/>
                  </a:lnTo>
                  <a:lnTo>
                    <a:pt x="453062" y="118993"/>
                  </a:lnTo>
                  <a:lnTo>
                    <a:pt x="458616" y="112647"/>
                  </a:lnTo>
                  <a:lnTo>
                    <a:pt x="464434" y="106301"/>
                  </a:lnTo>
                  <a:lnTo>
                    <a:pt x="470518" y="100483"/>
                  </a:lnTo>
                  <a:lnTo>
                    <a:pt x="476865" y="94666"/>
                  </a:lnTo>
                  <a:lnTo>
                    <a:pt x="482948" y="89113"/>
                  </a:lnTo>
                  <a:lnTo>
                    <a:pt x="489560" y="83560"/>
                  </a:lnTo>
                  <a:lnTo>
                    <a:pt x="496172" y="78271"/>
                  </a:lnTo>
                  <a:lnTo>
                    <a:pt x="502520" y="72983"/>
                  </a:lnTo>
                  <a:lnTo>
                    <a:pt x="509397" y="67958"/>
                  </a:lnTo>
                  <a:lnTo>
                    <a:pt x="516538" y="62934"/>
                  </a:lnTo>
                  <a:lnTo>
                    <a:pt x="523414" y="58175"/>
                  </a:lnTo>
                  <a:lnTo>
                    <a:pt x="530820" y="53679"/>
                  </a:lnTo>
                  <a:lnTo>
                    <a:pt x="537961" y="49184"/>
                  </a:lnTo>
                  <a:lnTo>
                    <a:pt x="545367" y="45217"/>
                  </a:lnTo>
                  <a:lnTo>
                    <a:pt x="553301" y="40987"/>
                  </a:lnTo>
                  <a:lnTo>
                    <a:pt x="560707" y="37020"/>
                  </a:lnTo>
                  <a:lnTo>
                    <a:pt x="568377" y="33583"/>
                  </a:lnTo>
                  <a:lnTo>
                    <a:pt x="576311" y="29881"/>
                  </a:lnTo>
                  <a:lnTo>
                    <a:pt x="584510" y="26707"/>
                  </a:lnTo>
                  <a:lnTo>
                    <a:pt x="592445" y="23534"/>
                  </a:lnTo>
                  <a:lnTo>
                    <a:pt x="600379" y="20361"/>
                  </a:lnTo>
                  <a:lnTo>
                    <a:pt x="608843" y="17717"/>
                  </a:lnTo>
                  <a:lnTo>
                    <a:pt x="617042" y="15073"/>
                  </a:lnTo>
                  <a:lnTo>
                    <a:pt x="625505" y="12693"/>
                  </a:lnTo>
                  <a:lnTo>
                    <a:pt x="633969" y="10313"/>
                  </a:lnTo>
                  <a:lnTo>
                    <a:pt x="642697" y="8462"/>
                  </a:lnTo>
                  <a:lnTo>
                    <a:pt x="651425" y="6875"/>
                  </a:lnTo>
                  <a:lnTo>
                    <a:pt x="659888" y="5024"/>
                  </a:lnTo>
                  <a:lnTo>
                    <a:pt x="668881" y="3702"/>
                  </a:lnTo>
                  <a:lnTo>
                    <a:pt x="677873" y="2644"/>
                  </a:lnTo>
                  <a:lnTo>
                    <a:pt x="686601" y="1851"/>
                  </a:lnTo>
                  <a:lnTo>
                    <a:pt x="695858" y="793"/>
                  </a:lnTo>
                  <a:lnTo>
                    <a:pt x="704851" y="264"/>
                  </a:lnTo>
                  <a:lnTo>
                    <a:pt x="714108" y="0"/>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noProof="1">
                <a:solidFill>
                  <a:srgbClr val="FFFFFF"/>
                </a:solidFill>
              </a:endParaRPr>
            </a:p>
          </p:txBody>
        </p:sp>
      </p:grpSp>
      <p:sp>
        <p:nvSpPr>
          <p:cNvPr id="50185" name="文本框 1027"/>
          <p:cNvSpPr txBox="1">
            <a:spLocks noChangeArrowheads="1"/>
          </p:cNvSpPr>
          <p:nvPr/>
        </p:nvSpPr>
        <p:spPr bwMode="auto">
          <a:xfrm>
            <a:off x="4580573" y="3839528"/>
            <a:ext cx="17830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1800" dirty="0"/>
              <a:t>答辩人：</a:t>
            </a:r>
            <a:r>
              <a:rPr lang="zh-CN" altLang="en-US" sz="1800" dirty="0"/>
              <a:t>赵健豪</a:t>
            </a:r>
            <a:endParaRPr lang="zh-CN" altLang="en-US" sz="1800" dirty="0"/>
          </a:p>
        </p:txBody>
      </p:sp>
      <p:sp>
        <p:nvSpPr>
          <p:cNvPr id="50186" name="文本框 112"/>
          <p:cNvSpPr txBox="1">
            <a:spLocks noChangeArrowheads="1"/>
          </p:cNvSpPr>
          <p:nvPr/>
        </p:nvSpPr>
        <p:spPr bwMode="auto">
          <a:xfrm>
            <a:off x="7109460" y="3839528"/>
            <a:ext cx="17830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1800" dirty="0"/>
              <a:t>指导教师：</a:t>
            </a:r>
            <a:r>
              <a:rPr lang="zh-CN" altLang="en-US" sz="1800" dirty="0"/>
              <a:t>许鋆</a:t>
            </a:r>
            <a:endParaRPr lang="zh-CN" altLang="en-US" sz="1800" dirty="0"/>
          </a:p>
        </p:txBody>
      </p:sp>
      <p:sp>
        <p:nvSpPr>
          <p:cNvPr id="50187" name="文本框 1066"/>
          <p:cNvSpPr txBox="1">
            <a:spLocks noChangeArrowheads="1"/>
          </p:cNvSpPr>
          <p:nvPr/>
        </p:nvSpPr>
        <p:spPr bwMode="auto">
          <a:xfrm>
            <a:off x="1766888" y="598488"/>
            <a:ext cx="26273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3200" b="1">
                <a:solidFill>
                  <a:schemeClr val="bg1"/>
                </a:solidFill>
              </a:rPr>
              <a:t>中国*****大学</a:t>
            </a:r>
            <a:endParaRPr lang="zh-CN" altLang="en-US" sz="3200" b="1">
              <a:solidFill>
                <a:schemeClr val="bg1"/>
              </a:solidFill>
            </a:endParaRPr>
          </a:p>
        </p:txBody>
      </p:sp>
      <p:sp>
        <p:nvSpPr>
          <p:cNvPr id="1068" name="矩形 1067"/>
          <p:cNvSpPr/>
          <p:nvPr/>
        </p:nvSpPr>
        <p:spPr>
          <a:xfrm>
            <a:off x="1466850" y="2439988"/>
            <a:ext cx="9677400" cy="2114550"/>
          </a:xfrm>
          <a:prstGeom prst="rect">
            <a:avLst/>
          </a:prstGeom>
          <a:noFill/>
          <a:ln w="254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069" name="矩形 1068"/>
          <p:cNvSpPr/>
          <p:nvPr/>
        </p:nvSpPr>
        <p:spPr>
          <a:xfrm>
            <a:off x="10906125" y="4237038"/>
            <a:ext cx="476250" cy="4762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17" name="矩形 116"/>
          <p:cNvSpPr/>
          <p:nvPr/>
        </p:nvSpPr>
        <p:spPr>
          <a:xfrm>
            <a:off x="10637838" y="4008438"/>
            <a:ext cx="474662" cy="474662"/>
          </a:xfrm>
          <a:prstGeom prst="rect">
            <a:avLst/>
          </a:prstGeom>
          <a:solidFill>
            <a:srgbClr val="4B649F">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18" name="矩形 117"/>
          <p:cNvSpPr/>
          <p:nvPr/>
        </p:nvSpPr>
        <p:spPr>
          <a:xfrm>
            <a:off x="1308100" y="2233613"/>
            <a:ext cx="474663" cy="474662"/>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19" name="矩形 118"/>
          <p:cNvSpPr/>
          <p:nvPr/>
        </p:nvSpPr>
        <p:spPr>
          <a:xfrm>
            <a:off x="1460500" y="2386013"/>
            <a:ext cx="474663" cy="474662"/>
          </a:xfrm>
          <a:prstGeom prst="rect">
            <a:avLst/>
          </a:prstGeom>
          <a:solidFill>
            <a:srgbClr val="4B649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4" name="任意多边形 3"/>
          <p:cNvSpPr/>
          <p:nvPr/>
        </p:nvSpPr>
        <p:spPr>
          <a:xfrm rot="5400000">
            <a:off x="2059305" y="-1601470"/>
            <a:ext cx="914400" cy="5032375"/>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5" name="椭圆 4"/>
          <p:cNvSpPr/>
          <p:nvPr/>
        </p:nvSpPr>
        <p:spPr>
          <a:xfrm>
            <a:off x="323850" y="247650"/>
            <a:ext cx="1333500" cy="1333500"/>
          </a:xfrm>
          <a:prstGeom prst="ellipse">
            <a:avLst/>
          </a:prstGeom>
          <a:solidFill>
            <a:schemeClr val="bg1"/>
          </a:solidFill>
          <a:ln w="381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grpSp>
        <p:nvGrpSpPr>
          <p:cNvPr id="6" name="组合 5"/>
          <p:cNvGrpSpPr/>
          <p:nvPr/>
        </p:nvGrpSpPr>
        <p:grpSpPr>
          <a:xfrm>
            <a:off x="475624" y="571426"/>
            <a:ext cx="1029952" cy="685949"/>
            <a:chOff x="5302250" y="2903538"/>
            <a:chExt cx="1587500" cy="1057276"/>
          </a:xfrm>
          <a:solidFill>
            <a:srgbClr val="4B649F"/>
          </a:solidFill>
        </p:grpSpPr>
        <p:sp>
          <p:nvSpPr>
            <p:cNvPr id="7" name="Freeform 84"/>
            <p:cNvSpPr/>
            <p:nvPr/>
          </p:nvSpPr>
          <p:spPr bwMode="auto">
            <a:xfrm>
              <a:off x="5362575" y="3040063"/>
              <a:ext cx="706438" cy="614363"/>
            </a:xfrm>
            <a:custGeom>
              <a:avLst/>
              <a:gdLst>
                <a:gd name="T0" fmla="*/ 181 w 187"/>
                <a:gd name="T1" fmla="*/ 49 h 162"/>
                <a:gd name="T2" fmla="*/ 187 w 187"/>
                <a:gd name="T3" fmla="*/ 66 h 162"/>
                <a:gd name="T4" fmla="*/ 187 w 187"/>
                <a:gd name="T5" fmla="*/ 162 h 162"/>
                <a:gd name="T6" fmla="*/ 176 w 187"/>
                <a:gd name="T7" fmla="*/ 153 h 162"/>
                <a:gd name="T8" fmla="*/ 92 w 187"/>
                <a:gd name="T9" fmla="*/ 115 h 162"/>
                <a:gd name="T10" fmla="*/ 73 w 187"/>
                <a:gd name="T11" fmla="*/ 114 h 162"/>
                <a:gd name="T12" fmla="*/ 8 w 187"/>
                <a:gd name="T13" fmla="*/ 131 h 162"/>
                <a:gd name="T14" fmla="*/ 1 w 187"/>
                <a:gd name="T15" fmla="*/ 131 h 162"/>
                <a:gd name="T16" fmla="*/ 2 w 187"/>
                <a:gd name="T17" fmla="*/ 126 h 162"/>
                <a:gd name="T18" fmla="*/ 26 w 187"/>
                <a:gd name="T19" fmla="*/ 70 h 162"/>
                <a:gd name="T20" fmla="*/ 48 w 187"/>
                <a:gd name="T21" fmla="*/ 20 h 162"/>
                <a:gd name="T22" fmla="*/ 53 w 187"/>
                <a:gd name="T23" fmla="*/ 13 h 162"/>
                <a:gd name="T24" fmla="*/ 62 w 187"/>
                <a:gd name="T25" fmla="*/ 9 h 162"/>
                <a:gd name="T26" fmla="*/ 130 w 187"/>
                <a:gd name="T27" fmla="*/ 11 h 162"/>
                <a:gd name="T28" fmla="*/ 181 w 187"/>
                <a:gd name="T29"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7" h="162">
                  <a:moveTo>
                    <a:pt x="181" y="49"/>
                  </a:moveTo>
                  <a:cubicBezTo>
                    <a:pt x="184" y="54"/>
                    <a:pt x="187" y="60"/>
                    <a:pt x="187" y="66"/>
                  </a:cubicBezTo>
                  <a:cubicBezTo>
                    <a:pt x="187" y="162"/>
                    <a:pt x="187" y="162"/>
                    <a:pt x="187" y="162"/>
                  </a:cubicBezTo>
                  <a:cubicBezTo>
                    <a:pt x="187" y="162"/>
                    <a:pt x="178" y="154"/>
                    <a:pt x="176" y="153"/>
                  </a:cubicBezTo>
                  <a:cubicBezTo>
                    <a:pt x="168" y="148"/>
                    <a:pt x="133" y="120"/>
                    <a:pt x="92" y="115"/>
                  </a:cubicBezTo>
                  <a:cubicBezTo>
                    <a:pt x="86" y="114"/>
                    <a:pt x="79" y="114"/>
                    <a:pt x="73" y="114"/>
                  </a:cubicBezTo>
                  <a:cubicBezTo>
                    <a:pt x="32" y="114"/>
                    <a:pt x="8" y="131"/>
                    <a:pt x="8" y="131"/>
                  </a:cubicBezTo>
                  <a:cubicBezTo>
                    <a:pt x="5" y="133"/>
                    <a:pt x="2" y="133"/>
                    <a:pt x="1" y="131"/>
                  </a:cubicBezTo>
                  <a:cubicBezTo>
                    <a:pt x="0" y="130"/>
                    <a:pt x="1" y="128"/>
                    <a:pt x="2" y="126"/>
                  </a:cubicBezTo>
                  <a:cubicBezTo>
                    <a:pt x="26" y="70"/>
                    <a:pt x="26" y="70"/>
                    <a:pt x="26" y="70"/>
                  </a:cubicBezTo>
                  <a:cubicBezTo>
                    <a:pt x="48" y="20"/>
                    <a:pt x="48" y="20"/>
                    <a:pt x="48" y="20"/>
                  </a:cubicBezTo>
                  <a:cubicBezTo>
                    <a:pt x="49" y="18"/>
                    <a:pt x="51" y="15"/>
                    <a:pt x="53" y="13"/>
                  </a:cubicBezTo>
                  <a:cubicBezTo>
                    <a:pt x="55" y="11"/>
                    <a:pt x="59" y="10"/>
                    <a:pt x="62" y="9"/>
                  </a:cubicBezTo>
                  <a:cubicBezTo>
                    <a:pt x="65" y="9"/>
                    <a:pt x="98" y="0"/>
                    <a:pt x="130" y="11"/>
                  </a:cubicBezTo>
                  <a:cubicBezTo>
                    <a:pt x="163" y="22"/>
                    <a:pt x="179" y="45"/>
                    <a:pt x="181"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8" name="Freeform 85"/>
            <p:cNvSpPr/>
            <p:nvPr/>
          </p:nvSpPr>
          <p:spPr bwMode="auto">
            <a:xfrm>
              <a:off x="6115050" y="2903538"/>
              <a:ext cx="400050" cy="747713"/>
            </a:xfrm>
            <a:custGeom>
              <a:avLst/>
              <a:gdLst>
                <a:gd name="T0" fmla="*/ 44 w 106"/>
                <a:gd name="T1" fmla="*/ 119 h 197"/>
                <a:gd name="T2" fmla="*/ 3 w 106"/>
                <a:gd name="T3" fmla="*/ 187 h 197"/>
                <a:gd name="T4" fmla="*/ 0 w 106"/>
                <a:gd name="T5" fmla="*/ 197 h 197"/>
                <a:gd name="T6" fmla="*/ 0 w 106"/>
                <a:gd name="T7" fmla="*/ 83 h 197"/>
                <a:gd name="T8" fmla="*/ 1 w 106"/>
                <a:gd name="T9" fmla="*/ 64 h 197"/>
                <a:gd name="T10" fmla="*/ 16 w 106"/>
                <a:gd name="T11" fmla="*/ 29 h 197"/>
                <a:gd name="T12" fmla="*/ 49 w 106"/>
                <a:gd name="T13" fmla="*/ 1 h 197"/>
                <a:gd name="T14" fmla="*/ 54 w 106"/>
                <a:gd name="T15" fmla="*/ 0 h 197"/>
                <a:gd name="T16" fmla="*/ 64 w 106"/>
                <a:gd name="T17" fmla="*/ 6 h 197"/>
                <a:gd name="T18" fmla="*/ 85 w 106"/>
                <a:gd name="T19" fmla="*/ 42 h 197"/>
                <a:gd name="T20" fmla="*/ 86 w 106"/>
                <a:gd name="T21" fmla="*/ 42 h 197"/>
                <a:gd name="T22" fmla="*/ 104 w 106"/>
                <a:gd name="T23" fmla="*/ 74 h 197"/>
                <a:gd name="T24" fmla="*/ 105 w 106"/>
                <a:gd name="T25" fmla="*/ 82 h 197"/>
                <a:gd name="T26" fmla="*/ 99 w 106"/>
                <a:gd name="T27" fmla="*/ 87 h 197"/>
                <a:gd name="T28" fmla="*/ 44 w 106"/>
                <a:gd name="T29" fmla="*/ 119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97">
                  <a:moveTo>
                    <a:pt x="44" y="119"/>
                  </a:moveTo>
                  <a:cubicBezTo>
                    <a:pt x="25" y="137"/>
                    <a:pt x="12" y="156"/>
                    <a:pt x="3" y="187"/>
                  </a:cubicBezTo>
                  <a:cubicBezTo>
                    <a:pt x="0" y="197"/>
                    <a:pt x="0" y="197"/>
                    <a:pt x="0" y="197"/>
                  </a:cubicBezTo>
                  <a:cubicBezTo>
                    <a:pt x="0" y="83"/>
                    <a:pt x="0" y="83"/>
                    <a:pt x="0" y="83"/>
                  </a:cubicBezTo>
                  <a:cubicBezTo>
                    <a:pt x="0" y="77"/>
                    <a:pt x="0" y="69"/>
                    <a:pt x="1" y="64"/>
                  </a:cubicBezTo>
                  <a:cubicBezTo>
                    <a:pt x="1" y="63"/>
                    <a:pt x="3" y="47"/>
                    <a:pt x="16" y="29"/>
                  </a:cubicBezTo>
                  <a:cubicBezTo>
                    <a:pt x="30" y="11"/>
                    <a:pt x="48" y="1"/>
                    <a:pt x="49" y="1"/>
                  </a:cubicBezTo>
                  <a:cubicBezTo>
                    <a:pt x="51" y="0"/>
                    <a:pt x="52" y="0"/>
                    <a:pt x="54" y="0"/>
                  </a:cubicBezTo>
                  <a:cubicBezTo>
                    <a:pt x="58" y="0"/>
                    <a:pt x="62" y="2"/>
                    <a:pt x="64" y="6"/>
                  </a:cubicBezTo>
                  <a:cubicBezTo>
                    <a:pt x="85" y="42"/>
                    <a:pt x="85" y="42"/>
                    <a:pt x="85" y="42"/>
                  </a:cubicBezTo>
                  <a:cubicBezTo>
                    <a:pt x="86" y="42"/>
                    <a:pt x="86" y="42"/>
                    <a:pt x="86" y="42"/>
                  </a:cubicBezTo>
                  <a:cubicBezTo>
                    <a:pt x="104" y="74"/>
                    <a:pt x="104" y="74"/>
                    <a:pt x="104" y="74"/>
                  </a:cubicBezTo>
                  <a:cubicBezTo>
                    <a:pt x="106" y="76"/>
                    <a:pt x="106" y="79"/>
                    <a:pt x="105" y="82"/>
                  </a:cubicBezTo>
                  <a:cubicBezTo>
                    <a:pt x="104" y="84"/>
                    <a:pt x="102" y="86"/>
                    <a:pt x="99" y="87"/>
                  </a:cubicBezTo>
                  <a:cubicBezTo>
                    <a:pt x="99" y="87"/>
                    <a:pt x="66" y="99"/>
                    <a:pt x="44"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9" name="Freeform 86"/>
            <p:cNvSpPr/>
            <p:nvPr/>
          </p:nvSpPr>
          <p:spPr bwMode="auto">
            <a:xfrm>
              <a:off x="6194425" y="3529013"/>
              <a:ext cx="642938" cy="160338"/>
            </a:xfrm>
            <a:custGeom>
              <a:avLst/>
              <a:gdLst>
                <a:gd name="T0" fmla="*/ 155 w 170"/>
                <a:gd name="T1" fmla="*/ 11 h 42"/>
                <a:gd name="T2" fmla="*/ 154 w 170"/>
                <a:gd name="T3" fmla="*/ 10 h 42"/>
                <a:gd name="T4" fmla="*/ 153 w 170"/>
                <a:gd name="T5" fmla="*/ 10 h 42"/>
                <a:gd name="T6" fmla="*/ 108 w 170"/>
                <a:gd name="T7" fmla="*/ 0 h 42"/>
                <a:gd name="T8" fmla="*/ 85 w 170"/>
                <a:gd name="T9" fmla="*/ 3 h 42"/>
                <a:gd name="T10" fmla="*/ 11 w 170"/>
                <a:gd name="T11" fmla="*/ 35 h 42"/>
                <a:gd name="T12" fmla="*/ 11 w 170"/>
                <a:gd name="T13" fmla="*/ 36 h 42"/>
                <a:gd name="T14" fmla="*/ 7 w 170"/>
                <a:gd name="T15" fmla="*/ 38 h 42"/>
                <a:gd name="T16" fmla="*/ 3 w 170"/>
                <a:gd name="T17" fmla="*/ 40 h 42"/>
                <a:gd name="T18" fmla="*/ 1 w 170"/>
                <a:gd name="T19" fmla="*/ 42 h 42"/>
                <a:gd name="T20" fmla="*/ 0 w 170"/>
                <a:gd name="T21" fmla="*/ 42 h 42"/>
                <a:gd name="T22" fmla="*/ 161 w 170"/>
                <a:gd name="T23" fmla="*/ 42 h 42"/>
                <a:gd name="T24" fmla="*/ 169 w 170"/>
                <a:gd name="T25" fmla="*/ 38 h 42"/>
                <a:gd name="T26" fmla="*/ 167 w 170"/>
                <a:gd name="T27" fmla="*/ 28 h 42"/>
                <a:gd name="T28" fmla="*/ 155 w 170"/>
                <a:gd name="T29"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42">
                  <a:moveTo>
                    <a:pt x="155" y="11"/>
                  </a:moveTo>
                  <a:cubicBezTo>
                    <a:pt x="155" y="11"/>
                    <a:pt x="154" y="10"/>
                    <a:pt x="154" y="10"/>
                  </a:cubicBezTo>
                  <a:cubicBezTo>
                    <a:pt x="153" y="10"/>
                    <a:pt x="153" y="10"/>
                    <a:pt x="153" y="10"/>
                  </a:cubicBezTo>
                  <a:cubicBezTo>
                    <a:pt x="152" y="9"/>
                    <a:pt x="132" y="0"/>
                    <a:pt x="108" y="0"/>
                  </a:cubicBezTo>
                  <a:cubicBezTo>
                    <a:pt x="100" y="0"/>
                    <a:pt x="92" y="1"/>
                    <a:pt x="85" y="3"/>
                  </a:cubicBezTo>
                  <a:cubicBezTo>
                    <a:pt x="46" y="15"/>
                    <a:pt x="15" y="33"/>
                    <a:pt x="11" y="35"/>
                  </a:cubicBezTo>
                  <a:cubicBezTo>
                    <a:pt x="11" y="36"/>
                    <a:pt x="11" y="36"/>
                    <a:pt x="11" y="36"/>
                  </a:cubicBezTo>
                  <a:cubicBezTo>
                    <a:pt x="10" y="36"/>
                    <a:pt x="9" y="37"/>
                    <a:pt x="7" y="38"/>
                  </a:cubicBezTo>
                  <a:cubicBezTo>
                    <a:pt x="6" y="39"/>
                    <a:pt x="4" y="40"/>
                    <a:pt x="3" y="40"/>
                  </a:cubicBezTo>
                  <a:cubicBezTo>
                    <a:pt x="2" y="41"/>
                    <a:pt x="2" y="41"/>
                    <a:pt x="1" y="42"/>
                  </a:cubicBezTo>
                  <a:cubicBezTo>
                    <a:pt x="0" y="42"/>
                    <a:pt x="0" y="42"/>
                    <a:pt x="0" y="42"/>
                  </a:cubicBezTo>
                  <a:cubicBezTo>
                    <a:pt x="161" y="42"/>
                    <a:pt x="161" y="42"/>
                    <a:pt x="161" y="42"/>
                  </a:cubicBezTo>
                  <a:cubicBezTo>
                    <a:pt x="165" y="42"/>
                    <a:pt x="167" y="41"/>
                    <a:pt x="169" y="38"/>
                  </a:cubicBezTo>
                  <a:cubicBezTo>
                    <a:pt x="170" y="35"/>
                    <a:pt x="169" y="32"/>
                    <a:pt x="167" y="28"/>
                  </a:cubicBezTo>
                  <a:cubicBezTo>
                    <a:pt x="167" y="28"/>
                    <a:pt x="162" y="20"/>
                    <a:pt x="15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11" name="Freeform 87"/>
            <p:cNvSpPr/>
            <p:nvPr/>
          </p:nvSpPr>
          <p:spPr bwMode="auto">
            <a:xfrm>
              <a:off x="5335588" y="3771901"/>
              <a:ext cx="1520825" cy="155575"/>
            </a:xfrm>
            <a:custGeom>
              <a:avLst/>
              <a:gdLst>
                <a:gd name="T0" fmla="*/ 402 w 402"/>
                <a:gd name="T1" fmla="*/ 24 h 41"/>
                <a:gd name="T2" fmla="*/ 385 w 402"/>
                <a:gd name="T3" fmla="*/ 41 h 41"/>
                <a:gd name="T4" fmla="*/ 382 w 402"/>
                <a:gd name="T5" fmla="*/ 41 h 41"/>
                <a:gd name="T6" fmla="*/ 232 w 402"/>
                <a:gd name="T7" fmla="*/ 28 h 41"/>
                <a:gd name="T8" fmla="*/ 217 w 402"/>
                <a:gd name="T9" fmla="*/ 34 h 41"/>
                <a:gd name="T10" fmla="*/ 216 w 402"/>
                <a:gd name="T11" fmla="*/ 35 h 41"/>
                <a:gd name="T12" fmla="*/ 201 w 402"/>
                <a:gd name="T13" fmla="*/ 40 h 41"/>
                <a:gd name="T14" fmla="*/ 201 w 402"/>
                <a:gd name="T15" fmla="*/ 40 h 41"/>
                <a:gd name="T16" fmla="*/ 186 w 402"/>
                <a:gd name="T17" fmla="*/ 35 h 41"/>
                <a:gd name="T18" fmla="*/ 185 w 402"/>
                <a:gd name="T19" fmla="*/ 34 h 41"/>
                <a:gd name="T20" fmla="*/ 170 w 402"/>
                <a:gd name="T21" fmla="*/ 28 h 41"/>
                <a:gd name="T22" fmla="*/ 20 w 402"/>
                <a:gd name="T23" fmla="*/ 41 h 41"/>
                <a:gd name="T24" fmla="*/ 17 w 402"/>
                <a:gd name="T25" fmla="*/ 41 h 41"/>
                <a:gd name="T26" fmla="*/ 0 w 402"/>
                <a:gd name="T27" fmla="*/ 24 h 41"/>
                <a:gd name="T28" fmla="*/ 16 w 402"/>
                <a:gd name="T29" fmla="*/ 7 h 41"/>
                <a:gd name="T30" fmla="*/ 17 w 402"/>
                <a:gd name="T31" fmla="*/ 7 h 41"/>
                <a:gd name="T32" fmla="*/ 164 w 402"/>
                <a:gd name="T33" fmla="*/ 0 h 41"/>
                <a:gd name="T34" fmla="*/ 177 w 402"/>
                <a:gd name="T35" fmla="*/ 6 h 41"/>
                <a:gd name="T36" fmla="*/ 182 w 402"/>
                <a:gd name="T37" fmla="*/ 6 h 41"/>
                <a:gd name="T38" fmla="*/ 194 w 402"/>
                <a:gd name="T39" fmla="*/ 0 h 41"/>
                <a:gd name="T40" fmla="*/ 208 w 402"/>
                <a:gd name="T41" fmla="*/ 0 h 41"/>
                <a:gd name="T42" fmla="*/ 220 w 402"/>
                <a:gd name="T43" fmla="*/ 6 h 41"/>
                <a:gd name="T44" fmla="*/ 225 w 402"/>
                <a:gd name="T45" fmla="*/ 6 h 41"/>
                <a:gd name="T46" fmla="*/ 238 w 402"/>
                <a:gd name="T47" fmla="*/ 0 h 41"/>
                <a:gd name="T48" fmla="*/ 385 w 402"/>
                <a:gd name="T49" fmla="*/ 7 h 41"/>
                <a:gd name="T50" fmla="*/ 386 w 402"/>
                <a:gd name="T51" fmla="*/ 7 h 41"/>
                <a:gd name="T52" fmla="*/ 402 w 402"/>
                <a:gd name="T53" fmla="*/ 2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02" h="41">
                  <a:moveTo>
                    <a:pt x="402" y="24"/>
                  </a:moveTo>
                  <a:cubicBezTo>
                    <a:pt x="402" y="33"/>
                    <a:pt x="394" y="41"/>
                    <a:pt x="385" y="41"/>
                  </a:cubicBezTo>
                  <a:cubicBezTo>
                    <a:pt x="384" y="41"/>
                    <a:pt x="383" y="41"/>
                    <a:pt x="382" y="41"/>
                  </a:cubicBezTo>
                  <a:cubicBezTo>
                    <a:pt x="232" y="28"/>
                    <a:pt x="232" y="28"/>
                    <a:pt x="232" y="28"/>
                  </a:cubicBezTo>
                  <a:cubicBezTo>
                    <a:pt x="227" y="28"/>
                    <a:pt x="220" y="31"/>
                    <a:pt x="217" y="34"/>
                  </a:cubicBezTo>
                  <a:cubicBezTo>
                    <a:pt x="217" y="34"/>
                    <a:pt x="217" y="34"/>
                    <a:pt x="216" y="35"/>
                  </a:cubicBezTo>
                  <a:cubicBezTo>
                    <a:pt x="214" y="38"/>
                    <a:pt x="208" y="40"/>
                    <a:pt x="201" y="40"/>
                  </a:cubicBezTo>
                  <a:cubicBezTo>
                    <a:pt x="201" y="40"/>
                    <a:pt x="201" y="40"/>
                    <a:pt x="201" y="40"/>
                  </a:cubicBezTo>
                  <a:cubicBezTo>
                    <a:pt x="194" y="40"/>
                    <a:pt x="188" y="38"/>
                    <a:pt x="186" y="35"/>
                  </a:cubicBezTo>
                  <a:cubicBezTo>
                    <a:pt x="185" y="34"/>
                    <a:pt x="185" y="34"/>
                    <a:pt x="185" y="34"/>
                  </a:cubicBezTo>
                  <a:cubicBezTo>
                    <a:pt x="182" y="31"/>
                    <a:pt x="175" y="28"/>
                    <a:pt x="170" y="28"/>
                  </a:cubicBezTo>
                  <a:cubicBezTo>
                    <a:pt x="20" y="41"/>
                    <a:pt x="20" y="41"/>
                    <a:pt x="20" y="41"/>
                  </a:cubicBezTo>
                  <a:cubicBezTo>
                    <a:pt x="19" y="41"/>
                    <a:pt x="18" y="41"/>
                    <a:pt x="17" y="41"/>
                  </a:cubicBezTo>
                  <a:cubicBezTo>
                    <a:pt x="8" y="41"/>
                    <a:pt x="0" y="33"/>
                    <a:pt x="0" y="24"/>
                  </a:cubicBezTo>
                  <a:cubicBezTo>
                    <a:pt x="0" y="15"/>
                    <a:pt x="7" y="8"/>
                    <a:pt x="16" y="7"/>
                  </a:cubicBezTo>
                  <a:cubicBezTo>
                    <a:pt x="16" y="7"/>
                    <a:pt x="16" y="7"/>
                    <a:pt x="17" y="7"/>
                  </a:cubicBezTo>
                  <a:cubicBezTo>
                    <a:pt x="164" y="0"/>
                    <a:pt x="164" y="0"/>
                    <a:pt x="164" y="0"/>
                  </a:cubicBezTo>
                  <a:cubicBezTo>
                    <a:pt x="169" y="0"/>
                    <a:pt x="175" y="2"/>
                    <a:pt x="177" y="6"/>
                  </a:cubicBezTo>
                  <a:cubicBezTo>
                    <a:pt x="178" y="10"/>
                    <a:pt x="181" y="10"/>
                    <a:pt x="182" y="6"/>
                  </a:cubicBezTo>
                  <a:cubicBezTo>
                    <a:pt x="183" y="2"/>
                    <a:pt x="189" y="0"/>
                    <a:pt x="194" y="0"/>
                  </a:cubicBezTo>
                  <a:cubicBezTo>
                    <a:pt x="208" y="0"/>
                    <a:pt x="208" y="0"/>
                    <a:pt x="208" y="0"/>
                  </a:cubicBezTo>
                  <a:cubicBezTo>
                    <a:pt x="213" y="0"/>
                    <a:pt x="219" y="2"/>
                    <a:pt x="220" y="6"/>
                  </a:cubicBezTo>
                  <a:cubicBezTo>
                    <a:pt x="221" y="10"/>
                    <a:pt x="224" y="10"/>
                    <a:pt x="225" y="6"/>
                  </a:cubicBezTo>
                  <a:cubicBezTo>
                    <a:pt x="227" y="2"/>
                    <a:pt x="233" y="0"/>
                    <a:pt x="238" y="0"/>
                  </a:cubicBezTo>
                  <a:cubicBezTo>
                    <a:pt x="385" y="7"/>
                    <a:pt x="385" y="7"/>
                    <a:pt x="385" y="7"/>
                  </a:cubicBezTo>
                  <a:cubicBezTo>
                    <a:pt x="386" y="7"/>
                    <a:pt x="386" y="7"/>
                    <a:pt x="386" y="7"/>
                  </a:cubicBezTo>
                  <a:cubicBezTo>
                    <a:pt x="395" y="8"/>
                    <a:pt x="402" y="15"/>
                    <a:pt x="402"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12" name="Freeform 88"/>
            <p:cNvSpPr>
              <a:spLocks noEditPoints="1"/>
            </p:cNvSpPr>
            <p:nvPr/>
          </p:nvSpPr>
          <p:spPr bwMode="auto">
            <a:xfrm>
              <a:off x="5302250" y="3733801"/>
              <a:ext cx="1587500" cy="227013"/>
            </a:xfrm>
            <a:custGeom>
              <a:avLst/>
              <a:gdLst>
                <a:gd name="T0" fmla="*/ 394 w 420"/>
                <a:gd name="T1" fmla="*/ 60 h 60"/>
                <a:gd name="T2" fmla="*/ 394 w 420"/>
                <a:gd name="T3" fmla="*/ 60 h 60"/>
                <a:gd name="T4" fmla="*/ 391 w 420"/>
                <a:gd name="T5" fmla="*/ 60 h 60"/>
                <a:gd name="T6" fmla="*/ 390 w 420"/>
                <a:gd name="T7" fmla="*/ 60 h 60"/>
                <a:gd name="T8" fmla="*/ 240 w 420"/>
                <a:gd name="T9" fmla="*/ 47 h 60"/>
                <a:gd name="T10" fmla="*/ 240 w 420"/>
                <a:gd name="T11" fmla="*/ 47 h 60"/>
                <a:gd name="T12" fmla="*/ 235 w 420"/>
                <a:gd name="T13" fmla="*/ 49 h 60"/>
                <a:gd name="T14" fmla="*/ 235 w 420"/>
                <a:gd name="T15" fmla="*/ 52 h 60"/>
                <a:gd name="T16" fmla="*/ 230 w 420"/>
                <a:gd name="T17" fmla="*/ 53 h 60"/>
                <a:gd name="T18" fmla="*/ 210 w 420"/>
                <a:gd name="T19" fmla="*/ 59 h 60"/>
                <a:gd name="T20" fmla="*/ 210 w 420"/>
                <a:gd name="T21" fmla="*/ 59 h 60"/>
                <a:gd name="T22" fmla="*/ 190 w 420"/>
                <a:gd name="T23" fmla="*/ 53 h 60"/>
                <a:gd name="T24" fmla="*/ 186 w 420"/>
                <a:gd name="T25" fmla="*/ 52 h 60"/>
                <a:gd name="T26" fmla="*/ 185 w 420"/>
                <a:gd name="T27" fmla="*/ 49 h 60"/>
                <a:gd name="T28" fmla="*/ 180 w 420"/>
                <a:gd name="T29" fmla="*/ 47 h 60"/>
                <a:gd name="T30" fmla="*/ 29 w 420"/>
                <a:gd name="T31" fmla="*/ 60 h 60"/>
                <a:gd name="T32" fmla="*/ 26 w 420"/>
                <a:gd name="T33" fmla="*/ 60 h 60"/>
                <a:gd name="T34" fmla="*/ 0 w 420"/>
                <a:gd name="T35" fmla="*/ 34 h 60"/>
                <a:gd name="T36" fmla="*/ 25 w 420"/>
                <a:gd name="T37" fmla="*/ 8 h 60"/>
                <a:gd name="T38" fmla="*/ 25 w 420"/>
                <a:gd name="T39" fmla="*/ 8 h 60"/>
                <a:gd name="T40" fmla="*/ 173 w 420"/>
                <a:gd name="T41" fmla="*/ 1 h 60"/>
                <a:gd name="T42" fmla="*/ 188 w 420"/>
                <a:gd name="T43" fmla="*/ 5 h 60"/>
                <a:gd name="T44" fmla="*/ 203 w 420"/>
                <a:gd name="T45" fmla="*/ 0 h 60"/>
                <a:gd name="T46" fmla="*/ 217 w 420"/>
                <a:gd name="T47" fmla="*/ 0 h 60"/>
                <a:gd name="T48" fmla="*/ 232 w 420"/>
                <a:gd name="T49" fmla="*/ 5 h 60"/>
                <a:gd name="T50" fmla="*/ 247 w 420"/>
                <a:gd name="T51" fmla="*/ 1 h 60"/>
                <a:gd name="T52" fmla="*/ 395 w 420"/>
                <a:gd name="T53" fmla="*/ 8 h 60"/>
                <a:gd name="T54" fmla="*/ 420 w 420"/>
                <a:gd name="T55" fmla="*/ 34 h 60"/>
                <a:gd name="T56" fmla="*/ 394 w 420"/>
                <a:gd name="T57" fmla="*/ 60 h 60"/>
                <a:gd name="T58" fmla="*/ 26 w 420"/>
                <a:gd name="T59" fmla="*/ 26 h 60"/>
                <a:gd name="T60" fmla="*/ 18 w 420"/>
                <a:gd name="T61" fmla="*/ 34 h 60"/>
                <a:gd name="T62" fmla="*/ 26 w 420"/>
                <a:gd name="T63" fmla="*/ 42 h 60"/>
                <a:gd name="T64" fmla="*/ 26 w 420"/>
                <a:gd name="T65" fmla="*/ 42 h 60"/>
                <a:gd name="T66" fmla="*/ 28 w 420"/>
                <a:gd name="T67" fmla="*/ 42 h 60"/>
                <a:gd name="T68" fmla="*/ 178 w 420"/>
                <a:gd name="T69" fmla="*/ 29 h 60"/>
                <a:gd name="T70" fmla="*/ 180 w 420"/>
                <a:gd name="T71" fmla="*/ 29 h 60"/>
                <a:gd name="T72" fmla="*/ 199 w 420"/>
                <a:gd name="T73" fmla="*/ 36 h 60"/>
                <a:gd name="T74" fmla="*/ 200 w 420"/>
                <a:gd name="T75" fmla="*/ 36 h 60"/>
                <a:gd name="T76" fmla="*/ 202 w 420"/>
                <a:gd name="T77" fmla="*/ 39 h 60"/>
                <a:gd name="T78" fmla="*/ 210 w 420"/>
                <a:gd name="T79" fmla="*/ 41 h 60"/>
                <a:gd name="T80" fmla="*/ 210 w 420"/>
                <a:gd name="T81" fmla="*/ 41 h 60"/>
                <a:gd name="T82" fmla="*/ 218 w 420"/>
                <a:gd name="T83" fmla="*/ 39 h 60"/>
                <a:gd name="T84" fmla="*/ 220 w 420"/>
                <a:gd name="T85" fmla="*/ 36 h 60"/>
                <a:gd name="T86" fmla="*/ 221 w 420"/>
                <a:gd name="T87" fmla="*/ 36 h 60"/>
                <a:gd name="T88" fmla="*/ 242 w 420"/>
                <a:gd name="T89" fmla="*/ 29 h 60"/>
                <a:gd name="T90" fmla="*/ 392 w 420"/>
                <a:gd name="T91" fmla="*/ 42 h 60"/>
                <a:gd name="T92" fmla="*/ 394 w 420"/>
                <a:gd name="T93" fmla="*/ 42 h 60"/>
                <a:gd name="T94" fmla="*/ 402 w 420"/>
                <a:gd name="T95" fmla="*/ 34 h 60"/>
                <a:gd name="T96" fmla="*/ 395 w 420"/>
                <a:gd name="T97" fmla="*/ 26 h 60"/>
                <a:gd name="T98" fmla="*/ 394 w 420"/>
                <a:gd name="T99" fmla="*/ 26 h 60"/>
                <a:gd name="T100" fmla="*/ 246 w 420"/>
                <a:gd name="T101" fmla="*/ 19 h 60"/>
                <a:gd name="T102" fmla="*/ 246 w 420"/>
                <a:gd name="T103" fmla="*/ 19 h 60"/>
                <a:gd name="T104" fmla="*/ 242 w 420"/>
                <a:gd name="T105" fmla="*/ 20 h 60"/>
                <a:gd name="T106" fmla="*/ 231 w 420"/>
                <a:gd name="T107" fmla="*/ 28 h 60"/>
                <a:gd name="T108" fmla="*/ 221 w 420"/>
                <a:gd name="T109" fmla="*/ 20 h 60"/>
                <a:gd name="T110" fmla="*/ 217 w 420"/>
                <a:gd name="T111" fmla="*/ 19 h 60"/>
                <a:gd name="T112" fmla="*/ 203 w 420"/>
                <a:gd name="T113" fmla="*/ 19 h 60"/>
                <a:gd name="T114" fmla="*/ 199 w 420"/>
                <a:gd name="T115" fmla="*/ 20 h 60"/>
                <a:gd name="T116" fmla="*/ 189 w 420"/>
                <a:gd name="T117" fmla="*/ 28 h 60"/>
                <a:gd name="T118" fmla="*/ 178 w 420"/>
                <a:gd name="T119" fmla="*/ 20 h 60"/>
                <a:gd name="T120" fmla="*/ 174 w 420"/>
                <a:gd name="T121" fmla="*/ 19 h 60"/>
                <a:gd name="T122" fmla="*/ 26 w 420"/>
                <a:gd name="T123" fmla="*/ 26 h 60"/>
                <a:gd name="T124" fmla="*/ 26 w 420"/>
                <a:gd name="T125" fmla="*/ 2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0" h="60">
                  <a:moveTo>
                    <a:pt x="394" y="60"/>
                  </a:moveTo>
                  <a:cubicBezTo>
                    <a:pt x="394" y="60"/>
                    <a:pt x="394" y="60"/>
                    <a:pt x="394" y="60"/>
                  </a:cubicBezTo>
                  <a:cubicBezTo>
                    <a:pt x="393" y="60"/>
                    <a:pt x="392" y="60"/>
                    <a:pt x="391" y="60"/>
                  </a:cubicBezTo>
                  <a:cubicBezTo>
                    <a:pt x="390" y="60"/>
                    <a:pt x="390" y="60"/>
                    <a:pt x="390" y="60"/>
                  </a:cubicBezTo>
                  <a:cubicBezTo>
                    <a:pt x="240" y="47"/>
                    <a:pt x="240" y="47"/>
                    <a:pt x="240" y="47"/>
                  </a:cubicBezTo>
                  <a:cubicBezTo>
                    <a:pt x="240" y="47"/>
                    <a:pt x="240" y="47"/>
                    <a:pt x="240" y="47"/>
                  </a:cubicBezTo>
                  <a:cubicBezTo>
                    <a:pt x="238" y="47"/>
                    <a:pt x="236" y="48"/>
                    <a:pt x="235" y="49"/>
                  </a:cubicBezTo>
                  <a:cubicBezTo>
                    <a:pt x="235" y="52"/>
                    <a:pt x="235" y="52"/>
                    <a:pt x="235" y="52"/>
                  </a:cubicBezTo>
                  <a:cubicBezTo>
                    <a:pt x="230" y="53"/>
                    <a:pt x="230" y="53"/>
                    <a:pt x="230" y="53"/>
                  </a:cubicBezTo>
                  <a:cubicBezTo>
                    <a:pt x="225" y="57"/>
                    <a:pt x="218" y="59"/>
                    <a:pt x="210" y="59"/>
                  </a:cubicBezTo>
                  <a:cubicBezTo>
                    <a:pt x="210" y="59"/>
                    <a:pt x="210" y="59"/>
                    <a:pt x="210" y="59"/>
                  </a:cubicBezTo>
                  <a:cubicBezTo>
                    <a:pt x="202" y="59"/>
                    <a:pt x="195" y="57"/>
                    <a:pt x="190" y="53"/>
                  </a:cubicBezTo>
                  <a:cubicBezTo>
                    <a:pt x="186" y="52"/>
                    <a:pt x="186" y="52"/>
                    <a:pt x="186" y="52"/>
                  </a:cubicBezTo>
                  <a:cubicBezTo>
                    <a:pt x="185" y="49"/>
                    <a:pt x="185" y="49"/>
                    <a:pt x="185" y="49"/>
                  </a:cubicBezTo>
                  <a:cubicBezTo>
                    <a:pt x="184" y="48"/>
                    <a:pt x="182" y="47"/>
                    <a:pt x="180" y="47"/>
                  </a:cubicBezTo>
                  <a:cubicBezTo>
                    <a:pt x="29" y="60"/>
                    <a:pt x="29" y="60"/>
                    <a:pt x="29" y="60"/>
                  </a:cubicBezTo>
                  <a:cubicBezTo>
                    <a:pt x="28" y="60"/>
                    <a:pt x="27" y="60"/>
                    <a:pt x="26" y="60"/>
                  </a:cubicBezTo>
                  <a:cubicBezTo>
                    <a:pt x="12" y="60"/>
                    <a:pt x="0" y="48"/>
                    <a:pt x="0" y="34"/>
                  </a:cubicBezTo>
                  <a:cubicBezTo>
                    <a:pt x="0" y="20"/>
                    <a:pt x="11" y="9"/>
                    <a:pt x="25" y="8"/>
                  </a:cubicBezTo>
                  <a:cubicBezTo>
                    <a:pt x="25" y="8"/>
                    <a:pt x="25" y="8"/>
                    <a:pt x="25" y="8"/>
                  </a:cubicBezTo>
                  <a:cubicBezTo>
                    <a:pt x="173" y="1"/>
                    <a:pt x="173" y="1"/>
                    <a:pt x="173" y="1"/>
                  </a:cubicBezTo>
                  <a:cubicBezTo>
                    <a:pt x="178" y="1"/>
                    <a:pt x="184" y="2"/>
                    <a:pt x="188" y="5"/>
                  </a:cubicBezTo>
                  <a:cubicBezTo>
                    <a:pt x="192" y="2"/>
                    <a:pt x="197" y="0"/>
                    <a:pt x="203" y="0"/>
                  </a:cubicBezTo>
                  <a:cubicBezTo>
                    <a:pt x="217" y="0"/>
                    <a:pt x="217" y="0"/>
                    <a:pt x="217" y="0"/>
                  </a:cubicBezTo>
                  <a:cubicBezTo>
                    <a:pt x="223" y="0"/>
                    <a:pt x="228" y="2"/>
                    <a:pt x="232" y="5"/>
                  </a:cubicBezTo>
                  <a:cubicBezTo>
                    <a:pt x="236" y="2"/>
                    <a:pt x="242" y="1"/>
                    <a:pt x="247" y="1"/>
                  </a:cubicBezTo>
                  <a:cubicBezTo>
                    <a:pt x="395" y="8"/>
                    <a:pt x="395" y="8"/>
                    <a:pt x="395" y="8"/>
                  </a:cubicBezTo>
                  <a:cubicBezTo>
                    <a:pt x="409" y="9"/>
                    <a:pt x="420" y="20"/>
                    <a:pt x="420" y="34"/>
                  </a:cubicBezTo>
                  <a:cubicBezTo>
                    <a:pt x="420" y="48"/>
                    <a:pt x="408" y="60"/>
                    <a:pt x="394" y="60"/>
                  </a:cubicBezTo>
                  <a:close/>
                  <a:moveTo>
                    <a:pt x="26" y="26"/>
                  </a:moveTo>
                  <a:cubicBezTo>
                    <a:pt x="21" y="26"/>
                    <a:pt x="18" y="30"/>
                    <a:pt x="18" y="34"/>
                  </a:cubicBezTo>
                  <a:cubicBezTo>
                    <a:pt x="18" y="38"/>
                    <a:pt x="22" y="42"/>
                    <a:pt x="26" y="42"/>
                  </a:cubicBezTo>
                  <a:cubicBezTo>
                    <a:pt x="26" y="42"/>
                    <a:pt x="26" y="42"/>
                    <a:pt x="26" y="42"/>
                  </a:cubicBezTo>
                  <a:cubicBezTo>
                    <a:pt x="27" y="42"/>
                    <a:pt x="28" y="42"/>
                    <a:pt x="28" y="42"/>
                  </a:cubicBezTo>
                  <a:cubicBezTo>
                    <a:pt x="178" y="29"/>
                    <a:pt x="178" y="29"/>
                    <a:pt x="178" y="29"/>
                  </a:cubicBezTo>
                  <a:cubicBezTo>
                    <a:pt x="179" y="29"/>
                    <a:pt x="179" y="29"/>
                    <a:pt x="180" y="29"/>
                  </a:cubicBezTo>
                  <a:cubicBezTo>
                    <a:pt x="187" y="29"/>
                    <a:pt x="194" y="32"/>
                    <a:pt x="199" y="36"/>
                  </a:cubicBezTo>
                  <a:cubicBezTo>
                    <a:pt x="200" y="36"/>
                    <a:pt x="200" y="36"/>
                    <a:pt x="200" y="36"/>
                  </a:cubicBezTo>
                  <a:cubicBezTo>
                    <a:pt x="202" y="39"/>
                    <a:pt x="202" y="39"/>
                    <a:pt x="202" y="39"/>
                  </a:cubicBezTo>
                  <a:cubicBezTo>
                    <a:pt x="202" y="40"/>
                    <a:pt x="205" y="41"/>
                    <a:pt x="210" y="41"/>
                  </a:cubicBezTo>
                  <a:cubicBezTo>
                    <a:pt x="210" y="41"/>
                    <a:pt x="210" y="41"/>
                    <a:pt x="210" y="41"/>
                  </a:cubicBezTo>
                  <a:cubicBezTo>
                    <a:pt x="215" y="41"/>
                    <a:pt x="218" y="40"/>
                    <a:pt x="218" y="39"/>
                  </a:cubicBezTo>
                  <a:cubicBezTo>
                    <a:pt x="220" y="36"/>
                    <a:pt x="220" y="36"/>
                    <a:pt x="220" y="36"/>
                  </a:cubicBezTo>
                  <a:cubicBezTo>
                    <a:pt x="221" y="36"/>
                    <a:pt x="221" y="36"/>
                    <a:pt x="221" y="36"/>
                  </a:cubicBezTo>
                  <a:cubicBezTo>
                    <a:pt x="227" y="32"/>
                    <a:pt x="235" y="29"/>
                    <a:pt x="242" y="29"/>
                  </a:cubicBezTo>
                  <a:cubicBezTo>
                    <a:pt x="392" y="42"/>
                    <a:pt x="392" y="42"/>
                    <a:pt x="392" y="42"/>
                  </a:cubicBezTo>
                  <a:cubicBezTo>
                    <a:pt x="392" y="42"/>
                    <a:pt x="393" y="42"/>
                    <a:pt x="394" y="42"/>
                  </a:cubicBezTo>
                  <a:cubicBezTo>
                    <a:pt x="398" y="42"/>
                    <a:pt x="402" y="38"/>
                    <a:pt x="402" y="34"/>
                  </a:cubicBezTo>
                  <a:cubicBezTo>
                    <a:pt x="402" y="30"/>
                    <a:pt x="399" y="26"/>
                    <a:pt x="395" y="26"/>
                  </a:cubicBezTo>
                  <a:cubicBezTo>
                    <a:pt x="394" y="26"/>
                    <a:pt x="394" y="26"/>
                    <a:pt x="394" y="26"/>
                  </a:cubicBezTo>
                  <a:cubicBezTo>
                    <a:pt x="246" y="19"/>
                    <a:pt x="246" y="19"/>
                    <a:pt x="246" y="19"/>
                  </a:cubicBezTo>
                  <a:cubicBezTo>
                    <a:pt x="246" y="19"/>
                    <a:pt x="246" y="19"/>
                    <a:pt x="246" y="19"/>
                  </a:cubicBezTo>
                  <a:cubicBezTo>
                    <a:pt x="244" y="19"/>
                    <a:pt x="243" y="20"/>
                    <a:pt x="242" y="20"/>
                  </a:cubicBezTo>
                  <a:cubicBezTo>
                    <a:pt x="239" y="27"/>
                    <a:pt x="234" y="28"/>
                    <a:pt x="231" y="28"/>
                  </a:cubicBezTo>
                  <a:cubicBezTo>
                    <a:pt x="227" y="28"/>
                    <a:pt x="223" y="25"/>
                    <a:pt x="221" y="20"/>
                  </a:cubicBezTo>
                  <a:cubicBezTo>
                    <a:pt x="220" y="19"/>
                    <a:pt x="219" y="19"/>
                    <a:pt x="217" y="19"/>
                  </a:cubicBezTo>
                  <a:cubicBezTo>
                    <a:pt x="203" y="19"/>
                    <a:pt x="203" y="19"/>
                    <a:pt x="203" y="19"/>
                  </a:cubicBezTo>
                  <a:cubicBezTo>
                    <a:pt x="201" y="19"/>
                    <a:pt x="200" y="19"/>
                    <a:pt x="199" y="20"/>
                  </a:cubicBezTo>
                  <a:cubicBezTo>
                    <a:pt x="197" y="25"/>
                    <a:pt x="193" y="28"/>
                    <a:pt x="189" y="28"/>
                  </a:cubicBezTo>
                  <a:cubicBezTo>
                    <a:pt x="186" y="28"/>
                    <a:pt x="181" y="27"/>
                    <a:pt x="178" y="20"/>
                  </a:cubicBezTo>
                  <a:cubicBezTo>
                    <a:pt x="177" y="20"/>
                    <a:pt x="176" y="19"/>
                    <a:pt x="174" y="19"/>
                  </a:cubicBezTo>
                  <a:cubicBezTo>
                    <a:pt x="26" y="26"/>
                    <a:pt x="26" y="26"/>
                    <a:pt x="26" y="26"/>
                  </a:cubicBezTo>
                  <a:cubicBezTo>
                    <a:pt x="26" y="26"/>
                    <a:pt x="26" y="26"/>
                    <a:pt x="26"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13" name="Freeform 89"/>
            <p:cNvSpPr/>
            <p:nvPr/>
          </p:nvSpPr>
          <p:spPr bwMode="auto">
            <a:xfrm>
              <a:off x="5354638" y="3525838"/>
              <a:ext cx="669925" cy="163513"/>
            </a:xfrm>
            <a:custGeom>
              <a:avLst/>
              <a:gdLst>
                <a:gd name="T0" fmla="*/ 169 w 177"/>
                <a:gd name="T1" fmla="*/ 37 h 43"/>
                <a:gd name="T2" fmla="*/ 168 w 177"/>
                <a:gd name="T3" fmla="*/ 36 h 43"/>
                <a:gd name="T4" fmla="*/ 92 w 177"/>
                <a:gd name="T5" fmla="*/ 1 h 43"/>
                <a:gd name="T6" fmla="*/ 75 w 177"/>
                <a:gd name="T7" fmla="*/ 0 h 43"/>
                <a:gd name="T8" fmla="*/ 18 w 177"/>
                <a:gd name="T9" fmla="*/ 15 h 43"/>
                <a:gd name="T10" fmla="*/ 3 w 177"/>
                <a:gd name="T11" fmla="*/ 29 h 43"/>
                <a:gd name="T12" fmla="*/ 1 w 177"/>
                <a:gd name="T13" fmla="*/ 39 h 43"/>
                <a:gd name="T14" fmla="*/ 9 w 177"/>
                <a:gd name="T15" fmla="*/ 43 h 43"/>
                <a:gd name="T16" fmla="*/ 177 w 177"/>
                <a:gd name="T17" fmla="*/ 43 h 43"/>
                <a:gd name="T18" fmla="*/ 169 w 177"/>
                <a:gd name="T19" fmla="*/ 3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7" h="43">
                  <a:moveTo>
                    <a:pt x="169" y="37"/>
                  </a:moveTo>
                  <a:cubicBezTo>
                    <a:pt x="168" y="36"/>
                    <a:pt x="168" y="36"/>
                    <a:pt x="168" y="36"/>
                  </a:cubicBezTo>
                  <a:cubicBezTo>
                    <a:pt x="141" y="16"/>
                    <a:pt x="115" y="5"/>
                    <a:pt x="92" y="1"/>
                  </a:cubicBezTo>
                  <a:cubicBezTo>
                    <a:pt x="87" y="1"/>
                    <a:pt x="81" y="0"/>
                    <a:pt x="75" y="0"/>
                  </a:cubicBezTo>
                  <a:cubicBezTo>
                    <a:pt x="40" y="0"/>
                    <a:pt x="18" y="15"/>
                    <a:pt x="18" y="15"/>
                  </a:cubicBezTo>
                  <a:cubicBezTo>
                    <a:pt x="16" y="16"/>
                    <a:pt x="6" y="23"/>
                    <a:pt x="3" y="29"/>
                  </a:cubicBezTo>
                  <a:cubicBezTo>
                    <a:pt x="1" y="33"/>
                    <a:pt x="0" y="36"/>
                    <a:pt x="1" y="39"/>
                  </a:cubicBezTo>
                  <a:cubicBezTo>
                    <a:pt x="3" y="42"/>
                    <a:pt x="5" y="43"/>
                    <a:pt x="9" y="43"/>
                  </a:cubicBezTo>
                  <a:cubicBezTo>
                    <a:pt x="177" y="43"/>
                    <a:pt x="177" y="43"/>
                    <a:pt x="177" y="43"/>
                  </a:cubicBezTo>
                  <a:cubicBezTo>
                    <a:pt x="174" y="40"/>
                    <a:pt x="170" y="37"/>
                    <a:pt x="169"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sp>
          <p:nvSpPr>
            <p:cNvPr id="14" name="Freeform 90"/>
            <p:cNvSpPr/>
            <p:nvPr/>
          </p:nvSpPr>
          <p:spPr bwMode="auto">
            <a:xfrm>
              <a:off x="6175375" y="3063876"/>
              <a:ext cx="654050" cy="571500"/>
            </a:xfrm>
            <a:custGeom>
              <a:avLst/>
              <a:gdLst>
                <a:gd name="T0" fmla="*/ 171 w 173"/>
                <a:gd name="T1" fmla="*/ 114 h 151"/>
                <a:gd name="T2" fmla="*/ 157 w 173"/>
                <a:gd name="T3" fmla="*/ 87 h 151"/>
                <a:gd name="T4" fmla="*/ 157 w 173"/>
                <a:gd name="T5" fmla="*/ 86 h 151"/>
                <a:gd name="T6" fmla="*/ 123 w 173"/>
                <a:gd name="T7" fmla="*/ 21 h 151"/>
                <a:gd name="T8" fmla="*/ 116 w 173"/>
                <a:gd name="T9" fmla="*/ 8 h 151"/>
                <a:gd name="T10" fmla="*/ 115 w 173"/>
                <a:gd name="T11" fmla="*/ 7 h 151"/>
                <a:gd name="T12" fmla="*/ 87 w 173"/>
                <a:gd name="T13" fmla="*/ 0 h 151"/>
                <a:gd name="T14" fmla="*/ 101 w 173"/>
                <a:gd name="T15" fmla="*/ 24 h 151"/>
                <a:gd name="T16" fmla="*/ 103 w 173"/>
                <a:gd name="T17" fmla="*/ 45 h 151"/>
                <a:gd name="T18" fmla="*/ 88 w 173"/>
                <a:gd name="T19" fmla="*/ 59 h 151"/>
                <a:gd name="T20" fmla="*/ 38 w 173"/>
                <a:gd name="T21" fmla="*/ 87 h 151"/>
                <a:gd name="T22" fmla="*/ 1 w 173"/>
                <a:gd name="T23" fmla="*/ 149 h 151"/>
                <a:gd name="T24" fmla="*/ 0 w 173"/>
                <a:gd name="T25" fmla="*/ 151 h 151"/>
                <a:gd name="T26" fmla="*/ 1 w 173"/>
                <a:gd name="T27" fmla="*/ 151 h 151"/>
                <a:gd name="T28" fmla="*/ 9 w 173"/>
                <a:gd name="T29" fmla="*/ 146 h 151"/>
                <a:gd name="T30" fmla="*/ 86 w 173"/>
                <a:gd name="T31" fmla="*/ 112 h 151"/>
                <a:gd name="T32" fmla="*/ 113 w 173"/>
                <a:gd name="T33" fmla="*/ 109 h 151"/>
                <a:gd name="T34" fmla="*/ 165 w 173"/>
                <a:gd name="T35" fmla="*/ 120 h 151"/>
                <a:gd name="T36" fmla="*/ 169 w 173"/>
                <a:gd name="T37" fmla="*/ 121 h 151"/>
                <a:gd name="T38" fmla="*/ 172 w 173"/>
                <a:gd name="T39" fmla="*/ 120 h 151"/>
                <a:gd name="T40" fmla="*/ 171 w 173"/>
                <a:gd name="T41" fmla="*/ 114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3" h="151">
                  <a:moveTo>
                    <a:pt x="171" y="114"/>
                  </a:moveTo>
                  <a:cubicBezTo>
                    <a:pt x="157" y="87"/>
                    <a:pt x="157" y="87"/>
                    <a:pt x="157" y="87"/>
                  </a:cubicBezTo>
                  <a:cubicBezTo>
                    <a:pt x="157" y="86"/>
                    <a:pt x="157" y="86"/>
                    <a:pt x="157" y="86"/>
                  </a:cubicBezTo>
                  <a:cubicBezTo>
                    <a:pt x="123" y="21"/>
                    <a:pt x="123" y="21"/>
                    <a:pt x="123" y="21"/>
                  </a:cubicBezTo>
                  <a:cubicBezTo>
                    <a:pt x="120" y="17"/>
                    <a:pt x="117" y="11"/>
                    <a:pt x="116" y="8"/>
                  </a:cubicBezTo>
                  <a:cubicBezTo>
                    <a:pt x="115" y="7"/>
                    <a:pt x="115" y="7"/>
                    <a:pt x="115" y="7"/>
                  </a:cubicBezTo>
                  <a:cubicBezTo>
                    <a:pt x="115" y="7"/>
                    <a:pt x="101" y="0"/>
                    <a:pt x="87" y="0"/>
                  </a:cubicBezTo>
                  <a:cubicBezTo>
                    <a:pt x="101" y="24"/>
                    <a:pt x="101" y="24"/>
                    <a:pt x="101" y="24"/>
                  </a:cubicBezTo>
                  <a:cubicBezTo>
                    <a:pt x="105" y="31"/>
                    <a:pt x="105" y="38"/>
                    <a:pt x="103" y="45"/>
                  </a:cubicBezTo>
                  <a:cubicBezTo>
                    <a:pt x="100" y="51"/>
                    <a:pt x="95" y="56"/>
                    <a:pt x="88" y="59"/>
                  </a:cubicBezTo>
                  <a:cubicBezTo>
                    <a:pt x="85" y="60"/>
                    <a:pt x="56" y="71"/>
                    <a:pt x="38" y="87"/>
                  </a:cubicBezTo>
                  <a:cubicBezTo>
                    <a:pt x="19" y="105"/>
                    <a:pt x="8" y="123"/>
                    <a:pt x="1" y="149"/>
                  </a:cubicBezTo>
                  <a:cubicBezTo>
                    <a:pt x="0" y="151"/>
                    <a:pt x="0" y="151"/>
                    <a:pt x="0" y="151"/>
                  </a:cubicBezTo>
                  <a:cubicBezTo>
                    <a:pt x="0" y="151"/>
                    <a:pt x="1" y="151"/>
                    <a:pt x="1" y="151"/>
                  </a:cubicBezTo>
                  <a:cubicBezTo>
                    <a:pt x="3" y="149"/>
                    <a:pt x="6" y="147"/>
                    <a:pt x="9" y="146"/>
                  </a:cubicBezTo>
                  <a:cubicBezTo>
                    <a:pt x="9" y="146"/>
                    <a:pt x="42" y="125"/>
                    <a:pt x="86" y="112"/>
                  </a:cubicBezTo>
                  <a:cubicBezTo>
                    <a:pt x="95" y="110"/>
                    <a:pt x="104" y="109"/>
                    <a:pt x="113" y="109"/>
                  </a:cubicBezTo>
                  <a:cubicBezTo>
                    <a:pt x="141" y="109"/>
                    <a:pt x="165" y="120"/>
                    <a:pt x="165" y="120"/>
                  </a:cubicBezTo>
                  <a:cubicBezTo>
                    <a:pt x="167" y="121"/>
                    <a:pt x="168" y="121"/>
                    <a:pt x="169" y="121"/>
                  </a:cubicBezTo>
                  <a:cubicBezTo>
                    <a:pt x="171" y="121"/>
                    <a:pt x="172" y="120"/>
                    <a:pt x="172" y="120"/>
                  </a:cubicBezTo>
                  <a:cubicBezTo>
                    <a:pt x="173" y="118"/>
                    <a:pt x="172" y="116"/>
                    <a:pt x="171" y="1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defRPr/>
              </a:pPr>
              <a:endParaRPr lang="zh-CN" altLang="en-US" noProof="1"/>
            </a:p>
          </p:txBody>
        </p:sp>
      </p:grpSp>
      <p:sp>
        <p:nvSpPr>
          <p:cNvPr id="26635" name="文本框 1066"/>
          <p:cNvSpPr txBox="1">
            <a:spLocks noChangeArrowheads="1"/>
          </p:cNvSpPr>
          <p:nvPr/>
        </p:nvSpPr>
        <p:spPr bwMode="auto">
          <a:xfrm>
            <a:off x="1766888" y="598488"/>
            <a:ext cx="302768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3200" b="1">
                <a:solidFill>
                  <a:schemeClr val="bg1"/>
                </a:solidFill>
              </a:rPr>
              <a:t>哈尔滨</a:t>
            </a:r>
            <a:r>
              <a:rPr lang="zh-CN" altLang="en-US" sz="3200" b="1">
                <a:solidFill>
                  <a:schemeClr val="bg1"/>
                </a:solidFill>
              </a:rPr>
              <a:t>工业大学</a:t>
            </a:r>
            <a:endParaRPr lang="zh-CN" altLang="en-US" sz="3200" b="1">
              <a:solidFill>
                <a:schemeClr val="bg1"/>
              </a:solidFill>
            </a:endParaRPr>
          </a:p>
        </p:txBody>
      </p:sp>
      <p:sp>
        <p:nvSpPr>
          <p:cNvPr id="2" name="文本框 1"/>
          <p:cNvSpPr txBox="1"/>
          <p:nvPr/>
        </p:nvSpPr>
        <p:spPr>
          <a:xfrm>
            <a:off x="1875473" y="4512945"/>
            <a:ext cx="8860155" cy="460375"/>
          </a:xfrm>
          <a:prstGeom prst="rect">
            <a:avLst/>
          </a:prstGeom>
          <a:noFill/>
        </p:spPr>
        <p:txBody>
          <a:bodyPr wrap="square" rtlCol="0" anchor="t">
            <a:spAutoFit/>
          </a:bodyPr>
          <a:p>
            <a:pPr algn="ctr" eaLnBrk="1" hangingPunct="1">
              <a:lnSpc>
                <a:spcPct val="100000"/>
              </a:lnSpc>
              <a:spcBef>
                <a:spcPct val="0"/>
              </a:spcBef>
              <a:buFontTx/>
              <a:buNone/>
            </a:pPr>
            <a:r>
              <a:rPr lang="zh-CN" altLang="en-US" sz="2400" b="1">
                <a:solidFill>
                  <a:srgbClr val="003366"/>
                </a:solidFill>
                <a:sym typeface="+mn-ea"/>
              </a:rPr>
              <a:t>线性系统的安全集构造与扰动环境下的最优控制策略设计</a:t>
            </a:r>
            <a:endParaRPr lang="zh-CN" altLang="en-US" sz="2400" b="1">
              <a:solidFill>
                <a:srgbClr val="003366"/>
              </a:solidFill>
              <a:sym typeface="+mn-ea"/>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3532,&quot;width&quot;:5584}"/>
</p:tagLst>
</file>

<file path=ppt/tags/tag2.xml><?xml version="1.0" encoding="utf-8"?>
<p:tagLst xmlns:p="http://schemas.openxmlformats.org/presentationml/2006/main">
  <p:tag name="KSO_WM_DIAGRAM_VIRTUALLY_FRAME" val="{&quot;height&quot;:349.95,&quot;left&quot;:61.3,&quot;top&quot;:102.2,&quot;width&quot;:846.2}"/>
</p:tagLst>
</file>

<file path=ppt/tags/tag3.xml><?xml version="1.0" encoding="utf-8"?>
<p:tagLst xmlns:p="http://schemas.openxmlformats.org/presentationml/2006/main">
  <p:tag name="KSO_WM_DIAGRAM_VIRTUALLY_FRAME" val="{&quot;height&quot;:349.95,&quot;left&quot;:61.3,&quot;top&quot;:102.2,&quot;width&quot;:846.2}"/>
</p:tagLst>
</file>

<file path=ppt/tags/tag4.xml><?xml version="1.0" encoding="utf-8"?>
<p:tagLst xmlns:p="http://schemas.openxmlformats.org/presentationml/2006/main">
  <p:tag name="KSO_WM_DIAGRAM_VIRTUALLY_FRAME" val="{&quot;height&quot;:349.95,&quot;left&quot;:61.3,&quot;top&quot;:102.2,&quot;width&quot;:846.2}"/>
</p:tagLst>
</file>

<file path=ppt/tags/tag5.xml><?xml version="1.0" encoding="utf-8"?>
<p:tagLst xmlns:p="http://schemas.openxmlformats.org/presentationml/2006/main">
  <p:tag name="KSO_WM_DIAGRAM_VIRTUALLY_FRAME" val="{&quot;height&quot;:349.95,&quot;left&quot;:61.3,&quot;top&quot;:102.2,&quot;width&quot;:846.2}"/>
</p:tagLst>
</file>

<file path=ppt/tags/tag6.xml><?xml version="1.0" encoding="utf-8"?>
<p:tagLst xmlns:p="http://schemas.openxmlformats.org/presentationml/2006/main">
  <p:tag name="KSO_WM_DIAGRAM_VIRTUALLY_FRAME" val="{&quot;height&quot;:349.95,&quot;left&quot;:61.3,&quot;top&quot;:102.2,&quot;width&quot;:846.2}"/>
</p:tagLst>
</file>

<file path=ppt/tags/tag7.xml><?xml version="1.0" encoding="utf-8"?>
<p:tagLst xmlns:p="http://schemas.openxmlformats.org/presentationml/2006/main">
  <p:tag name="KSO_WM_DIAGRAM_VIRTUALLY_FRAME" val="{&quot;height&quot;:349.95,&quot;left&quot;:61.3,&quot;top&quot;:102.2,&quot;width&quot;:846.2}"/>
</p:tagLst>
</file>

<file path=ppt/tags/tag8.xml><?xml version="1.0" encoding="utf-8"?>
<p:tagLst xmlns:p="http://schemas.openxmlformats.org/presentationml/2006/main">
  <p:tag name="KSO_WM_DIAGRAM_VIRTUALLY_FRAME" val="{&quot;height&quot;:349.95,&quot;left&quot;:61.3,&quot;top&quot;:102.2,&quot;width&quot;:846.2}"/>
</p:tagLst>
</file>

<file path=ppt/tags/tag9.xml><?xml version="1.0" encoding="utf-8"?>
<p:tagLst xmlns:p="http://schemas.openxmlformats.org/presentationml/2006/main">
  <p:tag name="KSO_WM_DIAGRAM_VIRTUALLY_FRAME" val="{&quot;height&quot;:349.95,&quot;left&quot;:61.3,&quot;top&quot;:102.2,&quot;width&quot;:846.2}"/>
</p:tagLst>
</file>

<file path=ppt/tags/tag10.xml><?xml version="1.0" encoding="utf-8"?>
<p:tagLst xmlns:p="http://schemas.openxmlformats.org/presentationml/2006/main">
  <p:tag name="KSO_WM_DIAGRAM_VIRTUALLY_FRAME" val="{&quot;height&quot;:349.95,&quot;left&quot;:61.3,&quot;top&quot;:102.2,&quot;width&quot;:846.2}"/>
</p:tagLst>
</file>

<file path=ppt/tags/tag11.xml><?xml version="1.0" encoding="utf-8"?>
<p:tagLst xmlns:p="http://schemas.openxmlformats.org/presentationml/2006/main">
  <p:tag name="KSO_WM_DIAGRAM_VIRTUALLY_FRAME" val="{&quot;height&quot;:349.95,&quot;left&quot;:61.3,&quot;top&quot;:102.2,&quot;width&quot;:846.2}"/>
</p:tagLst>
</file>

<file path=ppt/tags/tag12.xml><?xml version="1.0" encoding="utf-8"?>
<p:tagLst xmlns:p="http://schemas.openxmlformats.org/presentationml/2006/main">
  <p:tag name="KSO_WM_DIAGRAM_VIRTUALLY_FRAME" val="{&quot;height&quot;:349.95,&quot;left&quot;:61.3,&quot;top&quot;:102.2,&quot;width&quot;:846.2}"/>
</p:tagLst>
</file>

<file path=ppt/tags/tag13.xml><?xml version="1.0" encoding="utf-8"?>
<p:tagLst xmlns:p="http://schemas.openxmlformats.org/presentationml/2006/main">
  <p:tag name="KSO_WM_DIAGRAM_VIRTUALLY_FRAME" val="{&quot;height&quot;:349.95,&quot;left&quot;:61.3,&quot;top&quot;:102.2,&quot;width&quot;:846.2}"/>
</p:tagLst>
</file>

<file path=ppt/tags/tag14.xml><?xml version="1.0" encoding="utf-8"?>
<p:tagLst xmlns:p="http://schemas.openxmlformats.org/presentationml/2006/main">
  <p:tag name="KSO_WM_DIAGRAM_VIRTUALLY_FRAME" val="{&quot;height&quot;:349.95,&quot;left&quot;:61.3,&quot;top&quot;:102.2,&quot;width&quot;:846.2}"/>
</p:tagLst>
</file>

<file path=ppt/tags/tag15.xml><?xml version="1.0" encoding="utf-8"?>
<p:tagLst xmlns:p="http://schemas.openxmlformats.org/presentationml/2006/main">
  <p:tag name="KSO_WM_DIAGRAM_VIRTUALLY_FRAME" val="{&quot;height&quot;:349.95,&quot;left&quot;:61.3,&quot;top&quot;:102.2,&quot;width&quot;:846.2}"/>
</p:tagLst>
</file>

<file path=ppt/tags/tag16.xml><?xml version="1.0" encoding="utf-8"?>
<p:tagLst xmlns:p="http://schemas.openxmlformats.org/presentationml/2006/main">
  <p:tag name="KSO_WM_DIAGRAM_VIRTUALLY_FRAME" val="{&quot;height&quot;:349.95,&quot;left&quot;:61.3,&quot;top&quot;:102.2,&quot;width&quot;:846.2}"/>
</p:tagLst>
</file>

<file path=ppt/tags/tag17.xml><?xml version="1.0" encoding="utf-8"?>
<p:tagLst xmlns:p="http://schemas.openxmlformats.org/presentationml/2006/main">
  <p:tag name="KSO_WM_DIAGRAM_VIRTUALLY_FRAME" val="{&quot;height&quot;:253.1,&quot;left&quot;:42.9,&quot;top&quot;:100.3,&quot;width&quot;:873.8}"/>
</p:tagLst>
</file>

<file path=ppt/tags/tag18.xml><?xml version="1.0" encoding="utf-8"?>
<p:tagLst xmlns:p="http://schemas.openxmlformats.org/presentationml/2006/main">
  <p:tag name="KSO_WM_DIAGRAM_VIRTUALLY_FRAME" val="{&quot;height&quot;:253.1,&quot;left&quot;:42.9,&quot;top&quot;:100.3,&quot;width&quot;:873.8}"/>
</p:tagLst>
</file>

<file path=ppt/tags/tag19.xml><?xml version="1.0" encoding="utf-8"?>
<p:tagLst xmlns:p="http://schemas.openxmlformats.org/presentationml/2006/main">
  <p:tag name="KSO_WM_DIAGRAM_VIRTUALLY_FRAME" val="{&quot;height&quot;:253.1,&quot;left&quot;:42.9,&quot;top&quot;:100.3,&quot;width&quot;:873.8}"/>
</p:tagLst>
</file>

<file path=ppt/tags/tag20.xml><?xml version="1.0" encoding="utf-8"?>
<p:tagLst xmlns:p="http://schemas.openxmlformats.org/presentationml/2006/main">
  <p:tag name="KSO_WM_DIAGRAM_VIRTUALLY_FRAME" val="{&quot;height&quot;:253.1,&quot;left&quot;:42.9,&quot;top&quot;:100.3,&quot;width&quot;:873.8}"/>
</p:tagLst>
</file>

<file path=ppt/tags/tag21.xml><?xml version="1.0" encoding="utf-8"?>
<p:tagLst xmlns:p="http://schemas.openxmlformats.org/presentationml/2006/main">
  <p:tag name="KSO_WM_DIAGRAM_VIRTUALLY_FRAME" val="{&quot;height&quot;:253.1,&quot;left&quot;:42.9,&quot;top&quot;:100.3,&quot;width&quot;:873.8}"/>
</p:tagLst>
</file>

<file path=ppt/tags/tag22.xml><?xml version="1.0" encoding="utf-8"?>
<p:tagLst xmlns:p="http://schemas.openxmlformats.org/presentationml/2006/main">
  <p:tag name="KSO_WM_DIAGRAM_VIRTUALLY_FRAME" val="{&quot;height&quot;:253.1,&quot;left&quot;:42.9,&quot;top&quot;:100.3,&quot;width&quot;:873.8}"/>
</p:tagLst>
</file>

<file path=ppt/tags/tag23.xml><?xml version="1.0" encoding="utf-8"?>
<p:tagLst xmlns:p="http://schemas.openxmlformats.org/presentationml/2006/main">
  <p:tag name="KSO_WM_DIAGRAM_VIRTUALLY_FRAME" val="{&quot;height&quot;:253.1,&quot;left&quot;:42.9,&quot;top&quot;:100.3,&quot;width&quot;:873.8}"/>
</p:tagLst>
</file>

<file path=ppt/tags/tag24.xml><?xml version="1.0" encoding="utf-8"?>
<p:tagLst xmlns:p="http://schemas.openxmlformats.org/presentationml/2006/main">
  <p:tag name="KSO_WM_DIAGRAM_VIRTUALLY_FRAME" val="{&quot;height&quot;:253.1,&quot;left&quot;:42.9,&quot;top&quot;:100.3,&quot;width&quot;:873.8}"/>
</p:tagLst>
</file>

<file path=ppt/tags/tag25.xml><?xml version="1.0" encoding="utf-8"?>
<p:tagLst xmlns:p="http://schemas.openxmlformats.org/presentationml/2006/main">
  <p:tag name="KSO_WM_DIAGRAM_VIRTUALLY_FRAME" val="{&quot;height&quot;:253.1,&quot;left&quot;:42.9,&quot;top&quot;:100.3,&quot;width&quot;:873.8}"/>
</p:tagLst>
</file>

<file path=ppt/tags/tag26.xml><?xml version="1.0" encoding="utf-8"?>
<p:tagLst xmlns:p="http://schemas.openxmlformats.org/presentationml/2006/main">
  <p:tag name="KSO_WM_DIAGRAM_VIRTUALLY_FRAME" val="{&quot;height&quot;:342.7,&quot;left&quot;:3.9,&quot;top&quot;:87.5,&quot;width&quot;:430.2}"/>
</p:tagLst>
</file>

<file path=ppt/tags/tag27.xml><?xml version="1.0" encoding="utf-8"?>
<p:tagLst xmlns:p="http://schemas.openxmlformats.org/presentationml/2006/main">
  <p:tag name="KSO_WM_DIAGRAM_VIRTUALLY_FRAME" val="{&quot;height&quot;:342.7,&quot;left&quot;:3.9,&quot;top&quot;:87.5,&quot;width&quot;:430.2}"/>
</p:tagLst>
</file>

<file path=ppt/tags/tag28.xml><?xml version="1.0" encoding="utf-8"?>
<p:tagLst xmlns:p="http://schemas.openxmlformats.org/presentationml/2006/main">
  <p:tag name="KSO_WM_DIAGRAM_VIRTUALLY_FRAME" val="{&quot;height&quot;:342.7,&quot;left&quot;:3.9,&quot;top&quot;:87.5,&quot;width&quot;:430.2}"/>
</p:tagLst>
</file>

<file path=ppt/tags/tag29.xml><?xml version="1.0" encoding="utf-8"?>
<p:tagLst xmlns:p="http://schemas.openxmlformats.org/presentationml/2006/main">
  <p:tag name="KSO_WM_DIAGRAM_VIRTUALLY_FRAME" val="{&quot;height&quot;:342.7,&quot;left&quot;:3.9,&quot;top&quot;:87.5,&quot;width&quot;:430.2}"/>
</p:tagLst>
</file>

<file path=ppt/tags/tag30.xml><?xml version="1.0" encoding="utf-8"?>
<p:tagLst xmlns:p="http://schemas.openxmlformats.org/presentationml/2006/main">
  <p:tag name="KSO_WM_DIAGRAM_VIRTUALLY_FRAME" val="{&quot;height&quot;:342.7,&quot;left&quot;:3.9,&quot;top&quot;:87.5,&quot;width&quot;:430.2}"/>
</p:tagLst>
</file>

<file path=ppt/tags/tag31.xml><?xml version="1.0" encoding="utf-8"?>
<p:tagLst xmlns:p="http://schemas.openxmlformats.org/presentationml/2006/main">
  <p:tag name="KSO_WM_DIAGRAM_VIRTUALLY_FRAME" val="{&quot;height&quot;:342.7,&quot;left&quot;:3.9,&quot;top&quot;:87.5,&quot;width&quot;:430.2}"/>
</p:tagLst>
</file>

<file path=ppt/tags/tag32.xml><?xml version="1.0" encoding="utf-8"?>
<p:tagLst xmlns:p="http://schemas.openxmlformats.org/presentationml/2006/main">
  <p:tag name="KSO_WM_DIAGRAM_VIRTUALLY_FRAME" val="{&quot;height&quot;:342.7,&quot;left&quot;:3.9,&quot;top&quot;:87.5,&quot;width&quot;:430.2}"/>
</p:tagLst>
</file>

<file path=ppt/tags/tag33.xml><?xml version="1.0" encoding="utf-8"?>
<p:tagLst xmlns:p="http://schemas.openxmlformats.org/presentationml/2006/main">
  <p:tag name="KSO_WM_DIAGRAM_VIRTUALLY_FRAME" val="{&quot;height&quot;:342.7,&quot;left&quot;:3.9,&quot;top&quot;:87.5,&quot;width&quot;:430.2}"/>
</p:tagLst>
</file>

<file path=ppt/tags/tag34.xml><?xml version="1.0" encoding="utf-8"?>
<p:tagLst xmlns:p="http://schemas.openxmlformats.org/presentationml/2006/main">
  <p:tag name="KSO_WM_DIAGRAM_VIRTUALLY_FRAME" val="{&quot;height&quot;:342.7,&quot;left&quot;:3.9,&quot;top&quot;:87.5,&quot;width&quot;:430.2}"/>
</p:tagLst>
</file>

<file path=ppt/tags/tag35.xml><?xml version="1.0" encoding="utf-8"?>
<p:tagLst xmlns:p="http://schemas.openxmlformats.org/presentationml/2006/main">
  <p:tag name="KSO_WM_DIAGRAM_VIRTUALLY_FRAME" val="{&quot;height&quot;:342.7,&quot;left&quot;:3.9,&quot;top&quot;:87.5,&quot;width&quot;:430.2}"/>
</p:tagLst>
</file>

<file path=ppt/tags/tag36.xml><?xml version="1.0" encoding="utf-8"?>
<p:tagLst xmlns:p="http://schemas.openxmlformats.org/presentationml/2006/main">
  <p:tag name="KSO_WM_DIAGRAM_VIRTUALLY_FRAME" val="{&quot;height&quot;:342.7,&quot;left&quot;:3.9,&quot;top&quot;:87.5,&quot;width&quot;:430.2}"/>
</p:tagLst>
</file>

<file path=ppt/tags/tag37.xml><?xml version="1.0" encoding="utf-8"?>
<p:tagLst xmlns:p="http://schemas.openxmlformats.org/presentationml/2006/main">
  <p:tag name="KSO_WM_DIAGRAM_VIRTUALLY_FRAME" val="{&quot;height&quot;:342.7,&quot;left&quot;:3.9,&quot;top&quot;:87.5,&quot;width&quot;:430.2}"/>
</p:tagLst>
</file>

<file path=ppt/tags/tag38.xml><?xml version="1.0" encoding="utf-8"?>
<p:tagLst xmlns:p="http://schemas.openxmlformats.org/presentationml/2006/main">
  <p:tag name="KSO_WM_DIAGRAM_VIRTUALLY_FRAME" val="{&quot;height&quot;:342.7,&quot;left&quot;:3.9,&quot;top&quot;:87.5,&quot;width&quot;:430.2}"/>
</p:tagLst>
</file>

<file path=ppt/tags/tag39.xml><?xml version="1.0" encoding="utf-8"?>
<p:tagLst xmlns:p="http://schemas.openxmlformats.org/presentationml/2006/main">
  <p:tag name="KSO_WM_DIAGRAM_VIRTUALLY_FRAME" val="{&quot;height&quot;:342.7,&quot;left&quot;:3.9,&quot;top&quot;:87.5,&quot;width&quot;:430.2}"/>
</p:tagLst>
</file>

<file path=ppt/tags/tag40.xml><?xml version="1.0" encoding="utf-8"?>
<p:tagLst xmlns:p="http://schemas.openxmlformats.org/presentationml/2006/main">
  <p:tag name="KSO_WM_DIAGRAM_VIRTUALLY_FRAME" val="{&quot;height&quot;:342.7,&quot;left&quot;:3.9,&quot;top&quot;:87.5,&quot;width&quot;:430.2}"/>
</p:tagLst>
</file>

<file path=ppt/tags/tag41.xml><?xml version="1.0" encoding="utf-8"?>
<p:tagLst xmlns:p="http://schemas.openxmlformats.org/presentationml/2006/main">
  <p:tag name="KSO_WM_DIAGRAM_VIRTUALLY_FRAME" val="{&quot;height&quot;:342.7,&quot;left&quot;:3.9,&quot;top&quot;:87.5,&quot;width&quot;:430.2}"/>
</p:tagLst>
</file>

<file path=ppt/theme/theme1.xml><?xml version="1.0" encoding="utf-8"?>
<a:theme xmlns:a="http://schemas.openxmlformats.org/drawingml/2006/main" name="Office 主题">
  <a:themeElements>
    <a:clrScheme name="自定义 3">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4E67C8"/>
      </a:accent6>
      <a:hlink>
        <a:srgbClr val="56C7AA"/>
      </a:hlink>
      <a:folHlink>
        <a:srgbClr val="59A8D1"/>
      </a:folHlink>
    </a:clrScheme>
    <a:fontScheme name="自定义 3">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自定义 1">
      <a:dk1>
        <a:sysClr val="windowText" lastClr="000000"/>
      </a:dk1>
      <a:lt1>
        <a:sysClr val="window" lastClr="FFFFFF"/>
      </a:lt1>
      <a:dk2>
        <a:srgbClr val="444D26"/>
      </a:dk2>
      <a:lt2>
        <a:srgbClr val="FEFAC9"/>
      </a:lt2>
      <a:accent1>
        <a:srgbClr val="25B7C0"/>
      </a:accent1>
      <a:accent2>
        <a:srgbClr val="F6A500"/>
      </a:accent2>
      <a:accent3>
        <a:srgbClr val="585858"/>
      </a:accent3>
      <a:accent4>
        <a:srgbClr val="FD7104"/>
      </a:accent4>
      <a:accent5>
        <a:srgbClr val="9C85C0"/>
      </a:accent5>
      <a:accent6>
        <a:srgbClr val="809EC2"/>
      </a:accent6>
      <a:hlink>
        <a:srgbClr val="8E58B6"/>
      </a:hlink>
      <a:folHlink>
        <a:srgbClr val="7F6F6F"/>
      </a:folHlink>
    </a:clrScheme>
    <a:fontScheme name="自定义 1">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a:spPr>
      <a:bodyPr anchor="ctr"/>
      <a:lstStyle>
        <a:defPPr marL="0" marR="0" indent="0" algn="ctr" defTabSz="914400" eaLnBrk="1" fontAlgn="base" latinLnBrk="0" hangingPunct="1">
          <a:spcBef>
            <a:spcPct val="0"/>
          </a:spcBef>
          <a:spcAft>
            <a:spcPct val="0"/>
          </a:spcAft>
          <a:buClrTx/>
          <a:buSzTx/>
          <a:buFontTx/>
          <a:buNone/>
          <a:defRPr kumimoji="0" sz="1800" b="0" i="0" u="none" strike="noStrike" kern="0" cap="none" spc="0" normalizeH="0" baseline="0" noProof="0" smtClean="0">
            <a:ln>
              <a:noFill/>
            </a:ln>
            <a:solidFill>
              <a:srgbClr val="FFFFFF"/>
            </a:solidFill>
            <a:effectLst/>
            <a:uLnTx/>
            <a:uFillTx/>
            <a:latin typeface="Arial" panose="020B0604020202020204" pitchFamily="34" charset="0"/>
            <a:ea typeface="宋体" panose="02010600030101010101" pitchFamily="2" charset="-122"/>
          </a:defRPr>
        </a:defPPr>
      </a:lst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主题">
  <a:themeElements>
    <a:clrScheme name="自定义 3">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4E67C8"/>
      </a:accent6>
      <a:hlink>
        <a:srgbClr val="56C7AA"/>
      </a:hlink>
      <a:folHlink>
        <a:srgbClr val="59A8D1"/>
      </a:folHlink>
    </a:clrScheme>
    <a:fontScheme name="自定义 3">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9992</Words>
  <Application>WPS 演示</Application>
  <PresentationFormat>宽屏</PresentationFormat>
  <Paragraphs>890</Paragraphs>
  <Slides>29</Slides>
  <Notes>1</Notes>
  <HiddenSlides>0</HiddenSlides>
  <MMClips>0</MMClips>
  <ScaleCrop>false</ScaleCrop>
  <HeadingPairs>
    <vt:vector size="8" baseType="variant">
      <vt:variant>
        <vt:lpstr>已用的字体</vt:lpstr>
      </vt:variant>
      <vt:variant>
        <vt:i4>13</vt:i4>
      </vt:variant>
      <vt:variant>
        <vt:lpstr>主题</vt:lpstr>
      </vt:variant>
      <vt:variant>
        <vt:i4>5</vt:i4>
      </vt:variant>
      <vt:variant>
        <vt:lpstr>嵌入 OLE 服务器</vt:lpstr>
      </vt:variant>
      <vt:variant>
        <vt:i4>1</vt:i4>
      </vt:variant>
      <vt:variant>
        <vt:lpstr>幻灯片标题</vt:lpstr>
      </vt:variant>
      <vt:variant>
        <vt:i4>29</vt:i4>
      </vt:variant>
    </vt:vector>
  </HeadingPairs>
  <TitlesOfParts>
    <vt:vector size="48" baseType="lpstr">
      <vt:lpstr>Arial</vt:lpstr>
      <vt:lpstr>宋体</vt:lpstr>
      <vt:lpstr>Wingdings</vt:lpstr>
      <vt:lpstr>微软雅黑</vt:lpstr>
      <vt:lpstr>Calibri</vt:lpstr>
      <vt:lpstr>Cambria Math</vt:lpstr>
      <vt:lpstr>MS Mincho</vt:lpstr>
      <vt:lpstr>Segoe Print</vt:lpstr>
      <vt:lpstr>Arial Unicode MS</vt:lpstr>
      <vt:lpstr>等线</vt:lpstr>
      <vt:lpstr>等线 Light</vt:lpstr>
      <vt:lpstr>Arial Black</vt:lpstr>
      <vt:lpstr>Ms.Luce</vt:lpstr>
      <vt:lpstr>Office 主题</vt:lpstr>
      <vt:lpstr>1_自定义设计方案</vt:lpstr>
      <vt:lpstr>1_Office 主题</vt:lpstr>
      <vt:lpstr>2_自定义设计方案</vt:lpstr>
      <vt:lpstr>2_Office 主题</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dc:description>http://www.ypppt.com/</dc:description>
  <cp:lastModifiedBy>ZJH</cp:lastModifiedBy>
  <cp:revision>160</cp:revision>
  <dcterms:created xsi:type="dcterms:W3CDTF">2016-01-15T03:19:00Z</dcterms:created>
  <dcterms:modified xsi:type="dcterms:W3CDTF">2026-01-05T11:52:26Z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2BBA6F7419AC40F289C27FA292D3B590_13</vt:lpwstr>
  </property>
</Properties>
</file>